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6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y="6858000" cx="12192000"/>
  <p:notesSz cx="6858000" cy="9144000"/>
  <p:embeddedFontLst>
    <p:embeddedFont>
      <p:font typeface="Helvetica Neue"/>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8" roundtripDataSignature="AMtx7mgsJL8q5tKld5fqYCwt1+whUPlp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7A63409-1D51-4630-A7C8-51F4479C799A}">
  <a:tblStyle styleId="{57A63409-1D51-4630-A7C8-51F4479C799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6147DA0-FFD3-4E58-BEDF-B9C9C8EF843C}"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font" Target="fonts/HelveticaNeue-regular.fntdata"/><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46" Type="http://schemas.openxmlformats.org/officeDocument/2006/relationships/font" Target="fonts/HelveticaNeue-italic.fntdata"/><Relationship Id="rId23" Type="http://schemas.openxmlformats.org/officeDocument/2006/relationships/slide" Target="slides/slide17.xml"/><Relationship Id="rId45" Type="http://schemas.openxmlformats.org/officeDocument/2006/relationships/font" Target="fonts/HelveticaNeue-bold.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48" Type="http://customschemas.google.com/relationships/presentationmetadata" Target="metadata"/><Relationship Id="rId25" Type="http://schemas.openxmlformats.org/officeDocument/2006/relationships/slide" Target="slides/slide19.xml"/><Relationship Id="rId47" Type="http://schemas.openxmlformats.org/officeDocument/2006/relationships/font" Target="fonts/HelveticaNeue-bold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5904ca52a9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83" name="Google Shape;183;g35904ca52a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f3d4aa79e3_0_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f3d4aa79e3_0_7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g3f3d4aa79e3_0_7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d6016f1f3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d6016f1f31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g3d6016f1f31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f3d4aa79e3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f3d4aa79e3_0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g3f3d4aa79e3_0_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f3d4aa79e3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f3d4aa79e3_0_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g3f3d4aa79e3_0_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f3d4aa79e3_0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f3d4aa79e3_0_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g3f3d4aa79e3_0_5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f3d4aa79e3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f3d4aa79e3_0_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g3f3d4aa79e3_0_4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f3d4aa79e3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f3d4aa79e3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g3f3d4aa79e3_0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d6016f1f31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d6016f1f31_0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g3d6016f1f31_0_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d6016f1f31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d6016f1f31_0_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g3d6016f1f31_0_5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d6016f1f31_0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d6016f1f31_0_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g3d6016f1f31_0_5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d9cf9aaceb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d9cf9aaceb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g3d9cf9aaceb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f3d4aa79e3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f3d4aa79e3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g3f3d4aa79e3_0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d6016f1f31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d6016f1f31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g3d6016f1f31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dc35a4ca61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dc35a4ca61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g3dc35a4ca61_0_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d9cf9aaceb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d9cf9aaceb_0_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g3d9cf9aaceb_0_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d9cf9aaceb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d9cf9aaceb_0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g3d9cf9aaceb_0_2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d9cf9aaceb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d9cf9aaceb_0_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g3d9cf9aaceb_0_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9a6a542a37_0_2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9a6a542a37_0_2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g39a6a542a37_0_2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d6016f1f31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d6016f1f31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g3d6016f1f31_0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d6016f1f31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d6016f1f31_0_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g3d6016f1f31_0_3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d6016f1f31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d6016f1f31_0_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g3d6016f1f31_0_6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d6016f1f31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d6016f1f31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 name="Google Shape;382;g3d6016f1f31_0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dc35a4ca6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dc35a4ca61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g3dc35a4ca61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f3d4aa79e3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3f3d4aa79e3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g3f3d4aa79e3_0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dc35a4ca61_0_6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19" name="Google Shape;419;g3dc35a4ca61_0_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dc35a4ca61_0_7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26" name="Google Shape;426;g3dc35a4ca61_0_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dc35a4ca61_0_3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dc35a4ca61_0_36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g3dc35a4ca61_0_36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dc35a4ca61_0_8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42" name="Google Shape;442;g3dc35a4ca61_0_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dc35a4ca61_0_10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50" name="Google Shape;450;g3dc35a4ca61_0_1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dc35a4ca61_0_1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60" name="Google Shape;460;g3dc35a4ca61_0_1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dc35a4ca61_0_1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70" name="Google Shape;470;g3dc35a4ca61_0_1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dc35a4ca61_0_1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80" name="Google Shape;480;g3dc35a4ca61_0_1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dc35a4ca61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dc35a4ca61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9" name="Google Shape;489;g3dc35a4ca61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5904ca52a9_0_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5" name="Google Shape;495;g35904ca52a9_0_1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g35904ca52a9_0_1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9a6a542a37_0_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39a6a542a37_0_1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5" name="Google Shape;505;g39a6a542a37_0_1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4" name="Google Shape;51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lue A" showMasterSp="0">
  <p:cSld name="Title Blue A">
    <p:bg>
      <p:bgPr>
        <a:solidFill>
          <a:srgbClr val="184A86"/>
        </a:solidFill>
      </p:bgPr>
    </p:bg>
    <p:spTree>
      <p:nvGrpSpPr>
        <p:cNvPr id="15" name="Shape 15"/>
        <p:cNvGrpSpPr/>
        <p:nvPr/>
      </p:nvGrpSpPr>
      <p:grpSpPr>
        <a:xfrm>
          <a:off x="0" y="0"/>
          <a:ext cx="0" cy="0"/>
          <a:chOff x="0" y="0"/>
          <a:chExt cx="0" cy="0"/>
        </a:xfrm>
      </p:grpSpPr>
      <p:sp>
        <p:nvSpPr>
          <p:cNvPr id="16" name="Google Shape;16;g35904ca52a9_0_91"/>
          <p:cNvSpPr txBox="1"/>
          <p:nvPr>
            <p:ph type="title"/>
          </p:nvPr>
        </p:nvSpPr>
        <p:spPr>
          <a:xfrm>
            <a:off x="1895475" y="3585279"/>
            <a:ext cx="10972800" cy="1091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7500"/>
              <a:buFont typeface="Arial"/>
              <a:buNone/>
              <a:defRPr sz="7500">
                <a:solidFill>
                  <a:schemeClr val="lt1"/>
                </a:solidFill>
              </a:defRPr>
            </a:lvl1pPr>
            <a:lvl2pPr lvl="1" algn="l">
              <a:lnSpc>
                <a:spcPct val="90000"/>
              </a:lnSpc>
              <a:spcBef>
                <a:spcPts val="0"/>
              </a:spcBef>
              <a:spcAft>
                <a:spcPts val="0"/>
              </a:spcAft>
              <a:buClr>
                <a:srgbClr val="535353"/>
              </a:buClr>
              <a:buSzPts val="1800"/>
              <a:buNone/>
              <a:defRPr/>
            </a:lvl2pPr>
            <a:lvl3pPr lvl="2" algn="l">
              <a:lnSpc>
                <a:spcPct val="90000"/>
              </a:lnSpc>
              <a:spcBef>
                <a:spcPts val="0"/>
              </a:spcBef>
              <a:spcAft>
                <a:spcPts val="0"/>
              </a:spcAft>
              <a:buClr>
                <a:srgbClr val="535353"/>
              </a:buClr>
              <a:buSzPts val="1800"/>
              <a:buNone/>
              <a:defRPr/>
            </a:lvl3pPr>
            <a:lvl4pPr lvl="3" algn="l">
              <a:lnSpc>
                <a:spcPct val="90000"/>
              </a:lnSpc>
              <a:spcBef>
                <a:spcPts val="0"/>
              </a:spcBef>
              <a:spcAft>
                <a:spcPts val="0"/>
              </a:spcAft>
              <a:buClr>
                <a:srgbClr val="535353"/>
              </a:buClr>
              <a:buSzPts val="1800"/>
              <a:buNone/>
              <a:defRPr/>
            </a:lvl4pPr>
            <a:lvl5pPr lvl="4" algn="l">
              <a:lnSpc>
                <a:spcPct val="90000"/>
              </a:lnSpc>
              <a:spcBef>
                <a:spcPts val="0"/>
              </a:spcBef>
              <a:spcAft>
                <a:spcPts val="0"/>
              </a:spcAft>
              <a:buClr>
                <a:srgbClr val="535353"/>
              </a:buClr>
              <a:buSzPts val="1800"/>
              <a:buNone/>
              <a:defRPr/>
            </a:lvl5pPr>
            <a:lvl6pPr lvl="5" algn="l">
              <a:lnSpc>
                <a:spcPct val="90000"/>
              </a:lnSpc>
              <a:spcBef>
                <a:spcPts val="0"/>
              </a:spcBef>
              <a:spcAft>
                <a:spcPts val="0"/>
              </a:spcAft>
              <a:buClr>
                <a:srgbClr val="535353"/>
              </a:buClr>
              <a:buSzPts val="1800"/>
              <a:buNone/>
              <a:defRPr/>
            </a:lvl6pPr>
            <a:lvl7pPr lvl="6" algn="l">
              <a:lnSpc>
                <a:spcPct val="90000"/>
              </a:lnSpc>
              <a:spcBef>
                <a:spcPts val="0"/>
              </a:spcBef>
              <a:spcAft>
                <a:spcPts val="0"/>
              </a:spcAft>
              <a:buClr>
                <a:srgbClr val="535353"/>
              </a:buClr>
              <a:buSzPts val="1800"/>
              <a:buNone/>
              <a:defRPr/>
            </a:lvl7pPr>
            <a:lvl8pPr lvl="7" algn="l">
              <a:lnSpc>
                <a:spcPct val="90000"/>
              </a:lnSpc>
              <a:spcBef>
                <a:spcPts val="0"/>
              </a:spcBef>
              <a:spcAft>
                <a:spcPts val="0"/>
              </a:spcAft>
              <a:buClr>
                <a:srgbClr val="535353"/>
              </a:buClr>
              <a:buSzPts val="1800"/>
              <a:buNone/>
              <a:defRPr/>
            </a:lvl8pPr>
            <a:lvl9pPr lvl="8" algn="l">
              <a:lnSpc>
                <a:spcPct val="90000"/>
              </a:lnSpc>
              <a:spcBef>
                <a:spcPts val="0"/>
              </a:spcBef>
              <a:spcAft>
                <a:spcPts val="0"/>
              </a:spcAft>
              <a:buClr>
                <a:srgbClr val="535353"/>
              </a:buClr>
              <a:buSzPts val="1800"/>
              <a:buNone/>
              <a:defRPr/>
            </a:lvl9pPr>
          </a:lstStyle>
          <a:p/>
        </p:txBody>
      </p:sp>
      <p:sp>
        <p:nvSpPr>
          <p:cNvPr id="17" name="Google Shape;17;g35904ca52a9_0_91"/>
          <p:cNvSpPr txBox="1"/>
          <p:nvPr>
            <p:ph idx="1" type="body"/>
          </p:nvPr>
        </p:nvSpPr>
        <p:spPr>
          <a:xfrm>
            <a:off x="1895475" y="3182315"/>
            <a:ext cx="10296600" cy="3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rgbClr val="00C7FD"/>
              </a:buClr>
              <a:buSzPts val="1600"/>
              <a:buNone/>
              <a:defRPr b="1" i="0" sz="1600">
                <a:solidFill>
                  <a:srgbClr val="00C7FD"/>
                </a:solidFill>
                <a:latin typeface="Arial"/>
                <a:ea typeface="Arial"/>
                <a:cs typeface="Arial"/>
                <a:sym typeface="Arial"/>
              </a:defRPr>
            </a:lvl1pPr>
            <a:lvl2pPr indent="-342900" lvl="1" marL="914400" algn="l">
              <a:lnSpc>
                <a:spcPct val="100000"/>
              </a:lnSpc>
              <a:spcBef>
                <a:spcPts val="1200"/>
              </a:spcBef>
              <a:spcAft>
                <a:spcPts val="0"/>
              </a:spcAft>
              <a:buClr>
                <a:schemeClr val="lt2"/>
              </a:buClr>
              <a:buSzPts val="1800"/>
              <a:buChar char="•"/>
              <a:defRPr/>
            </a:lvl2pPr>
            <a:lvl3pPr indent="-342900" lvl="2" marL="1371600" algn="l">
              <a:lnSpc>
                <a:spcPct val="100000"/>
              </a:lnSpc>
              <a:spcBef>
                <a:spcPts val="1200"/>
              </a:spcBef>
              <a:spcAft>
                <a:spcPts val="0"/>
              </a:spcAft>
              <a:buClr>
                <a:schemeClr val="lt2"/>
              </a:buClr>
              <a:buSzPts val="1800"/>
              <a:buChar char="•"/>
              <a:defRPr/>
            </a:lvl3pPr>
            <a:lvl4pPr indent="-342900" lvl="3" marL="1828800" algn="l">
              <a:lnSpc>
                <a:spcPct val="100000"/>
              </a:lnSpc>
              <a:spcBef>
                <a:spcPts val="1200"/>
              </a:spcBef>
              <a:spcAft>
                <a:spcPts val="0"/>
              </a:spcAft>
              <a:buClr>
                <a:schemeClr val="lt2"/>
              </a:buClr>
              <a:buSzPts val="1800"/>
              <a:buChar char="•"/>
              <a:defRPr/>
            </a:lvl4pPr>
            <a:lvl5pPr indent="-342900" lvl="4" marL="2286000" algn="l">
              <a:lnSpc>
                <a:spcPct val="100000"/>
              </a:lnSpc>
              <a:spcBef>
                <a:spcPts val="1200"/>
              </a:spcBef>
              <a:spcAft>
                <a:spcPts val="0"/>
              </a:spcAft>
              <a:buClr>
                <a:schemeClr val="lt2"/>
              </a:buClr>
              <a:buSzPts val="1800"/>
              <a:buChar char="•"/>
              <a:defRPr/>
            </a:lvl5pPr>
            <a:lvl6pPr indent="-228600" lvl="5" marL="2743200" algn="l">
              <a:lnSpc>
                <a:spcPct val="90000"/>
              </a:lnSpc>
              <a:spcBef>
                <a:spcPts val="0"/>
              </a:spcBef>
              <a:spcAft>
                <a:spcPts val="0"/>
              </a:spcAft>
              <a:buClr>
                <a:srgbClr val="5E5E5E"/>
              </a:buClr>
              <a:buSzPts val="1800"/>
              <a:buNone/>
              <a:defRPr/>
            </a:lvl6pPr>
            <a:lvl7pPr indent="-228600" lvl="6" marL="3200400" algn="l">
              <a:lnSpc>
                <a:spcPct val="90000"/>
              </a:lnSpc>
              <a:spcBef>
                <a:spcPts val="0"/>
              </a:spcBef>
              <a:spcAft>
                <a:spcPts val="0"/>
              </a:spcAft>
              <a:buClr>
                <a:srgbClr val="5E5E5E"/>
              </a:buClr>
              <a:buSzPts val="1800"/>
              <a:buNone/>
              <a:defRPr/>
            </a:lvl7pPr>
            <a:lvl8pPr indent="-228600" lvl="7" marL="3657600" algn="l">
              <a:lnSpc>
                <a:spcPct val="90000"/>
              </a:lnSpc>
              <a:spcBef>
                <a:spcPts val="0"/>
              </a:spcBef>
              <a:spcAft>
                <a:spcPts val="0"/>
              </a:spcAft>
              <a:buClr>
                <a:srgbClr val="5E5E5E"/>
              </a:buClr>
              <a:buSzPts val="1800"/>
              <a:buNone/>
              <a:defRPr/>
            </a:lvl8pPr>
            <a:lvl9pPr indent="-228600" lvl="8" marL="4114800" algn="l">
              <a:lnSpc>
                <a:spcPct val="90000"/>
              </a:lnSpc>
              <a:spcBef>
                <a:spcPts val="0"/>
              </a:spcBef>
              <a:spcAft>
                <a:spcPts val="0"/>
              </a:spcAft>
              <a:buClr>
                <a:srgbClr val="5E5E5E"/>
              </a:buClr>
              <a:buSzPts val="1800"/>
              <a:buNone/>
              <a:defRPr/>
            </a:lvl9pPr>
          </a:lstStyle>
          <a:p/>
        </p:txBody>
      </p:sp>
      <p:sp>
        <p:nvSpPr>
          <p:cNvPr id="18" name="Google Shape;18;g35904ca52a9_0_91"/>
          <p:cNvSpPr txBox="1"/>
          <p:nvPr>
            <p:ph idx="2" type="body"/>
          </p:nvPr>
        </p:nvSpPr>
        <p:spPr>
          <a:xfrm>
            <a:off x="1908348" y="4778609"/>
            <a:ext cx="10283700" cy="326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lt1"/>
              </a:buClr>
              <a:buSzPts val="1800"/>
              <a:buNone/>
              <a:defRPr b="0" i="0" sz="1800">
                <a:solidFill>
                  <a:schemeClr val="lt1"/>
                </a:solidFill>
                <a:latin typeface="Arial"/>
                <a:ea typeface="Arial"/>
                <a:cs typeface="Arial"/>
                <a:sym typeface="Arial"/>
              </a:defRPr>
            </a:lvl1pPr>
            <a:lvl2pPr indent="-342900" lvl="1" marL="914400" algn="l">
              <a:lnSpc>
                <a:spcPct val="100000"/>
              </a:lnSpc>
              <a:spcBef>
                <a:spcPts val="1200"/>
              </a:spcBef>
              <a:spcAft>
                <a:spcPts val="0"/>
              </a:spcAft>
              <a:buClr>
                <a:schemeClr val="lt2"/>
              </a:buClr>
              <a:buSzPts val="1800"/>
              <a:buChar char="•"/>
              <a:defRPr/>
            </a:lvl2pPr>
            <a:lvl3pPr indent="-342900" lvl="2" marL="1371600" algn="l">
              <a:lnSpc>
                <a:spcPct val="100000"/>
              </a:lnSpc>
              <a:spcBef>
                <a:spcPts val="1200"/>
              </a:spcBef>
              <a:spcAft>
                <a:spcPts val="0"/>
              </a:spcAft>
              <a:buClr>
                <a:schemeClr val="lt2"/>
              </a:buClr>
              <a:buSzPts val="1800"/>
              <a:buChar char="•"/>
              <a:defRPr/>
            </a:lvl3pPr>
            <a:lvl4pPr indent="-342900" lvl="3" marL="1828800" algn="l">
              <a:lnSpc>
                <a:spcPct val="100000"/>
              </a:lnSpc>
              <a:spcBef>
                <a:spcPts val="1200"/>
              </a:spcBef>
              <a:spcAft>
                <a:spcPts val="0"/>
              </a:spcAft>
              <a:buClr>
                <a:schemeClr val="lt2"/>
              </a:buClr>
              <a:buSzPts val="1800"/>
              <a:buChar char="•"/>
              <a:defRPr/>
            </a:lvl4pPr>
            <a:lvl5pPr indent="-342900" lvl="4" marL="2286000" algn="l">
              <a:lnSpc>
                <a:spcPct val="100000"/>
              </a:lnSpc>
              <a:spcBef>
                <a:spcPts val="1200"/>
              </a:spcBef>
              <a:spcAft>
                <a:spcPts val="0"/>
              </a:spcAft>
              <a:buClr>
                <a:schemeClr val="lt2"/>
              </a:buClr>
              <a:buSzPts val="1800"/>
              <a:buChar char="•"/>
              <a:defRPr/>
            </a:lvl5pPr>
            <a:lvl6pPr indent="-228600" lvl="5" marL="2743200" algn="l">
              <a:lnSpc>
                <a:spcPct val="90000"/>
              </a:lnSpc>
              <a:spcBef>
                <a:spcPts val="0"/>
              </a:spcBef>
              <a:spcAft>
                <a:spcPts val="0"/>
              </a:spcAft>
              <a:buClr>
                <a:srgbClr val="5E5E5E"/>
              </a:buClr>
              <a:buSzPts val="1800"/>
              <a:buNone/>
              <a:defRPr/>
            </a:lvl6pPr>
            <a:lvl7pPr indent="-228600" lvl="6" marL="3200400" algn="l">
              <a:lnSpc>
                <a:spcPct val="90000"/>
              </a:lnSpc>
              <a:spcBef>
                <a:spcPts val="0"/>
              </a:spcBef>
              <a:spcAft>
                <a:spcPts val="0"/>
              </a:spcAft>
              <a:buClr>
                <a:srgbClr val="5E5E5E"/>
              </a:buClr>
              <a:buSzPts val="1800"/>
              <a:buNone/>
              <a:defRPr/>
            </a:lvl7pPr>
            <a:lvl8pPr indent="-228600" lvl="7" marL="3657600" algn="l">
              <a:lnSpc>
                <a:spcPct val="90000"/>
              </a:lnSpc>
              <a:spcBef>
                <a:spcPts val="0"/>
              </a:spcBef>
              <a:spcAft>
                <a:spcPts val="0"/>
              </a:spcAft>
              <a:buClr>
                <a:srgbClr val="5E5E5E"/>
              </a:buClr>
              <a:buSzPts val="1800"/>
              <a:buNone/>
              <a:defRPr/>
            </a:lvl8pPr>
            <a:lvl9pPr indent="-228600" lvl="8" marL="4114800" algn="l">
              <a:lnSpc>
                <a:spcPct val="90000"/>
              </a:lnSpc>
              <a:spcBef>
                <a:spcPts val="0"/>
              </a:spcBef>
              <a:spcAft>
                <a:spcPts val="0"/>
              </a:spcAft>
              <a:buClr>
                <a:srgbClr val="5E5E5E"/>
              </a:buClr>
              <a:buSzPts val="18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Content">
  <p:cSld name="Title &amp; Content">
    <p:spTree>
      <p:nvGrpSpPr>
        <p:cNvPr id="19" name="Shape 19"/>
        <p:cNvGrpSpPr/>
        <p:nvPr/>
      </p:nvGrpSpPr>
      <p:grpSpPr>
        <a:xfrm>
          <a:off x="0" y="0"/>
          <a:ext cx="0" cy="0"/>
          <a:chOff x="0" y="0"/>
          <a:chExt cx="0" cy="0"/>
        </a:xfrm>
      </p:grpSpPr>
      <p:sp>
        <p:nvSpPr>
          <p:cNvPr id="20" name="Google Shape;20;p21"/>
          <p:cNvSpPr txBox="1"/>
          <p:nvPr>
            <p:ph type="title"/>
          </p:nvPr>
        </p:nvSpPr>
        <p:spPr>
          <a:xfrm>
            <a:off x="571370" y="571500"/>
            <a:ext cx="11010816" cy="952499"/>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525252"/>
              </a:buClr>
              <a:buSzPts val="4000"/>
              <a:buFont typeface="Calibri"/>
              <a:buNone/>
              <a:defRPr sz="4000">
                <a:solidFill>
                  <a:srgbClr val="52525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1"/>
          <p:cNvSpPr txBox="1"/>
          <p:nvPr>
            <p:ph idx="1" type="body"/>
          </p:nvPr>
        </p:nvSpPr>
        <p:spPr>
          <a:xfrm>
            <a:off x="571370" y="1673454"/>
            <a:ext cx="11010900" cy="457494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2 Content Columns">
  <p:cSld name="Title &amp; 2 Content Columns">
    <p:spTree>
      <p:nvGrpSpPr>
        <p:cNvPr id="22" name="Shape 22"/>
        <p:cNvGrpSpPr/>
        <p:nvPr/>
      </p:nvGrpSpPr>
      <p:grpSpPr>
        <a:xfrm>
          <a:off x="0" y="0"/>
          <a:ext cx="0" cy="0"/>
          <a:chOff x="0" y="0"/>
          <a:chExt cx="0" cy="0"/>
        </a:xfrm>
      </p:grpSpPr>
      <p:sp>
        <p:nvSpPr>
          <p:cNvPr id="23" name="Google Shape;23;p22"/>
          <p:cNvSpPr txBox="1"/>
          <p:nvPr>
            <p:ph type="title"/>
          </p:nvPr>
        </p:nvSpPr>
        <p:spPr>
          <a:xfrm>
            <a:off x="571500" y="571501"/>
            <a:ext cx="11010901" cy="9525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525252"/>
              </a:buClr>
              <a:buSzPts val="4000"/>
              <a:buFont typeface="Calibri"/>
              <a:buNone/>
              <a:defRPr sz="4000">
                <a:solidFill>
                  <a:srgbClr val="52525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2"/>
          <p:cNvSpPr txBox="1"/>
          <p:nvPr>
            <p:ph idx="1" type="body"/>
          </p:nvPr>
        </p:nvSpPr>
        <p:spPr>
          <a:xfrm>
            <a:off x="571500" y="1673402"/>
            <a:ext cx="5288525" cy="458483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22"/>
          <p:cNvSpPr txBox="1"/>
          <p:nvPr>
            <p:ph idx="2" type="body"/>
          </p:nvPr>
        </p:nvSpPr>
        <p:spPr>
          <a:xfrm>
            <a:off x="6289113" y="1673402"/>
            <a:ext cx="5288525" cy="458483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ый слайд" type="title">
  <p:cSld name="TITLE">
    <p:spTree>
      <p:nvGrpSpPr>
        <p:cNvPr id="26" name="Shape 26"/>
        <p:cNvGrpSpPr/>
        <p:nvPr/>
      </p:nvGrpSpPr>
      <p:grpSpPr>
        <a:xfrm>
          <a:off x="0" y="0"/>
          <a:ext cx="0" cy="0"/>
          <a:chOff x="0" y="0"/>
          <a:chExt cx="0" cy="0"/>
        </a:xfrm>
      </p:grpSpPr>
      <p:sp>
        <p:nvSpPr>
          <p:cNvPr id="27" name="Google Shape;27;p2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 name="Google Shape;29;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объект" type="obj">
  <p:cSld name="OBJECT">
    <p:spTree>
      <p:nvGrpSpPr>
        <p:cNvPr id="32" name="Shape 32"/>
        <p:cNvGrpSpPr/>
        <p:nvPr/>
      </p:nvGrpSpPr>
      <p:grpSpPr>
        <a:xfrm>
          <a:off x="0" y="0"/>
          <a:ext cx="0" cy="0"/>
          <a:chOff x="0" y="0"/>
          <a:chExt cx="0" cy="0"/>
        </a:xfrm>
      </p:grpSpPr>
      <p:sp>
        <p:nvSpPr>
          <p:cNvPr id="33" name="Google Shape;33;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раздела" type="secHead">
  <p:cSld name="SECTION_HEADER">
    <p:spTree>
      <p:nvGrpSpPr>
        <p:cNvPr id="38" name="Shape 38"/>
        <p:cNvGrpSpPr/>
        <p:nvPr/>
      </p:nvGrpSpPr>
      <p:grpSpPr>
        <a:xfrm>
          <a:off x="0" y="0"/>
          <a:ext cx="0" cy="0"/>
          <a:chOff x="0" y="0"/>
          <a:chExt cx="0" cy="0"/>
        </a:xfrm>
      </p:grpSpPr>
      <p:sp>
        <p:nvSpPr>
          <p:cNvPr id="39" name="Google Shape;39;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Два объекта" type="twoObj">
  <p:cSld name="TWO_OBJECTS">
    <p:spTree>
      <p:nvGrpSpPr>
        <p:cNvPr id="44" name="Shape 44"/>
        <p:cNvGrpSpPr/>
        <p:nvPr/>
      </p:nvGrpSpPr>
      <p:grpSpPr>
        <a:xfrm>
          <a:off x="0" y="0"/>
          <a:ext cx="0" cy="0"/>
          <a:chOff x="0" y="0"/>
          <a:chExt cx="0" cy="0"/>
        </a:xfrm>
      </p:grpSpPr>
      <p:sp>
        <p:nvSpPr>
          <p:cNvPr id="45" name="Google Shape;45;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равнение" type="twoTxTwoObj">
  <p:cSld name="TWO_OBJECTS_WITH_TEXT">
    <p:spTree>
      <p:nvGrpSpPr>
        <p:cNvPr id="51" name="Shape 51"/>
        <p:cNvGrpSpPr/>
        <p:nvPr/>
      </p:nvGrpSpPr>
      <p:grpSpPr>
        <a:xfrm>
          <a:off x="0" y="0"/>
          <a:ext cx="0" cy="0"/>
          <a:chOff x="0" y="0"/>
          <a:chExt cx="0" cy="0"/>
        </a:xfrm>
      </p:grpSpPr>
      <p:sp>
        <p:nvSpPr>
          <p:cNvPr id="52" name="Google Shape;52;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4" name="Google Shape;54;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6" name="Google Shape;56;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олько заголовок" type="titleOnly">
  <p:cSld name="TITLE_ONLY">
    <p:spTree>
      <p:nvGrpSpPr>
        <p:cNvPr id="60" name="Shape 60"/>
        <p:cNvGrpSpPr/>
        <p:nvPr/>
      </p:nvGrpSpPr>
      <p:grpSpPr>
        <a:xfrm>
          <a:off x="0" y="0"/>
          <a:ext cx="0" cy="0"/>
          <a:chOff x="0" y="0"/>
          <a:chExt cx="0" cy="0"/>
        </a:xfrm>
      </p:grpSpPr>
      <p:sp>
        <p:nvSpPr>
          <p:cNvPr id="61" name="Google Shape;61;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устой слайд" type="blank">
  <p:cSld name="BLANK">
    <p:spTree>
      <p:nvGrpSpPr>
        <p:cNvPr id="65" name="Shape 65"/>
        <p:cNvGrpSpPr/>
        <p:nvPr/>
      </p:nvGrpSpPr>
      <p:grpSpPr>
        <a:xfrm>
          <a:off x="0" y="0"/>
          <a:ext cx="0" cy="0"/>
          <a:chOff x="0" y="0"/>
          <a:chExt cx="0" cy="0"/>
        </a:xfrm>
      </p:grpSpPr>
      <p:sp>
        <p:nvSpPr>
          <p:cNvPr id="66" name="Google Shape;66;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Объект с подписью" type="objTx">
  <p:cSld name="OBJECT_WITH_CAPTION_TEXT">
    <p:spTree>
      <p:nvGrpSpPr>
        <p:cNvPr id="69" name="Shape 69"/>
        <p:cNvGrpSpPr/>
        <p:nvPr/>
      </p:nvGrpSpPr>
      <p:grpSpPr>
        <a:xfrm>
          <a:off x="0" y="0"/>
          <a:ext cx="0" cy="0"/>
          <a:chOff x="0" y="0"/>
          <a:chExt cx="0" cy="0"/>
        </a:xfrm>
      </p:grpSpPr>
      <p:sp>
        <p:nvSpPr>
          <p:cNvPr id="70" name="Google Shape;70;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2" name="Google Shape;72;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3" name="Google Shape;73;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исунок с подписью" type="picTx">
  <p:cSld name="PICTURE_WITH_CAPTION_TEXT">
    <p:spTree>
      <p:nvGrpSpPr>
        <p:cNvPr id="76" name="Shape 76"/>
        <p:cNvGrpSpPr/>
        <p:nvPr/>
      </p:nvGrpSpPr>
      <p:grpSpPr>
        <a:xfrm>
          <a:off x="0" y="0"/>
          <a:ext cx="0" cy="0"/>
          <a:chOff x="0" y="0"/>
          <a:chExt cx="0" cy="0"/>
        </a:xfrm>
      </p:grpSpPr>
      <p:sp>
        <p:nvSpPr>
          <p:cNvPr id="77" name="Google Shape;77;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0"/>
          <p:cNvSpPr/>
          <p:nvPr>
            <p:ph idx="2" type="pic"/>
          </p:nvPr>
        </p:nvSpPr>
        <p:spPr>
          <a:xfrm>
            <a:off x="5183188" y="987425"/>
            <a:ext cx="6172200" cy="4873625"/>
          </a:xfrm>
          <a:prstGeom prst="rect">
            <a:avLst/>
          </a:prstGeom>
          <a:noFill/>
          <a:ln>
            <a:noFill/>
          </a:ln>
        </p:spPr>
      </p:sp>
      <p:sp>
        <p:nvSpPr>
          <p:cNvPr id="79" name="Google Shape;79;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0" name="Google Shape;80;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вертикальный текст" type="vertTx">
  <p:cSld name="VERTICAL_TEXT">
    <p:spTree>
      <p:nvGrpSpPr>
        <p:cNvPr id="83" name="Shape 83"/>
        <p:cNvGrpSpPr/>
        <p:nvPr/>
      </p:nvGrpSpPr>
      <p:grpSpPr>
        <a:xfrm>
          <a:off x="0" y="0"/>
          <a:ext cx="0" cy="0"/>
          <a:chOff x="0" y="0"/>
          <a:chExt cx="0" cy="0"/>
        </a:xfrm>
      </p:grpSpPr>
      <p:sp>
        <p:nvSpPr>
          <p:cNvPr id="84" name="Google Shape;84;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ертикальный заголовок и текст" type="vertTitleAndTx">
  <p:cSld name="VERTICAL_TITLE_AND_VERTICAL_TEXT">
    <p:spTree>
      <p:nvGrpSpPr>
        <p:cNvPr id="89" name="Shape 89"/>
        <p:cNvGrpSpPr/>
        <p:nvPr/>
      </p:nvGrpSpPr>
      <p:grpSpPr>
        <a:xfrm>
          <a:off x="0" y="0"/>
          <a:ext cx="0" cy="0"/>
          <a:chOff x="0" y="0"/>
          <a:chExt cx="0" cy="0"/>
        </a:xfrm>
      </p:grpSpPr>
      <p:sp>
        <p:nvSpPr>
          <p:cNvPr id="90" name="Google Shape;90;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ый слайд" type="title">
  <p:cSld name="TITLE">
    <p:spTree>
      <p:nvGrpSpPr>
        <p:cNvPr id="101" name="Shape 101"/>
        <p:cNvGrpSpPr/>
        <p:nvPr/>
      </p:nvGrpSpPr>
      <p:grpSpPr>
        <a:xfrm>
          <a:off x="0" y="0"/>
          <a:ext cx="0" cy="0"/>
          <a:chOff x="0" y="0"/>
          <a:chExt cx="0" cy="0"/>
        </a:xfrm>
      </p:grpSpPr>
      <p:sp>
        <p:nvSpPr>
          <p:cNvPr id="102" name="Google Shape;102;g39a6a542a37_0_134"/>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g39a6a542a37_0_134"/>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04" name="Google Shape;104;g39a6a542a37_0_13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g39a6a542a37_0_13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g39a6a542a37_0_13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Content">
  <p:cSld name="Title &amp; Content">
    <p:spTree>
      <p:nvGrpSpPr>
        <p:cNvPr id="107" name="Shape 107"/>
        <p:cNvGrpSpPr/>
        <p:nvPr/>
      </p:nvGrpSpPr>
      <p:grpSpPr>
        <a:xfrm>
          <a:off x="0" y="0"/>
          <a:ext cx="0" cy="0"/>
          <a:chOff x="0" y="0"/>
          <a:chExt cx="0" cy="0"/>
        </a:xfrm>
      </p:grpSpPr>
      <p:sp>
        <p:nvSpPr>
          <p:cNvPr id="108" name="Google Shape;108;g39a6a542a37_0_140"/>
          <p:cNvSpPr txBox="1"/>
          <p:nvPr>
            <p:ph type="title"/>
          </p:nvPr>
        </p:nvSpPr>
        <p:spPr>
          <a:xfrm>
            <a:off x="571370" y="571500"/>
            <a:ext cx="11010900" cy="9525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525252"/>
              </a:buClr>
              <a:buSzPts val="4000"/>
              <a:buFont typeface="Calibri"/>
              <a:buNone/>
              <a:defRPr sz="4000">
                <a:solidFill>
                  <a:srgbClr val="52525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 name="Google Shape;109;g39a6a542a37_0_140"/>
          <p:cNvSpPr txBox="1"/>
          <p:nvPr>
            <p:ph idx="1" type="body"/>
          </p:nvPr>
        </p:nvSpPr>
        <p:spPr>
          <a:xfrm>
            <a:off x="571370" y="1673454"/>
            <a:ext cx="11010900" cy="4575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2 Content Columns">
  <p:cSld name="Title &amp; 2 Content Columns">
    <p:spTree>
      <p:nvGrpSpPr>
        <p:cNvPr id="110" name="Shape 110"/>
        <p:cNvGrpSpPr/>
        <p:nvPr/>
      </p:nvGrpSpPr>
      <p:grpSpPr>
        <a:xfrm>
          <a:off x="0" y="0"/>
          <a:ext cx="0" cy="0"/>
          <a:chOff x="0" y="0"/>
          <a:chExt cx="0" cy="0"/>
        </a:xfrm>
      </p:grpSpPr>
      <p:sp>
        <p:nvSpPr>
          <p:cNvPr id="111" name="Google Shape;111;g39a6a542a37_0_143"/>
          <p:cNvSpPr txBox="1"/>
          <p:nvPr>
            <p:ph type="title"/>
          </p:nvPr>
        </p:nvSpPr>
        <p:spPr>
          <a:xfrm>
            <a:off x="571500" y="571501"/>
            <a:ext cx="11010900" cy="9525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525252"/>
              </a:buClr>
              <a:buSzPts val="4000"/>
              <a:buFont typeface="Calibri"/>
              <a:buNone/>
              <a:defRPr sz="4000">
                <a:solidFill>
                  <a:srgbClr val="52525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g39a6a542a37_0_143"/>
          <p:cNvSpPr txBox="1"/>
          <p:nvPr>
            <p:ph idx="1" type="body"/>
          </p:nvPr>
        </p:nvSpPr>
        <p:spPr>
          <a:xfrm>
            <a:off x="571500" y="1673402"/>
            <a:ext cx="5288400" cy="45849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 name="Google Shape;113;g39a6a542a37_0_143"/>
          <p:cNvSpPr txBox="1"/>
          <p:nvPr>
            <p:ph idx="2" type="body"/>
          </p:nvPr>
        </p:nvSpPr>
        <p:spPr>
          <a:xfrm>
            <a:off x="6289113" y="1673402"/>
            <a:ext cx="5288400" cy="45849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объект" type="obj">
  <p:cSld name="OBJECT">
    <p:spTree>
      <p:nvGrpSpPr>
        <p:cNvPr id="114" name="Shape 114"/>
        <p:cNvGrpSpPr/>
        <p:nvPr/>
      </p:nvGrpSpPr>
      <p:grpSpPr>
        <a:xfrm>
          <a:off x="0" y="0"/>
          <a:ext cx="0" cy="0"/>
          <a:chOff x="0" y="0"/>
          <a:chExt cx="0" cy="0"/>
        </a:xfrm>
      </p:grpSpPr>
      <p:sp>
        <p:nvSpPr>
          <p:cNvPr id="115" name="Google Shape;115;g39a6a542a37_0_14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 name="Google Shape;116;g39a6a542a37_0_14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 name="Google Shape;117;g39a6a542a37_0_14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g39a6a542a37_0_14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g39a6a542a37_0_14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раздела" type="secHead">
  <p:cSld name="SECTION_HEADER">
    <p:spTree>
      <p:nvGrpSpPr>
        <p:cNvPr id="120" name="Shape 120"/>
        <p:cNvGrpSpPr/>
        <p:nvPr/>
      </p:nvGrpSpPr>
      <p:grpSpPr>
        <a:xfrm>
          <a:off x="0" y="0"/>
          <a:ext cx="0" cy="0"/>
          <a:chOff x="0" y="0"/>
          <a:chExt cx="0" cy="0"/>
        </a:xfrm>
      </p:grpSpPr>
      <p:sp>
        <p:nvSpPr>
          <p:cNvPr id="121" name="Google Shape;121;g39a6a542a37_0_153"/>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g39a6a542a37_0_153"/>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23" name="Google Shape;123;g39a6a542a37_0_15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g39a6a542a37_0_15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g39a6a542a37_0_15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Два объекта" type="twoObj">
  <p:cSld name="TWO_OBJECTS">
    <p:spTree>
      <p:nvGrpSpPr>
        <p:cNvPr id="126" name="Shape 126"/>
        <p:cNvGrpSpPr/>
        <p:nvPr/>
      </p:nvGrpSpPr>
      <p:grpSpPr>
        <a:xfrm>
          <a:off x="0" y="0"/>
          <a:ext cx="0" cy="0"/>
          <a:chOff x="0" y="0"/>
          <a:chExt cx="0" cy="0"/>
        </a:xfrm>
      </p:grpSpPr>
      <p:sp>
        <p:nvSpPr>
          <p:cNvPr id="127" name="Google Shape;127;g39a6a542a37_0_15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g39a6a542a37_0_159"/>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 name="Google Shape;129;g39a6a542a37_0_159"/>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 name="Google Shape;130;g39a6a542a37_0_15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g39a6a542a37_0_15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g39a6a542a37_0_15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равнение" type="twoTxTwoObj">
  <p:cSld name="TWO_OBJECTS_WITH_TEXT">
    <p:spTree>
      <p:nvGrpSpPr>
        <p:cNvPr id="133" name="Shape 133"/>
        <p:cNvGrpSpPr/>
        <p:nvPr/>
      </p:nvGrpSpPr>
      <p:grpSpPr>
        <a:xfrm>
          <a:off x="0" y="0"/>
          <a:ext cx="0" cy="0"/>
          <a:chOff x="0" y="0"/>
          <a:chExt cx="0" cy="0"/>
        </a:xfrm>
      </p:grpSpPr>
      <p:sp>
        <p:nvSpPr>
          <p:cNvPr id="134" name="Google Shape;134;g39a6a542a37_0_166"/>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g39a6a542a37_0_166"/>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6" name="Google Shape;136;g39a6a542a37_0_166"/>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 name="Google Shape;137;g39a6a542a37_0_166"/>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8" name="Google Shape;138;g39a6a542a37_0_166"/>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 name="Google Shape;139;g39a6a542a37_0_16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g39a6a542a37_0_16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g39a6a542a37_0_16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олько заголовок" type="titleOnly">
  <p:cSld name="TITLE_ONLY">
    <p:spTree>
      <p:nvGrpSpPr>
        <p:cNvPr id="142" name="Shape 142"/>
        <p:cNvGrpSpPr/>
        <p:nvPr/>
      </p:nvGrpSpPr>
      <p:grpSpPr>
        <a:xfrm>
          <a:off x="0" y="0"/>
          <a:ext cx="0" cy="0"/>
          <a:chOff x="0" y="0"/>
          <a:chExt cx="0" cy="0"/>
        </a:xfrm>
      </p:grpSpPr>
      <p:sp>
        <p:nvSpPr>
          <p:cNvPr id="143" name="Google Shape;143;g39a6a542a37_0_17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 name="Google Shape;144;g39a6a542a37_0_17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g39a6a542a37_0_17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g39a6a542a37_0_17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устой слайд" type="blank">
  <p:cSld name="BLANK">
    <p:spTree>
      <p:nvGrpSpPr>
        <p:cNvPr id="147" name="Shape 147"/>
        <p:cNvGrpSpPr/>
        <p:nvPr/>
      </p:nvGrpSpPr>
      <p:grpSpPr>
        <a:xfrm>
          <a:off x="0" y="0"/>
          <a:ext cx="0" cy="0"/>
          <a:chOff x="0" y="0"/>
          <a:chExt cx="0" cy="0"/>
        </a:xfrm>
      </p:grpSpPr>
      <p:sp>
        <p:nvSpPr>
          <p:cNvPr id="148" name="Google Shape;148;g39a6a542a37_0_18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g39a6a542a37_0_18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g39a6a542a37_0_18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Объект с подписью" type="objTx">
  <p:cSld name="OBJECT_WITH_CAPTION_TEXT">
    <p:spTree>
      <p:nvGrpSpPr>
        <p:cNvPr id="151" name="Shape 151"/>
        <p:cNvGrpSpPr/>
        <p:nvPr/>
      </p:nvGrpSpPr>
      <p:grpSpPr>
        <a:xfrm>
          <a:off x="0" y="0"/>
          <a:ext cx="0" cy="0"/>
          <a:chOff x="0" y="0"/>
          <a:chExt cx="0" cy="0"/>
        </a:xfrm>
      </p:grpSpPr>
      <p:sp>
        <p:nvSpPr>
          <p:cNvPr id="152" name="Google Shape;152;g39a6a542a37_0_184"/>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 name="Google Shape;153;g39a6a542a37_0_184"/>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54" name="Google Shape;154;g39a6a542a37_0_184"/>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55" name="Google Shape;155;g39a6a542a37_0_18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g39a6a542a37_0_18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g39a6a542a37_0_18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исунок с подписью" type="picTx">
  <p:cSld name="PICTURE_WITH_CAPTION_TEXT">
    <p:spTree>
      <p:nvGrpSpPr>
        <p:cNvPr id="158" name="Shape 158"/>
        <p:cNvGrpSpPr/>
        <p:nvPr/>
      </p:nvGrpSpPr>
      <p:grpSpPr>
        <a:xfrm>
          <a:off x="0" y="0"/>
          <a:ext cx="0" cy="0"/>
          <a:chOff x="0" y="0"/>
          <a:chExt cx="0" cy="0"/>
        </a:xfrm>
      </p:grpSpPr>
      <p:sp>
        <p:nvSpPr>
          <p:cNvPr id="159" name="Google Shape;159;g39a6a542a37_0_191"/>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g39a6a542a37_0_191"/>
          <p:cNvSpPr/>
          <p:nvPr>
            <p:ph idx="2" type="pic"/>
          </p:nvPr>
        </p:nvSpPr>
        <p:spPr>
          <a:xfrm>
            <a:off x="5183188" y="987425"/>
            <a:ext cx="6172200" cy="4873500"/>
          </a:xfrm>
          <a:prstGeom prst="rect">
            <a:avLst/>
          </a:prstGeom>
          <a:noFill/>
          <a:ln>
            <a:noFill/>
          </a:ln>
        </p:spPr>
      </p:sp>
      <p:sp>
        <p:nvSpPr>
          <p:cNvPr id="161" name="Google Shape;161;g39a6a542a37_0_191"/>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62" name="Google Shape;162;g39a6a542a37_0_19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g39a6a542a37_0_19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g39a6a542a37_0_19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вертикальный текст" type="vertTx">
  <p:cSld name="VERTICAL_TEXT">
    <p:spTree>
      <p:nvGrpSpPr>
        <p:cNvPr id="165" name="Shape 165"/>
        <p:cNvGrpSpPr/>
        <p:nvPr/>
      </p:nvGrpSpPr>
      <p:grpSpPr>
        <a:xfrm>
          <a:off x="0" y="0"/>
          <a:ext cx="0" cy="0"/>
          <a:chOff x="0" y="0"/>
          <a:chExt cx="0" cy="0"/>
        </a:xfrm>
      </p:grpSpPr>
      <p:sp>
        <p:nvSpPr>
          <p:cNvPr id="166" name="Google Shape;166;g39a6a542a37_0_19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g39a6a542a37_0_198"/>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 name="Google Shape;168;g39a6a542a37_0_19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g39a6a542a37_0_19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g39a6a542a37_0_19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ертикальный заголовок и текст" type="vertTitleAndTx">
  <p:cSld name="VERTICAL_TITLE_AND_VERTICAL_TEXT">
    <p:spTree>
      <p:nvGrpSpPr>
        <p:cNvPr id="171" name="Shape 171"/>
        <p:cNvGrpSpPr/>
        <p:nvPr/>
      </p:nvGrpSpPr>
      <p:grpSpPr>
        <a:xfrm>
          <a:off x="0" y="0"/>
          <a:ext cx="0" cy="0"/>
          <a:chOff x="0" y="0"/>
          <a:chExt cx="0" cy="0"/>
        </a:xfrm>
      </p:grpSpPr>
      <p:sp>
        <p:nvSpPr>
          <p:cNvPr id="172" name="Google Shape;172;g39a6a542a37_0_204"/>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3" name="Google Shape;173;g39a6a542a37_0_204"/>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 name="Google Shape;174;g39a6a542a37_0_20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g39a6a542a37_0_20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g39a6a542a37_0_20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lue A" showMasterSp="0">
  <p:cSld name="Title Blue A">
    <p:bg>
      <p:bgPr>
        <a:solidFill>
          <a:srgbClr val="184A86"/>
        </a:solidFill>
      </p:bgPr>
    </p:bg>
    <p:spTree>
      <p:nvGrpSpPr>
        <p:cNvPr id="177" name="Shape 177"/>
        <p:cNvGrpSpPr/>
        <p:nvPr/>
      </p:nvGrpSpPr>
      <p:grpSpPr>
        <a:xfrm>
          <a:off x="0" y="0"/>
          <a:ext cx="0" cy="0"/>
          <a:chOff x="0" y="0"/>
          <a:chExt cx="0" cy="0"/>
        </a:xfrm>
      </p:grpSpPr>
      <p:sp>
        <p:nvSpPr>
          <p:cNvPr id="178" name="Google Shape;178;g39a6a542a37_0_210"/>
          <p:cNvSpPr txBox="1"/>
          <p:nvPr>
            <p:ph type="title"/>
          </p:nvPr>
        </p:nvSpPr>
        <p:spPr>
          <a:xfrm>
            <a:off x="1895475" y="3585279"/>
            <a:ext cx="10972800" cy="1091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7500"/>
              <a:buFont typeface="Arial"/>
              <a:buNone/>
              <a:defRPr sz="7500">
                <a:solidFill>
                  <a:schemeClr val="lt1"/>
                </a:solidFill>
              </a:defRPr>
            </a:lvl1pPr>
            <a:lvl2pPr lvl="1" algn="l">
              <a:lnSpc>
                <a:spcPct val="90000"/>
              </a:lnSpc>
              <a:spcBef>
                <a:spcPts val="0"/>
              </a:spcBef>
              <a:spcAft>
                <a:spcPts val="0"/>
              </a:spcAft>
              <a:buClr>
                <a:srgbClr val="535353"/>
              </a:buClr>
              <a:buSzPts val="1800"/>
              <a:buNone/>
              <a:defRPr/>
            </a:lvl2pPr>
            <a:lvl3pPr lvl="2" algn="l">
              <a:lnSpc>
                <a:spcPct val="90000"/>
              </a:lnSpc>
              <a:spcBef>
                <a:spcPts val="0"/>
              </a:spcBef>
              <a:spcAft>
                <a:spcPts val="0"/>
              </a:spcAft>
              <a:buClr>
                <a:srgbClr val="535353"/>
              </a:buClr>
              <a:buSzPts val="1800"/>
              <a:buNone/>
              <a:defRPr/>
            </a:lvl3pPr>
            <a:lvl4pPr lvl="3" algn="l">
              <a:lnSpc>
                <a:spcPct val="90000"/>
              </a:lnSpc>
              <a:spcBef>
                <a:spcPts val="0"/>
              </a:spcBef>
              <a:spcAft>
                <a:spcPts val="0"/>
              </a:spcAft>
              <a:buClr>
                <a:srgbClr val="535353"/>
              </a:buClr>
              <a:buSzPts val="1800"/>
              <a:buNone/>
              <a:defRPr/>
            </a:lvl4pPr>
            <a:lvl5pPr lvl="4" algn="l">
              <a:lnSpc>
                <a:spcPct val="90000"/>
              </a:lnSpc>
              <a:spcBef>
                <a:spcPts val="0"/>
              </a:spcBef>
              <a:spcAft>
                <a:spcPts val="0"/>
              </a:spcAft>
              <a:buClr>
                <a:srgbClr val="535353"/>
              </a:buClr>
              <a:buSzPts val="1800"/>
              <a:buNone/>
              <a:defRPr/>
            </a:lvl5pPr>
            <a:lvl6pPr lvl="5" algn="l">
              <a:lnSpc>
                <a:spcPct val="90000"/>
              </a:lnSpc>
              <a:spcBef>
                <a:spcPts val="0"/>
              </a:spcBef>
              <a:spcAft>
                <a:spcPts val="0"/>
              </a:spcAft>
              <a:buClr>
                <a:srgbClr val="535353"/>
              </a:buClr>
              <a:buSzPts val="1800"/>
              <a:buNone/>
              <a:defRPr/>
            </a:lvl6pPr>
            <a:lvl7pPr lvl="6" algn="l">
              <a:lnSpc>
                <a:spcPct val="90000"/>
              </a:lnSpc>
              <a:spcBef>
                <a:spcPts val="0"/>
              </a:spcBef>
              <a:spcAft>
                <a:spcPts val="0"/>
              </a:spcAft>
              <a:buClr>
                <a:srgbClr val="535353"/>
              </a:buClr>
              <a:buSzPts val="1800"/>
              <a:buNone/>
              <a:defRPr/>
            </a:lvl7pPr>
            <a:lvl8pPr lvl="7" algn="l">
              <a:lnSpc>
                <a:spcPct val="90000"/>
              </a:lnSpc>
              <a:spcBef>
                <a:spcPts val="0"/>
              </a:spcBef>
              <a:spcAft>
                <a:spcPts val="0"/>
              </a:spcAft>
              <a:buClr>
                <a:srgbClr val="535353"/>
              </a:buClr>
              <a:buSzPts val="1800"/>
              <a:buNone/>
              <a:defRPr/>
            </a:lvl8pPr>
            <a:lvl9pPr lvl="8" algn="l">
              <a:lnSpc>
                <a:spcPct val="90000"/>
              </a:lnSpc>
              <a:spcBef>
                <a:spcPts val="0"/>
              </a:spcBef>
              <a:spcAft>
                <a:spcPts val="0"/>
              </a:spcAft>
              <a:buClr>
                <a:srgbClr val="535353"/>
              </a:buClr>
              <a:buSzPts val="1800"/>
              <a:buNone/>
              <a:defRPr/>
            </a:lvl9pPr>
          </a:lstStyle>
          <a:p/>
        </p:txBody>
      </p:sp>
      <p:sp>
        <p:nvSpPr>
          <p:cNvPr id="179" name="Google Shape;179;g39a6a542a37_0_210"/>
          <p:cNvSpPr txBox="1"/>
          <p:nvPr>
            <p:ph idx="1" type="body"/>
          </p:nvPr>
        </p:nvSpPr>
        <p:spPr>
          <a:xfrm>
            <a:off x="1895475" y="3182315"/>
            <a:ext cx="10296600" cy="3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rgbClr val="00C7FD"/>
              </a:buClr>
              <a:buSzPts val="1600"/>
              <a:buNone/>
              <a:defRPr b="1" i="0" sz="1600">
                <a:solidFill>
                  <a:srgbClr val="00C7FD"/>
                </a:solidFill>
                <a:latin typeface="Arial"/>
                <a:ea typeface="Arial"/>
                <a:cs typeface="Arial"/>
                <a:sym typeface="Arial"/>
              </a:defRPr>
            </a:lvl1pPr>
            <a:lvl2pPr indent="-342900" lvl="1" marL="914400" algn="l">
              <a:lnSpc>
                <a:spcPct val="100000"/>
              </a:lnSpc>
              <a:spcBef>
                <a:spcPts val="1200"/>
              </a:spcBef>
              <a:spcAft>
                <a:spcPts val="0"/>
              </a:spcAft>
              <a:buClr>
                <a:schemeClr val="lt2"/>
              </a:buClr>
              <a:buSzPts val="1800"/>
              <a:buChar char="•"/>
              <a:defRPr/>
            </a:lvl2pPr>
            <a:lvl3pPr indent="-342900" lvl="2" marL="1371600" algn="l">
              <a:lnSpc>
                <a:spcPct val="100000"/>
              </a:lnSpc>
              <a:spcBef>
                <a:spcPts val="1200"/>
              </a:spcBef>
              <a:spcAft>
                <a:spcPts val="0"/>
              </a:spcAft>
              <a:buClr>
                <a:schemeClr val="lt2"/>
              </a:buClr>
              <a:buSzPts val="1800"/>
              <a:buChar char="•"/>
              <a:defRPr/>
            </a:lvl3pPr>
            <a:lvl4pPr indent="-342900" lvl="3" marL="1828800" algn="l">
              <a:lnSpc>
                <a:spcPct val="100000"/>
              </a:lnSpc>
              <a:spcBef>
                <a:spcPts val="1200"/>
              </a:spcBef>
              <a:spcAft>
                <a:spcPts val="0"/>
              </a:spcAft>
              <a:buClr>
                <a:schemeClr val="lt2"/>
              </a:buClr>
              <a:buSzPts val="1800"/>
              <a:buChar char="•"/>
              <a:defRPr/>
            </a:lvl4pPr>
            <a:lvl5pPr indent="-342900" lvl="4" marL="2286000" algn="l">
              <a:lnSpc>
                <a:spcPct val="100000"/>
              </a:lnSpc>
              <a:spcBef>
                <a:spcPts val="1200"/>
              </a:spcBef>
              <a:spcAft>
                <a:spcPts val="0"/>
              </a:spcAft>
              <a:buClr>
                <a:schemeClr val="lt2"/>
              </a:buClr>
              <a:buSzPts val="1800"/>
              <a:buChar char="•"/>
              <a:defRPr/>
            </a:lvl5pPr>
            <a:lvl6pPr indent="-228600" lvl="5" marL="2743200" algn="l">
              <a:lnSpc>
                <a:spcPct val="90000"/>
              </a:lnSpc>
              <a:spcBef>
                <a:spcPts val="0"/>
              </a:spcBef>
              <a:spcAft>
                <a:spcPts val="0"/>
              </a:spcAft>
              <a:buClr>
                <a:srgbClr val="5E5E5E"/>
              </a:buClr>
              <a:buSzPts val="1800"/>
              <a:buNone/>
              <a:defRPr/>
            </a:lvl6pPr>
            <a:lvl7pPr indent="-228600" lvl="6" marL="3200400" algn="l">
              <a:lnSpc>
                <a:spcPct val="90000"/>
              </a:lnSpc>
              <a:spcBef>
                <a:spcPts val="0"/>
              </a:spcBef>
              <a:spcAft>
                <a:spcPts val="0"/>
              </a:spcAft>
              <a:buClr>
                <a:srgbClr val="5E5E5E"/>
              </a:buClr>
              <a:buSzPts val="1800"/>
              <a:buNone/>
              <a:defRPr/>
            </a:lvl7pPr>
            <a:lvl8pPr indent="-228600" lvl="7" marL="3657600" algn="l">
              <a:lnSpc>
                <a:spcPct val="90000"/>
              </a:lnSpc>
              <a:spcBef>
                <a:spcPts val="0"/>
              </a:spcBef>
              <a:spcAft>
                <a:spcPts val="0"/>
              </a:spcAft>
              <a:buClr>
                <a:srgbClr val="5E5E5E"/>
              </a:buClr>
              <a:buSzPts val="1800"/>
              <a:buNone/>
              <a:defRPr/>
            </a:lvl8pPr>
            <a:lvl9pPr indent="-228600" lvl="8" marL="4114800" algn="l">
              <a:lnSpc>
                <a:spcPct val="90000"/>
              </a:lnSpc>
              <a:spcBef>
                <a:spcPts val="0"/>
              </a:spcBef>
              <a:spcAft>
                <a:spcPts val="0"/>
              </a:spcAft>
              <a:buClr>
                <a:srgbClr val="5E5E5E"/>
              </a:buClr>
              <a:buSzPts val="1800"/>
              <a:buNone/>
              <a:defRPr/>
            </a:lvl9pPr>
          </a:lstStyle>
          <a:p/>
        </p:txBody>
      </p:sp>
      <p:sp>
        <p:nvSpPr>
          <p:cNvPr id="180" name="Google Shape;180;g39a6a542a37_0_210"/>
          <p:cNvSpPr txBox="1"/>
          <p:nvPr>
            <p:ph idx="2" type="body"/>
          </p:nvPr>
        </p:nvSpPr>
        <p:spPr>
          <a:xfrm>
            <a:off x="1908348" y="4778609"/>
            <a:ext cx="10283700" cy="326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lt1"/>
              </a:buClr>
              <a:buSzPts val="1800"/>
              <a:buNone/>
              <a:defRPr b="0" i="0" sz="1800">
                <a:solidFill>
                  <a:schemeClr val="lt1"/>
                </a:solidFill>
                <a:latin typeface="Arial"/>
                <a:ea typeface="Arial"/>
                <a:cs typeface="Arial"/>
                <a:sym typeface="Arial"/>
              </a:defRPr>
            </a:lvl1pPr>
            <a:lvl2pPr indent="-342900" lvl="1" marL="914400" algn="l">
              <a:lnSpc>
                <a:spcPct val="100000"/>
              </a:lnSpc>
              <a:spcBef>
                <a:spcPts val="1200"/>
              </a:spcBef>
              <a:spcAft>
                <a:spcPts val="0"/>
              </a:spcAft>
              <a:buClr>
                <a:schemeClr val="lt2"/>
              </a:buClr>
              <a:buSzPts val="1800"/>
              <a:buChar char="•"/>
              <a:defRPr/>
            </a:lvl2pPr>
            <a:lvl3pPr indent="-342900" lvl="2" marL="1371600" algn="l">
              <a:lnSpc>
                <a:spcPct val="100000"/>
              </a:lnSpc>
              <a:spcBef>
                <a:spcPts val="1200"/>
              </a:spcBef>
              <a:spcAft>
                <a:spcPts val="0"/>
              </a:spcAft>
              <a:buClr>
                <a:schemeClr val="lt2"/>
              </a:buClr>
              <a:buSzPts val="1800"/>
              <a:buChar char="•"/>
              <a:defRPr/>
            </a:lvl3pPr>
            <a:lvl4pPr indent="-342900" lvl="3" marL="1828800" algn="l">
              <a:lnSpc>
                <a:spcPct val="100000"/>
              </a:lnSpc>
              <a:spcBef>
                <a:spcPts val="1200"/>
              </a:spcBef>
              <a:spcAft>
                <a:spcPts val="0"/>
              </a:spcAft>
              <a:buClr>
                <a:schemeClr val="lt2"/>
              </a:buClr>
              <a:buSzPts val="1800"/>
              <a:buChar char="•"/>
              <a:defRPr/>
            </a:lvl4pPr>
            <a:lvl5pPr indent="-342900" lvl="4" marL="2286000" algn="l">
              <a:lnSpc>
                <a:spcPct val="100000"/>
              </a:lnSpc>
              <a:spcBef>
                <a:spcPts val="1200"/>
              </a:spcBef>
              <a:spcAft>
                <a:spcPts val="0"/>
              </a:spcAft>
              <a:buClr>
                <a:schemeClr val="lt2"/>
              </a:buClr>
              <a:buSzPts val="1800"/>
              <a:buChar char="•"/>
              <a:defRPr/>
            </a:lvl5pPr>
            <a:lvl6pPr indent="-228600" lvl="5" marL="2743200" algn="l">
              <a:lnSpc>
                <a:spcPct val="90000"/>
              </a:lnSpc>
              <a:spcBef>
                <a:spcPts val="0"/>
              </a:spcBef>
              <a:spcAft>
                <a:spcPts val="0"/>
              </a:spcAft>
              <a:buClr>
                <a:srgbClr val="5E5E5E"/>
              </a:buClr>
              <a:buSzPts val="1800"/>
              <a:buNone/>
              <a:defRPr/>
            </a:lvl6pPr>
            <a:lvl7pPr indent="-228600" lvl="6" marL="3200400" algn="l">
              <a:lnSpc>
                <a:spcPct val="90000"/>
              </a:lnSpc>
              <a:spcBef>
                <a:spcPts val="0"/>
              </a:spcBef>
              <a:spcAft>
                <a:spcPts val="0"/>
              </a:spcAft>
              <a:buClr>
                <a:srgbClr val="5E5E5E"/>
              </a:buClr>
              <a:buSzPts val="1800"/>
              <a:buNone/>
              <a:defRPr/>
            </a:lvl7pPr>
            <a:lvl8pPr indent="-228600" lvl="7" marL="3657600" algn="l">
              <a:lnSpc>
                <a:spcPct val="90000"/>
              </a:lnSpc>
              <a:spcBef>
                <a:spcPts val="0"/>
              </a:spcBef>
              <a:spcAft>
                <a:spcPts val="0"/>
              </a:spcAft>
              <a:buClr>
                <a:srgbClr val="5E5E5E"/>
              </a:buClr>
              <a:buSzPts val="1800"/>
              <a:buNone/>
              <a:defRPr/>
            </a:lvl8pPr>
            <a:lvl9pPr indent="-228600" lvl="8" marL="4114800" algn="l">
              <a:lnSpc>
                <a:spcPct val="90000"/>
              </a:lnSpc>
              <a:spcBef>
                <a:spcPts val="0"/>
              </a:spcBef>
              <a:spcAft>
                <a:spcPts val="0"/>
              </a:spcAft>
              <a:buClr>
                <a:srgbClr val="5E5E5E"/>
              </a:buClr>
              <a:buSzPts val="18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3.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5" Type="http://schemas.openxmlformats.org/officeDocument/2006/relationships/theme" Target="../theme/theme2.xml"/><Relationship Id="rId14" Type="http://schemas.openxmlformats.org/officeDocument/2006/relationships/slideLayout" Target="../slideLayouts/slideLayout2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5" name="Shape 95"/>
        <p:cNvGrpSpPr/>
        <p:nvPr/>
      </p:nvGrpSpPr>
      <p:grpSpPr>
        <a:xfrm>
          <a:off x="0" y="0"/>
          <a:ext cx="0" cy="0"/>
          <a:chOff x="0" y="0"/>
          <a:chExt cx="0" cy="0"/>
        </a:xfrm>
      </p:grpSpPr>
      <p:sp>
        <p:nvSpPr>
          <p:cNvPr id="96" name="Google Shape;96;g39a6a542a37_0_12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7" name="Google Shape;97;g39a6a542a37_0_12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8" name="Google Shape;98;g39a6a542a37_0_12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9" name="Google Shape;99;g39a6a542a37_0_12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0" name="Google Shape;100;g39a6a542a37_0_12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github.com/llvm/llvm-project" TargetMode="External"/><Relationship Id="rId4" Type="http://schemas.openxmlformats.org/officeDocument/2006/relationships/hyperlink" Target="https://github.com/gcc-mirror/gcc" TargetMode="External"/><Relationship Id="rId9" Type="http://schemas.openxmlformats.org/officeDocument/2006/relationships/image" Target="../media/image2.png"/><Relationship Id="rId5" Type="http://schemas.openxmlformats.org/officeDocument/2006/relationships/hyperlink" Target="https://bellard.org/tcc/" TargetMode="External"/><Relationship Id="rId6" Type="http://schemas.openxmlformats.org/officeDocument/2006/relationships/hyperlink" Target="https://github.com/dstogov/rcc" TargetMode="External"/><Relationship Id="rId7" Type="http://schemas.openxmlformats.org/officeDocument/2006/relationships/hyperlink" Target="https://github.com/rui314/chibicc" TargetMode="External"/><Relationship Id="rId8"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hyperlink" Target="https://www.stallman.or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hyperlink" Target="https://opensource.org/license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choosealicense.com/licenses/gpl-2.0/" TargetMode="External"/><Relationship Id="rId4" Type="http://schemas.openxmlformats.org/officeDocument/2006/relationships/hyperlink" Target="https://choosealicense.com/licenses/gpl-3.0/" TargetMode="External"/><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hyperlink" Target="https://flerka.github.io/personal-blog/2022-06-21-ahead-of-time-compilatio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github.com/llvm/llvm-project" TargetMode="External"/></Relationships>
</file>

<file path=ppt/slides/_rels/slide17.xml.rels><?xml version="1.0" encoding="UTF-8" standalone="yes"?><Relationships xmlns="http://schemas.openxmlformats.org/package/2006/relationships"><Relationship Id="rId11" Type="http://schemas.openxmlformats.org/officeDocument/2006/relationships/image" Target="../media/image8.png"/><Relationship Id="rId10" Type="http://schemas.openxmlformats.org/officeDocument/2006/relationships/image" Target="../media/image9.png"/><Relationship Id="rId13" Type="http://schemas.openxmlformats.org/officeDocument/2006/relationships/image" Target="../media/image14.png"/><Relationship Id="rId12" Type="http://schemas.openxmlformats.org/officeDocument/2006/relationships/image" Target="../media/image16.png"/><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github.com/rust-lang/rust" TargetMode="External"/><Relationship Id="rId4" Type="http://schemas.openxmlformats.org/officeDocument/2006/relationships/hyperlink" Target="https://github.com/swiftlang/swift" TargetMode="External"/><Relationship Id="rId9" Type="http://schemas.openxmlformats.org/officeDocument/2006/relationships/image" Target="../media/image6.png"/><Relationship Id="rId14" Type="http://schemas.openxmlformats.org/officeDocument/2006/relationships/image" Target="../media/image15.png"/><Relationship Id="rId5" Type="http://schemas.openxmlformats.org/officeDocument/2006/relationships/hyperlink" Target="https://github.com/JuliaLang/julia" TargetMode="External"/><Relationship Id="rId6" Type="http://schemas.openxmlformats.org/officeDocument/2006/relationships/hyperlink" Target="https://github.com/emscripten-core/emscripten" TargetMode="External"/><Relationship Id="rId7" Type="http://schemas.openxmlformats.org/officeDocument/2006/relationships/hyperlink" Target="https://codeberg.org/ziglang/zig" TargetMode="External"/><Relationship Id="rId8" Type="http://schemas.openxmlformats.org/officeDocument/2006/relationships/hyperlink" Target="https://github.com/ghc/ghc"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github.com/postgres/postgres/blob/master/src/backend/jit" TargetMode="External"/><Relationship Id="rId4" Type="http://schemas.openxmlformats.org/officeDocument/2006/relationships/hyperlink" Target="https://github.com/ClickHouse/ClickHouse" TargetMode="External"/><Relationship Id="rId5" Type="http://schemas.openxmlformats.org/officeDocument/2006/relationships/hyperlink" Target="https://docs.mesa3d.org/drivers/llvmpipe.html" TargetMode="External"/><Relationship Id="rId6" Type="http://schemas.openxmlformats.org/officeDocument/2006/relationships/hyperlink" Target="https://github.com/root-project/cling"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hyperlink" Target="https://github.com/pytorch/pytorch" TargetMode="External"/><Relationship Id="rId5" Type="http://schemas.openxmlformats.org/officeDocument/2006/relationships/image" Target="../media/image7.png"/><Relationship Id="rId6" Type="http://schemas.openxmlformats.org/officeDocument/2006/relationships/hyperlink" Target="https://www.learnpytorch.io/01_pytorch_workflow/"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0.png"/><Relationship Id="rId4" Type="http://schemas.openxmlformats.org/officeDocument/2006/relationships/hyperlink" Target="https://pytorch.org/get-started/pytorch-2-x/" TargetMode="External"/><Relationship Id="rId5" Type="http://schemas.openxmlformats.org/officeDocument/2006/relationships/hyperlink" Target="https://docs.pytorch.org/tutorials/compilers_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8.png"/><Relationship Id="rId4" Type="http://schemas.openxmlformats.org/officeDocument/2006/relationships/hyperlink" Target="https://pytorch.org/blog/accelerated-pytorch-inference/"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3.png"/><Relationship Id="rId4" Type="http://schemas.openxmlformats.org/officeDocument/2006/relationships/hyperlink" Target="https://medium.com/@Modexa/eight-torchscript-alternatives-for-the-pytorch-2-x-era-34dcb68f2940" TargetMode="External"/></Relationships>
</file>

<file path=ppt/slides/_rels/slide23.xml.rels><?xml version="1.0" encoding="UTF-8" standalone="yes"?><Relationships xmlns="http://schemas.openxmlformats.org/package/2006/relationships"><Relationship Id="rId11" Type="http://schemas.openxmlformats.org/officeDocument/2006/relationships/image" Target="../media/image21.png"/><Relationship Id="rId10" Type="http://schemas.openxmlformats.org/officeDocument/2006/relationships/image" Target="../media/image22.png"/><Relationship Id="rId13" Type="http://schemas.openxmlformats.org/officeDocument/2006/relationships/image" Target="../media/image28.png"/><Relationship Id="rId12" Type="http://schemas.openxmlformats.org/officeDocument/2006/relationships/image" Target="../media/image17.png"/><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9.png"/><Relationship Id="rId4" Type="http://schemas.openxmlformats.org/officeDocument/2006/relationships/hyperlink" Target="https://pytorch.org/docs/stable/torch.compiler.html" TargetMode="External"/><Relationship Id="rId9" Type="http://schemas.openxmlformats.org/officeDocument/2006/relationships/hyperlink" Target="https://github.com/pytorch/xla" TargetMode="External"/><Relationship Id="rId5" Type="http://schemas.openxmlformats.org/officeDocument/2006/relationships/hyperlink" Target="https://github.com/Lightning-AI/lightning-thunder" TargetMode="External"/><Relationship Id="rId6" Type="http://schemas.openxmlformats.org/officeDocument/2006/relationships/hyperlink" Target="https://github.com/iree-org/iree-turbine" TargetMode="External"/><Relationship Id="rId7" Type="http://schemas.openxmlformats.org/officeDocument/2006/relationships/hyperlink" Target="https://github.com/pytorch/TensorRT" TargetMode="External"/><Relationship Id="rId8" Type="http://schemas.openxmlformats.org/officeDocument/2006/relationships/hyperlink" Target="https://docs.openvino.ai/torchcompile"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www.singlestore.com/blog/a-guide-to-softmax-activation-function/" TargetMode="External"/><Relationship Id="rId4" Type="http://schemas.openxmlformats.org/officeDocument/2006/relationships/hyperlink" Target="https://openai.com/index/triton/" TargetMode="External"/><Relationship Id="rId9" Type="http://schemas.openxmlformats.org/officeDocument/2006/relationships/image" Target="../media/image27.png"/><Relationship Id="rId5" Type="http://schemas.openxmlformats.org/officeDocument/2006/relationships/hyperlink" Target="https://triton-lang.org/main/index.html" TargetMode="External"/><Relationship Id="rId6" Type="http://schemas.openxmlformats.org/officeDocument/2006/relationships/image" Target="../media/image20.png"/><Relationship Id="rId7" Type="http://schemas.openxmlformats.org/officeDocument/2006/relationships/image" Target="../media/image25.png"/><Relationship Id="rId8" Type="http://schemas.openxmlformats.org/officeDocument/2006/relationships/hyperlink" Target="https://godbolt.org/z/fc37Edob6"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4.png"/><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4.png"/><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hyperlink" Target="https://github.com/pypy/pypy" TargetMode="External"/><Relationship Id="rId4" Type="http://schemas.openxmlformats.org/officeDocument/2006/relationships/image" Target="../media/image39.png"/><Relationship Id="rId5" Type="http://schemas.openxmlformats.org/officeDocument/2006/relationships/hyperlink" Target="https://speed.pypy.org/"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hyperlink" Target="https://www.taichi-lang.org/" TargetMode="External"/><Relationship Id="rId4" Type="http://schemas.openxmlformats.org/officeDocument/2006/relationships/hyperlink" Target="https://github.com/taichi-dev/taichi" TargetMode="External"/><Relationship Id="rId5" Type="http://schemas.openxmlformats.org/officeDocument/2006/relationships/hyperlink" Target="https://numba.pydata.org/" TargetMode="External"/><Relationship Id="rId6" Type="http://schemas.openxmlformats.org/officeDocument/2006/relationships/hyperlink" Target="https://github.com/numba/numba" TargetMode="External"/><Relationship Id="rId7" Type="http://schemas.openxmlformats.org/officeDocument/2006/relationships/image" Target="../media/image31.png"/><Relationship Id="rId8" Type="http://schemas.openxmlformats.org/officeDocument/2006/relationships/image" Target="../media/image3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9.png"/><Relationship Id="rId4" Type="http://schemas.openxmlformats.org/officeDocument/2006/relationships/image" Target="../media/image24.png"/><Relationship Id="rId5" Type="http://schemas.openxmlformats.org/officeDocument/2006/relationships/hyperlink" Target="https://numba.pydata.org/numba-doc/dev/developer/architecture.html" TargetMode="External"/><Relationship Id="rId6"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hyperlink" Target="https://arxiv.org/pdf/2208.14755.pdf" TargetMode="External"/><Relationship Id="rId4" Type="http://schemas.openxmlformats.org/officeDocument/2006/relationships/image" Target="../media/image35.png"/><Relationship Id="rId5" Type="http://schemas.openxmlformats.org/officeDocument/2006/relationships/image" Target="../media/image3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forms.gle/taqUuCfNCq4u5Xn9A" TargetMode="External"/><Relationship Id="rId4" Type="http://schemas.openxmlformats.org/officeDocument/2006/relationships/hyperlink" Target="mailto:me@gooddoog.ru" TargetMode="External"/><Relationship Id="rId5"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6.xml"/><Relationship Id="rId3" Type="http://schemas.openxmlformats.org/officeDocument/2006/relationships/hyperlink" Target="https://forms.gle/kQENCeeS6anmf6Lp8" TargetMode="External"/><Relationship Id="rId4" Type="http://schemas.openxmlformats.org/officeDocument/2006/relationships/hyperlink" Target="mailto:me@gooddoog.ru" TargetMode="External"/><Relationship Id="rId5" Type="http://schemas.openxmlformats.org/officeDocument/2006/relationships/image" Target="../media/image37.png"/><Relationship Id="rId6" Type="http://schemas.openxmlformats.org/officeDocument/2006/relationships/image" Target="../media/image3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s://pytorch.org/blog/triton-kernel-compilation-stages/" TargetMode="External"/><Relationship Id="rId4" Type="http://schemas.openxmlformats.org/officeDocument/2006/relationships/hyperlink" Target="https://devguide.python.org/internal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35904ca52a9_0_0"/>
          <p:cNvSpPr txBox="1"/>
          <p:nvPr>
            <p:ph type="title"/>
          </p:nvPr>
        </p:nvSpPr>
        <p:spPr>
          <a:xfrm>
            <a:off x="1895475" y="3585275"/>
            <a:ext cx="6192300" cy="10917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lt1"/>
              </a:buClr>
              <a:buSzPts val="7500"/>
              <a:buFont typeface="Arial"/>
              <a:buNone/>
            </a:pPr>
            <a:r>
              <a:rPr lang="en-US"/>
              <a:t>Compilers 101</a:t>
            </a:r>
            <a:endParaRPr/>
          </a:p>
        </p:txBody>
      </p:sp>
      <p:sp>
        <p:nvSpPr>
          <p:cNvPr id="186" name="Google Shape;186;g35904ca52a9_0_0"/>
          <p:cNvSpPr txBox="1"/>
          <p:nvPr>
            <p:ph idx="2" type="body"/>
          </p:nvPr>
        </p:nvSpPr>
        <p:spPr>
          <a:xfrm>
            <a:off x="1908350" y="4778600"/>
            <a:ext cx="8226000" cy="3267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lt1"/>
              </a:buClr>
              <a:buSzPts val="1800"/>
              <a:buNone/>
            </a:pPr>
            <a:r>
              <a:rPr lang="en-US"/>
              <a:t>Outro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f3d4aa79e3_0_71"/>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Content</a:t>
            </a:r>
            <a:endParaRPr/>
          </a:p>
        </p:txBody>
      </p:sp>
      <p:sp>
        <p:nvSpPr>
          <p:cNvPr id="193" name="Google Shape;193;g3f3d4aa79e3_0_71"/>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b="1" lang="en-US"/>
              <a:t>LLVM vs GCC</a:t>
            </a:r>
            <a:endParaRPr b="1"/>
          </a:p>
          <a:p>
            <a:pPr indent="-342900" lvl="0" marL="457200" rtl="0" algn="l">
              <a:spcBef>
                <a:spcPts val="0"/>
              </a:spcBef>
              <a:spcAft>
                <a:spcPts val="0"/>
              </a:spcAft>
              <a:buSzPts val="1800"/>
              <a:buChar char="•"/>
            </a:pPr>
            <a:r>
              <a:rPr lang="en-US"/>
              <a:t>AOT vs JIT</a:t>
            </a:r>
            <a:endParaRPr/>
          </a:p>
          <a:p>
            <a:pPr indent="-342900" lvl="0" marL="457200" rtl="0" algn="l">
              <a:spcBef>
                <a:spcPts val="0"/>
              </a:spcBef>
              <a:spcAft>
                <a:spcPts val="0"/>
              </a:spcAft>
              <a:buSzPts val="1800"/>
              <a:buChar char="•"/>
            </a:pPr>
            <a:r>
              <a:rPr lang="en-US"/>
              <a:t>Compilers integration into ML workflows</a:t>
            </a:r>
            <a:endParaRPr/>
          </a:p>
          <a:p>
            <a:pPr indent="-342900" lvl="0" marL="457200" rtl="0" algn="l">
              <a:spcBef>
                <a:spcPts val="0"/>
              </a:spcBef>
              <a:spcAft>
                <a:spcPts val="0"/>
              </a:spcAft>
              <a:buSzPts val="1800"/>
              <a:buChar char="•"/>
            </a:pPr>
            <a:r>
              <a:rPr lang="en-US"/>
              <a:t>Python compilation process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3d6016f1f31_0_0"/>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LLVM is not the </a:t>
            </a:r>
            <a:r>
              <a:rPr lang="en-US"/>
              <a:t>only compiler infrastructure</a:t>
            </a:r>
            <a:endParaRPr/>
          </a:p>
        </p:txBody>
      </p:sp>
      <p:sp>
        <p:nvSpPr>
          <p:cNvPr id="200" name="Google Shape;200;g3d6016f1f31_0_0"/>
          <p:cNvSpPr txBox="1"/>
          <p:nvPr>
            <p:ph idx="1" type="body"/>
          </p:nvPr>
        </p:nvSpPr>
        <p:spPr>
          <a:xfrm>
            <a:off x="571375" y="1673450"/>
            <a:ext cx="113079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Throughout</a:t>
            </a:r>
            <a:r>
              <a:rPr lang="en-US"/>
              <a:t> this course, we were talking about LLVM compiler infrastructure</a:t>
            </a:r>
            <a:endParaRPr/>
          </a:p>
          <a:p>
            <a:pPr indent="0" lvl="0" marL="0" rtl="0" algn="l">
              <a:spcBef>
                <a:spcPts val="1000"/>
              </a:spcBef>
              <a:spcAft>
                <a:spcPts val="0"/>
              </a:spcAft>
              <a:buNone/>
            </a:pPr>
            <a:r>
              <a:rPr lang="en-US"/>
              <a:t>But this is not the one and only compiler infrastructure (if we focus on C/C++ only):</a:t>
            </a:r>
            <a:endParaRPr/>
          </a:p>
          <a:p>
            <a:pPr indent="-342900" lvl="0" marL="457200" rtl="0" algn="l">
              <a:spcBef>
                <a:spcPts val="1000"/>
              </a:spcBef>
              <a:spcAft>
                <a:spcPts val="0"/>
              </a:spcAft>
              <a:buSzPts val="1800"/>
              <a:buChar char="•"/>
            </a:pPr>
            <a:r>
              <a:rPr lang="en-US" u="sng">
                <a:solidFill>
                  <a:schemeClr val="hlink"/>
                </a:solidFill>
                <a:hlinkClick r:id="rId3"/>
              </a:rPr>
              <a:t>https://github.com/llvm/llvm-project</a:t>
            </a:r>
            <a:endParaRPr/>
          </a:p>
          <a:p>
            <a:pPr indent="-342900" lvl="0" marL="457200" rtl="0" algn="l">
              <a:spcBef>
                <a:spcPts val="0"/>
              </a:spcBef>
              <a:spcAft>
                <a:spcPts val="0"/>
              </a:spcAft>
              <a:buSzPts val="1800"/>
              <a:buChar char="•"/>
            </a:pPr>
            <a:r>
              <a:rPr lang="en-US" u="sng">
                <a:solidFill>
                  <a:schemeClr val="hlink"/>
                </a:solidFill>
                <a:hlinkClick r:id="rId4"/>
              </a:rPr>
              <a:t>https://github.com/gcc-mirror/gcc</a:t>
            </a:r>
            <a:endParaRPr/>
          </a:p>
          <a:p>
            <a:pPr indent="0" lvl="0" marL="0" rtl="0" algn="l">
              <a:spcBef>
                <a:spcPts val="1000"/>
              </a:spcBef>
              <a:spcAft>
                <a:spcPts val="0"/>
              </a:spcAft>
              <a:buNone/>
            </a:pPr>
            <a:r>
              <a:rPr lang="en-US"/>
              <a:t>Some smaller alternatives (not ready for the production usage):</a:t>
            </a:r>
            <a:endParaRPr/>
          </a:p>
          <a:p>
            <a:pPr indent="-342900" lvl="0" marL="457200" rtl="0" algn="l">
              <a:spcBef>
                <a:spcPts val="1000"/>
              </a:spcBef>
              <a:spcAft>
                <a:spcPts val="0"/>
              </a:spcAft>
              <a:buSzPts val="1800"/>
              <a:buChar char="•"/>
            </a:pPr>
            <a:r>
              <a:rPr lang="en-US" u="sng">
                <a:solidFill>
                  <a:schemeClr val="hlink"/>
                </a:solidFill>
                <a:hlinkClick r:id="rId5"/>
              </a:rPr>
              <a:t>https://bellard.org/tcc/</a:t>
            </a:r>
            <a:endParaRPr/>
          </a:p>
          <a:p>
            <a:pPr indent="-342900" lvl="0" marL="457200" rtl="0" algn="l">
              <a:spcBef>
                <a:spcPts val="0"/>
              </a:spcBef>
              <a:spcAft>
                <a:spcPts val="0"/>
              </a:spcAft>
              <a:buSzPts val="1800"/>
              <a:buChar char="•"/>
            </a:pPr>
            <a:r>
              <a:rPr lang="en-US" u="sng">
                <a:solidFill>
                  <a:schemeClr val="hlink"/>
                </a:solidFill>
                <a:hlinkClick r:id="rId6"/>
              </a:rPr>
              <a:t>https://github.com/dstogov/rcc</a:t>
            </a:r>
            <a:endParaRPr/>
          </a:p>
          <a:p>
            <a:pPr indent="-342900" lvl="0" marL="457200" rtl="0" algn="l">
              <a:spcBef>
                <a:spcPts val="0"/>
              </a:spcBef>
              <a:spcAft>
                <a:spcPts val="0"/>
              </a:spcAft>
              <a:buSzPts val="1800"/>
              <a:buChar char="•"/>
            </a:pPr>
            <a:r>
              <a:rPr lang="en-US" u="sng">
                <a:solidFill>
                  <a:schemeClr val="hlink"/>
                </a:solidFill>
                <a:hlinkClick r:id="rId7"/>
              </a:rPr>
              <a:t>https://github.com/rui314/chibicc</a:t>
            </a:r>
            <a:r>
              <a:rPr lang="en-US"/>
              <a:t> </a:t>
            </a:r>
            <a:endParaRPr/>
          </a:p>
        </p:txBody>
      </p:sp>
      <p:pic>
        <p:nvPicPr>
          <p:cNvPr id="201" name="Google Shape;201;g3d6016f1f31_0_0"/>
          <p:cNvPicPr preferRelativeResize="0"/>
          <p:nvPr/>
        </p:nvPicPr>
        <p:blipFill>
          <a:blip r:embed="rId8">
            <a:alphaModFix/>
          </a:blip>
          <a:stretch>
            <a:fillRect/>
          </a:stretch>
        </p:blipFill>
        <p:spPr>
          <a:xfrm>
            <a:off x="7237054" y="3003888"/>
            <a:ext cx="1357199" cy="850225"/>
          </a:xfrm>
          <a:prstGeom prst="rect">
            <a:avLst/>
          </a:prstGeom>
          <a:noFill/>
          <a:ln>
            <a:noFill/>
          </a:ln>
        </p:spPr>
      </p:pic>
      <p:pic>
        <p:nvPicPr>
          <p:cNvPr id="202" name="Google Shape;202;g3d6016f1f31_0_0"/>
          <p:cNvPicPr preferRelativeResize="0"/>
          <p:nvPr/>
        </p:nvPicPr>
        <p:blipFill>
          <a:blip r:embed="rId9">
            <a:alphaModFix/>
          </a:blip>
          <a:stretch>
            <a:fillRect/>
          </a:stretch>
        </p:blipFill>
        <p:spPr>
          <a:xfrm>
            <a:off x="9549113" y="2809888"/>
            <a:ext cx="1038225" cy="1238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3f3d4aa79e3_0_32"/>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GNU Compiler Collection</a:t>
            </a:r>
            <a:endParaRPr/>
          </a:p>
        </p:txBody>
      </p:sp>
      <p:sp>
        <p:nvSpPr>
          <p:cNvPr id="209" name="Google Shape;209;g3f3d4aa79e3_0_32"/>
          <p:cNvSpPr txBox="1"/>
          <p:nvPr>
            <p:ph idx="1" type="body"/>
          </p:nvPr>
        </p:nvSpPr>
        <p:spPr>
          <a:xfrm>
            <a:off x="571375" y="1565425"/>
            <a:ext cx="7431600" cy="4421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GCC (GNU C Compiler) was started by Richard Stallman in 1985, with its first public beta released on March 22, 1987</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a:t>In early 1990s GCC expanded beyond C, adding support for languages such as C++ and Fortran</a:t>
            </a:r>
            <a:endParaRPr/>
          </a:p>
          <a:p>
            <a:pPr indent="0" lvl="0" marL="0" rtl="0" algn="l">
              <a:spcBef>
                <a:spcPts val="1000"/>
              </a:spcBef>
              <a:spcAft>
                <a:spcPts val="0"/>
              </a:spcAft>
              <a:buNone/>
            </a:pPr>
            <a:r>
              <a:rPr lang="en-US"/>
              <a:t>Today GCC means GNU Compiler Collection and it provides shared optimization and code-generation infrastructure for many languages and processor architectures</a:t>
            </a:r>
            <a:endParaRPr/>
          </a:p>
        </p:txBody>
      </p:sp>
      <p:pic>
        <p:nvPicPr>
          <p:cNvPr id="210" name="Google Shape;210;g3f3d4aa79e3_0_32"/>
          <p:cNvPicPr preferRelativeResize="0"/>
          <p:nvPr/>
        </p:nvPicPr>
        <p:blipFill>
          <a:blip r:embed="rId3">
            <a:alphaModFix/>
          </a:blip>
          <a:stretch>
            <a:fillRect/>
          </a:stretch>
        </p:blipFill>
        <p:spPr>
          <a:xfrm>
            <a:off x="8398147" y="1332912"/>
            <a:ext cx="3240350" cy="4192174"/>
          </a:xfrm>
          <a:prstGeom prst="rect">
            <a:avLst/>
          </a:prstGeom>
          <a:noFill/>
          <a:ln>
            <a:noFill/>
          </a:ln>
        </p:spPr>
      </p:pic>
      <p:sp>
        <p:nvSpPr>
          <p:cNvPr id="211" name="Google Shape;211;g3f3d4aa79e3_0_32"/>
          <p:cNvSpPr txBox="1"/>
          <p:nvPr/>
        </p:nvSpPr>
        <p:spPr>
          <a:xfrm>
            <a:off x="8638500" y="650057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4"/>
              </a:rPr>
              <a:t>https://www.stallman.org/</a:t>
            </a:r>
            <a:r>
              <a:rPr lang="en-US"/>
              <a:t> </a:t>
            </a:r>
            <a:endParaRPr/>
          </a:p>
        </p:txBody>
      </p:sp>
      <p:sp>
        <p:nvSpPr>
          <p:cNvPr id="212" name="Google Shape;212;g3f3d4aa79e3_0_32"/>
          <p:cNvSpPr txBox="1"/>
          <p:nvPr/>
        </p:nvSpPr>
        <p:spPr>
          <a:xfrm>
            <a:off x="8693825" y="5525075"/>
            <a:ext cx="2649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Richard Matthew Stallman</a:t>
            </a:r>
            <a:endParaRPr sz="1800">
              <a:solidFill>
                <a:schemeClr val="dk1"/>
              </a:solidFill>
              <a:latin typeface="Calibri"/>
              <a:ea typeface="Calibri"/>
              <a:cs typeface="Calibri"/>
              <a:sym typeface="Calibri"/>
            </a:endParaRPr>
          </a:p>
        </p:txBody>
      </p:sp>
      <p:sp>
        <p:nvSpPr>
          <p:cNvPr id="213" name="Google Shape;213;g3f3d4aa79e3_0_32"/>
          <p:cNvSpPr txBox="1"/>
          <p:nvPr/>
        </p:nvSpPr>
        <p:spPr>
          <a:xfrm>
            <a:off x="628450" y="5970300"/>
            <a:ext cx="5656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GNU is an extensive collection of free software</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GNU - GNU is not Unix</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f3d4aa79e3_0_38"/>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LLVM vs GCC</a:t>
            </a:r>
            <a:endParaRPr/>
          </a:p>
        </p:txBody>
      </p:sp>
      <p:graphicFrame>
        <p:nvGraphicFramePr>
          <p:cNvPr id="220" name="Google Shape;220;g3f3d4aa79e3_0_38"/>
          <p:cNvGraphicFramePr/>
          <p:nvPr/>
        </p:nvGraphicFramePr>
        <p:xfrm>
          <a:off x="933330" y="1524000"/>
          <a:ext cx="3000000" cy="3000000"/>
        </p:xfrm>
        <a:graphic>
          <a:graphicData uri="http://schemas.openxmlformats.org/drawingml/2006/table">
            <a:tbl>
              <a:tblPr>
                <a:noFill/>
                <a:tableStyleId>{57A63409-1D51-4630-A7C8-51F4479C799A}</a:tableStyleId>
              </a:tblPr>
              <a:tblGrid>
                <a:gridCol w="3429000"/>
                <a:gridCol w="3429000"/>
                <a:gridCol w="3429000"/>
              </a:tblGrid>
              <a:tr h="381000">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ctr">
                        <a:spcBef>
                          <a:spcPts val="0"/>
                        </a:spcBef>
                        <a:spcAft>
                          <a:spcPts val="0"/>
                        </a:spcAft>
                        <a:buNone/>
                      </a:pPr>
                      <a:r>
                        <a:rPr b="1" lang="en-US" sz="1800"/>
                        <a:t>LLVM</a:t>
                      </a:r>
                      <a:endParaRPr b="1" sz="1800"/>
                    </a:p>
                  </a:txBody>
                  <a:tcPr marT="91425" marB="91425" marR="91425" marL="91425"/>
                </a:tc>
                <a:tc>
                  <a:txBody>
                    <a:bodyPr/>
                    <a:lstStyle/>
                    <a:p>
                      <a:pPr indent="0" lvl="0" marL="0" rtl="0" algn="ctr">
                        <a:spcBef>
                          <a:spcPts val="0"/>
                        </a:spcBef>
                        <a:spcAft>
                          <a:spcPts val="0"/>
                        </a:spcAft>
                        <a:buNone/>
                      </a:pPr>
                      <a:r>
                        <a:rPr b="1" lang="en-US" sz="1800"/>
                        <a:t>GCC</a:t>
                      </a:r>
                      <a:endParaRPr b="1" sz="1800"/>
                    </a:p>
                  </a:txBody>
                  <a:tcPr marT="91425" marB="91425" marR="91425" marL="91425"/>
                </a:tc>
              </a:tr>
              <a:tr h="381000">
                <a:tc>
                  <a:txBody>
                    <a:bodyPr/>
                    <a:lstStyle/>
                    <a:p>
                      <a:pPr indent="0" lvl="0" marL="0" rtl="0" algn="l">
                        <a:spcBef>
                          <a:spcPts val="0"/>
                        </a:spcBef>
                        <a:spcAft>
                          <a:spcPts val="0"/>
                        </a:spcAft>
                        <a:buNone/>
                      </a:pPr>
                      <a:r>
                        <a:rPr lang="en-US" sz="1800"/>
                        <a:t>License</a:t>
                      </a:r>
                      <a:endParaRPr sz="1800"/>
                    </a:p>
                  </a:txBody>
                  <a:tcPr marT="91425" marB="91425" marR="91425" marL="91425"/>
                </a:tc>
                <a:tc>
                  <a:txBody>
                    <a:bodyPr/>
                    <a:lstStyle/>
                    <a:p>
                      <a:pPr indent="0" lvl="0" marL="0" rtl="0" algn="l">
                        <a:spcBef>
                          <a:spcPts val="0"/>
                        </a:spcBef>
                        <a:spcAft>
                          <a:spcPts val="0"/>
                        </a:spcAft>
                        <a:buNone/>
                      </a:pPr>
                      <a:r>
                        <a:rPr lang="en-US" sz="1800"/>
                        <a:t>Apache 2.0 with LLVM Exceptions</a:t>
                      </a:r>
                      <a:endParaRPr sz="1800"/>
                    </a:p>
                  </a:txBody>
                  <a:tcPr marT="91425" marB="91425" marR="91425" marL="91425"/>
                </a:tc>
                <a:tc>
                  <a:txBody>
                    <a:bodyPr/>
                    <a:lstStyle/>
                    <a:p>
                      <a:pPr indent="0" lvl="0" marL="0" rtl="0" algn="l">
                        <a:spcBef>
                          <a:spcPts val="0"/>
                        </a:spcBef>
                        <a:spcAft>
                          <a:spcPts val="0"/>
                        </a:spcAft>
                        <a:buNone/>
                      </a:pPr>
                      <a:r>
                        <a:rPr lang="en-US" sz="1800"/>
                        <a:t>GPLv3 with GCC Runtime Library Exception</a:t>
                      </a:r>
                      <a:endParaRPr sz="1800"/>
                    </a:p>
                  </a:txBody>
                  <a:tcPr marT="91425" marB="91425" marR="91425" marL="91425"/>
                </a:tc>
              </a:tr>
              <a:tr h="381000">
                <a:tc>
                  <a:txBody>
                    <a:bodyPr/>
                    <a:lstStyle/>
                    <a:p>
                      <a:pPr indent="0" lvl="0" marL="0" rtl="0" algn="l">
                        <a:spcBef>
                          <a:spcPts val="0"/>
                        </a:spcBef>
                        <a:spcAft>
                          <a:spcPts val="0"/>
                        </a:spcAft>
                        <a:buNone/>
                      </a:pPr>
                      <a:r>
                        <a:rPr lang="en-US" sz="1800"/>
                        <a:t>Positioning</a:t>
                      </a:r>
                      <a:endParaRPr sz="1800"/>
                    </a:p>
                  </a:txBody>
                  <a:tcPr marT="91425" marB="91425" marR="91425" marL="91425"/>
                </a:tc>
                <a:tc>
                  <a:txBody>
                    <a:bodyPr/>
                    <a:lstStyle/>
                    <a:p>
                      <a:pPr indent="0" lvl="0" marL="0" rtl="0" algn="l">
                        <a:spcBef>
                          <a:spcPts val="0"/>
                        </a:spcBef>
                        <a:spcAft>
                          <a:spcPts val="0"/>
                        </a:spcAft>
                        <a:buNone/>
                      </a:pPr>
                      <a:r>
                        <a:rPr lang="en-US" sz="1800"/>
                        <a:t>Modular, reusable compiler infrastructure</a:t>
                      </a:r>
                      <a:endParaRPr sz="1800"/>
                    </a:p>
                  </a:txBody>
                  <a:tcPr marT="91425" marB="91425" marR="91425" marL="91425"/>
                </a:tc>
                <a:tc>
                  <a:txBody>
                    <a:bodyPr/>
                    <a:lstStyle/>
                    <a:p>
                      <a:pPr indent="0" lvl="0" marL="0" rtl="0" algn="l">
                        <a:spcBef>
                          <a:spcPts val="0"/>
                        </a:spcBef>
                        <a:spcAft>
                          <a:spcPts val="0"/>
                        </a:spcAft>
                        <a:buNone/>
                      </a:pPr>
                      <a:r>
                        <a:rPr lang="en-US" sz="1800"/>
                        <a:t>Traditional compiler</a:t>
                      </a:r>
                      <a:endParaRPr sz="1800"/>
                    </a:p>
                  </a:txBody>
                  <a:tcPr marT="91425" marB="91425" marR="91425" marL="91425"/>
                </a:tc>
              </a:tr>
              <a:tr h="381000">
                <a:tc gridSpan="3">
                  <a:txBody>
                    <a:bodyPr/>
                    <a:lstStyle/>
                    <a:p>
                      <a:pPr indent="0" lvl="0" marL="0" rtl="0" algn="l">
                        <a:spcBef>
                          <a:spcPts val="0"/>
                        </a:spcBef>
                        <a:spcAft>
                          <a:spcPts val="0"/>
                        </a:spcAft>
                        <a:buNone/>
                      </a:pPr>
                      <a:r>
                        <a:rPr lang="en-US" sz="1800"/>
                        <a:t>Languages</a:t>
                      </a:r>
                      <a:endParaRPr sz="1800"/>
                    </a:p>
                  </a:txBody>
                  <a:tcPr marT="91425" marB="91425" marR="91425" marL="91425"/>
                </a:tc>
                <a:tc hMerge="1"/>
                <a:tc hMerge="1"/>
              </a:tr>
              <a:tr h="381000">
                <a:tc>
                  <a:txBody>
                    <a:bodyPr/>
                    <a:lstStyle/>
                    <a:p>
                      <a:pPr indent="0" lvl="0" marL="0" rtl="0" algn="l">
                        <a:spcBef>
                          <a:spcPts val="0"/>
                        </a:spcBef>
                        <a:spcAft>
                          <a:spcPts val="0"/>
                        </a:spcAft>
                        <a:buNone/>
                      </a:pPr>
                      <a:r>
                        <a:rPr lang="en-US" sz="1800">
                          <a:solidFill>
                            <a:schemeClr val="dk1"/>
                          </a:solidFill>
                        </a:rPr>
                        <a:t>        </a:t>
                      </a:r>
                      <a:r>
                        <a:rPr lang="en-US" sz="1800">
                          <a:solidFill>
                            <a:schemeClr val="dk1"/>
                          </a:solidFill>
                        </a:rPr>
                        <a:t>built-in (in-tree):</a:t>
                      </a:r>
                      <a:endParaRPr sz="1800"/>
                    </a:p>
                  </a:txBody>
                  <a:tcPr marT="91425" marB="91425" marR="91425" marL="91425"/>
                </a:tc>
                <a:tc>
                  <a:txBody>
                    <a:bodyPr/>
                    <a:lstStyle/>
                    <a:p>
                      <a:pPr indent="0" lvl="0" marL="0" rtl="0" algn="l">
                        <a:spcBef>
                          <a:spcPts val="0"/>
                        </a:spcBef>
                        <a:spcAft>
                          <a:spcPts val="0"/>
                        </a:spcAft>
                        <a:buNone/>
                      </a:pPr>
                      <a:r>
                        <a:rPr lang="en-US" sz="1800"/>
                        <a:t>Clang: C, C++, Objective-C/++, OpenCL, C++ for OpenCL, CUDA and HIP, HLSL</a:t>
                      </a:r>
                      <a:endParaRPr sz="1800"/>
                    </a:p>
                    <a:p>
                      <a:pPr indent="0" lvl="0" marL="0" rtl="0" algn="l">
                        <a:spcBef>
                          <a:spcPts val="0"/>
                        </a:spcBef>
                        <a:spcAft>
                          <a:spcPts val="0"/>
                        </a:spcAft>
                        <a:buNone/>
                      </a:pPr>
                      <a:r>
                        <a:rPr lang="en-US" sz="1800"/>
                        <a:t>Flang: Fortran</a:t>
                      </a:r>
                      <a:endParaRPr sz="1800"/>
                    </a:p>
                  </a:txBody>
                  <a:tcPr marT="91425" marB="91425" marR="91425" marL="91425"/>
                </a:tc>
                <a:tc>
                  <a:txBody>
                    <a:bodyPr/>
                    <a:lstStyle/>
                    <a:p>
                      <a:pPr indent="0" lvl="0" marL="0" rtl="0" algn="l">
                        <a:spcBef>
                          <a:spcPts val="0"/>
                        </a:spcBef>
                        <a:spcAft>
                          <a:spcPts val="0"/>
                        </a:spcAft>
                        <a:buNone/>
                      </a:pPr>
                      <a:r>
                        <a:rPr lang="en-US" sz="1800">
                          <a:solidFill>
                            <a:schemeClr val="dk1"/>
                          </a:solidFill>
                        </a:rPr>
                        <a:t>C, C++, Fortran, Ada, Go, D</a:t>
                      </a:r>
                      <a:endParaRPr sz="1800"/>
                    </a:p>
                  </a:txBody>
                  <a:tcPr marT="91425" marB="91425" marR="91425" marL="91425"/>
                </a:tc>
              </a:tr>
              <a:tr h="381000">
                <a:tc>
                  <a:txBody>
                    <a:bodyPr/>
                    <a:lstStyle/>
                    <a:p>
                      <a:pPr indent="0" lvl="0" marL="0" rtl="0" algn="l">
                        <a:spcBef>
                          <a:spcPts val="0"/>
                        </a:spcBef>
                        <a:spcAft>
                          <a:spcPts val="0"/>
                        </a:spcAft>
                        <a:buNone/>
                      </a:pPr>
                      <a:r>
                        <a:rPr lang="en-US" sz="1800">
                          <a:solidFill>
                            <a:schemeClr val="dk1"/>
                          </a:solidFill>
                        </a:rPr>
                        <a:t>        3rdparty (out-of-tree):</a:t>
                      </a:r>
                      <a:endParaRPr sz="1800"/>
                    </a:p>
                  </a:txBody>
                  <a:tcPr marT="91425" marB="91425" marR="91425" marL="91425"/>
                </a:tc>
                <a:tc>
                  <a:txBody>
                    <a:bodyPr/>
                    <a:lstStyle/>
                    <a:p>
                      <a:pPr indent="0" lvl="0" marL="0" rtl="0" algn="l">
                        <a:spcBef>
                          <a:spcPts val="0"/>
                        </a:spcBef>
                        <a:spcAft>
                          <a:spcPts val="0"/>
                        </a:spcAft>
                        <a:buNone/>
                      </a:pPr>
                      <a:r>
                        <a:rPr lang="en-US" sz="1800"/>
                        <a:t>Many separate compilers use LLVM as a backend, including Rust, Julia, Swift, Haskell, Kotlin Native, Zig, D, …</a:t>
                      </a:r>
                      <a:endParaRPr sz="1800"/>
                    </a:p>
                  </a:txBody>
                  <a:tcPr marT="91425" marB="91425" marR="91425" marL="91425"/>
                </a:tc>
                <a:tc>
                  <a:txBody>
                    <a:bodyPr/>
                    <a:lstStyle/>
                    <a:p>
                      <a:pPr indent="0" lvl="0" marL="0" rtl="0" algn="l">
                        <a:spcBef>
                          <a:spcPts val="0"/>
                        </a:spcBef>
                        <a:spcAft>
                          <a:spcPts val="0"/>
                        </a:spcAft>
                        <a:buNone/>
                      </a:pPr>
                      <a:r>
                        <a:rPr lang="en-US" sz="1800"/>
                        <a:t>Pascal (GPC), VHDL, …</a:t>
                      </a:r>
                      <a:endParaRPr sz="1800"/>
                    </a:p>
                  </a:txBody>
                  <a:tcPr marT="91425" marB="91425" marR="91425" marL="91425"/>
                </a:tc>
              </a:tr>
            </a:tbl>
          </a:graphicData>
        </a:graphic>
      </p:graphicFrame>
      <p:pic>
        <p:nvPicPr>
          <p:cNvPr id="221" name="Google Shape;221;g3f3d4aa79e3_0_38"/>
          <p:cNvPicPr preferRelativeResize="0"/>
          <p:nvPr/>
        </p:nvPicPr>
        <p:blipFill>
          <a:blip r:embed="rId3">
            <a:alphaModFix/>
          </a:blip>
          <a:stretch>
            <a:fillRect/>
          </a:stretch>
        </p:blipFill>
        <p:spPr>
          <a:xfrm>
            <a:off x="5398229" y="622625"/>
            <a:ext cx="1357199" cy="850225"/>
          </a:xfrm>
          <a:prstGeom prst="rect">
            <a:avLst/>
          </a:prstGeom>
          <a:noFill/>
          <a:ln>
            <a:noFill/>
          </a:ln>
        </p:spPr>
      </p:pic>
      <p:pic>
        <p:nvPicPr>
          <p:cNvPr id="222" name="Google Shape;222;g3f3d4aa79e3_0_38"/>
          <p:cNvPicPr preferRelativeResize="0"/>
          <p:nvPr/>
        </p:nvPicPr>
        <p:blipFill>
          <a:blip r:embed="rId4">
            <a:alphaModFix/>
          </a:blip>
          <a:stretch>
            <a:fillRect/>
          </a:stretch>
        </p:blipFill>
        <p:spPr>
          <a:xfrm>
            <a:off x="8999213" y="234588"/>
            <a:ext cx="1038225" cy="1238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id="228" name="Google Shape;228;g3f3d4aa79e3_0_59"/>
          <p:cNvPicPr preferRelativeResize="0"/>
          <p:nvPr/>
        </p:nvPicPr>
        <p:blipFill>
          <a:blip r:embed="rId3">
            <a:alphaModFix/>
          </a:blip>
          <a:stretch>
            <a:fillRect/>
          </a:stretch>
        </p:blipFill>
        <p:spPr>
          <a:xfrm>
            <a:off x="952500" y="0"/>
            <a:ext cx="10286999" cy="6857999"/>
          </a:xfrm>
          <a:prstGeom prst="rect">
            <a:avLst/>
          </a:prstGeom>
          <a:noFill/>
          <a:ln>
            <a:noFill/>
          </a:ln>
        </p:spPr>
      </p:pic>
      <p:sp>
        <p:nvSpPr>
          <p:cNvPr id="229" name="Google Shape;229;g3f3d4aa79e3_0_59"/>
          <p:cNvSpPr txBox="1"/>
          <p:nvPr/>
        </p:nvSpPr>
        <p:spPr>
          <a:xfrm>
            <a:off x="8444849" y="6372950"/>
            <a:ext cx="2651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4"/>
              </a:rPr>
              <a:t>https://opensource.org/licenses</a:t>
            </a:r>
            <a:r>
              <a:rPr lang="en-US"/>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g3f3d4aa79e3_0_45"/>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GNU GPL License</a:t>
            </a:r>
            <a:endParaRPr/>
          </a:p>
        </p:txBody>
      </p:sp>
      <p:sp>
        <p:nvSpPr>
          <p:cNvPr id="236" name="Google Shape;236;g3f3d4aa79e3_0_45"/>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Strong copyleft open-source license</a:t>
            </a:r>
            <a:endParaRPr/>
          </a:p>
          <a:p>
            <a:pPr indent="-342900" lvl="0" marL="457200" rtl="0" algn="l">
              <a:spcBef>
                <a:spcPts val="0"/>
              </a:spcBef>
              <a:spcAft>
                <a:spcPts val="0"/>
              </a:spcAft>
              <a:buSzPts val="1800"/>
              <a:buChar char="•"/>
            </a:pPr>
            <a:r>
              <a:rPr lang="en-US"/>
              <a:t>Allows commercial use, modification and redistribution</a:t>
            </a:r>
            <a:endParaRPr/>
          </a:p>
          <a:p>
            <a:pPr indent="-342900" lvl="0" marL="457200" rtl="0" algn="l">
              <a:spcBef>
                <a:spcPts val="0"/>
              </a:spcBef>
              <a:spcAft>
                <a:spcPts val="0"/>
              </a:spcAft>
              <a:buSzPts val="1800"/>
              <a:buChar char="•"/>
            </a:pPr>
            <a:r>
              <a:rPr lang="en-US"/>
              <a:t>Distributed modified versions </a:t>
            </a:r>
            <a:r>
              <a:rPr b="1" lang="en-US"/>
              <a:t>must</a:t>
            </a:r>
            <a:r>
              <a:rPr lang="en-US"/>
              <a:t> remain under the GPL</a:t>
            </a:r>
            <a:endParaRPr/>
          </a:p>
          <a:p>
            <a:pPr indent="-342900" lvl="0" marL="457200" rtl="0" algn="l">
              <a:spcBef>
                <a:spcPts val="0"/>
              </a:spcBef>
              <a:spcAft>
                <a:spcPts val="0"/>
              </a:spcAft>
              <a:buSzPts val="1800"/>
              <a:buChar char="•"/>
            </a:pPr>
            <a:r>
              <a:rPr lang="en-US"/>
              <a:t>Corresponding source code must be made available when binaries are distributed</a:t>
            </a:r>
            <a:endParaRPr/>
          </a:p>
          <a:p>
            <a:pPr indent="-342900" lvl="0" marL="457200" rtl="0" algn="l">
              <a:spcBef>
                <a:spcPts val="0"/>
              </a:spcBef>
              <a:spcAft>
                <a:spcPts val="0"/>
              </a:spcAft>
              <a:buSzPts val="1800"/>
              <a:buChar char="•"/>
            </a:pPr>
            <a:r>
              <a:rPr lang="en-US"/>
              <a:t>Includes copyright notices and warranty disclaimers</a:t>
            </a:r>
            <a:endParaRPr/>
          </a:p>
          <a:p>
            <a:pPr indent="-342900" lvl="0" marL="457200" rtl="0" algn="l">
              <a:spcBef>
                <a:spcPts val="0"/>
              </a:spcBef>
              <a:spcAft>
                <a:spcPts val="0"/>
              </a:spcAft>
              <a:buSzPts val="1800"/>
              <a:buChar char="•"/>
            </a:pPr>
            <a:r>
              <a:rPr lang="en-US"/>
              <a:t>Commonly used versions: </a:t>
            </a:r>
            <a:r>
              <a:rPr lang="en-US" u="sng">
                <a:solidFill>
                  <a:schemeClr val="hlink"/>
                </a:solidFill>
                <a:hlinkClick r:id="rId3"/>
              </a:rPr>
              <a:t>GPLv2</a:t>
            </a:r>
            <a:r>
              <a:rPr lang="en-US"/>
              <a:t> and </a:t>
            </a:r>
            <a:r>
              <a:rPr lang="en-US" u="sng">
                <a:solidFill>
                  <a:schemeClr val="hlink"/>
                </a:solidFill>
                <a:hlinkClick r:id="rId4"/>
              </a:rPr>
              <a:t>GPLv3</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sz="1800"/>
              <a:t>Copyleft is a licensing principle that allows software to be used, modified, and redistributed, but requires derivative works to remain under the same or a compatible open-source license</a:t>
            </a:r>
            <a:endParaRPr sz="1800"/>
          </a:p>
        </p:txBody>
      </p:sp>
      <p:pic>
        <p:nvPicPr>
          <p:cNvPr id="237" name="Google Shape;237;g3f3d4aa79e3_0_45"/>
          <p:cNvPicPr preferRelativeResize="0"/>
          <p:nvPr/>
        </p:nvPicPr>
        <p:blipFill>
          <a:blip r:embed="rId5">
            <a:alphaModFix/>
          </a:blip>
          <a:stretch>
            <a:fillRect/>
          </a:stretch>
        </p:blipFill>
        <p:spPr>
          <a:xfrm>
            <a:off x="9348275" y="391750"/>
            <a:ext cx="2386150" cy="1186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f3d4aa79e3_0_12"/>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US"/>
              <a:t>Content</a:t>
            </a:r>
            <a:endParaRPr/>
          </a:p>
        </p:txBody>
      </p:sp>
      <p:sp>
        <p:nvSpPr>
          <p:cNvPr id="244" name="Google Shape;244;g3f3d4aa79e3_0_12"/>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LLVM vs GCC</a:t>
            </a:r>
            <a:endParaRPr b="1"/>
          </a:p>
          <a:p>
            <a:pPr indent="-342900" lvl="0" marL="457200" rtl="0" algn="l">
              <a:spcBef>
                <a:spcPts val="0"/>
              </a:spcBef>
              <a:spcAft>
                <a:spcPts val="0"/>
              </a:spcAft>
              <a:buSzPts val="1800"/>
              <a:buChar char="•"/>
            </a:pPr>
            <a:r>
              <a:rPr b="1" lang="en-US"/>
              <a:t>AOT vs JIT</a:t>
            </a:r>
            <a:endParaRPr b="1"/>
          </a:p>
          <a:p>
            <a:pPr indent="-342900" lvl="0" marL="457200" rtl="0" algn="l">
              <a:spcBef>
                <a:spcPts val="0"/>
              </a:spcBef>
              <a:spcAft>
                <a:spcPts val="0"/>
              </a:spcAft>
              <a:buSzPts val="1800"/>
              <a:buChar char="•"/>
            </a:pPr>
            <a:r>
              <a:rPr lang="en-US"/>
              <a:t>Compilers integration into ML workflows</a:t>
            </a:r>
            <a:endParaRPr/>
          </a:p>
          <a:p>
            <a:pPr indent="-342900" lvl="0" marL="457200" rtl="0" algn="l">
              <a:spcBef>
                <a:spcPts val="0"/>
              </a:spcBef>
              <a:spcAft>
                <a:spcPts val="0"/>
              </a:spcAft>
              <a:buSzPts val="1800"/>
              <a:buChar char="•"/>
            </a:pPr>
            <a:r>
              <a:rPr lang="en-US"/>
              <a:t>Python compilation process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3d6016f1f31_0_44"/>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Compilation types: AOT vs JIT</a:t>
            </a:r>
            <a:endParaRPr/>
          </a:p>
        </p:txBody>
      </p:sp>
      <p:sp>
        <p:nvSpPr>
          <p:cNvPr id="251" name="Google Shape;251;g3d6016f1f31_0_44"/>
          <p:cNvSpPr txBox="1"/>
          <p:nvPr>
            <p:ph idx="1" type="body"/>
          </p:nvPr>
        </p:nvSpPr>
        <p:spPr>
          <a:xfrm>
            <a:off x="251675" y="1673450"/>
            <a:ext cx="63654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A compiler translates a program from one representation to another.</a:t>
            </a:r>
            <a:endParaRPr/>
          </a:p>
          <a:p>
            <a:pPr indent="0" lvl="0" marL="0" rtl="0" algn="l">
              <a:spcBef>
                <a:spcPts val="1000"/>
              </a:spcBef>
              <a:spcAft>
                <a:spcPts val="0"/>
              </a:spcAft>
              <a:buNone/>
            </a:pPr>
            <a:r>
              <a:rPr lang="en-US"/>
              <a:t>But when the transformation happens?</a:t>
            </a:r>
            <a:endParaRPr/>
          </a:p>
          <a:p>
            <a:pPr indent="-342900" lvl="0" marL="457200" rtl="0" algn="l">
              <a:spcBef>
                <a:spcPts val="1000"/>
              </a:spcBef>
              <a:spcAft>
                <a:spcPts val="0"/>
              </a:spcAft>
              <a:buSzPts val="1800"/>
              <a:buChar char="•"/>
            </a:pPr>
            <a:r>
              <a:rPr lang="en-US"/>
              <a:t>Before execution (ahead-of-time, AOT)</a:t>
            </a:r>
            <a:endParaRPr/>
          </a:p>
          <a:p>
            <a:pPr indent="-342900" lvl="1" marL="914400" rtl="0" algn="l">
              <a:spcBef>
                <a:spcPts val="0"/>
              </a:spcBef>
              <a:spcAft>
                <a:spcPts val="0"/>
              </a:spcAft>
              <a:buSzPts val="1800"/>
              <a:buChar char="•"/>
            </a:pPr>
            <a:r>
              <a:rPr lang="en-US"/>
              <a:t>The program is compiled into machine code in advance</a:t>
            </a:r>
            <a:endParaRPr/>
          </a:p>
          <a:p>
            <a:pPr indent="-342900" lvl="0" marL="457200" rtl="0" algn="l">
              <a:spcBef>
                <a:spcPts val="0"/>
              </a:spcBef>
              <a:spcAft>
                <a:spcPts val="0"/>
              </a:spcAft>
              <a:buSzPts val="1800"/>
              <a:buChar char="•"/>
            </a:pPr>
            <a:r>
              <a:rPr lang="en-US"/>
              <a:t>During execution (just-in-time, JIT)</a:t>
            </a:r>
            <a:endParaRPr/>
          </a:p>
          <a:p>
            <a:pPr indent="-342900" lvl="1" marL="914400" rtl="0" algn="l">
              <a:spcBef>
                <a:spcPts val="0"/>
              </a:spcBef>
              <a:spcAft>
                <a:spcPts val="0"/>
              </a:spcAft>
              <a:buSzPts val="1800"/>
              <a:buChar char="•"/>
            </a:pPr>
            <a:r>
              <a:rPr lang="en-US"/>
              <a:t>The program is compiled while it is running</a:t>
            </a:r>
            <a:endParaRPr/>
          </a:p>
        </p:txBody>
      </p:sp>
      <p:pic>
        <p:nvPicPr>
          <p:cNvPr id="252" name="Google Shape;252;g3d6016f1f31_0_44"/>
          <p:cNvPicPr preferRelativeResize="0"/>
          <p:nvPr/>
        </p:nvPicPr>
        <p:blipFill>
          <a:blip r:embed="rId3">
            <a:alphaModFix/>
          </a:blip>
          <a:stretch>
            <a:fillRect/>
          </a:stretch>
        </p:blipFill>
        <p:spPr>
          <a:xfrm>
            <a:off x="6689250" y="646638"/>
            <a:ext cx="5502751" cy="5564724"/>
          </a:xfrm>
          <a:prstGeom prst="rect">
            <a:avLst/>
          </a:prstGeom>
          <a:noFill/>
          <a:ln>
            <a:noFill/>
          </a:ln>
        </p:spPr>
      </p:pic>
      <p:sp>
        <p:nvSpPr>
          <p:cNvPr id="253" name="Google Shape;253;g3d6016f1f31_0_44"/>
          <p:cNvSpPr txBox="1"/>
          <p:nvPr/>
        </p:nvSpPr>
        <p:spPr>
          <a:xfrm>
            <a:off x="6103000" y="6248450"/>
            <a:ext cx="613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4"/>
              </a:rPr>
              <a:t>https://flerka.github.io/personal-blog/2022-06-21-ahead-of-time-compilation/</a:t>
            </a:r>
            <a:r>
              <a:rPr lang="en-US"/>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d6016f1f31_0_56"/>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AOT (ahead-of-time) compilation</a:t>
            </a:r>
            <a:endParaRPr/>
          </a:p>
        </p:txBody>
      </p:sp>
      <p:sp>
        <p:nvSpPr>
          <p:cNvPr id="260" name="Google Shape;260;g3d6016f1f31_0_56"/>
          <p:cNvSpPr txBox="1"/>
          <p:nvPr>
            <p:ph idx="1" type="body"/>
          </p:nvPr>
        </p:nvSpPr>
        <p:spPr>
          <a:xfrm>
            <a:off x="571374" y="1673450"/>
            <a:ext cx="82686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Idea: compile the program before it is executed</a:t>
            </a:r>
            <a:endParaRPr/>
          </a:p>
          <a:p>
            <a:pPr indent="0" lvl="0" marL="0" rtl="0" algn="l">
              <a:spcBef>
                <a:spcPts val="1000"/>
              </a:spcBef>
              <a:spcAft>
                <a:spcPts val="0"/>
              </a:spcAft>
              <a:buNone/>
            </a:pPr>
            <a:r>
              <a:rPr lang="en-US"/>
              <a:t>Examples: statically compiled native </a:t>
            </a:r>
            <a:r>
              <a:rPr lang="en-US"/>
              <a:t>languages</a:t>
            </a:r>
            <a:r>
              <a:rPr lang="en-US"/>
              <a:t> (C/C++, Rust, Go, …)</a:t>
            </a:r>
            <a:endParaRPr/>
          </a:p>
        </p:txBody>
      </p:sp>
      <p:pic>
        <p:nvPicPr>
          <p:cNvPr id="261" name="Google Shape;261;g3d6016f1f31_0_56"/>
          <p:cNvPicPr preferRelativeResize="0"/>
          <p:nvPr/>
        </p:nvPicPr>
        <p:blipFill rotWithShape="1">
          <a:blip r:embed="rId3">
            <a:alphaModFix/>
          </a:blip>
          <a:srcRect b="0" l="39084" r="0" t="0"/>
          <a:stretch/>
        </p:blipFill>
        <p:spPr>
          <a:xfrm>
            <a:off x="8839900" y="646650"/>
            <a:ext cx="3352101" cy="5564700"/>
          </a:xfrm>
          <a:prstGeom prst="rect">
            <a:avLst/>
          </a:prstGeom>
          <a:noFill/>
          <a:ln>
            <a:noFill/>
          </a:ln>
        </p:spPr>
      </p:pic>
      <p:sp>
        <p:nvSpPr>
          <p:cNvPr id="262" name="Google Shape;262;g3d6016f1f31_0_56"/>
          <p:cNvSpPr txBox="1"/>
          <p:nvPr/>
        </p:nvSpPr>
        <p:spPr>
          <a:xfrm>
            <a:off x="671125" y="3145875"/>
            <a:ext cx="3764400" cy="2678100"/>
          </a:xfrm>
          <a:prstGeom prst="rect">
            <a:avLst/>
          </a:prstGeom>
          <a:noFill/>
          <a:ln>
            <a:noFill/>
          </a:ln>
        </p:spPr>
        <p:txBody>
          <a:bodyPr anchorCtr="0" anchor="t" bIns="91425" lIns="91425" spcFirstLastPara="1" rIns="91425" wrap="square" tIns="91425">
            <a:spAutoFit/>
          </a:bodyPr>
          <a:lstStyle/>
          <a:p>
            <a:pPr indent="-342900" lvl="0" marL="457200" rtl="0" algn="l">
              <a:lnSpc>
                <a:spcPct val="100000"/>
              </a:lnSpc>
              <a:spcBef>
                <a:spcPts val="120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Fast startup: code is already compiled</a:t>
            </a:r>
            <a:endParaRPr sz="1800">
              <a:solidFill>
                <a:schemeClr val="dk1"/>
              </a:solidFill>
              <a:latin typeface="Calibri"/>
              <a:ea typeface="Calibri"/>
              <a:cs typeface="Calibri"/>
              <a:sym typeface="Calibri"/>
            </a:endParaRPr>
          </a:p>
          <a:p>
            <a:pPr indent="-342900" lvl="0" marL="457200" rtl="0" algn="l">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Easier deployment as a native binary</a:t>
            </a:r>
            <a:endParaRPr sz="1800">
              <a:solidFill>
                <a:schemeClr val="dk1"/>
              </a:solidFill>
              <a:latin typeface="Calibri"/>
              <a:ea typeface="Calibri"/>
              <a:cs typeface="Calibri"/>
              <a:sym typeface="Calibri"/>
            </a:endParaRPr>
          </a:p>
          <a:p>
            <a:pPr indent="-342900" lvl="0" marL="457200" rtl="0" algn="l">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Predictable performance</a:t>
            </a:r>
            <a:endParaRPr sz="1800">
              <a:solidFill>
                <a:schemeClr val="dk1"/>
              </a:solidFill>
              <a:latin typeface="Calibri"/>
              <a:ea typeface="Calibri"/>
              <a:cs typeface="Calibri"/>
              <a:sym typeface="Calibri"/>
            </a:endParaRPr>
          </a:p>
          <a:p>
            <a:pPr indent="-342900" lvl="0" marL="457200" rtl="0" algn="l">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Many optimizations can be done before execution</a:t>
            </a:r>
            <a:endParaRPr sz="1800">
              <a:solidFill>
                <a:schemeClr val="dk1"/>
              </a:solidFill>
              <a:latin typeface="Calibri"/>
              <a:ea typeface="Calibri"/>
              <a:cs typeface="Calibri"/>
              <a:sym typeface="Calibri"/>
            </a:endParaRPr>
          </a:p>
          <a:p>
            <a:pPr indent="-342900" lvl="0" marL="457200" rtl="0" algn="l">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No compiler has to run during program execution</a:t>
            </a:r>
            <a:endParaRPr sz="1800">
              <a:solidFill>
                <a:schemeClr val="dk1"/>
              </a:solidFill>
              <a:latin typeface="Calibri"/>
              <a:ea typeface="Calibri"/>
              <a:cs typeface="Calibri"/>
              <a:sym typeface="Calibri"/>
            </a:endParaRPr>
          </a:p>
        </p:txBody>
      </p:sp>
      <p:sp>
        <p:nvSpPr>
          <p:cNvPr id="263" name="Google Shape;263;g3d6016f1f31_0_56"/>
          <p:cNvSpPr txBox="1"/>
          <p:nvPr/>
        </p:nvSpPr>
        <p:spPr>
          <a:xfrm>
            <a:off x="4435525" y="3145875"/>
            <a:ext cx="3764400" cy="1847100"/>
          </a:xfrm>
          <a:prstGeom prst="rect">
            <a:avLst/>
          </a:prstGeom>
          <a:noFill/>
          <a:ln>
            <a:noFill/>
          </a:ln>
        </p:spPr>
        <p:txBody>
          <a:bodyPr anchorCtr="0" anchor="t" bIns="91425" lIns="91425" spcFirstLastPara="1" rIns="91425" wrap="square" tIns="91425">
            <a:spAutoFit/>
          </a:bodyPr>
          <a:lstStyle/>
          <a:p>
            <a:pPr indent="-342900" lvl="0" marL="457200" rtl="0" algn="l">
              <a:lnSpc>
                <a:spcPct val="100000"/>
              </a:lnSpc>
              <a:spcBef>
                <a:spcPts val="120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Less information about actual runtime behavior</a:t>
            </a:r>
            <a:endParaRPr sz="1800">
              <a:solidFill>
                <a:schemeClr val="dk1"/>
              </a:solidFill>
              <a:latin typeface="Calibri"/>
              <a:ea typeface="Calibri"/>
              <a:cs typeface="Calibri"/>
              <a:sym typeface="Calibri"/>
            </a:endParaRPr>
          </a:p>
          <a:p>
            <a:pPr indent="-342900" lvl="0" marL="457200" rtl="0" algn="l">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Binary is usually platform-specific</a:t>
            </a:r>
            <a:endParaRPr sz="1800">
              <a:solidFill>
                <a:schemeClr val="dk1"/>
              </a:solidFill>
              <a:latin typeface="Calibri"/>
              <a:ea typeface="Calibri"/>
              <a:cs typeface="Calibri"/>
              <a:sym typeface="Calibri"/>
            </a:endParaRPr>
          </a:p>
          <a:p>
            <a:pPr indent="-342900" lvl="0" marL="457200" rtl="0" algn="l">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Harder to optimize for real input data and real execution paths</a:t>
            </a:r>
            <a:endParaRPr sz="1800">
              <a:solidFill>
                <a:schemeClr val="dk1"/>
              </a:solidFill>
              <a:latin typeface="Calibri"/>
              <a:ea typeface="Calibri"/>
              <a:cs typeface="Calibri"/>
              <a:sym typeface="Calibri"/>
            </a:endParaRPr>
          </a:p>
          <a:p>
            <a:pPr indent="-342900" lvl="0" marL="457200" rtl="0" algn="l">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Compilation may take a long time</a:t>
            </a:r>
            <a:endParaRPr sz="1800">
              <a:solidFill>
                <a:schemeClr val="dk1"/>
              </a:solidFill>
              <a:latin typeface="Calibri"/>
              <a:ea typeface="Calibri"/>
              <a:cs typeface="Calibri"/>
              <a:sym typeface="Calibri"/>
            </a:endParaRPr>
          </a:p>
        </p:txBody>
      </p:sp>
      <p:sp>
        <p:nvSpPr>
          <p:cNvPr id="264" name="Google Shape;264;g3d6016f1f31_0_56"/>
          <p:cNvSpPr txBox="1"/>
          <p:nvPr/>
        </p:nvSpPr>
        <p:spPr>
          <a:xfrm>
            <a:off x="5337363" y="5141000"/>
            <a:ext cx="2600700" cy="1559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000"/>
              </a:spcBef>
              <a:spcAft>
                <a:spcPts val="0"/>
              </a:spcAft>
              <a:buNone/>
            </a:pPr>
            <a:r>
              <a:rPr lang="en-US" sz="1800">
                <a:solidFill>
                  <a:schemeClr val="dk1"/>
                </a:solidFill>
                <a:latin typeface="Calibri"/>
                <a:ea typeface="Calibri"/>
                <a:cs typeface="Calibri"/>
                <a:sym typeface="Calibri"/>
              </a:rPr>
              <a:t>Typical use cases:</a:t>
            </a:r>
            <a:endParaRPr sz="1800">
              <a:solidFill>
                <a:schemeClr val="dk1"/>
              </a:solidFill>
              <a:latin typeface="Calibri"/>
              <a:ea typeface="Calibri"/>
              <a:cs typeface="Calibri"/>
              <a:sym typeface="Calibri"/>
            </a:endParaRPr>
          </a:p>
          <a:p>
            <a:pPr indent="-342900" lvl="0" marL="457200" rtl="0" algn="l">
              <a:lnSpc>
                <a:spcPct val="90000"/>
              </a:lnSpc>
              <a:spcBef>
                <a:spcPts val="1000"/>
              </a:spcBef>
              <a:spcAft>
                <a:spcPts val="0"/>
              </a:spcAft>
              <a:buClr>
                <a:schemeClr val="dk1"/>
              </a:buClr>
              <a:buSzPts val="1800"/>
              <a:buChar char="•"/>
            </a:pPr>
            <a:r>
              <a:rPr lang="en-US" sz="1800">
                <a:solidFill>
                  <a:schemeClr val="dk1"/>
                </a:solidFill>
                <a:latin typeface="Calibri"/>
                <a:ea typeface="Calibri"/>
                <a:cs typeface="Calibri"/>
                <a:sym typeface="Calibri"/>
              </a:rPr>
              <a:t>Operating systems</a:t>
            </a:r>
            <a:endParaRPr sz="1800">
              <a:solidFill>
                <a:schemeClr val="dk1"/>
              </a:solidFill>
              <a:latin typeface="Calibri"/>
              <a:ea typeface="Calibri"/>
              <a:cs typeface="Calibri"/>
              <a:sym typeface="Calibri"/>
            </a:endParaRPr>
          </a:p>
          <a:p>
            <a:pPr indent="-342900" lvl="0" marL="457200" rtl="0" algn="l">
              <a:lnSpc>
                <a:spcPct val="90000"/>
              </a:lnSpc>
              <a:spcBef>
                <a:spcPts val="0"/>
              </a:spcBef>
              <a:spcAft>
                <a:spcPts val="0"/>
              </a:spcAft>
              <a:buClr>
                <a:schemeClr val="dk1"/>
              </a:buClr>
              <a:buSzPts val="1800"/>
              <a:buChar char="•"/>
            </a:pPr>
            <a:r>
              <a:rPr lang="en-US" sz="1800">
                <a:solidFill>
                  <a:schemeClr val="dk1"/>
                </a:solidFill>
                <a:latin typeface="Calibri"/>
                <a:ea typeface="Calibri"/>
                <a:cs typeface="Calibri"/>
                <a:sym typeface="Calibri"/>
              </a:rPr>
              <a:t>Embedded systems</a:t>
            </a:r>
            <a:endParaRPr sz="1800">
              <a:solidFill>
                <a:schemeClr val="dk1"/>
              </a:solidFill>
              <a:latin typeface="Calibri"/>
              <a:ea typeface="Calibri"/>
              <a:cs typeface="Calibri"/>
              <a:sym typeface="Calibri"/>
            </a:endParaRPr>
          </a:p>
          <a:p>
            <a:pPr indent="-342900" lvl="0" marL="457200" rtl="0" algn="l">
              <a:lnSpc>
                <a:spcPct val="90000"/>
              </a:lnSpc>
              <a:spcBef>
                <a:spcPts val="0"/>
              </a:spcBef>
              <a:spcAft>
                <a:spcPts val="0"/>
              </a:spcAft>
              <a:buClr>
                <a:schemeClr val="dk1"/>
              </a:buClr>
              <a:buSzPts val="1800"/>
              <a:buChar char="•"/>
            </a:pPr>
            <a:r>
              <a:rPr lang="en-US" sz="1800">
                <a:solidFill>
                  <a:schemeClr val="dk1"/>
                </a:solidFill>
                <a:latin typeface="Calibri"/>
                <a:ea typeface="Calibri"/>
                <a:cs typeface="Calibri"/>
                <a:sym typeface="Calibri"/>
              </a:rPr>
              <a:t>Performance-critical native applications</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3d6016f1f31_0_50"/>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JIT</a:t>
            </a:r>
            <a:r>
              <a:rPr lang="en-US"/>
              <a:t> (just-in-time) compilation</a:t>
            </a:r>
            <a:endParaRPr/>
          </a:p>
        </p:txBody>
      </p:sp>
      <p:sp>
        <p:nvSpPr>
          <p:cNvPr id="271" name="Google Shape;271;g3d6016f1f31_0_50"/>
          <p:cNvSpPr txBox="1"/>
          <p:nvPr>
            <p:ph idx="1" type="body"/>
          </p:nvPr>
        </p:nvSpPr>
        <p:spPr>
          <a:xfrm>
            <a:off x="571374" y="1673450"/>
            <a:ext cx="92019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n-US"/>
              <a:t>Idea: compile code while the program is running</a:t>
            </a:r>
            <a:endParaRPr/>
          </a:p>
          <a:p>
            <a:pPr indent="0" lvl="0" marL="0" rtl="0" algn="l">
              <a:spcBef>
                <a:spcPts val="1000"/>
              </a:spcBef>
              <a:spcAft>
                <a:spcPts val="0"/>
              </a:spcAft>
              <a:buNone/>
            </a:pPr>
            <a:r>
              <a:rPr lang="en-US"/>
              <a:t>Examples: dynamically compiled languages and their runtimes (Java JVM, .NET CLR, JavaScript engines such as V8, PyPy)</a:t>
            </a:r>
            <a:endParaRPr/>
          </a:p>
          <a:p>
            <a:pPr indent="0" lvl="0" marL="0" rtl="0" algn="l">
              <a:spcBef>
                <a:spcPts val="1000"/>
              </a:spcBef>
              <a:spcAft>
                <a:spcPts val="0"/>
              </a:spcAft>
              <a:buNone/>
            </a:pPr>
            <a:r>
              <a:t/>
            </a:r>
            <a:endParaRPr/>
          </a:p>
        </p:txBody>
      </p:sp>
      <p:pic>
        <p:nvPicPr>
          <p:cNvPr id="272" name="Google Shape;272;g3d6016f1f31_0_50"/>
          <p:cNvPicPr preferRelativeResize="0"/>
          <p:nvPr/>
        </p:nvPicPr>
        <p:blipFill rotWithShape="1">
          <a:blip r:embed="rId3">
            <a:alphaModFix/>
          </a:blip>
          <a:srcRect b="0" l="0" r="60155" t="0"/>
          <a:stretch/>
        </p:blipFill>
        <p:spPr>
          <a:xfrm>
            <a:off x="9898050" y="646650"/>
            <a:ext cx="2192600" cy="5564700"/>
          </a:xfrm>
          <a:prstGeom prst="rect">
            <a:avLst/>
          </a:prstGeom>
          <a:noFill/>
          <a:ln>
            <a:noFill/>
          </a:ln>
        </p:spPr>
      </p:pic>
      <p:sp>
        <p:nvSpPr>
          <p:cNvPr id="273" name="Google Shape;273;g3d6016f1f31_0_50"/>
          <p:cNvSpPr txBox="1"/>
          <p:nvPr/>
        </p:nvSpPr>
        <p:spPr>
          <a:xfrm>
            <a:off x="8850400" y="5099050"/>
            <a:ext cx="2600700" cy="1559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000"/>
              </a:spcBef>
              <a:spcAft>
                <a:spcPts val="0"/>
              </a:spcAft>
              <a:buClr>
                <a:schemeClr val="dk1"/>
              </a:buClr>
              <a:buSzPts val="1100"/>
              <a:buFont typeface="Arial"/>
              <a:buNone/>
            </a:pPr>
            <a:r>
              <a:rPr lang="en-US" sz="1800">
                <a:solidFill>
                  <a:schemeClr val="dk1"/>
                </a:solidFill>
                <a:latin typeface="Calibri"/>
                <a:ea typeface="Calibri"/>
                <a:cs typeface="Calibri"/>
                <a:sym typeface="Calibri"/>
              </a:rPr>
              <a:t>Typical use cases:</a:t>
            </a:r>
            <a:endParaRPr sz="1800">
              <a:solidFill>
                <a:schemeClr val="dk1"/>
              </a:solidFill>
              <a:latin typeface="Calibri"/>
              <a:ea typeface="Calibri"/>
              <a:cs typeface="Calibri"/>
              <a:sym typeface="Calibri"/>
            </a:endParaRPr>
          </a:p>
          <a:p>
            <a:pPr indent="-342900" lvl="0" marL="457200" rtl="0" algn="l">
              <a:lnSpc>
                <a:spcPct val="90000"/>
              </a:lnSpc>
              <a:spcBef>
                <a:spcPts val="1000"/>
              </a:spcBef>
              <a:spcAft>
                <a:spcPts val="0"/>
              </a:spcAft>
              <a:buClr>
                <a:schemeClr val="dk1"/>
              </a:buClr>
              <a:buSzPts val="1800"/>
              <a:buChar char="•"/>
            </a:pPr>
            <a:r>
              <a:rPr lang="en-US" sz="1800">
                <a:solidFill>
                  <a:schemeClr val="dk1"/>
                </a:solidFill>
                <a:latin typeface="Calibri"/>
                <a:ea typeface="Calibri"/>
                <a:cs typeface="Calibri"/>
                <a:sym typeface="Calibri"/>
              </a:rPr>
              <a:t>Web browsers</a:t>
            </a:r>
            <a:endParaRPr sz="1800">
              <a:solidFill>
                <a:schemeClr val="dk1"/>
              </a:solidFill>
              <a:latin typeface="Calibri"/>
              <a:ea typeface="Calibri"/>
              <a:cs typeface="Calibri"/>
              <a:sym typeface="Calibri"/>
            </a:endParaRPr>
          </a:p>
          <a:p>
            <a:pPr indent="-342900" lvl="0" marL="457200" rtl="0" algn="l">
              <a:lnSpc>
                <a:spcPct val="90000"/>
              </a:lnSpc>
              <a:spcBef>
                <a:spcPts val="0"/>
              </a:spcBef>
              <a:spcAft>
                <a:spcPts val="0"/>
              </a:spcAft>
              <a:buClr>
                <a:schemeClr val="dk1"/>
              </a:buClr>
              <a:buSzPts val="1800"/>
              <a:buChar char="•"/>
            </a:pPr>
            <a:r>
              <a:rPr lang="en-US" sz="1800">
                <a:solidFill>
                  <a:schemeClr val="dk1"/>
                </a:solidFill>
                <a:latin typeface="Calibri"/>
                <a:ea typeface="Calibri"/>
                <a:cs typeface="Calibri"/>
                <a:sym typeface="Calibri"/>
              </a:rPr>
              <a:t>Virtual machines</a:t>
            </a:r>
            <a:endParaRPr sz="1800">
              <a:solidFill>
                <a:schemeClr val="dk1"/>
              </a:solidFill>
              <a:latin typeface="Calibri"/>
              <a:ea typeface="Calibri"/>
              <a:cs typeface="Calibri"/>
              <a:sym typeface="Calibri"/>
            </a:endParaRPr>
          </a:p>
          <a:p>
            <a:pPr indent="-342900" lvl="0" marL="457200" rtl="0" algn="l">
              <a:lnSpc>
                <a:spcPct val="90000"/>
              </a:lnSpc>
              <a:spcBef>
                <a:spcPts val="0"/>
              </a:spcBef>
              <a:spcAft>
                <a:spcPts val="0"/>
              </a:spcAft>
              <a:buClr>
                <a:schemeClr val="dk1"/>
              </a:buClr>
              <a:buSzPts val="1800"/>
              <a:buChar char="•"/>
            </a:pPr>
            <a:r>
              <a:rPr lang="en-US" sz="1800">
                <a:solidFill>
                  <a:schemeClr val="dk1"/>
                </a:solidFill>
                <a:latin typeface="Calibri"/>
                <a:ea typeface="Calibri"/>
                <a:cs typeface="Calibri"/>
                <a:sym typeface="Calibri"/>
              </a:rPr>
              <a:t>Managed languages</a:t>
            </a:r>
            <a:endParaRPr sz="1800">
              <a:solidFill>
                <a:schemeClr val="dk1"/>
              </a:solidFill>
              <a:latin typeface="Calibri"/>
              <a:ea typeface="Calibri"/>
              <a:cs typeface="Calibri"/>
              <a:sym typeface="Calibri"/>
            </a:endParaRPr>
          </a:p>
          <a:p>
            <a:pPr indent="-342900" lvl="0" marL="457200" rtl="0" algn="l">
              <a:lnSpc>
                <a:spcPct val="90000"/>
              </a:lnSpc>
              <a:spcBef>
                <a:spcPts val="0"/>
              </a:spcBef>
              <a:spcAft>
                <a:spcPts val="0"/>
              </a:spcAft>
              <a:buClr>
                <a:schemeClr val="dk1"/>
              </a:buClr>
              <a:buSzPts val="1800"/>
              <a:buChar char="•"/>
            </a:pPr>
            <a:r>
              <a:rPr lang="en-US" sz="1800">
                <a:solidFill>
                  <a:schemeClr val="dk1"/>
                </a:solidFill>
                <a:latin typeface="Calibri"/>
                <a:ea typeface="Calibri"/>
                <a:cs typeface="Calibri"/>
                <a:sym typeface="Calibri"/>
              </a:rPr>
              <a:t>Dynamic languages</a:t>
            </a:r>
            <a:endParaRPr sz="1800">
              <a:solidFill>
                <a:schemeClr val="dk1"/>
              </a:solidFill>
              <a:latin typeface="Calibri"/>
              <a:ea typeface="Calibri"/>
              <a:cs typeface="Calibri"/>
              <a:sym typeface="Calibri"/>
            </a:endParaRPr>
          </a:p>
        </p:txBody>
      </p:sp>
      <p:sp>
        <p:nvSpPr>
          <p:cNvPr id="274" name="Google Shape;274;g3d6016f1f31_0_50"/>
          <p:cNvSpPr txBox="1"/>
          <p:nvPr/>
        </p:nvSpPr>
        <p:spPr>
          <a:xfrm>
            <a:off x="671125" y="3145875"/>
            <a:ext cx="3764400" cy="2678100"/>
          </a:xfrm>
          <a:prstGeom prst="rect">
            <a:avLst/>
          </a:prstGeom>
          <a:noFill/>
          <a:ln>
            <a:noFill/>
          </a:ln>
        </p:spPr>
        <p:txBody>
          <a:bodyPr anchorCtr="0" anchor="t" bIns="91425" lIns="91425" spcFirstLastPara="1" rIns="91425" wrap="square" tIns="91425">
            <a:spAutoFit/>
          </a:bodyPr>
          <a:lstStyle/>
          <a:p>
            <a:pPr indent="-342900" lvl="0" marL="457200" rtl="0" algn="l">
              <a:lnSpc>
                <a:spcPct val="100000"/>
              </a:lnSpc>
              <a:spcBef>
                <a:spcPts val="120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Can use runtime information for optimization</a:t>
            </a:r>
            <a:endParaRPr sz="1800">
              <a:solidFill>
                <a:schemeClr val="dk1"/>
              </a:solidFill>
              <a:latin typeface="Calibri"/>
              <a:ea typeface="Calibri"/>
              <a:cs typeface="Calibri"/>
              <a:sym typeface="Calibri"/>
            </a:endParaRPr>
          </a:p>
          <a:p>
            <a:pPr indent="-342900" lvl="0" marL="457200" rtl="0" algn="l">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Can optimize hot paths: the parts of code executed most often</a:t>
            </a:r>
            <a:endParaRPr sz="1800">
              <a:solidFill>
                <a:schemeClr val="dk1"/>
              </a:solidFill>
              <a:latin typeface="Calibri"/>
              <a:ea typeface="Calibri"/>
              <a:cs typeface="Calibri"/>
              <a:sym typeface="Calibri"/>
            </a:endParaRPr>
          </a:p>
          <a:p>
            <a:pPr indent="-342900" lvl="0" marL="457200" rtl="0" algn="l">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Can specialize code for actual types, values, CPU features, and branches</a:t>
            </a:r>
            <a:endParaRPr sz="1800">
              <a:solidFill>
                <a:schemeClr val="dk1"/>
              </a:solidFill>
              <a:latin typeface="Calibri"/>
              <a:ea typeface="Calibri"/>
              <a:cs typeface="Calibri"/>
              <a:sym typeface="Calibri"/>
            </a:endParaRPr>
          </a:p>
          <a:p>
            <a:pPr indent="-342900" lvl="0" marL="457200" rtl="0" algn="l">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Portable bytecode can run on many platforms</a:t>
            </a:r>
            <a:endParaRPr sz="1800">
              <a:solidFill>
                <a:schemeClr val="dk1"/>
              </a:solidFill>
              <a:latin typeface="Calibri"/>
              <a:ea typeface="Calibri"/>
              <a:cs typeface="Calibri"/>
              <a:sym typeface="Calibri"/>
            </a:endParaRPr>
          </a:p>
        </p:txBody>
      </p:sp>
      <p:sp>
        <p:nvSpPr>
          <p:cNvPr id="275" name="Google Shape;275;g3d6016f1f31_0_50"/>
          <p:cNvSpPr txBox="1"/>
          <p:nvPr/>
        </p:nvSpPr>
        <p:spPr>
          <a:xfrm>
            <a:off x="4435525" y="3145875"/>
            <a:ext cx="3764400" cy="2955300"/>
          </a:xfrm>
          <a:prstGeom prst="rect">
            <a:avLst/>
          </a:prstGeom>
          <a:noFill/>
          <a:ln>
            <a:noFill/>
          </a:ln>
        </p:spPr>
        <p:txBody>
          <a:bodyPr anchorCtr="0" anchor="t" bIns="91425" lIns="91425" spcFirstLastPara="1" rIns="91425" wrap="square" tIns="91425">
            <a:spAutoFit/>
          </a:bodyPr>
          <a:lstStyle/>
          <a:p>
            <a:pPr indent="-342900" lvl="0" marL="457200" rtl="0" algn="l">
              <a:lnSpc>
                <a:spcPct val="100000"/>
              </a:lnSpc>
              <a:spcBef>
                <a:spcPts val="120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Slower startup due to interpretation and compilation overhead</a:t>
            </a:r>
            <a:endParaRPr sz="1800">
              <a:solidFill>
                <a:schemeClr val="dk1"/>
              </a:solidFill>
              <a:latin typeface="Calibri"/>
              <a:ea typeface="Calibri"/>
              <a:cs typeface="Calibri"/>
              <a:sym typeface="Calibri"/>
            </a:endParaRPr>
          </a:p>
          <a:p>
            <a:pPr indent="-342900" lvl="0" marL="457200" rtl="0" algn="l">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More complex runtime system</a:t>
            </a:r>
            <a:endParaRPr sz="1800">
              <a:solidFill>
                <a:schemeClr val="dk1"/>
              </a:solidFill>
              <a:latin typeface="Calibri"/>
              <a:ea typeface="Calibri"/>
              <a:cs typeface="Calibri"/>
              <a:sym typeface="Calibri"/>
            </a:endParaRPr>
          </a:p>
          <a:p>
            <a:pPr indent="-342900" lvl="0" marL="457200" rtl="0" algn="l">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Uses extra memory for profiling data and generated machine code</a:t>
            </a:r>
            <a:endParaRPr sz="1800">
              <a:solidFill>
                <a:schemeClr val="dk1"/>
              </a:solidFill>
              <a:latin typeface="Calibri"/>
              <a:ea typeface="Calibri"/>
              <a:cs typeface="Calibri"/>
              <a:sym typeface="Calibri"/>
            </a:endParaRPr>
          </a:p>
          <a:p>
            <a:pPr indent="-342900" lvl="0" marL="457200" rtl="0" algn="l">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Performance can change during execution due to recompilation and lack of optimizations</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3d9cf9aaceb_0_9"/>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AOT vs JIT</a:t>
            </a:r>
            <a:endParaRPr/>
          </a:p>
        </p:txBody>
      </p:sp>
      <p:graphicFrame>
        <p:nvGraphicFramePr>
          <p:cNvPr id="282" name="Google Shape;282;g3d9cf9aaceb_0_9"/>
          <p:cNvGraphicFramePr/>
          <p:nvPr/>
        </p:nvGraphicFramePr>
        <p:xfrm>
          <a:off x="383075" y="1787300"/>
          <a:ext cx="3000000" cy="3000000"/>
        </p:xfrm>
        <a:graphic>
          <a:graphicData uri="http://schemas.openxmlformats.org/drawingml/2006/table">
            <a:tbl>
              <a:tblPr>
                <a:noFill/>
                <a:tableStyleId>{E6147DA0-FFD3-4E58-BEDF-B9C9C8EF843C}</a:tableStyleId>
              </a:tblPr>
              <a:tblGrid>
                <a:gridCol w="3874875"/>
                <a:gridCol w="3704550"/>
                <a:gridCol w="3938750"/>
              </a:tblGrid>
              <a:tr h="38125">
                <a:tc>
                  <a:txBody>
                    <a:bodyPr/>
                    <a:lstStyle/>
                    <a:p>
                      <a:pPr indent="0" lvl="0" marL="0" rtl="0" algn="ctr">
                        <a:lnSpc>
                          <a:spcPct val="100000"/>
                        </a:lnSpc>
                        <a:spcBef>
                          <a:spcPts val="0"/>
                        </a:spcBef>
                        <a:spcAft>
                          <a:spcPts val="0"/>
                        </a:spcAft>
                        <a:buNone/>
                      </a:pPr>
                      <a:r>
                        <a:rPr b="1" lang="en-US" sz="1800"/>
                        <a:t>Feature</a:t>
                      </a:r>
                      <a:endParaRPr b="1" sz="1800"/>
                    </a:p>
                  </a:txBody>
                  <a:tcPr marT="91425" marB="91425" marR="91425" marL="91425"/>
                </a:tc>
                <a:tc>
                  <a:txBody>
                    <a:bodyPr/>
                    <a:lstStyle/>
                    <a:p>
                      <a:pPr indent="0" lvl="0" marL="0" rtl="0" algn="ctr">
                        <a:lnSpc>
                          <a:spcPct val="100000"/>
                        </a:lnSpc>
                        <a:spcBef>
                          <a:spcPts val="0"/>
                        </a:spcBef>
                        <a:spcAft>
                          <a:spcPts val="0"/>
                        </a:spcAft>
                        <a:buNone/>
                      </a:pPr>
                      <a:r>
                        <a:rPr b="1" lang="en-US" sz="1800"/>
                        <a:t>AOT</a:t>
                      </a:r>
                      <a:endParaRPr b="1" sz="1800"/>
                    </a:p>
                  </a:txBody>
                  <a:tcPr marT="91425" marB="91425" marR="91425" marL="91425"/>
                </a:tc>
                <a:tc>
                  <a:txBody>
                    <a:bodyPr/>
                    <a:lstStyle/>
                    <a:p>
                      <a:pPr indent="0" lvl="0" marL="0" rtl="0" algn="ctr">
                        <a:lnSpc>
                          <a:spcPct val="100000"/>
                        </a:lnSpc>
                        <a:spcBef>
                          <a:spcPts val="0"/>
                        </a:spcBef>
                        <a:spcAft>
                          <a:spcPts val="0"/>
                        </a:spcAft>
                        <a:buNone/>
                      </a:pPr>
                      <a:r>
                        <a:rPr b="1" lang="en-US" sz="1800"/>
                        <a:t>JIT</a:t>
                      </a:r>
                      <a:endParaRPr b="1" sz="1800"/>
                    </a:p>
                  </a:txBody>
                  <a:tcPr marT="91425" marB="91425" marR="91425" marL="91425"/>
                </a:tc>
              </a:tr>
              <a:tr h="40325">
                <a:tc>
                  <a:txBody>
                    <a:bodyPr/>
                    <a:lstStyle/>
                    <a:p>
                      <a:pPr indent="0" lvl="0" marL="0" rtl="0" algn="ctr">
                        <a:lnSpc>
                          <a:spcPct val="100000"/>
                        </a:lnSpc>
                        <a:spcBef>
                          <a:spcPts val="0"/>
                        </a:spcBef>
                        <a:spcAft>
                          <a:spcPts val="0"/>
                        </a:spcAft>
                        <a:buNone/>
                      </a:pPr>
                      <a:r>
                        <a:rPr lang="en-US" sz="1800"/>
                        <a:t>Compilation time</a:t>
                      </a:r>
                      <a:endParaRPr sz="1800"/>
                    </a:p>
                  </a:txBody>
                  <a:tcPr marT="91425" marB="91425" marR="91425" marL="91425"/>
                </a:tc>
                <a:tc>
                  <a:txBody>
                    <a:bodyPr/>
                    <a:lstStyle/>
                    <a:p>
                      <a:pPr indent="0" lvl="0" marL="0" rtl="0" algn="ctr">
                        <a:lnSpc>
                          <a:spcPct val="100000"/>
                        </a:lnSpc>
                        <a:spcBef>
                          <a:spcPts val="0"/>
                        </a:spcBef>
                        <a:spcAft>
                          <a:spcPts val="0"/>
                        </a:spcAft>
                        <a:buNone/>
                      </a:pPr>
                      <a:r>
                        <a:rPr lang="en-US" sz="1800"/>
                        <a:t>Before execution</a:t>
                      </a:r>
                      <a:endParaRPr sz="1800"/>
                    </a:p>
                  </a:txBody>
                  <a:tcPr marT="91425" marB="91425" marR="91425" marL="91425"/>
                </a:tc>
                <a:tc>
                  <a:txBody>
                    <a:bodyPr/>
                    <a:lstStyle/>
                    <a:p>
                      <a:pPr indent="0" lvl="0" marL="0" rtl="0" algn="ctr">
                        <a:lnSpc>
                          <a:spcPct val="100000"/>
                        </a:lnSpc>
                        <a:spcBef>
                          <a:spcPts val="0"/>
                        </a:spcBef>
                        <a:spcAft>
                          <a:spcPts val="0"/>
                        </a:spcAft>
                        <a:buNone/>
                      </a:pPr>
                      <a:r>
                        <a:rPr lang="en-US" sz="1800"/>
                        <a:t>During execution</a:t>
                      </a:r>
                      <a:endParaRPr sz="1800"/>
                    </a:p>
                  </a:txBody>
                  <a:tcPr marT="91425" marB="91425" marR="91425" marL="91425"/>
                </a:tc>
              </a:tr>
              <a:tr h="40325">
                <a:tc>
                  <a:txBody>
                    <a:bodyPr/>
                    <a:lstStyle/>
                    <a:p>
                      <a:pPr indent="0" lvl="0" marL="0" rtl="0" algn="ctr">
                        <a:lnSpc>
                          <a:spcPct val="100000"/>
                        </a:lnSpc>
                        <a:spcBef>
                          <a:spcPts val="0"/>
                        </a:spcBef>
                        <a:spcAft>
                          <a:spcPts val="0"/>
                        </a:spcAft>
                        <a:buNone/>
                      </a:pPr>
                      <a:r>
                        <a:rPr lang="en-US" sz="1800"/>
                        <a:t>Startup time</a:t>
                      </a:r>
                      <a:endParaRPr sz="1800"/>
                    </a:p>
                  </a:txBody>
                  <a:tcPr marT="91425" marB="91425" marR="91425" marL="91425"/>
                </a:tc>
                <a:tc>
                  <a:txBody>
                    <a:bodyPr/>
                    <a:lstStyle/>
                    <a:p>
                      <a:pPr indent="0" lvl="0" marL="0" rtl="0" algn="ctr">
                        <a:lnSpc>
                          <a:spcPct val="100000"/>
                        </a:lnSpc>
                        <a:spcBef>
                          <a:spcPts val="0"/>
                        </a:spcBef>
                        <a:spcAft>
                          <a:spcPts val="0"/>
                        </a:spcAft>
                        <a:buNone/>
                      </a:pPr>
                      <a:r>
                        <a:rPr lang="en-US" sz="1800">
                          <a:solidFill>
                            <a:srgbClr val="6AA84F"/>
                          </a:solidFill>
                        </a:rPr>
                        <a:t>Usually faster</a:t>
                      </a:r>
                      <a:endParaRPr sz="1800">
                        <a:solidFill>
                          <a:srgbClr val="6AA84F"/>
                        </a:solidFill>
                      </a:endParaRPr>
                    </a:p>
                  </a:txBody>
                  <a:tcPr marT="91425" marB="91425" marR="91425" marL="91425"/>
                </a:tc>
                <a:tc>
                  <a:txBody>
                    <a:bodyPr/>
                    <a:lstStyle/>
                    <a:p>
                      <a:pPr indent="0" lvl="0" marL="0" rtl="0" algn="ctr">
                        <a:lnSpc>
                          <a:spcPct val="100000"/>
                        </a:lnSpc>
                        <a:spcBef>
                          <a:spcPts val="0"/>
                        </a:spcBef>
                        <a:spcAft>
                          <a:spcPts val="0"/>
                        </a:spcAft>
                        <a:buNone/>
                      </a:pPr>
                      <a:r>
                        <a:rPr lang="en-US" sz="1800">
                          <a:solidFill>
                            <a:srgbClr val="CC0000"/>
                          </a:solidFill>
                        </a:rPr>
                        <a:t>Usually slower</a:t>
                      </a:r>
                      <a:endParaRPr sz="1800">
                        <a:solidFill>
                          <a:srgbClr val="CC0000"/>
                        </a:solidFill>
                      </a:endParaRPr>
                    </a:p>
                  </a:txBody>
                  <a:tcPr marT="91425" marB="91425" marR="91425" marL="91425"/>
                </a:tc>
              </a:tr>
              <a:tr h="40325">
                <a:tc>
                  <a:txBody>
                    <a:bodyPr/>
                    <a:lstStyle/>
                    <a:p>
                      <a:pPr indent="0" lvl="0" marL="0" rtl="0" algn="ctr">
                        <a:lnSpc>
                          <a:spcPct val="100000"/>
                        </a:lnSpc>
                        <a:spcBef>
                          <a:spcPts val="0"/>
                        </a:spcBef>
                        <a:spcAft>
                          <a:spcPts val="0"/>
                        </a:spcAft>
                        <a:buNone/>
                      </a:pPr>
                      <a:r>
                        <a:rPr lang="en-US" sz="1800"/>
                        <a:t>Runtime optimization</a:t>
                      </a:r>
                      <a:endParaRPr sz="1800"/>
                    </a:p>
                  </a:txBody>
                  <a:tcPr marT="91425" marB="91425" marR="91425" marL="91425"/>
                </a:tc>
                <a:tc>
                  <a:txBody>
                    <a:bodyPr/>
                    <a:lstStyle/>
                    <a:p>
                      <a:pPr indent="0" lvl="0" marL="0" rtl="0" algn="ctr">
                        <a:lnSpc>
                          <a:spcPct val="100000"/>
                        </a:lnSpc>
                        <a:spcBef>
                          <a:spcPts val="0"/>
                        </a:spcBef>
                        <a:spcAft>
                          <a:spcPts val="0"/>
                        </a:spcAft>
                        <a:buNone/>
                      </a:pPr>
                      <a:r>
                        <a:rPr lang="en-US" sz="1800">
                          <a:solidFill>
                            <a:srgbClr val="CC0000"/>
                          </a:solidFill>
                        </a:rPr>
                        <a:t>Limited</a:t>
                      </a:r>
                      <a:endParaRPr sz="1800">
                        <a:solidFill>
                          <a:srgbClr val="CC0000"/>
                        </a:solidFill>
                      </a:endParaRPr>
                    </a:p>
                  </a:txBody>
                  <a:tcPr marT="91425" marB="91425" marR="91425" marL="91425"/>
                </a:tc>
                <a:tc>
                  <a:txBody>
                    <a:bodyPr/>
                    <a:lstStyle/>
                    <a:p>
                      <a:pPr indent="0" lvl="0" marL="0" rtl="0" algn="ctr">
                        <a:lnSpc>
                          <a:spcPct val="100000"/>
                        </a:lnSpc>
                        <a:spcBef>
                          <a:spcPts val="0"/>
                        </a:spcBef>
                        <a:spcAft>
                          <a:spcPts val="0"/>
                        </a:spcAft>
                        <a:buNone/>
                      </a:pPr>
                      <a:r>
                        <a:rPr lang="en-US" sz="1800">
                          <a:solidFill>
                            <a:srgbClr val="6AA84F"/>
                          </a:solidFill>
                        </a:rPr>
                        <a:t>Strong</a:t>
                      </a:r>
                      <a:endParaRPr sz="1800">
                        <a:solidFill>
                          <a:srgbClr val="6AA84F"/>
                        </a:solidFill>
                      </a:endParaRPr>
                    </a:p>
                  </a:txBody>
                  <a:tcPr marT="91425" marB="91425" marR="91425" marL="91425"/>
                </a:tc>
              </a:tr>
              <a:tr h="40325">
                <a:tc>
                  <a:txBody>
                    <a:bodyPr/>
                    <a:lstStyle/>
                    <a:p>
                      <a:pPr indent="0" lvl="0" marL="0" rtl="0" algn="ctr">
                        <a:lnSpc>
                          <a:spcPct val="100000"/>
                        </a:lnSpc>
                        <a:spcBef>
                          <a:spcPts val="0"/>
                        </a:spcBef>
                        <a:spcAft>
                          <a:spcPts val="0"/>
                        </a:spcAft>
                        <a:buNone/>
                      </a:pPr>
                      <a:r>
                        <a:rPr lang="en-US" sz="1800"/>
                        <a:t>Runtime profiling</a:t>
                      </a:r>
                      <a:endParaRPr sz="1800"/>
                    </a:p>
                  </a:txBody>
                  <a:tcPr marT="91425" marB="91425" marR="91425" marL="91425"/>
                </a:tc>
                <a:tc>
                  <a:txBody>
                    <a:bodyPr/>
                    <a:lstStyle/>
                    <a:p>
                      <a:pPr indent="0" lvl="0" marL="0" rtl="0" algn="ctr">
                        <a:lnSpc>
                          <a:spcPct val="100000"/>
                        </a:lnSpc>
                        <a:spcBef>
                          <a:spcPts val="0"/>
                        </a:spcBef>
                        <a:spcAft>
                          <a:spcPts val="0"/>
                        </a:spcAft>
                        <a:buNone/>
                      </a:pPr>
                      <a:r>
                        <a:rPr lang="en-US" sz="1800">
                          <a:solidFill>
                            <a:srgbClr val="CC0000"/>
                          </a:solidFill>
                        </a:rPr>
                        <a:t>Usually unavailable</a:t>
                      </a:r>
                      <a:endParaRPr sz="1800">
                        <a:solidFill>
                          <a:srgbClr val="CC0000"/>
                        </a:solidFill>
                      </a:endParaRPr>
                    </a:p>
                  </a:txBody>
                  <a:tcPr marT="91425" marB="91425" marR="91425" marL="91425"/>
                </a:tc>
                <a:tc>
                  <a:txBody>
                    <a:bodyPr/>
                    <a:lstStyle/>
                    <a:p>
                      <a:pPr indent="0" lvl="0" marL="0" rtl="0" algn="ctr">
                        <a:lnSpc>
                          <a:spcPct val="100000"/>
                        </a:lnSpc>
                        <a:spcBef>
                          <a:spcPts val="0"/>
                        </a:spcBef>
                        <a:spcAft>
                          <a:spcPts val="0"/>
                        </a:spcAft>
                        <a:buNone/>
                      </a:pPr>
                      <a:r>
                        <a:rPr lang="en-US" sz="1800">
                          <a:solidFill>
                            <a:srgbClr val="6AA84F"/>
                          </a:solidFill>
                        </a:rPr>
                        <a:t>Available</a:t>
                      </a:r>
                      <a:endParaRPr sz="1800">
                        <a:solidFill>
                          <a:srgbClr val="6AA84F"/>
                        </a:solidFill>
                      </a:endParaRPr>
                    </a:p>
                  </a:txBody>
                  <a:tcPr marT="91425" marB="91425" marR="91425" marL="91425"/>
                </a:tc>
              </a:tr>
              <a:tr h="40325">
                <a:tc>
                  <a:txBody>
                    <a:bodyPr/>
                    <a:lstStyle/>
                    <a:p>
                      <a:pPr indent="0" lvl="0" marL="0" rtl="0" algn="ctr">
                        <a:lnSpc>
                          <a:spcPct val="100000"/>
                        </a:lnSpc>
                        <a:spcBef>
                          <a:spcPts val="0"/>
                        </a:spcBef>
                        <a:spcAft>
                          <a:spcPts val="0"/>
                        </a:spcAft>
                        <a:buNone/>
                      </a:pPr>
                      <a:r>
                        <a:rPr lang="en-US" sz="1800"/>
                        <a:t>Portability</a:t>
                      </a:r>
                      <a:endParaRPr sz="1800"/>
                    </a:p>
                  </a:txBody>
                  <a:tcPr marT="91425" marB="91425" marR="91425" marL="91425"/>
                </a:tc>
                <a:tc>
                  <a:txBody>
                    <a:bodyPr/>
                    <a:lstStyle/>
                    <a:p>
                      <a:pPr indent="0" lvl="0" marL="0" rtl="0" algn="ctr">
                        <a:lnSpc>
                          <a:spcPct val="100000"/>
                        </a:lnSpc>
                        <a:spcBef>
                          <a:spcPts val="0"/>
                        </a:spcBef>
                        <a:spcAft>
                          <a:spcPts val="0"/>
                        </a:spcAft>
                        <a:buNone/>
                      </a:pPr>
                      <a:r>
                        <a:rPr lang="en-US" sz="1800">
                          <a:solidFill>
                            <a:srgbClr val="CC0000"/>
                          </a:solidFill>
                        </a:rPr>
                        <a:t>Binary is platform-specific</a:t>
                      </a:r>
                      <a:endParaRPr sz="1800">
                        <a:solidFill>
                          <a:srgbClr val="CC0000"/>
                        </a:solidFill>
                      </a:endParaRPr>
                    </a:p>
                  </a:txBody>
                  <a:tcPr marT="91425" marB="91425" marR="91425" marL="91425"/>
                </a:tc>
                <a:tc>
                  <a:txBody>
                    <a:bodyPr/>
                    <a:lstStyle/>
                    <a:p>
                      <a:pPr indent="0" lvl="0" marL="0" rtl="0" algn="ctr">
                        <a:lnSpc>
                          <a:spcPct val="100000"/>
                        </a:lnSpc>
                        <a:spcBef>
                          <a:spcPts val="0"/>
                        </a:spcBef>
                        <a:spcAft>
                          <a:spcPts val="0"/>
                        </a:spcAft>
                        <a:buNone/>
                      </a:pPr>
                      <a:r>
                        <a:rPr lang="en-US" sz="1800">
                          <a:solidFill>
                            <a:srgbClr val="6AA84F"/>
                          </a:solidFill>
                        </a:rPr>
                        <a:t>Bytecode/IR can be portable</a:t>
                      </a:r>
                      <a:endParaRPr sz="1800">
                        <a:solidFill>
                          <a:srgbClr val="6AA84F"/>
                        </a:solidFill>
                      </a:endParaRPr>
                    </a:p>
                  </a:txBody>
                  <a:tcPr marT="91425" marB="91425" marR="91425" marL="91425"/>
                </a:tc>
              </a:tr>
              <a:tr h="40325">
                <a:tc>
                  <a:txBody>
                    <a:bodyPr/>
                    <a:lstStyle/>
                    <a:p>
                      <a:pPr indent="0" lvl="0" marL="0" rtl="0" algn="ctr">
                        <a:lnSpc>
                          <a:spcPct val="100000"/>
                        </a:lnSpc>
                        <a:spcBef>
                          <a:spcPts val="0"/>
                        </a:spcBef>
                        <a:spcAft>
                          <a:spcPts val="0"/>
                        </a:spcAft>
                        <a:buNone/>
                      </a:pPr>
                      <a:r>
                        <a:rPr lang="en-US" sz="1800"/>
                        <a:t>Runtime system complexity</a:t>
                      </a:r>
                      <a:endParaRPr sz="1800"/>
                    </a:p>
                  </a:txBody>
                  <a:tcPr marT="91425" marB="91425" marR="91425" marL="91425"/>
                </a:tc>
                <a:tc>
                  <a:txBody>
                    <a:bodyPr/>
                    <a:lstStyle/>
                    <a:p>
                      <a:pPr indent="0" lvl="0" marL="0" rtl="0" algn="ctr">
                        <a:lnSpc>
                          <a:spcPct val="100000"/>
                        </a:lnSpc>
                        <a:spcBef>
                          <a:spcPts val="0"/>
                        </a:spcBef>
                        <a:spcAft>
                          <a:spcPts val="0"/>
                        </a:spcAft>
                        <a:buNone/>
                      </a:pPr>
                      <a:r>
                        <a:rPr lang="en-US" sz="1800">
                          <a:solidFill>
                            <a:srgbClr val="CC0000"/>
                          </a:solidFill>
                        </a:rPr>
                        <a:t>Lower</a:t>
                      </a:r>
                      <a:endParaRPr sz="1800">
                        <a:solidFill>
                          <a:srgbClr val="CC0000"/>
                        </a:solidFill>
                      </a:endParaRPr>
                    </a:p>
                  </a:txBody>
                  <a:tcPr marT="91425" marB="91425" marR="91425" marL="91425"/>
                </a:tc>
                <a:tc>
                  <a:txBody>
                    <a:bodyPr/>
                    <a:lstStyle/>
                    <a:p>
                      <a:pPr indent="0" lvl="0" marL="0" rtl="0" algn="ctr">
                        <a:lnSpc>
                          <a:spcPct val="100000"/>
                        </a:lnSpc>
                        <a:spcBef>
                          <a:spcPts val="0"/>
                        </a:spcBef>
                        <a:spcAft>
                          <a:spcPts val="0"/>
                        </a:spcAft>
                        <a:buNone/>
                      </a:pPr>
                      <a:r>
                        <a:rPr lang="en-US" sz="1800">
                          <a:solidFill>
                            <a:srgbClr val="6AA84F"/>
                          </a:solidFill>
                        </a:rPr>
                        <a:t>Higher</a:t>
                      </a:r>
                      <a:endParaRPr sz="1800">
                        <a:solidFill>
                          <a:srgbClr val="6AA84F"/>
                        </a:solidFill>
                      </a:endParaRPr>
                    </a:p>
                  </a:txBody>
                  <a:tcPr marT="91425" marB="91425" marR="91425" marL="91425"/>
                </a:tc>
              </a:tr>
              <a:tr h="40325">
                <a:tc>
                  <a:txBody>
                    <a:bodyPr/>
                    <a:lstStyle/>
                    <a:p>
                      <a:pPr indent="0" lvl="0" marL="0" rtl="0" algn="ctr">
                        <a:lnSpc>
                          <a:spcPct val="100000"/>
                        </a:lnSpc>
                        <a:spcBef>
                          <a:spcPts val="0"/>
                        </a:spcBef>
                        <a:spcAft>
                          <a:spcPts val="0"/>
                        </a:spcAft>
                        <a:buNone/>
                      </a:pPr>
                      <a:r>
                        <a:rPr lang="en-US" sz="1800"/>
                        <a:t>Peak performance</a:t>
                      </a:r>
                      <a:endParaRPr sz="1800"/>
                    </a:p>
                  </a:txBody>
                  <a:tcPr marT="91425" marB="91425" marR="91425" marL="91425"/>
                </a:tc>
                <a:tc>
                  <a:txBody>
                    <a:bodyPr/>
                    <a:lstStyle/>
                    <a:p>
                      <a:pPr indent="0" lvl="0" marL="0" rtl="0" algn="ctr">
                        <a:lnSpc>
                          <a:spcPct val="100000"/>
                        </a:lnSpc>
                        <a:spcBef>
                          <a:spcPts val="0"/>
                        </a:spcBef>
                        <a:spcAft>
                          <a:spcPts val="0"/>
                        </a:spcAft>
                        <a:buNone/>
                      </a:pPr>
                      <a:r>
                        <a:rPr lang="en-US" sz="1800">
                          <a:solidFill>
                            <a:srgbClr val="6AA84F"/>
                          </a:solidFill>
                        </a:rPr>
                        <a:t>High</a:t>
                      </a:r>
                      <a:endParaRPr sz="1800">
                        <a:solidFill>
                          <a:srgbClr val="6AA84F"/>
                        </a:solidFill>
                      </a:endParaRPr>
                    </a:p>
                  </a:txBody>
                  <a:tcPr marT="91425" marB="91425" marR="91425" marL="91425"/>
                </a:tc>
                <a:tc>
                  <a:txBody>
                    <a:bodyPr/>
                    <a:lstStyle/>
                    <a:p>
                      <a:pPr indent="0" lvl="0" marL="0" rtl="0" algn="ctr">
                        <a:lnSpc>
                          <a:spcPct val="100000"/>
                        </a:lnSpc>
                        <a:spcBef>
                          <a:spcPts val="0"/>
                        </a:spcBef>
                        <a:spcAft>
                          <a:spcPts val="0"/>
                        </a:spcAft>
                        <a:buNone/>
                      </a:pPr>
                      <a:r>
                        <a:rPr lang="en-US" sz="1800">
                          <a:solidFill>
                            <a:srgbClr val="CC0000"/>
                          </a:solidFill>
                        </a:rPr>
                        <a:t>Can be very high</a:t>
                      </a:r>
                      <a:endParaRPr sz="1800">
                        <a:solidFill>
                          <a:srgbClr val="CC0000"/>
                        </a:solidFill>
                      </a:endParaRPr>
                    </a:p>
                  </a:txBody>
                  <a:tcPr marT="91425" marB="91425" marR="91425" marL="91425"/>
                </a:tc>
              </a:tr>
              <a:tr h="40325">
                <a:tc>
                  <a:txBody>
                    <a:bodyPr/>
                    <a:lstStyle/>
                    <a:p>
                      <a:pPr indent="0" lvl="0" marL="0" rtl="0" algn="ctr">
                        <a:lnSpc>
                          <a:spcPct val="100000"/>
                        </a:lnSpc>
                        <a:spcBef>
                          <a:spcPts val="0"/>
                        </a:spcBef>
                        <a:spcAft>
                          <a:spcPts val="0"/>
                        </a:spcAft>
                        <a:buNone/>
                      </a:pPr>
                      <a:r>
                        <a:rPr lang="en-US" sz="1800"/>
                        <a:t>Memory overhead</a:t>
                      </a:r>
                      <a:endParaRPr sz="1800"/>
                    </a:p>
                  </a:txBody>
                  <a:tcPr marT="91425" marB="91425" marR="91425" marL="91425"/>
                </a:tc>
                <a:tc>
                  <a:txBody>
                    <a:bodyPr/>
                    <a:lstStyle/>
                    <a:p>
                      <a:pPr indent="0" lvl="0" marL="0" rtl="0" algn="ctr">
                        <a:lnSpc>
                          <a:spcPct val="100000"/>
                        </a:lnSpc>
                        <a:spcBef>
                          <a:spcPts val="0"/>
                        </a:spcBef>
                        <a:spcAft>
                          <a:spcPts val="0"/>
                        </a:spcAft>
                        <a:buNone/>
                      </a:pPr>
                      <a:r>
                        <a:rPr lang="en-US" sz="1800">
                          <a:solidFill>
                            <a:srgbClr val="6AA84F"/>
                          </a:solidFill>
                        </a:rPr>
                        <a:t>Lower</a:t>
                      </a:r>
                      <a:endParaRPr sz="1800">
                        <a:solidFill>
                          <a:srgbClr val="6AA84F"/>
                        </a:solidFill>
                      </a:endParaRPr>
                    </a:p>
                  </a:txBody>
                  <a:tcPr marT="91425" marB="91425" marR="91425" marL="91425"/>
                </a:tc>
                <a:tc>
                  <a:txBody>
                    <a:bodyPr/>
                    <a:lstStyle/>
                    <a:p>
                      <a:pPr indent="0" lvl="0" marL="0" rtl="0" algn="ctr">
                        <a:lnSpc>
                          <a:spcPct val="100000"/>
                        </a:lnSpc>
                        <a:spcBef>
                          <a:spcPts val="0"/>
                        </a:spcBef>
                        <a:spcAft>
                          <a:spcPts val="0"/>
                        </a:spcAft>
                        <a:buNone/>
                      </a:pPr>
                      <a:r>
                        <a:rPr lang="en-US" sz="1800">
                          <a:solidFill>
                            <a:srgbClr val="CC0000"/>
                          </a:solidFill>
                        </a:rPr>
                        <a:t>Higher</a:t>
                      </a:r>
                      <a:endParaRPr sz="1800">
                        <a:solidFill>
                          <a:srgbClr val="CC0000"/>
                        </a:solidFill>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3f3d4aa79e3_0_18"/>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US"/>
              <a:t>Content</a:t>
            </a:r>
            <a:endParaRPr/>
          </a:p>
        </p:txBody>
      </p:sp>
      <p:sp>
        <p:nvSpPr>
          <p:cNvPr id="289" name="Google Shape;289;g3f3d4aa79e3_0_18"/>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LLVM vs GCC</a:t>
            </a:r>
            <a:endParaRPr/>
          </a:p>
          <a:p>
            <a:pPr indent="-342900" lvl="0" marL="457200" rtl="0" algn="l">
              <a:spcBef>
                <a:spcPts val="0"/>
              </a:spcBef>
              <a:spcAft>
                <a:spcPts val="0"/>
              </a:spcAft>
              <a:buSzPts val="1800"/>
              <a:buChar char="•"/>
            </a:pPr>
            <a:r>
              <a:rPr lang="en-US"/>
              <a:t>AOT vs JIT</a:t>
            </a:r>
            <a:endParaRPr/>
          </a:p>
          <a:p>
            <a:pPr indent="-342900" lvl="0" marL="457200" rtl="0" algn="l">
              <a:spcBef>
                <a:spcPts val="0"/>
              </a:spcBef>
              <a:spcAft>
                <a:spcPts val="0"/>
              </a:spcAft>
              <a:buSzPts val="1800"/>
              <a:buChar char="•"/>
            </a:pPr>
            <a:r>
              <a:rPr b="1" lang="en-US"/>
              <a:t>Compilers integration into ML workflows</a:t>
            </a:r>
            <a:endParaRPr b="1"/>
          </a:p>
          <a:p>
            <a:pPr indent="-342900" lvl="0" marL="457200" rtl="0" algn="l">
              <a:spcBef>
                <a:spcPts val="0"/>
              </a:spcBef>
              <a:spcAft>
                <a:spcPts val="0"/>
              </a:spcAft>
              <a:buSzPts val="1800"/>
              <a:buChar char="•"/>
            </a:pPr>
            <a:r>
              <a:rPr lang="en-US"/>
              <a:t>Python compilation process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g3d6016f1f31_0_6"/>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Integrating compilers to the workflow</a:t>
            </a:r>
            <a:endParaRPr/>
          </a:p>
        </p:txBody>
      </p:sp>
      <p:pic>
        <p:nvPicPr>
          <p:cNvPr id="296" name="Google Shape;296;g3d6016f1f31_0_6" title="image.png"/>
          <p:cNvPicPr preferRelativeResize="0"/>
          <p:nvPr/>
        </p:nvPicPr>
        <p:blipFill>
          <a:blip r:embed="rId3">
            <a:alphaModFix/>
          </a:blip>
          <a:stretch>
            <a:fillRect/>
          </a:stretch>
        </p:blipFill>
        <p:spPr>
          <a:xfrm>
            <a:off x="1134350" y="1524000"/>
            <a:ext cx="9556750" cy="5334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3dc35a4ca61_0_21"/>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Compiler infrastructure inside products</a:t>
            </a:r>
            <a:endParaRPr/>
          </a:p>
        </p:txBody>
      </p:sp>
      <p:sp>
        <p:nvSpPr>
          <p:cNvPr id="303" name="Google Shape;303;g3dc35a4ca61_0_21"/>
          <p:cNvSpPr txBox="1"/>
          <p:nvPr>
            <p:ph idx="1" type="body"/>
          </p:nvPr>
        </p:nvSpPr>
        <p:spPr>
          <a:xfrm>
            <a:off x="571375" y="1673450"/>
            <a:ext cx="11010900" cy="27327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Frontend reuse:</a:t>
            </a:r>
            <a:endParaRPr/>
          </a:p>
          <a:p>
            <a:pPr indent="-342900" lvl="1" marL="914400" rtl="0" algn="l">
              <a:spcBef>
                <a:spcPts val="0"/>
              </a:spcBef>
              <a:spcAft>
                <a:spcPts val="0"/>
              </a:spcAft>
              <a:buSzPts val="1800"/>
              <a:buChar char="•"/>
            </a:pPr>
            <a:r>
              <a:rPr lang="en-US"/>
              <a:t>IDEs, linters, static analyzers, refactoring tools</a:t>
            </a:r>
            <a:endParaRPr/>
          </a:p>
          <a:p>
            <a:pPr indent="-342900" lvl="0" marL="457200" rtl="0" algn="l">
              <a:spcBef>
                <a:spcPts val="0"/>
              </a:spcBef>
              <a:spcAft>
                <a:spcPts val="0"/>
              </a:spcAft>
              <a:buSzPts val="1800"/>
              <a:buChar char="•"/>
            </a:pPr>
            <a:r>
              <a:rPr lang="en-US"/>
              <a:t>Middle-end reuse:</a:t>
            </a:r>
            <a:endParaRPr/>
          </a:p>
          <a:p>
            <a:pPr indent="-342900" lvl="1" marL="914400" rtl="0" algn="l">
              <a:spcBef>
                <a:spcPts val="0"/>
              </a:spcBef>
              <a:spcAft>
                <a:spcPts val="0"/>
              </a:spcAft>
              <a:buSzPts val="1800"/>
              <a:buChar char="•"/>
            </a:pPr>
            <a:r>
              <a:rPr lang="en-US"/>
              <a:t>Custom IR transformations, custom optimization pipelines, domain-specific lowering</a:t>
            </a:r>
            <a:endParaRPr/>
          </a:p>
          <a:p>
            <a:pPr indent="-342900" lvl="0" marL="457200" rtl="0" algn="l">
              <a:spcBef>
                <a:spcPts val="0"/>
              </a:spcBef>
              <a:spcAft>
                <a:spcPts val="0"/>
              </a:spcAft>
              <a:buSzPts val="1800"/>
              <a:buChar char="•"/>
            </a:pPr>
            <a:r>
              <a:rPr lang="en-US"/>
              <a:t>Backend reuse:</a:t>
            </a:r>
            <a:endParaRPr/>
          </a:p>
          <a:p>
            <a:pPr indent="-342900" lvl="1" marL="914400" rtl="0" algn="l">
              <a:spcBef>
                <a:spcPts val="0"/>
              </a:spcBef>
              <a:spcAft>
                <a:spcPts val="0"/>
              </a:spcAft>
              <a:buSzPts val="1800"/>
              <a:buChar char="•"/>
            </a:pPr>
            <a:r>
              <a:rPr lang="en-US"/>
              <a:t>CPU/GPU code generation, JIT, cross-compilation</a:t>
            </a:r>
            <a:endParaRPr/>
          </a:p>
        </p:txBody>
      </p:sp>
      <p:sp>
        <p:nvSpPr>
          <p:cNvPr id="304" name="Google Shape;304;g3dc35a4ca61_0_21"/>
          <p:cNvSpPr/>
          <p:nvPr/>
        </p:nvSpPr>
        <p:spPr>
          <a:xfrm>
            <a:off x="2671418" y="4870347"/>
            <a:ext cx="1828800" cy="594900"/>
          </a:xfrm>
          <a:prstGeom prst="rect">
            <a:avLst/>
          </a:prstGeom>
          <a:solidFill>
            <a:srgbClr val="4472C4"/>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rPr b="0" i="0" lang="en-US" sz="3200" u="none" cap="none" strike="noStrike">
                <a:solidFill>
                  <a:srgbClr val="FFFFFF"/>
                </a:solidFill>
                <a:latin typeface="Helvetica Neue"/>
                <a:ea typeface="Helvetica Neue"/>
                <a:cs typeface="Helvetica Neue"/>
                <a:sym typeface="Helvetica Neue"/>
              </a:rPr>
              <a:t>Frontend</a:t>
            </a:r>
            <a:endParaRPr b="0" i="0" sz="1800" u="none" cap="none" strike="noStrike">
              <a:solidFill>
                <a:srgbClr val="000000"/>
              </a:solidFill>
              <a:latin typeface="Calibri"/>
              <a:ea typeface="Calibri"/>
              <a:cs typeface="Calibri"/>
              <a:sym typeface="Calibri"/>
            </a:endParaRPr>
          </a:p>
        </p:txBody>
      </p:sp>
      <p:sp>
        <p:nvSpPr>
          <p:cNvPr id="305" name="Google Shape;305;g3dc35a4ca61_0_21"/>
          <p:cNvSpPr/>
          <p:nvPr/>
        </p:nvSpPr>
        <p:spPr>
          <a:xfrm>
            <a:off x="4926936" y="4870347"/>
            <a:ext cx="2286900" cy="594900"/>
          </a:xfrm>
          <a:prstGeom prst="rect">
            <a:avLst/>
          </a:prstGeom>
          <a:solidFill>
            <a:srgbClr val="7030A0"/>
          </a:solidFill>
          <a:ln cap="flat" cmpd="sng" w="25400">
            <a:solidFill>
              <a:srgbClr val="B39436"/>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3200"/>
              <a:buFont typeface="Helvetica Neue"/>
              <a:buNone/>
            </a:pPr>
            <a:r>
              <a:rPr b="0" i="0" lang="en-US" sz="3200" u="none" cap="none" strike="noStrike">
                <a:solidFill>
                  <a:srgbClr val="FFFFFF"/>
                </a:solidFill>
                <a:latin typeface="Helvetica Neue"/>
                <a:ea typeface="Helvetica Neue"/>
                <a:cs typeface="Helvetica Neue"/>
                <a:sym typeface="Helvetica Neue"/>
              </a:rPr>
              <a:t>Middle-end</a:t>
            </a:r>
            <a:endParaRPr b="0" i="0" sz="1800" u="none" cap="none" strike="noStrike">
              <a:solidFill>
                <a:srgbClr val="FFFFFF"/>
              </a:solidFill>
              <a:latin typeface="Calibri"/>
              <a:ea typeface="Calibri"/>
              <a:cs typeface="Calibri"/>
              <a:sym typeface="Calibri"/>
            </a:endParaRPr>
          </a:p>
        </p:txBody>
      </p:sp>
      <p:sp>
        <p:nvSpPr>
          <p:cNvPr id="306" name="Google Shape;306;g3dc35a4ca61_0_21"/>
          <p:cNvSpPr/>
          <p:nvPr/>
        </p:nvSpPr>
        <p:spPr>
          <a:xfrm>
            <a:off x="7640637" y="4870347"/>
            <a:ext cx="2286900" cy="594900"/>
          </a:xfrm>
          <a:prstGeom prst="rect">
            <a:avLst/>
          </a:prstGeom>
          <a:solidFill>
            <a:srgbClr val="70AD47"/>
          </a:solidFill>
          <a:ln cap="flat" cmpd="sng" w="25400">
            <a:solidFill>
              <a:srgbClr val="657E33"/>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rPr b="0" i="0" lang="en-US" sz="3200" u="none" cap="none" strike="noStrike">
                <a:solidFill>
                  <a:srgbClr val="FFFFFF"/>
                </a:solidFill>
                <a:latin typeface="Helvetica Neue"/>
                <a:ea typeface="Helvetica Neue"/>
                <a:cs typeface="Helvetica Neue"/>
                <a:sym typeface="Helvetica Neue"/>
              </a:rPr>
              <a:t>Backend</a:t>
            </a:r>
            <a:endParaRPr b="0" i="0" sz="1800" u="none" cap="none" strike="noStrike">
              <a:solidFill>
                <a:srgbClr val="000000"/>
              </a:solidFill>
              <a:latin typeface="Calibri"/>
              <a:ea typeface="Calibri"/>
              <a:cs typeface="Calibri"/>
              <a:sym typeface="Calibri"/>
            </a:endParaRPr>
          </a:p>
        </p:txBody>
      </p:sp>
      <p:sp>
        <p:nvSpPr>
          <p:cNvPr id="307" name="Google Shape;307;g3dc35a4ca61_0_21"/>
          <p:cNvSpPr/>
          <p:nvPr/>
        </p:nvSpPr>
        <p:spPr>
          <a:xfrm>
            <a:off x="606642" y="4804168"/>
            <a:ext cx="1421700" cy="727500"/>
          </a:xfrm>
          <a:prstGeom prst="verticalScroll">
            <a:avLst>
              <a:gd fmla="val 12500" name="adj"/>
            </a:avLst>
          </a:prstGeom>
          <a:solidFill>
            <a:srgbClr val="FFFFFF"/>
          </a:solidFill>
          <a:ln cap="flat" cmpd="sng" w="25400">
            <a:solidFill>
              <a:srgbClr val="ED7D31"/>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3200"/>
              <a:buFont typeface="Helvetica Neue"/>
              <a:buNone/>
            </a:pPr>
            <a:r>
              <a:rPr b="0" i="0" lang="en-US" sz="3200" u="none" cap="none" strike="noStrike">
                <a:solidFill>
                  <a:srgbClr val="000000"/>
                </a:solidFill>
                <a:latin typeface="Helvetica Neue"/>
                <a:ea typeface="Helvetica Neue"/>
                <a:cs typeface="Helvetica Neue"/>
                <a:sym typeface="Helvetica Neue"/>
              </a:rPr>
              <a:t>SRC</a:t>
            </a:r>
            <a:endParaRPr b="0" i="0" sz="1800" u="none" cap="none" strike="noStrike">
              <a:solidFill>
                <a:srgbClr val="000000"/>
              </a:solidFill>
              <a:latin typeface="Calibri"/>
              <a:ea typeface="Calibri"/>
              <a:cs typeface="Calibri"/>
              <a:sym typeface="Calibri"/>
            </a:endParaRPr>
          </a:p>
        </p:txBody>
      </p:sp>
      <p:cxnSp>
        <p:nvCxnSpPr>
          <p:cNvPr id="308" name="Google Shape;308;g3dc35a4ca61_0_21"/>
          <p:cNvCxnSpPr>
            <a:stCxn id="307" idx="3"/>
            <a:endCxn id="304" idx="1"/>
          </p:cNvCxnSpPr>
          <p:nvPr/>
        </p:nvCxnSpPr>
        <p:spPr>
          <a:xfrm>
            <a:off x="1937405" y="5167918"/>
            <a:ext cx="734100" cy="0"/>
          </a:xfrm>
          <a:prstGeom prst="straightConnector1">
            <a:avLst/>
          </a:prstGeom>
          <a:noFill/>
          <a:ln cap="flat" cmpd="sng" w="25400">
            <a:solidFill>
              <a:srgbClr val="000000"/>
            </a:solidFill>
            <a:prstDash val="solid"/>
            <a:miter lim="400000"/>
            <a:headEnd len="sm" w="sm" type="none"/>
            <a:tailEnd len="med" w="med" type="triangle"/>
          </a:ln>
        </p:spPr>
      </p:cxnSp>
      <p:cxnSp>
        <p:nvCxnSpPr>
          <p:cNvPr id="309" name="Google Shape;309;g3dc35a4ca61_0_21"/>
          <p:cNvCxnSpPr>
            <a:stCxn id="304" idx="3"/>
            <a:endCxn id="305" idx="1"/>
          </p:cNvCxnSpPr>
          <p:nvPr/>
        </p:nvCxnSpPr>
        <p:spPr>
          <a:xfrm>
            <a:off x="4500218" y="5167797"/>
            <a:ext cx="426600" cy="0"/>
          </a:xfrm>
          <a:prstGeom prst="straightConnector1">
            <a:avLst/>
          </a:prstGeom>
          <a:noFill/>
          <a:ln cap="flat" cmpd="sng" w="25400">
            <a:solidFill>
              <a:srgbClr val="000000"/>
            </a:solidFill>
            <a:prstDash val="solid"/>
            <a:miter lim="400000"/>
            <a:headEnd len="sm" w="sm" type="none"/>
            <a:tailEnd len="med" w="med" type="triangle"/>
          </a:ln>
        </p:spPr>
      </p:cxnSp>
      <p:cxnSp>
        <p:nvCxnSpPr>
          <p:cNvPr id="310" name="Google Shape;310;g3dc35a4ca61_0_21"/>
          <p:cNvCxnSpPr>
            <a:stCxn id="305" idx="3"/>
            <a:endCxn id="306" idx="1"/>
          </p:cNvCxnSpPr>
          <p:nvPr/>
        </p:nvCxnSpPr>
        <p:spPr>
          <a:xfrm>
            <a:off x="7213836" y="5167797"/>
            <a:ext cx="426900" cy="0"/>
          </a:xfrm>
          <a:prstGeom prst="straightConnector1">
            <a:avLst/>
          </a:prstGeom>
          <a:noFill/>
          <a:ln cap="flat" cmpd="sng" w="25400">
            <a:solidFill>
              <a:srgbClr val="000000"/>
            </a:solidFill>
            <a:prstDash val="solid"/>
            <a:miter lim="400000"/>
            <a:headEnd len="sm" w="sm" type="none"/>
            <a:tailEnd len="med" w="med" type="triangle"/>
          </a:ln>
        </p:spPr>
      </p:cxnSp>
      <p:sp>
        <p:nvSpPr>
          <p:cNvPr id="311" name="Google Shape;311;g3dc35a4ca61_0_21"/>
          <p:cNvSpPr/>
          <p:nvPr/>
        </p:nvSpPr>
        <p:spPr>
          <a:xfrm>
            <a:off x="10541155" y="4821413"/>
            <a:ext cx="1044186" cy="692904"/>
          </a:xfrm>
          <a:prstGeom prst="flowChartMagneticDisk">
            <a:avLst/>
          </a:prstGeom>
          <a:solidFill>
            <a:srgbClr val="FFFFFF"/>
          </a:solidFill>
          <a:ln cap="flat" cmpd="sng" w="25400">
            <a:solidFill>
              <a:srgbClr val="70AD47"/>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1600"/>
              <a:buFont typeface="Helvetica Neue"/>
              <a:buNone/>
            </a:pPr>
            <a:r>
              <a:rPr b="0" i="0" lang="en-US" sz="1600" u="none" cap="none" strike="noStrike">
                <a:solidFill>
                  <a:srgbClr val="000000"/>
                </a:solidFill>
                <a:latin typeface="Helvetica Neue"/>
                <a:ea typeface="Helvetica Neue"/>
                <a:cs typeface="Helvetica Neue"/>
                <a:sym typeface="Helvetica Neue"/>
              </a:rPr>
              <a:t>Program</a:t>
            </a:r>
            <a:endParaRPr b="0" i="0" sz="1800" u="none" cap="none" strike="noStrike">
              <a:solidFill>
                <a:srgbClr val="000000"/>
              </a:solidFill>
              <a:latin typeface="Calibri"/>
              <a:ea typeface="Calibri"/>
              <a:cs typeface="Calibri"/>
              <a:sym typeface="Calibri"/>
            </a:endParaRPr>
          </a:p>
        </p:txBody>
      </p:sp>
      <p:cxnSp>
        <p:nvCxnSpPr>
          <p:cNvPr id="312" name="Google Shape;312;g3dc35a4ca61_0_21"/>
          <p:cNvCxnSpPr>
            <a:stCxn id="306" idx="3"/>
            <a:endCxn id="311" idx="2"/>
          </p:cNvCxnSpPr>
          <p:nvPr/>
        </p:nvCxnSpPr>
        <p:spPr>
          <a:xfrm>
            <a:off x="9927537" y="5167797"/>
            <a:ext cx="613500" cy="0"/>
          </a:xfrm>
          <a:prstGeom prst="straightConnector1">
            <a:avLst/>
          </a:prstGeom>
          <a:noFill/>
          <a:ln cap="flat" cmpd="sng" w="25400">
            <a:solidFill>
              <a:srgbClr val="000000"/>
            </a:solidFill>
            <a:prstDash val="solid"/>
            <a:miter lim="400000"/>
            <a:headEnd len="sm" w="sm"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g3d9cf9aaceb_0_39"/>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LLVM: in-tree and out-of-tree</a:t>
            </a:r>
            <a:endParaRPr/>
          </a:p>
        </p:txBody>
      </p:sp>
      <p:sp>
        <p:nvSpPr>
          <p:cNvPr id="319" name="Google Shape;319;g3d9cf9aaceb_0_39"/>
          <p:cNvSpPr txBox="1"/>
          <p:nvPr>
            <p:ph idx="1" type="body"/>
          </p:nvPr>
        </p:nvSpPr>
        <p:spPr>
          <a:xfrm>
            <a:off x="571375" y="1673450"/>
            <a:ext cx="112467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In-tree projects:</a:t>
            </a:r>
            <a:endParaRPr/>
          </a:p>
          <a:p>
            <a:pPr indent="-342900" lvl="0" marL="457200" rtl="0" algn="l">
              <a:spcBef>
                <a:spcPts val="1000"/>
              </a:spcBef>
              <a:spcAft>
                <a:spcPts val="0"/>
              </a:spcAft>
              <a:buSzPts val="1800"/>
              <a:buChar char="•"/>
            </a:pPr>
            <a:r>
              <a:rPr lang="en-US"/>
              <a:t>Projects living in LLVM monorepo (</a:t>
            </a:r>
            <a:r>
              <a:rPr lang="en-US" u="sng">
                <a:solidFill>
                  <a:schemeClr val="hlink"/>
                </a:solidFill>
                <a:hlinkClick r:id="rId3"/>
              </a:rPr>
              <a:t>https://github.com/llvm/llvm-project</a:t>
            </a:r>
            <a:r>
              <a:rPr lang="en-US"/>
              <a:t>)</a:t>
            </a:r>
            <a:endParaRPr/>
          </a:p>
          <a:p>
            <a:pPr indent="-342900" lvl="0" marL="457200" rtl="0" algn="l">
              <a:spcBef>
                <a:spcPts val="0"/>
              </a:spcBef>
              <a:spcAft>
                <a:spcPts val="0"/>
              </a:spcAft>
              <a:buSzPts val="1800"/>
              <a:buChar char="•"/>
            </a:pPr>
            <a:r>
              <a:rPr lang="en-US"/>
              <a:t>Examples: clang, clang-tools-extra (clang-tidy, …), flang, mlir, lld, lldb, …</a:t>
            </a:r>
            <a:endParaRPr/>
          </a:p>
          <a:p>
            <a:pPr indent="0" lvl="0" marL="0" rtl="0" algn="l">
              <a:spcBef>
                <a:spcPts val="1000"/>
              </a:spcBef>
              <a:spcAft>
                <a:spcPts val="0"/>
              </a:spcAft>
              <a:buNone/>
            </a:pPr>
            <a:r>
              <a:rPr lang="en-US"/>
              <a:t>Out-of-tree projects:</a:t>
            </a:r>
            <a:endParaRPr/>
          </a:p>
          <a:p>
            <a:pPr indent="-342900" lvl="0" marL="457200" rtl="0" algn="l">
              <a:spcBef>
                <a:spcPts val="1000"/>
              </a:spcBef>
              <a:spcAft>
                <a:spcPts val="0"/>
              </a:spcAft>
              <a:buSzPts val="1800"/>
              <a:buChar char="•"/>
            </a:pPr>
            <a:r>
              <a:rPr lang="en-US"/>
              <a:t>P</a:t>
            </a:r>
            <a:r>
              <a:rPr lang="en-US"/>
              <a:t>rojects developed outside the LLVM monorepo but built against, extending, or reusing LLVM/Clang/MLIR libraries, APIs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g3d9cf9aaceb_0_27"/>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LLVM-based compilers for other languages</a:t>
            </a:r>
            <a:endParaRPr/>
          </a:p>
        </p:txBody>
      </p:sp>
      <p:sp>
        <p:nvSpPr>
          <p:cNvPr id="326" name="Google Shape;326;g3d9cf9aaceb_0_27"/>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rustc compiler: </a:t>
            </a:r>
            <a:r>
              <a:rPr lang="en-US" u="sng">
                <a:solidFill>
                  <a:schemeClr val="hlink"/>
                </a:solidFill>
                <a:hlinkClick r:id="rId3"/>
              </a:rPr>
              <a:t>https://github.com/rust-lang/rust</a:t>
            </a:r>
            <a:endParaRPr/>
          </a:p>
          <a:p>
            <a:pPr indent="-342900" lvl="0" marL="457200" rtl="0" algn="l">
              <a:spcBef>
                <a:spcPts val="0"/>
              </a:spcBef>
              <a:spcAft>
                <a:spcPts val="0"/>
              </a:spcAft>
              <a:buSzPts val="1800"/>
              <a:buChar char="•"/>
            </a:pPr>
            <a:r>
              <a:rPr lang="en-US"/>
              <a:t>Swift compiler: </a:t>
            </a:r>
            <a:r>
              <a:rPr lang="en-US" u="sng">
                <a:solidFill>
                  <a:schemeClr val="hlink"/>
                </a:solidFill>
                <a:hlinkClick r:id="rId4"/>
              </a:rPr>
              <a:t>https://github.com/swiftlang/swift</a:t>
            </a:r>
            <a:endParaRPr/>
          </a:p>
          <a:p>
            <a:pPr indent="-342900" lvl="0" marL="457200" rtl="0" algn="l">
              <a:spcBef>
                <a:spcPts val="0"/>
              </a:spcBef>
              <a:spcAft>
                <a:spcPts val="0"/>
              </a:spcAft>
              <a:buSzPts val="1800"/>
              <a:buChar char="•"/>
            </a:pPr>
            <a:r>
              <a:rPr lang="en-US"/>
              <a:t>Julia compiler: </a:t>
            </a:r>
            <a:r>
              <a:rPr lang="en-US" u="sng">
                <a:solidFill>
                  <a:schemeClr val="hlink"/>
                </a:solidFill>
                <a:hlinkClick r:id="rId5"/>
              </a:rPr>
              <a:t>https://github.com/JuliaLang/julia</a:t>
            </a:r>
            <a:endParaRPr/>
          </a:p>
          <a:p>
            <a:pPr indent="-342900" lvl="0" marL="457200" rtl="0" algn="l">
              <a:spcBef>
                <a:spcPts val="0"/>
              </a:spcBef>
              <a:spcAft>
                <a:spcPts val="0"/>
              </a:spcAft>
              <a:buSzPts val="1800"/>
              <a:buChar char="•"/>
            </a:pPr>
            <a:r>
              <a:rPr lang="en-US"/>
              <a:t>Emscripten (C++ to Wasm): </a:t>
            </a:r>
            <a:r>
              <a:rPr lang="en-US" u="sng">
                <a:solidFill>
                  <a:schemeClr val="hlink"/>
                </a:solidFill>
                <a:hlinkClick r:id="rId6"/>
              </a:rPr>
              <a:t>https://github.com/emscripten-core/emscripten</a:t>
            </a:r>
            <a:endParaRPr/>
          </a:p>
          <a:p>
            <a:pPr indent="-342900" lvl="0" marL="457200" rtl="0" algn="l">
              <a:spcBef>
                <a:spcPts val="0"/>
              </a:spcBef>
              <a:spcAft>
                <a:spcPts val="0"/>
              </a:spcAft>
              <a:buSzPts val="1800"/>
              <a:buChar char="•"/>
            </a:pPr>
            <a:r>
              <a:rPr lang="en-US"/>
              <a:t>Zig: </a:t>
            </a:r>
            <a:r>
              <a:rPr lang="en-US" u="sng">
                <a:solidFill>
                  <a:schemeClr val="hlink"/>
                </a:solidFill>
                <a:hlinkClick r:id="rId7"/>
              </a:rPr>
              <a:t>https://codeberg.org/ziglang/zig</a:t>
            </a:r>
            <a:endParaRPr/>
          </a:p>
          <a:p>
            <a:pPr indent="-342900" lvl="0" marL="457200" rtl="0" algn="l">
              <a:spcBef>
                <a:spcPts val="0"/>
              </a:spcBef>
              <a:spcAft>
                <a:spcPts val="0"/>
              </a:spcAft>
              <a:buSzPts val="1800"/>
              <a:buChar char="•"/>
            </a:pPr>
            <a:r>
              <a:rPr lang="en-US"/>
              <a:t>Haskell: </a:t>
            </a:r>
            <a:r>
              <a:rPr lang="en-US" u="sng">
                <a:solidFill>
                  <a:schemeClr val="hlink"/>
                </a:solidFill>
                <a:hlinkClick r:id="rId8"/>
              </a:rPr>
              <a:t>https://github.com/ghc/ghc</a:t>
            </a:r>
            <a:r>
              <a:rPr lang="en-US"/>
              <a:t> </a:t>
            </a:r>
            <a:endParaRPr/>
          </a:p>
        </p:txBody>
      </p:sp>
      <p:pic>
        <p:nvPicPr>
          <p:cNvPr id="327" name="Google Shape;327;g3d9cf9aaceb_0_27" title="swift.png"/>
          <p:cNvPicPr preferRelativeResize="0"/>
          <p:nvPr/>
        </p:nvPicPr>
        <p:blipFill>
          <a:blip r:embed="rId9">
            <a:alphaModFix/>
          </a:blip>
          <a:stretch>
            <a:fillRect/>
          </a:stretch>
        </p:blipFill>
        <p:spPr>
          <a:xfrm>
            <a:off x="9220075" y="2380475"/>
            <a:ext cx="2006275" cy="623050"/>
          </a:xfrm>
          <a:prstGeom prst="rect">
            <a:avLst/>
          </a:prstGeom>
          <a:noFill/>
          <a:ln>
            <a:noFill/>
          </a:ln>
        </p:spPr>
      </p:pic>
      <p:pic>
        <p:nvPicPr>
          <p:cNvPr id="328" name="Google Shape;328;g3d9cf9aaceb_0_27" title="julia.png"/>
          <p:cNvPicPr preferRelativeResize="0"/>
          <p:nvPr/>
        </p:nvPicPr>
        <p:blipFill>
          <a:blip r:embed="rId10">
            <a:alphaModFix/>
          </a:blip>
          <a:stretch>
            <a:fillRect/>
          </a:stretch>
        </p:blipFill>
        <p:spPr>
          <a:xfrm>
            <a:off x="8871528" y="3119550"/>
            <a:ext cx="1127025" cy="704400"/>
          </a:xfrm>
          <a:prstGeom prst="rect">
            <a:avLst/>
          </a:prstGeom>
          <a:noFill/>
          <a:ln>
            <a:noFill/>
          </a:ln>
        </p:spPr>
      </p:pic>
      <p:pic>
        <p:nvPicPr>
          <p:cNvPr id="329" name="Google Shape;329;g3d9cf9aaceb_0_27" title="emscripten.png"/>
          <p:cNvPicPr preferRelativeResize="0"/>
          <p:nvPr/>
        </p:nvPicPr>
        <p:blipFill>
          <a:blip r:embed="rId11">
            <a:alphaModFix/>
          </a:blip>
          <a:stretch>
            <a:fillRect/>
          </a:stretch>
        </p:blipFill>
        <p:spPr>
          <a:xfrm>
            <a:off x="9576000" y="3939965"/>
            <a:ext cx="2006275" cy="546631"/>
          </a:xfrm>
          <a:prstGeom prst="rect">
            <a:avLst/>
          </a:prstGeom>
          <a:noFill/>
          <a:ln>
            <a:noFill/>
          </a:ln>
        </p:spPr>
      </p:pic>
      <p:pic>
        <p:nvPicPr>
          <p:cNvPr id="330" name="Google Shape;330;g3d9cf9aaceb_0_27" title="zig.png"/>
          <p:cNvPicPr preferRelativeResize="0"/>
          <p:nvPr/>
        </p:nvPicPr>
        <p:blipFill>
          <a:blip r:embed="rId12">
            <a:alphaModFix/>
          </a:blip>
          <a:stretch>
            <a:fillRect/>
          </a:stretch>
        </p:blipFill>
        <p:spPr>
          <a:xfrm>
            <a:off x="8543968" y="4602625"/>
            <a:ext cx="1782131" cy="623050"/>
          </a:xfrm>
          <a:prstGeom prst="rect">
            <a:avLst/>
          </a:prstGeom>
          <a:noFill/>
          <a:ln>
            <a:noFill/>
          </a:ln>
        </p:spPr>
      </p:pic>
      <p:pic>
        <p:nvPicPr>
          <p:cNvPr id="331" name="Google Shape;331;g3d9cf9aaceb_0_27" title="haskell.png"/>
          <p:cNvPicPr preferRelativeResize="0"/>
          <p:nvPr/>
        </p:nvPicPr>
        <p:blipFill>
          <a:blip r:embed="rId13">
            <a:alphaModFix/>
          </a:blip>
          <a:stretch>
            <a:fillRect/>
          </a:stretch>
        </p:blipFill>
        <p:spPr>
          <a:xfrm>
            <a:off x="8795550" y="5341700"/>
            <a:ext cx="3080000" cy="481250"/>
          </a:xfrm>
          <a:prstGeom prst="rect">
            <a:avLst/>
          </a:prstGeom>
          <a:noFill/>
          <a:ln>
            <a:noFill/>
          </a:ln>
        </p:spPr>
      </p:pic>
      <p:pic>
        <p:nvPicPr>
          <p:cNvPr id="332" name="Google Shape;332;g3d9cf9aaceb_0_27"/>
          <p:cNvPicPr preferRelativeResize="0"/>
          <p:nvPr/>
        </p:nvPicPr>
        <p:blipFill>
          <a:blip r:embed="rId14">
            <a:alphaModFix/>
          </a:blip>
          <a:stretch>
            <a:fillRect/>
          </a:stretch>
        </p:blipFill>
        <p:spPr>
          <a:xfrm>
            <a:off x="8871525" y="1560050"/>
            <a:ext cx="704400" cy="7044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g3d9cf9aaceb_0_33"/>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3rdparty projects using LLVM</a:t>
            </a:r>
            <a:endParaRPr/>
          </a:p>
        </p:txBody>
      </p:sp>
      <p:sp>
        <p:nvSpPr>
          <p:cNvPr id="339" name="Google Shape;339;g3d9cf9aaceb_0_33"/>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406400" lvl="0" marL="457200" rtl="0" algn="l">
              <a:lnSpc>
                <a:spcPct val="100000"/>
              </a:lnSpc>
              <a:spcBef>
                <a:spcPts val="1000"/>
              </a:spcBef>
              <a:spcAft>
                <a:spcPts val="0"/>
              </a:spcAft>
              <a:buSzPts val="2800"/>
              <a:buChar char="•"/>
            </a:pPr>
            <a:r>
              <a:rPr lang="en-US"/>
              <a:t>PostgreSQL JIT: </a:t>
            </a:r>
            <a:r>
              <a:rPr lang="en-US" u="sng">
                <a:solidFill>
                  <a:schemeClr val="hlink"/>
                </a:solidFill>
                <a:hlinkClick r:id="rId3"/>
              </a:rPr>
              <a:t>https://github.com/postgres/postgres/blob/master/src/backend/jit</a:t>
            </a:r>
            <a:endParaRPr/>
          </a:p>
          <a:p>
            <a:pPr indent="-406400" lvl="0" marL="457200" rtl="0" algn="l">
              <a:lnSpc>
                <a:spcPct val="100000"/>
              </a:lnSpc>
              <a:spcBef>
                <a:spcPts val="0"/>
              </a:spcBef>
              <a:spcAft>
                <a:spcPts val="0"/>
              </a:spcAft>
              <a:buSzPts val="2800"/>
              <a:buChar char="•"/>
            </a:pPr>
            <a:r>
              <a:rPr lang="en-US"/>
              <a:t>ClickHouse database: </a:t>
            </a:r>
            <a:r>
              <a:rPr lang="en-US" u="sng">
                <a:solidFill>
                  <a:schemeClr val="hlink"/>
                </a:solidFill>
                <a:hlinkClick r:id="rId4"/>
              </a:rPr>
              <a:t>https://github.com/ClickHouse/ClickHouse</a:t>
            </a:r>
            <a:endParaRPr/>
          </a:p>
          <a:p>
            <a:pPr indent="-406400" lvl="0" marL="457200" rtl="0" algn="l">
              <a:lnSpc>
                <a:spcPct val="100000"/>
              </a:lnSpc>
              <a:spcBef>
                <a:spcPts val="0"/>
              </a:spcBef>
              <a:spcAft>
                <a:spcPts val="0"/>
              </a:spcAft>
              <a:buSzPts val="2800"/>
              <a:buChar char="•"/>
            </a:pPr>
            <a:r>
              <a:rPr lang="en-US"/>
              <a:t>Mesa llvmpipe - Software OpenGL rasterizer: </a:t>
            </a:r>
            <a:r>
              <a:rPr lang="en-US" u="sng">
                <a:solidFill>
                  <a:schemeClr val="hlink"/>
                </a:solidFill>
                <a:hlinkClick r:id="rId5"/>
              </a:rPr>
              <a:t>https://docs.mesa3d.org/drivers/llvmpipe.html</a:t>
            </a:r>
            <a:r>
              <a:rPr lang="en-US"/>
              <a:t> </a:t>
            </a:r>
            <a:endParaRPr/>
          </a:p>
          <a:p>
            <a:pPr indent="-406400" lvl="0" marL="457200" rtl="0" algn="l">
              <a:lnSpc>
                <a:spcPct val="100000"/>
              </a:lnSpc>
              <a:spcBef>
                <a:spcPts val="0"/>
              </a:spcBef>
              <a:spcAft>
                <a:spcPts val="0"/>
              </a:spcAft>
              <a:buSzPts val="2800"/>
              <a:buChar char="•"/>
            </a:pPr>
            <a:r>
              <a:rPr lang="en-US"/>
              <a:t>The Interactive C++ Interpreter: </a:t>
            </a:r>
            <a:r>
              <a:rPr lang="en-US" u="sng">
                <a:solidFill>
                  <a:schemeClr val="hlink"/>
                </a:solidFill>
                <a:hlinkClick r:id="rId6"/>
              </a:rPr>
              <a:t>https://github.com/root-project/cling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g39a6a542a37_0_214"/>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PyTorch</a:t>
            </a:r>
            <a:endParaRPr/>
          </a:p>
        </p:txBody>
      </p:sp>
      <p:sp>
        <p:nvSpPr>
          <p:cNvPr id="346" name="Google Shape;346;g39a6a542a37_0_214"/>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PyTorch is an open-source, Python-based machine learning library</a:t>
            </a:r>
            <a:endParaRPr/>
          </a:p>
          <a:p>
            <a:pPr indent="0" lvl="0" marL="0" rtl="0" algn="l">
              <a:spcBef>
                <a:spcPts val="1000"/>
              </a:spcBef>
              <a:spcAft>
                <a:spcPts val="0"/>
              </a:spcAft>
              <a:buNone/>
            </a:pPr>
            <a:r>
              <a:t/>
            </a:r>
            <a:endParaRPr/>
          </a:p>
        </p:txBody>
      </p:sp>
      <p:pic>
        <p:nvPicPr>
          <p:cNvPr id="347" name="Google Shape;347;g39a6a542a37_0_214"/>
          <p:cNvPicPr preferRelativeResize="0"/>
          <p:nvPr/>
        </p:nvPicPr>
        <p:blipFill>
          <a:blip r:embed="rId3">
            <a:alphaModFix/>
          </a:blip>
          <a:stretch>
            <a:fillRect/>
          </a:stretch>
        </p:blipFill>
        <p:spPr>
          <a:xfrm>
            <a:off x="8586575" y="571496"/>
            <a:ext cx="2995700" cy="735650"/>
          </a:xfrm>
          <a:prstGeom prst="rect">
            <a:avLst/>
          </a:prstGeom>
          <a:noFill/>
          <a:ln>
            <a:noFill/>
          </a:ln>
        </p:spPr>
      </p:pic>
      <p:sp>
        <p:nvSpPr>
          <p:cNvPr id="348" name="Google Shape;348;g39a6a542a37_0_214"/>
          <p:cNvSpPr txBox="1"/>
          <p:nvPr/>
        </p:nvSpPr>
        <p:spPr>
          <a:xfrm>
            <a:off x="8584425" y="13071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4"/>
              </a:rPr>
              <a:t>https://github.com/pytorch/pytorch</a:t>
            </a:r>
            <a:r>
              <a:rPr lang="en-US"/>
              <a:t> </a:t>
            </a:r>
            <a:endParaRPr/>
          </a:p>
        </p:txBody>
      </p:sp>
      <p:pic>
        <p:nvPicPr>
          <p:cNvPr id="349" name="Google Shape;349;g39a6a542a37_0_214"/>
          <p:cNvPicPr preferRelativeResize="0"/>
          <p:nvPr/>
        </p:nvPicPr>
        <p:blipFill>
          <a:blip r:embed="rId5">
            <a:alphaModFix/>
          </a:blip>
          <a:stretch>
            <a:fillRect/>
          </a:stretch>
        </p:blipFill>
        <p:spPr>
          <a:xfrm>
            <a:off x="0" y="2159753"/>
            <a:ext cx="12192000" cy="4372814"/>
          </a:xfrm>
          <a:prstGeom prst="rect">
            <a:avLst/>
          </a:prstGeom>
          <a:noFill/>
          <a:ln>
            <a:noFill/>
          </a:ln>
        </p:spPr>
      </p:pic>
      <p:sp>
        <p:nvSpPr>
          <p:cNvPr id="350" name="Google Shape;350;g39a6a542a37_0_214"/>
          <p:cNvSpPr txBox="1"/>
          <p:nvPr/>
        </p:nvSpPr>
        <p:spPr>
          <a:xfrm>
            <a:off x="4053150" y="6457800"/>
            <a:ext cx="408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6"/>
              </a:rPr>
              <a:t>https://www.learnpytorch.io/01_pytorch_workflow/</a:t>
            </a:r>
            <a:r>
              <a:rPr lang="en-US"/>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g3d6016f1f31_0_12"/>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PyTorch compilation flow</a:t>
            </a:r>
            <a:endParaRPr/>
          </a:p>
        </p:txBody>
      </p:sp>
      <p:pic>
        <p:nvPicPr>
          <p:cNvPr id="357" name="Google Shape;357;g3d6016f1f31_0_12"/>
          <p:cNvPicPr preferRelativeResize="0"/>
          <p:nvPr/>
        </p:nvPicPr>
        <p:blipFill>
          <a:blip r:embed="rId3">
            <a:alphaModFix/>
          </a:blip>
          <a:stretch>
            <a:fillRect/>
          </a:stretch>
        </p:blipFill>
        <p:spPr>
          <a:xfrm>
            <a:off x="320175" y="1524000"/>
            <a:ext cx="7175809" cy="5029199"/>
          </a:xfrm>
          <a:prstGeom prst="rect">
            <a:avLst/>
          </a:prstGeom>
          <a:noFill/>
          <a:ln>
            <a:noFill/>
          </a:ln>
        </p:spPr>
      </p:pic>
      <p:sp>
        <p:nvSpPr>
          <p:cNvPr id="358" name="Google Shape;358;g3d6016f1f31_0_12"/>
          <p:cNvSpPr txBox="1"/>
          <p:nvPr/>
        </p:nvSpPr>
        <p:spPr>
          <a:xfrm>
            <a:off x="8532300" y="6457800"/>
            <a:ext cx="3659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4"/>
              </a:rPr>
              <a:t>https://pytorch.org/get-started/pytorch-2-x/</a:t>
            </a:r>
            <a:r>
              <a:rPr lang="en-US"/>
              <a:t> </a:t>
            </a:r>
            <a:endParaRPr/>
          </a:p>
        </p:txBody>
      </p:sp>
      <p:sp>
        <p:nvSpPr>
          <p:cNvPr id="359" name="Google Shape;359;g3d6016f1f31_0_12"/>
          <p:cNvSpPr txBox="1"/>
          <p:nvPr/>
        </p:nvSpPr>
        <p:spPr>
          <a:xfrm>
            <a:off x="7057225" y="1866550"/>
            <a:ext cx="45720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t>Torch provides a set of compilers by itself:</a:t>
            </a:r>
            <a:endParaRPr sz="1800"/>
          </a:p>
          <a:p>
            <a:pPr indent="0" lvl="0" marL="0" rtl="0" algn="l">
              <a:spcBef>
                <a:spcPts val="0"/>
              </a:spcBef>
              <a:spcAft>
                <a:spcPts val="0"/>
              </a:spcAft>
              <a:buNone/>
            </a:pPr>
            <a:r>
              <a:rPr lang="en-US" sz="1800" u="sng">
                <a:solidFill>
                  <a:schemeClr val="hlink"/>
                </a:solidFill>
                <a:hlinkClick r:id="rId5"/>
              </a:rPr>
              <a:t>https://docs.pytorch.org/tutorials/compilers_index.html</a:t>
            </a:r>
            <a:r>
              <a:rPr lang="en-US" sz="1800"/>
              <a:t> </a:t>
            </a:r>
            <a:endParaRPr sz="1800"/>
          </a:p>
        </p:txBody>
      </p:sp>
      <p:sp>
        <p:nvSpPr>
          <p:cNvPr id="360" name="Google Shape;360;g3d6016f1f31_0_12"/>
          <p:cNvSpPr txBox="1"/>
          <p:nvPr/>
        </p:nvSpPr>
        <p:spPr>
          <a:xfrm>
            <a:off x="7833200" y="5109600"/>
            <a:ext cx="4247100" cy="134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350">
                <a:solidFill>
                  <a:srgbClr val="676767"/>
                </a:solidFill>
                <a:highlight>
                  <a:srgbClr val="FFFFFF"/>
                </a:highlight>
              </a:rPr>
              <a:t>With PyTorch 2.0, we want to simplify the backend (compiler) integration experience. To do this, we have focused on reducing the number of operators and simplifying the semantics of the operator set necessary to bring up a PyTorch backend.</a:t>
            </a:r>
            <a:endParaRPr sz="11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pic>
        <p:nvPicPr>
          <p:cNvPr id="366" name="Google Shape;366;g3d6016f1f31_0_37"/>
          <p:cNvPicPr preferRelativeResize="0"/>
          <p:nvPr/>
        </p:nvPicPr>
        <p:blipFill>
          <a:blip r:embed="rId3">
            <a:alphaModFix/>
          </a:blip>
          <a:stretch>
            <a:fillRect/>
          </a:stretch>
        </p:blipFill>
        <p:spPr>
          <a:xfrm>
            <a:off x="2613038" y="3174835"/>
            <a:ext cx="6965924" cy="3435351"/>
          </a:xfrm>
          <a:prstGeom prst="rect">
            <a:avLst/>
          </a:prstGeom>
          <a:noFill/>
          <a:ln>
            <a:noFill/>
          </a:ln>
        </p:spPr>
      </p:pic>
      <p:sp>
        <p:nvSpPr>
          <p:cNvPr id="367" name="Google Shape;367;g3d6016f1f31_0_37"/>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PyTorch compilation modes</a:t>
            </a:r>
            <a:endParaRPr/>
          </a:p>
        </p:txBody>
      </p:sp>
      <p:sp>
        <p:nvSpPr>
          <p:cNvPr id="368" name="Google Shape;368;g3d6016f1f31_0_37"/>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inductor: the default production backend in torch.compile</a:t>
            </a:r>
            <a:endParaRPr/>
          </a:p>
          <a:p>
            <a:pPr indent="-342900" lvl="0" marL="457200" rtl="0" algn="l">
              <a:spcBef>
                <a:spcPts val="0"/>
              </a:spcBef>
              <a:spcAft>
                <a:spcPts val="0"/>
              </a:spcAft>
              <a:buSzPts val="1800"/>
              <a:buChar char="•"/>
            </a:pPr>
            <a:r>
              <a:rPr lang="en-US"/>
              <a:t>eager: not an optimizing compiler. It runs Dynamo graph capture but executes with regular PyTorch eager mode. Useful for debugging whether graph itself works or not</a:t>
            </a:r>
            <a:endParaRPr/>
          </a:p>
        </p:txBody>
      </p:sp>
      <p:sp>
        <p:nvSpPr>
          <p:cNvPr id="369" name="Google Shape;369;g3d6016f1f31_0_37"/>
          <p:cNvSpPr txBox="1"/>
          <p:nvPr/>
        </p:nvSpPr>
        <p:spPr>
          <a:xfrm>
            <a:off x="7733400" y="6457800"/>
            <a:ext cx="445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4"/>
              </a:rPr>
              <a:t>https://pytorch.org/blog/accelerated-pytorch-inference/</a:t>
            </a:r>
            <a:r>
              <a:rPr lang="en-US"/>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g3d6016f1f31_0_63"/>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PyTorch </a:t>
            </a:r>
            <a:r>
              <a:rPr lang="en-US"/>
              <a:t>vendor (3rdparty) backends</a:t>
            </a:r>
            <a:endParaRPr/>
          </a:p>
        </p:txBody>
      </p:sp>
      <p:sp>
        <p:nvSpPr>
          <p:cNvPr id="376" name="Google Shape;376;g3d6016f1f31_0_63"/>
          <p:cNvSpPr txBox="1"/>
          <p:nvPr>
            <p:ph idx="1" type="body"/>
          </p:nvPr>
        </p:nvSpPr>
        <p:spPr>
          <a:xfrm>
            <a:off x="571372" y="1673450"/>
            <a:ext cx="44202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PyTorch provides an extendable interface that allows to bind different compilers for the actual model compilation</a:t>
            </a:r>
            <a:endParaRPr/>
          </a:p>
        </p:txBody>
      </p:sp>
      <p:pic>
        <p:nvPicPr>
          <p:cNvPr id="377" name="Google Shape;377;g3d6016f1f31_0_63"/>
          <p:cNvPicPr preferRelativeResize="0"/>
          <p:nvPr/>
        </p:nvPicPr>
        <p:blipFill>
          <a:blip r:embed="rId3">
            <a:alphaModFix/>
          </a:blip>
          <a:stretch>
            <a:fillRect/>
          </a:stretch>
        </p:blipFill>
        <p:spPr>
          <a:xfrm>
            <a:off x="5152378" y="1673450"/>
            <a:ext cx="6864970" cy="4575000"/>
          </a:xfrm>
          <a:prstGeom prst="rect">
            <a:avLst/>
          </a:prstGeom>
          <a:noFill/>
          <a:ln>
            <a:noFill/>
          </a:ln>
        </p:spPr>
      </p:pic>
      <p:sp>
        <p:nvSpPr>
          <p:cNvPr id="378" name="Google Shape;378;g3d6016f1f31_0_63"/>
          <p:cNvSpPr txBox="1"/>
          <p:nvPr/>
        </p:nvSpPr>
        <p:spPr>
          <a:xfrm>
            <a:off x="4187400" y="6457800"/>
            <a:ext cx="8004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4"/>
              </a:rPr>
              <a:t>https://medium.com/@Modexa/eight-torchscript-alternatives-for-the-pytorch-2-x-era-34dcb68f2940</a:t>
            </a:r>
            <a:r>
              <a:rPr lang="en-US"/>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pic>
        <p:nvPicPr>
          <p:cNvPr id="384" name="Google Shape;384;g3d6016f1f31_0_18"/>
          <p:cNvPicPr preferRelativeResize="0"/>
          <p:nvPr/>
        </p:nvPicPr>
        <p:blipFill rotWithShape="1">
          <a:blip r:embed="rId3">
            <a:alphaModFix/>
          </a:blip>
          <a:srcRect b="0" l="0" r="37683" t="0"/>
          <a:stretch/>
        </p:blipFill>
        <p:spPr>
          <a:xfrm>
            <a:off x="8139558" y="1528292"/>
            <a:ext cx="1681775" cy="907975"/>
          </a:xfrm>
          <a:prstGeom prst="rect">
            <a:avLst/>
          </a:prstGeom>
          <a:noFill/>
          <a:ln>
            <a:noFill/>
          </a:ln>
        </p:spPr>
      </p:pic>
      <p:sp>
        <p:nvSpPr>
          <p:cNvPr id="385" name="Google Shape;385;g3d6016f1f31_0_18"/>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PyTorch backends</a:t>
            </a:r>
            <a:endParaRPr/>
          </a:p>
        </p:txBody>
      </p:sp>
      <p:sp>
        <p:nvSpPr>
          <p:cNvPr id="386" name="Google Shape;386;g3d6016f1f31_0_18"/>
          <p:cNvSpPr txBox="1"/>
          <p:nvPr>
            <p:ph idx="1" type="body"/>
          </p:nvPr>
        </p:nvSpPr>
        <p:spPr>
          <a:xfrm>
            <a:off x="571375" y="1673450"/>
            <a:ext cx="7932900" cy="4903200"/>
          </a:xfrm>
          <a:prstGeom prst="rect">
            <a:avLst/>
          </a:prstGeom>
        </p:spPr>
        <p:txBody>
          <a:bodyPr anchorCtr="0" anchor="t" bIns="45700" lIns="91425" spcFirstLastPara="1" rIns="91425" wrap="square" tIns="45700">
            <a:noAutofit/>
          </a:bodyPr>
          <a:lstStyle/>
          <a:p>
            <a:pPr indent="-368300" lvl="0" marL="457200" rtl="0" algn="l">
              <a:lnSpc>
                <a:spcPct val="115000"/>
              </a:lnSpc>
              <a:spcBef>
                <a:spcPts val="1200"/>
              </a:spcBef>
              <a:spcAft>
                <a:spcPts val="0"/>
              </a:spcAft>
              <a:buSzPts val="2200"/>
              <a:buChar char="•"/>
            </a:pPr>
            <a:r>
              <a:rPr lang="en-US" sz="2200" u="sng">
                <a:solidFill>
                  <a:schemeClr val="hlink"/>
                </a:solidFill>
                <a:hlinkClick r:id="rId4"/>
              </a:rPr>
              <a:t>https://pytorch.org/docs/stable/torch.compiler.html</a:t>
            </a:r>
            <a:endParaRPr sz="2200"/>
          </a:p>
          <a:p>
            <a:pPr indent="-368300" lvl="1" marL="914400" rtl="0" algn="l">
              <a:lnSpc>
                <a:spcPct val="115000"/>
              </a:lnSpc>
              <a:spcBef>
                <a:spcPts val="0"/>
              </a:spcBef>
              <a:spcAft>
                <a:spcPts val="0"/>
              </a:spcAft>
              <a:buSzPts val="2200"/>
              <a:buChar char="•"/>
            </a:pPr>
            <a:r>
              <a:rPr lang="en-US" sz="2200"/>
              <a:t>Targets CPUs, GPUs</a:t>
            </a:r>
            <a:endParaRPr sz="2200"/>
          </a:p>
          <a:p>
            <a:pPr indent="-368300" lvl="0" marL="457200" rtl="0" algn="l">
              <a:spcBef>
                <a:spcPts val="0"/>
              </a:spcBef>
              <a:spcAft>
                <a:spcPts val="0"/>
              </a:spcAft>
              <a:buSzPts val="2200"/>
              <a:buChar char="•"/>
            </a:pPr>
            <a:r>
              <a:rPr lang="en-US" sz="2200" u="sng">
                <a:solidFill>
                  <a:schemeClr val="hlink"/>
                </a:solidFill>
                <a:hlinkClick r:id="rId5"/>
              </a:rPr>
              <a:t>https://github.com/Lightning-AI/lightning-thunder</a:t>
            </a:r>
            <a:endParaRPr sz="2200"/>
          </a:p>
          <a:p>
            <a:pPr indent="-368300" lvl="1" marL="914400" rtl="0" algn="l">
              <a:spcBef>
                <a:spcPts val="0"/>
              </a:spcBef>
              <a:spcAft>
                <a:spcPts val="0"/>
              </a:spcAft>
              <a:buSzPts val="2200"/>
              <a:buChar char="•"/>
            </a:pPr>
            <a:r>
              <a:rPr lang="en-US" sz="2200"/>
              <a:t>Performs transformations on Pythonic IR (for NVIDIA GPUs)</a:t>
            </a:r>
            <a:endParaRPr sz="2200"/>
          </a:p>
          <a:p>
            <a:pPr indent="-368300" lvl="0" marL="457200" rtl="0" algn="l">
              <a:lnSpc>
                <a:spcPct val="115000"/>
              </a:lnSpc>
              <a:spcBef>
                <a:spcPts val="0"/>
              </a:spcBef>
              <a:spcAft>
                <a:spcPts val="0"/>
              </a:spcAft>
              <a:buSzPts val="2200"/>
              <a:buChar char="•"/>
            </a:pPr>
            <a:r>
              <a:rPr lang="en-US" sz="2200" u="sng">
                <a:solidFill>
                  <a:schemeClr val="hlink"/>
                </a:solidFill>
                <a:hlinkClick r:id="rId6"/>
              </a:rPr>
              <a:t>https://github.com/iree-org/iree-turbine</a:t>
            </a:r>
            <a:r>
              <a:rPr lang="en-US" sz="2200"/>
              <a:t> </a:t>
            </a:r>
            <a:endParaRPr sz="2200"/>
          </a:p>
          <a:p>
            <a:pPr indent="-368300" lvl="1" marL="914400" rtl="0" algn="l">
              <a:lnSpc>
                <a:spcPct val="115000"/>
              </a:lnSpc>
              <a:spcBef>
                <a:spcPts val="0"/>
              </a:spcBef>
              <a:spcAft>
                <a:spcPts val="0"/>
              </a:spcAft>
              <a:buSzPts val="2200"/>
              <a:buChar char="•"/>
            </a:pPr>
            <a:r>
              <a:rPr lang="en-US" sz="2200"/>
              <a:t>MLIR-based compiler/runtime path for PyTorch models, using Torch-MLIR-style lowering</a:t>
            </a:r>
            <a:endParaRPr sz="2200"/>
          </a:p>
          <a:p>
            <a:pPr indent="-368300" lvl="0" marL="457200" rtl="0" algn="l">
              <a:lnSpc>
                <a:spcPct val="115000"/>
              </a:lnSpc>
              <a:spcBef>
                <a:spcPts val="0"/>
              </a:spcBef>
              <a:spcAft>
                <a:spcPts val="0"/>
              </a:spcAft>
              <a:buSzPts val="2200"/>
              <a:buChar char="•"/>
            </a:pPr>
            <a:r>
              <a:rPr lang="en-US" sz="2200" u="sng">
                <a:solidFill>
                  <a:schemeClr val="hlink"/>
                </a:solidFill>
                <a:hlinkClick r:id="rId7"/>
              </a:rPr>
              <a:t>https://github.com/pytorch/TensorRT</a:t>
            </a:r>
            <a:endParaRPr sz="2200"/>
          </a:p>
          <a:p>
            <a:pPr indent="-368300" lvl="1" marL="914400" rtl="0" algn="l">
              <a:lnSpc>
                <a:spcPct val="115000"/>
              </a:lnSpc>
              <a:spcBef>
                <a:spcPts val="0"/>
              </a:spcBef>
              <a:spcAft>
                <a:spcPts val="0"/>
              </a:spcAft>
              <a:buSzPts val="2200"/>
              <a:buChar char="•"/>
            </a:pPr>
            <a:r>
              <a:rPr lang="en-US" sz="2200"/>
              <a:t>compiler for NVIDIA GPUs</a:t>
            </a:r>
            <a:endParaRPr sz="2200"/>
          </a:p>
          <a:p>
            <a:pPr indent="-368300" lvl="0" marL="457200" rtl="0" algn="l">
              <a:lnSpc>
                <a:spcPct val="115000"/>
              </a:lnSpc>
              <a:spcBef>
                <a:spcPts val="0"/>
              </a:spcBef>
              <a:spcAft>
                <a:spcPts val="0"/>
              </a:spcAft>
              <a:buSzPts val="2200"/>
              <a:buChar char="•"/>
            </a:pPr>
            <a:r>
              <a:rPr lang="en-US" sz="2200" u="sng">
                <a:solidFill>
                  <a:schemeClr val="hlink"/>
                </a:solidFill>
                <a:hlinkClick r:id="rId8"/>
              </a:rPr>
              <a:t>https://docs.openvino.ai/torchcompile</a:t>
            </a:r>
            <a:r>
              <a:rPr lang="en-US" sz="2200"/>
              <a:t> </a:t>
            </a:r>
            <a:endParaRPr sz="2200"/>
          </a:p>
          <a:p>
            <a:pPr indent="-368300" lvl="1" marL="914400" rtl="0" algn="l">
              <a:lnSpc>
                <a:spcPct val="115000"/>
              </a:lnSpc>
              <a:spcBef>
                <a:spcPts val="0"/>
              </a:spcBef>
              <a:spcAft>
                <a:spcPts val="0"/>
              </a:spcAft>
              <a:buSzPts val="2200"/>
              <a:buChar char="•"/>
            </a:pPr>
            <a:r>
              <a:rPr lang="en-US" sz="2200"/>
              <a:t>for Intel CPU/GPU/NPU deployment</a:t>
            </a:r>
            <a:endParaRPr sz="2200"/>
          </a:p>
          <a:p>
            <a:pPr indent="-368300" lvl="0" marL="457200" rtl="0" algn="l">
              <a:lnSpc>
                <a:spcPct val="115000"/>
              </a:lnSpc>
              <a:spcBef>
                <a:spcPts val="0"/>
              </a:spcBef>
              <a:spcAft>
                <a:spcPts val="0"/>
              </a:spcAft>
              <a:buSzPts val="2200"/>
              <a:buChar char="•"/>
            </a:pPr>
            <a:r>
              <a:rPr lang="en-US" sz="2200" u="sng">
                <a:solidFill>
                  <a:schemeClr val="hlink"/>
                </a:solidFill>
                <a:hlinkClick r:id="rId9"/>
              </a:rPr>
              <a:t>https://github.com/pytorch/xla</a:t>
            </a:r>
            <a:r>
              <a:rPr lang="en-US" sz="2200"/>
              <a:t> </a:t>
            </a:r>
            <a:endParaRPr sz="2200"/>
          </a:p>
          <a:p>
            <a:pPr indent="-368300" lvl="1" marL="914400" rtl="0" algn="l">
              <a:spcBef>
                <a:spcPts val="0"/>
              </a:spcBef>
              <a:spcAft>
                <a:spcPts val="0"/>
              </a:spcAft>
              <a:buSzPts val="2200"/>
              <a:buChar char="•"/>
            </a:pPr>
            <a:r>
              <a:rPr lang="en-US" sz="2200"/>
              <a:t>XLA, mainly for Google TPU and XLA devices</a:t>
            </a:r>
            <a:endParaRPr sz="2200"/>
          </a:p>
        </p:txBody>
      </p:sp>
      <p:pic>
        <p:nvPicPr>
          <p:cNvPr id="387" name="Google Shape;387;g3d6016f1f31_0_18"/>
          <p:cNvPicPr preferRelativeResize="0"/>
          <p:nvPr/>
        </p:nvPicPr>
        <p:blipFill>
          <a:blip r:embed="rId10">
            <a:alphaModFix/>
          </a:blip>
          <a:stretch>
            <a:fillRect/>
          </a:stretch>
        </p:blipFill>
        <p:spPr>
          <a:xfrm>
            <a:off x="8504274" y="2298324"/>
            <a:ext cx="3315450" cy="733850"/>
          </a:xfrm>
          <a:prstGeom prst="rect">
            <a:avLst/>
          </a:prstGeom>
          <a:noFill/>
          <a:ln>
            <a:noFill/>
          </a:ln>
        </p:spPr>
      </p:pic>
      <p:pic>
        <p:nvPicPr>
          <p:cNvPr id="388" name="Google Shape;388;g3d6016f1f31_0_18"/>
          <p:cNvPicPr preferRelativeResize="0"/>
          <p:nvPr/>
        </p:nvPicPr>
        <p:blipFill>
          <a:blip r:embed="rId11">
            <a:alphaModFix/>
          </a:blip>
          <a:stretch>
            <a:fillRect/>
          </a:stretch>
        </p:blipFill>
        <p:spPr>
          <a:xfrm>
            <a:off x="10703400" y="3317037"/>
            <a:ext cx="497900" cy="474075"/>
          </a:xfrm>
          <a:prstGeom prst="rect">
            <a:avLst/>
          </a:prstGeom>
          <a:noFill/>
          <a:ln>
            <a:noFill/>
          </a:ln>
        </p:spPr>
      </p:pic>
      <p:pic>
        <p:nvPicPr>
          <p:cNvPr id="389" name="Google Shape;389;g3d6016f1f31_0_18"/>
          <p:cNvPicPr preferRelativeResize="0"/>
          <p:nvPr/>
        </p:nvPicPr>
        <p:blipFill>
          <a:blip r:embed="rId12">
            <a:alphaModFix/>
          </a:blip>
          <a:stretch>
            <a:fillRect/>
          </a:stretch>
        </p:blipFill>
        <p:spPr>
          <a:xfrm>
            <a:off x="7805674" y="3806500"/>
            <a:ext cx="3135168" cy="1453075"/>
          </a:xfrm>
          <a:prstGeom prst="rect">
            <a:avLst/>
          </a:prstGeom>
          <a:noFill/>
          <a:ln>
            <a:noFill/>
          </a:ln>
        </p:spPr>
      </p:pic>
      <p:sp>
        <p:nvSpPr>
          <p:cNvPr id="390" name="Google Shape;390;g3d6016f1f31_0_18"/>
          <p:cNvSpPr txBox="1"/>
          <p:nvPr/>
        </p:nvSpPr>
        <p:spPr>
          <a:xfrm>
            <a:off x="10683025" y="3679150"/>
            <a:ext cx="573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solidFill>
                  <a:schemeClr val="dk1"/>
                </a:solidFill>
                <a:latin typeface="Calibri"/>
                <a:ea typeface="Calibri"/>
                <a:cs typeface="Calibri"/>
                <a:sym typeface="Calibri"/>
              </a:rPr>
              <a:t>IREE</a:t>
            </a:r>
            <a:endParaRPr sz="1600">
              <a:solidFill>
                <a:schemeClr val="dk1"/>
              </a:solidFill>
              <a:latin typeface="Calibri"/>
              <a:ea typeface="Calibri"/>
              <a:cs typeface="Calibri"/>
              <a:sym typeface="Calibri"/>
            </a:endParaRPr>
          </a:p>
        </p:txBody>
      </p:sp>
      <p:pic>
        <p:nvPicPr>
          <p:cNvPr id="391" name="Google Shape;391;g3d6016f1f31_0_18"/>
          <p:cNvPicPr preferRelativeResize="0"/>
          <p:nvPr/>
        </p:nvPicPr>
        <p:blipFill>
          <a:blip r:embed="rId13">
            <a:alphaModFix/>
          </a:blip>
          <a:stretch>
            <a:fillRect/>
          </a:stretch>
        </p:blipFill>
        <p:spPr>
          <a:xfrm>
            <a:off x="7232050" y="4690125"/>
            <a:ext cx="1772976" cy="1772976"/>
          </a:xfrm>
          <a:prstGeom prst="rect">
            <a:avLst/>
          </a:prstGeom>
          <a:noFill/>
          <a:ln>
            <a:noFill/>
          </a:ln>
        </p:spPr>
      </p:pic>
      <p:pic>
        <p:nvPicPr>
          <p:cNvPr id="392" name="Google Shape;392;g3d6016f1f31_0_18"/>
          <p:cNvPicPr preferRelativeResize="0"/>
          <p:nvPr/>
        </p:nvPicPr>
        <p:blipFill rotWithShape="1">
          <a:blip r:embed="rId3">
            <a:alphaModFix/>
          </a:blip>
          <a:srcRect b="0" l="62832" r="0" t="0"/>
          <a:stretch/>
        </p:blipFill>
        <p:spPr>
          <a:xfrm>
            <a:off x="9128800" y="5810775"/>
            <a:ext cx="1003101" cy="9079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g3dc35a4ca61_0_0"/>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Triton</a:t>
            </a:r>
            <a:endParaRPr/>
          </a:p>
        </p:txBody>
      </p:sp>
      <p:sp>
        <p:nvSpPr>
          <p:cNvPr id="399" name="Google Shape;399;g3dc35a4ca61_0_0"/>
          <p:cNvSpPr txBox="1"/>
          <p:nvPr>
            <p:ph idx="1" type="body"/>
          </p:nvPr>
        </p:nvSpPr>
        <p:spPr>
          <a:xfrm>
            <a:off x="571375" y="1615167"/>
            <a:ext cx="4528500" cy="27366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1800"/>
              <a:t>Triton is a Python-based language and compiler for writing high-performance GPU kernels without writing CUDA (or other GPU code) directly</a:t>
            </a:r>
            <a:endParaRPr sz="1800"/>
          </a:p>
          <a:p>
            <a:pPr indent="0" lvl="0" marL="0" rtl="0" algn="l">
              <a:spcBef>
                <a:spcPts val="1000"/>
              </a:spcBef>
              <a:spcAft>
                <a:spcPts val="0"/>
              </a:spcAft>
              <a:buNone/>
            </a:pPr>
            <a:r>
              <a:rPr lang="en-US" sz="1800"/>
              <a:t>It serves DSL and compiler for custom GPU kernels</a:t>
            </a:r>
            <a:endParaRPr sz="1800"/>
          </a:p>
          <a:p>
            <a:pPr indent="0" lvl="0" marL="0" rtl="0" algn="l">
              <a:spcBef>
                <a:spcPts val="1000"/>
              </a:spcBef>
              <a:spcAft>
                <a:spcPts val="0"/>
              </a:spcAft>
              <a:buNone/>
            </a:pPr>
            <a:r>
              <a:rPr lang="en-US" sz="1800"/>
              <a:t>Goal: Make high-performance GPU kernel programming more accessible</a:t>
            </a:r>
            <a:endParaRPr sz="1800"/>
          </a:p>
          <a:p>
            <a:pPr indent="0" lvl="0" marL="0" rtl="0" algn="l">
              <a:spcBef>
                <a:spcPts val="1000"/>
              </a:spcBef>
              <a:spcAft>
                <a:spcPts val="0"/>
              </a:spcAft>
              <a:buNone/>
            </a:pPr>
            <a:r>
              <a:rPr lang="en-US" sz="1800"/>
              <a:t>LLVM </a:t>
            </a:r>
            <a:r>
              <a:rPr lang="en-US" sz="1800"/>
              <a:t>and</a:t>
            </a:r>
            <a:r>
              <a:rPr lang="en-US" sz="1800"/>
              <a:t> MLIR are under the hood</a:t>
            </a:r>
            <a:endParaRPr sz="1800"/>
          </a:p>
        </p:txBody>
      </p:sp>
      <p:sp>
        <p:nvSpPr>
          <p:cNvPr id="400" name="Google Shape;400;g3dc35a4ca61_0_0"/>
          <p:cNvSpPr txBox="1"/>
          <p:nvPr/>
        </p:nvSpPr>
        <p:spPr>
          <a:xfrm>
            <a:off x="8800767" y="-77725"/>
            <a:ext cx="3498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3"/>
              </a:rPr>
              <a:t>https://www.singlestore.com/blog/a-guide-to-softmax-activation-function/</a:t>
            </a:r>
            <a:r>
              <a:rPr lang="en-US"/>
              <a:t> </a:t>
            </a:r>
            <a:endParaRPr/>
          </a:p>
          <a:p>
            <a:pPr indent="0" lvl="0" marL="0" rtl="0" algn="l">
              <a:spcBef>
                <a:spcPts val="0"/>
              </a:spcBef>
              <a:spcAft>
                <a:spcPts val="0"/>
              </a:spcAft>
              <a:buNone/>
            </a:pPr>
            <a:r>
              <a:rPr lang="en-US" u="sng">
                <a:solidFill>
                  <a:schemeClr val="hlink"/>
                </a:solidFill>
                <a:hlinkClick r:id="rId4"/>
              </a:rPr>
              <a:t>https://openai.com/index/triton/</a:t>
            </a:r>
            <a:r>
              <a:rPr lang="en-US"/>
              <a:t> </a:t>
            </a:r>
            <a:endParaRPr/>
          </a:p>
          <a:p>
            <a:pPr indent="0" lvl="0" marL="0" rtl="0" algn="l">
              <a:spcBef>
                <a:spcPts val="0"/>
              </a:spcBef>
              <a:spcAft>
                <a:spcPts val="0"/>
              </a:spcAft>
              <a:buNone/>
            </a:pPr>
            <a:r>
              <a:rPr lang="en-US" u="sng">
                <a:solidFill>
                  <a:schemeClr val="hlink"/>
                </a:solidFill>
                <a:hlinkClick r:id="rId5"/>
              </a:rPr>
              <a:t>https://triton-lang.org/main/index.html</a:t>
            </a:r>
            <a:r>
              <a:rPr lang="en-US"/>
              <a:t> </a:t>
            </a:r>
            <a:endParaRPr/>
          </a:p>
        </p:txBody>
      </p:sp>
      <p:sp>
        <p:nvSpPr>
          <p:cNvPr id="401" name="Google Shape;401;g3dc35a4ca61_0_0"/>
          <p:cNvSpPr txBox="1"/>
          <p:nvPr/>
        </p:nvSpPr>
        <p:spPr>
          <a:xfrm>
            <a:off x="5099800" y="174850"/>
            <a:ext cx="7092300" cy="6003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US">
                <a:solidFill>
                  <a:srgbClr val="AF00DB"/>
                </a:solidFill>
                <a:highlight>
                  <a:srgbClr val="FFFFFF"/>
                </a:highlight>
                <a:latin typeface="Consolas"/>
                <a:ea typeface="Consolas"/>
                <a:cs typeface="Consolas"/>
                <a:sym typeface="Consolas"/>
              </a:rPr>
              <a:t>import</a:t>
            </a:r>
            <a:r>
              <a:rPr lang="en-US">
                <a:solidFill>
                  <a:schemeClr val="dk1"/>
                </a:solidFill>
                <a:highlight>
                  <a:srgbClr val="FFFFFF"/>
                </a:highlight>
                <a:latin typeface="Consolas"/>
                <a:ea typeface="Consolas"/>
                <a:cs typeface="Consolas"/>
                <a:sym typeface="Consolas"/>
              </a:rPr>
              <a:t> </a:t>
            </a:r>
            <a:r>
              <a:rPr lang="en-US">
                <a:solidFill>
                  <a:srgbClr val="267F99"/>
                </a:solidFill>
                <a:highlight>
                  <a:srgbClr val="FFFFFF"/>
                </a:highlight>
                <a:latin typeface="Consolas"/>
                <a:ea typeface="Consolas"/>
                <a:cs typeface="Consolas"/>
                <a:sym typeface="Consolas"/>
              </a:rPr>
              <a:t>triton</a:t>
            </a:r>
            <a:endParaRPr>
              <a:solidFill>
                <a:srgbClr val="267F99"/>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rgbClr val="AF00DB"/>
                </a:solidFill>
                <a:highlight>
                  <a:srgbClr val="FFFFFF"/>
                </a:highlight>
                <a:latin typeface="Consolas"/>
                <a:ea typeface="Consolas"/>
                <a:cs typeface="Consolas"/>
                <a:sym typeface="Consolas"/>
              </a:rPr>
              <a:t>import</a:t>
            </a:r>
            <a:r>
              <a:rPr lang="en-US">
                <a:solidFill>
                  <a:schemeClr val="dk1"/>
                </a:solidFill>
                <a:highlight>
                  <a:srgbClr val="FFFFFF"/>
                </a:highlight>
                <a:latin typeface="Consolas"/>
                <a:ea typeface="Consolas"/>
                <a:cs typeface="Consolas"/>
                <a:sym typeface="Consolas"/>
              </a:rPr>
              <a:t> triton.language </a:t>
            </a:r>
            <a:r>
              <a:rPr lang="en-US">
                <a:solidFill>
                  <a:srgbClr val="AF00DB"/>
                </a:solidFill>
                <a:highlight>
                  <a:srgbClr val="FFFFFF"/>
                </a:highlight>
                <a:latin typeface="Consolas"/>
                <a:ea typeface="Consolas"/>
                <a:cs typeface="Consolas"/>
                <a:sym typeface="Consolas"/>
              </a:rPr>
              <a:t>as</a:t>
            </a:r>
            <a:r>
              <a:rPr lang="en-US">
                <a:solidFill>
                  <a:schemeClr val="dk1"/>
                </a:solidFill>
                <a:highlight>
                  <a:srgbClr val="FFFFFF"/>
                </a:highlight>
                <a:latin typeface="Consolas"/>
                <a:ea typeface="Consolas"/>
                <a:cs typeface="Consolas"/>
                <a:sym typeface="Consolas"/>
              </a:rPr>
              <a:t> </a:t>
            </a:r>
            <a:r>
              <a:rPr lang="en-US">
                <a:solidFill>
                  <a:srgbClr val="267F99"/>
                </a:solidFill>
                <a:highlight>
                  <a:srgbClr val="FFFFFF"/>
                </a:highlight>
                <a:latin typeface="Consolas"/>
                <a:ea typeface="Consolas"/>
                <a:cs typeface="Consolas"/>
                <a:sym typeface="Consolas"/>
              </a:rPr>
              <a:t>tl</a:t>
            </a:r>
            <a:endParaRPr>
              <a:solidFill>
                <a:srgbClr val="267F99"/>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rgbClr val="795E26"/>
                </a:solidFill>
                <a:highlight>
                  <a:srgbClr val="FFFFFF"/>
                </a:highlight>
                <a:latin typeface="Consolas"/>
                <a:ea typeface="Consolas"/>
                <a:cs typeface="Consolas"/>
                <a:sym typeface="Consolas"/>
              </a:rPr>
              <a:t>@</a:t>
            </a:r>
            <a:r>
              <a:rPr lang="en-US">
                <a:solidFill>
                  <a:srgbClr val="267F99"/>
                </a:solidFill>
                <a:highlight>
                  <a:srgbClr val="FFFFFF"/>
                </a:highlight>
                <a:latin typeface="Consolas"/>
                <a:ea typeface="Consolas"/>
                <a:cs typeface="Consolas"/>
                <a:sym typeface="Consolas"/>
              </a:rPr>
              <a:t>triton</a:t>
            </a:r>
            <a:r>
              <a:rPr lang="en-US">
                <a:solidFill>
                  <a:srgbClr val="795E26"/>
                </a:solidFill>
                <a:highlight>
                  <a:srgbClr val="FFFFFF"/>
                </a:highlight>
                <a:latin typeface="Consolas"/>
                <a:ea typeface="Consolas"/>
                <a:cs typeface="Consolas"/>
                <a:sym typeface="Consolas"/>
              </a:rPr>
              <a:t>.jit</a:t>
            </a:r>
            <a:endParaRPr>
              <a:solidFill>
                <a:srgbClr val="795E26"/>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rgbClr val="0000FF"/>
                </a:solidFill>
                <a:highlight>
                  <a:srgbClr val="FFFFFF"/>
                </a:highlight>
                <a:latin typeface="Consolas"/>
                <a:ea typeface="Consolas"/>
                <a:cs typeface="Consolas"/>
                <a:sym typeface="Consolas"/>
              </a:rPr>
              <a:t>def</a:t>
            </a:r>
            <a:r>
              <a:rPr lang="en-US">
                <a:solidFill>
                  <a:schemeClr val="dk1"/>
                </a:solidFill>
                <a:highlight>
                  <a:srgbClr val="FFFFFF"/>
                </a:highlight>
                <a:latin typeface="Consolas"/>
                <a:ea typeface="Consolas"/>
                <a:cs typeface="Consolas"/>
                <a:sym typeface="Consolas"/>
              </a:rPr>
              <a:t> </a:t>
            </a:r>
            <a:r>
              <a:rPr lang="en-US">
                <a:solidFill>
                  <a:srgbClr val="795E26"/>
                </a:solidFill>
                <a:highlight>
                  <a:srgbClr val="FFFFFF"/>
                </a:highlight>
                <a:latin typeface="Consolas"/>
                <a:ea typeface="Consolas"/>
                <a:cs typeface="Consolas"/>
                <a:sym typeface="Consolas"/>
              </a:rPr>
              <a:t>softmax</a:t>
            </a:r>
            <a:r>
              <a:rPr lang="en-US">
                <a:solidFill>
                  <a:schemeClr val="dk1"/>
                </a:solidFill>
                <a:highlight>
                  <a:srgbClr val="FFFFFF"/>
                </a:highlight>
                <a:latin typeface="Consolas"/>
                <a:ea typeface="Consolas"/>
                <a:cs typeface="Consolas"/>
                <a:sym typeface="Consolas"/>
              </a:rPr>
              <a:t>(</a:t>
            </a:r>
            <a:r>
              <a:rPr lang="en-US">
                <a:solidFill>
                  <a:srgbClr val="001080"/>
                </a:solidFill>
                <a:highlight>
                  <a:srgbClr val="FFFFFF"/>
                </a:highlight>
                <a:latin typeface="Consolas"/>
                <a:ea typeface="Consolas"/>
                <a:cs typeface="Consolas"/>
                <a:sym typeface="Consolas"/>
              </a:rPr>
              <a:t>Y</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stride_ym</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stride_yn</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stride_xm</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stride_xn</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M</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N</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BLOCK_SIZE</a:t>
            </a:r>
            <a:r>
              <a:rPr lang="en-US">
                <a:solidFill>
                  <a:schemeClr val="dk1"/>
                </a:solidFill>
                <a:highlight>
                  <a:srgbClr val="FFFFFF"/>
                </a:highlight>
                <a:latin typeface="Consolas"/>
                <a:ea typeface="Consolas"/>
                <a:cs typeface="Consolas"/>
                <a:sym typeface="Consolas"/>
              </a:rPr>
              <a:t>: </a:t>
            </a:r>
            <a:r>
              <a:rPr lang="en-US">
                <a:solidFill>
                  <a:srgbClr val="267F99"/>
                </a:solidFill>
                <a:highlight>
                  <a:srgbClr val="FFFFFF"/>
                </a:highlight>
                <a:latin typeface="Consolas"/>
                <a:ea typeface="Consolas"/>
                <a:cs typeface="Consolas"/>
                <a:sym typeface="Consolas"/>
              </a:rPr>
              <a:t>tl</a:t>
            </a:r>
            <a:r>
              <a:rPr lang="en-US">
                <a:solidFill>
                  <a:schemeClr val="dk1"/>
                </a:solidFill>
                <a:highlight>
                  <a:srgbClr val="FFFFFF"/>
                </a:highlight>
                <a:latin typeface="Consolas"/>
                <a:ea typeface="Consolas"/>
                <a:cs typeface="Consolas"/>
                <a:sym typeface="Consolas"/>
              </a:rPr>
              <a:t>.constexpr):</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m</a:t>
            </a:r>
            <a:r>
              <a:rPr lang="en-US">
                <a:solidFill>
                  <a:schemeClr val="dk1"/>
                </a:solidFill>
                <a:highlight>
                  <a:srgbClr val="FFFFFF"/>
                </a:highlight>
                <a:latin typeface="Consolas"/>
                <a:ea typeface="Consolas"/>
                <a:cs typeface="Consolas"/>
                <a:sym typeface="Consolas"/>
              </a:rPr>
              <a:t> = </a:t>
            </a:r>
            <a:r>
              <a:rPr lang="en-US">
                <a:solidFill>
                  <a:srgbClr val="267F99"/>
                </a:solidFill>
                <a:highlight>
                  <a:srgbClr val="FFFFFF"/>
                </a:highlight>
                <a:latin typeface="Consolas"/>
                <a:ea typeface="Consolas"/>
                <a:cs typeface="Consolas"/>
                <a:sym typeface="Consolas"/>
              </a:rPr>
              <a:t>tl</a:t>
            </a:r>
            <a:r>
              <a:rPr lang="en-US">
                <a:solidFill>
                  <a:schemeClr val="dk1"/>
                </a:solidFill>
                <a:highlight>
                  <a:srgbClr val="FFFFFF"/>
                </a:highlight>
                <a:latin typeface="Consolas"/>
                <a:ea typeface="Consolas"/>
                <a:cs typeface="Consolas"/>
                <a:sym typeface="Consolas"/>
              </a:rPr>
              <a:t>.program_id(</a:t>
            </a:r>
            <a:r>
              <a:rPr lang="en-US">
                <a:solidFill>
                  <a:srgbClr val="098658"/>
                </a:solidFill>
                <a:highlight>
                  <a:srgbClr val="FFFFFF"/>
                </a:highlight>
                <a:latin typeface="Consolas"/>
                <a:ea typeface="Consolas"/>
                <a:cs typeface="Consolas"/>
                <a:sym typeface="Consolas"/>
              </a:rPr>
              <a:t>0</a:t>
            </a:r>
            <a:r>
              <a:rPr lang="en-US">
                <a:solidFill>
                  <a:schemeClr val="dk1"/>
                </a:solidFill>
                <a:highlight>
                  <a:srgbClr val="FFFFFF"/>
                </a:highlight>
                <a:latin typeface="Consolas"/>
                <a:ea typeface="Consolas"/>
                <a:cs typeface="Consolas"/>
                <a:sym typeface="Consolas"/>
              </a:rPr>
              <a:t>)</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n</a:t>
            </a:r>
            <a:r>
              <a:rPr lang="en-US">
                <a:solidFill>
                  <a:schemeClr val="dk1"/>
                </a:solidFill>
                <a:highlight>
                  <a:srgbClr val="FFFFFF"/>
                </a:highlight>
                <a:latin typeface="Consolas"/>
                <a:ea typeface="Consolas"/>
                <a:cs typeface="Consolas"/>
                <a:sym typeface="Consolas"/>
              </a:rPr>
              <a:t> = </a:t>
            </a:r>
            <a:r>
              <a:rPr lang="en-US">
                <a:solidFill>
                  <a:srgbClr val="267F99"/>
                </a:solidFill>
                <a:highlight>
                  <a:srgbClr val="FFFFFF"/>
                </a:highlight>
                <a:latin typeface="Consolas"/>
                <a:ea typeface="Consolas"/>
                <a:cs typeface="Consolas"/>
                <a:sym typeface="Consolas"/>
              </a:rPr>
              <a:t>tl</a:t>
            </a:r>
            <a:r>
              <a:rPr lang="en-US">
                <a:solidFill>
                  <a:schemeClr val="dk1"/>
                </a:solidFill>
                <a:highlight>
                  <a:srgbClr val="FFFFFF"/>
                </a:highlight>
                <a:latin typeface="Consolas"/>
                <a:ea typeface="Consolas"/>
                <a:cs typeface="Consolas"/>
                <a:sym typeface="Consolas"/>
              </a:rPr>
              <a:t>.arange(</a:t>
            </a:r>
            <a:r>
              <a:rPr lang="en-US">
                <a:solidFill>
                  <a:srgbClr val="098658"/>
                </a:solidFill>
                <a:highlight>
                  <a:srgbClr val="FFFFFF"/>
                </a:highlight>
                <a:latin typeface="Consolas"/>
                <a:ea typeface="Consolas"/>
                <a:cs typeface="Consolas"/>
                <a:sym typeface="Consolas"/>
              </a:rPr>
              <a:t>0</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BLOCK_SIZE</a:t>
            </a:r>
            <a:r>
              <a:rPr lang="en-US">
                <a:solidFill>
                  <a:schemeClr val="dk1"/>
                </a:solidFill>
                <a:highlight>
                  <a:srgbClr val="FFFFFF"/>
                </a:highlight>
                <a:latin typeface="Consolas"/>
                <a:ea typeface="Consolas"/>
                <a:cs typeface="Consolas"/>
                <a:sym typeface="Consolas"/>
              </a:rPr>
              <a:t>)</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 = </a:t>
            </a:r>
            <a:r>
              <a:rPr lang="en-US">
                <a:solidFill>
                  <a:srgbClr val="001080"/>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 + </a:t>
            </a:r>
            <a:r>
              <a:rPr lang="en-US">
                <a:solidFill>
                  <a:srgbClr val="001080"/>
                </a:solidFill>
                <a:highlight>
                  <a:srgbClr val="FFFFFF"/>
                </a:highlight>
                <a:latin typeface="Consolas"/>
                <a:ea typeface="Consolas"/>
                <a:cs typeface="Consolas"/>
                <a:sym typeface="Consolas"/>
              </a:rPr>
              <a:t>m</a:t>
            </a:r>
            <a:r>
              <a:rPr lang="en-US">
                <a:solidFill>
                  <a:schemeClr val="dk1"/>
                </a:solidFill>
                <a:highlight>
                  <a:srgbClr val="FFFFFF"/>
                </a:highlight>
                <a:latin typeface="Consolas"/>
                <a:ea typeface="Consolas"/>
                <a:cs typeface="Consolas"/>
                <a:sym typeface="Consolas"/>
              </a:rPr>
              <a:t> * </a:t>
            </a:r>
            <a:r>
              <a:rPr lang="en-US">
                <a:solidFill>
                  <a:srgbClr val="001080"/>
                </a:solidFill>
                <a:highlight>
                  <a:srgbClr val="FFFFFF"/>
                </a:highlight>
                <a:latin typeface="Consolas"/>
                <a:ea typeface="Consolas"/>
                <a:cs typeface="Consolas"/>
                <a:sym typeface="Consolas"/>
              </a:rPr>
              <a:t>stride_xm</a:t>
            </a:r>
            <a:r>
              <a:rPr lang="en-US">
                <a:solidFill>
                  <a:schemeClr val="dk1"/>
                </a:solidFill>
                <a:highlight>
                  <a:srgbClr val="FFFFFF"/>
                </a:highlight>
                <a:latin typeface="Consolas"/>
                <a:ea typeface="Consolas"/>
                <a:cs typeface="Consolas"/>
                <a:sym typeface="Consolas"/>
              </a:rPr>
              <a:t> + </a:t>
            </a:r>
            <a:r>
              <a:rPr lang="en-US">
                <a:solidFill>
                  <a:srgbClr val="001080"/>
                </a:solidFill>
                <a:highlight>
                  <a:srgbClr val="FFFFFF"/>
                </a:highlight>
                <a:latin typeface="Consolas"/>
                <a:ea typeface="Consolas"/>
                <a:cs typeface="Consolas"/>
                <a:sym typeface="Consolas"/>
              </a:rPr>
              <a:t>n</a:t>
            </a:r>
            <a:r>
              <a:rPr lang="en-US">
                <a:solidFill>
                  <a:schemeClr val="dk1"/>
                </a:solidFill>
                <a:highlight>
                  <a:srgbClr val="FFFFFF"/>
                </a:highlight>
                <a:latin typeface="Consolas"/>
                <a:ea typeface="Consolas"/>
                <a:cs typeface="Consolas"/>
                <a:sym typeface="Consolas"/>
              </a:rPr>
              <a:t> * </a:t>
            </a:r>
            <a:r>
              <a:rPr lang="en-US">
                <a:solidFill>
                  <a:srgbClr val="001080"/>
                </a:solidFill>
                <a:highlight>
                  <a:srgbClr val="FFFFFF"/>
                </a:highlight>
                <a:latin typeface="Consolas"/>
                <a:ea typeface="Consolas"/>
                <a:cs typeface="Consolas"/>
                <a:sym typeface="Consolas"/>
              </a:rPr>
              <a:t>stride_xn</a:t>
            </a:r>
            <a:endParaRPr>
              <a:solidFill>
                <a:srgbClr val="00108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 = </a:t>
            </a:r>
            <a:r>
              <a:rPr lang="en-US">
                <a:solidFill>
                  <a:srgbClr val="267F99"/>
                </a:solidFill>
                <a:highlight>
                  <a:srgbClr val="FFFFFF"/>
                </a:highlight>
                <a:latin typeface="Consolas"/>
                <a:ea typeface="Consolas"/>
                <a:cs typeface="Consolas"/>
                <a:sym typeface="Consolas"/>
              </a:rPr>
              <a:t>tl</a:t>
            </a:r>
            <a:r>
              <a:rPr lang="en-US">
                <a:solidFill>
                  <a:schemeClr val="dk1"/>
                </a:solidFill>
                <a:highlight>
                  <a:srgbClr val="FFFFFF"/>
                </a:highlight>
                <a:latin typeface="Consolas"/>
                <a:ea typeface="Consolas"/>
                <a:cs typeface="Consolas"/>
                <a:sym typeface="Consolas"/>
              </a:rPr>
              <a:t>.load(</a:t>
            </a:r>
            <a:r>
              <a:rPr lang="en-US">
                <a:solidFill>
                  <a:srgbClr val="001080"/>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mask</a:t>
            </a:r>
            <a:r>
              <a:rPr lang="en-US">
                <a:solidFill>
                  <a:schemeClr val="dk1"/>
                </a:solidFill>
                <a:highlight>
                  <a:srgbClr val="FFFFFF"/>
                </a:highlight>
                <a:latin typeface="Consolas"/>
                <a:ea typeface="Consolas"/>
                <a:cs typeface="Consolas"/>
                <a:sym typeface="Consolas"/>
              </a:rPr>
              <a:t>=</a:t>
            </a:r>
            <a:r>
              <a:rPr lang="en-US">
                <a:solidFill>
                  <a:srgbClr val="001080"/>
                </a:solidFill>
                <a:highlight>
                  <a:srgbClr val="FFFFFF"/>
                </a:highlight>
                <a:latin typeface="Consolas"/>
                <a:ea typeface="Consolas"/>
                <a:cs typeface="Consolas"/>
                <a:sym typeface="Consolas"/>
              </a:rPr>
              <a:t>n</a:t>
            </a:r>
            <a:r>
              <a:rPr lang="en-US">
                <a:solidFill>
                  <a:schemeClr val="dk1"/>
                </a:solidFill>
                <a:highlight>
                  <a:srgbClr val="FFFFFF"/>
                </a:highlight>
                <a:latin typeface="Consolas"/>
                <a:ea typeface="Consolas"/>
                <a:cs typeface="Consolas"/>
                <a:sym typeface="Consolas"/>
              </a:rPr>
              <a:t> &lt; </a:t>
            </a:r>
            <a:r>
              <a:rPr lang="en-US">
                <a:solidFill>
                  <a:srgbClr val="001080"/>
                </a:solidFill>
                <a:highlight>
                  <a:srgbClr val="FFFFFF"/>
                </a:highlight>
                <a:latin typeface="Consolas"/>
                <a:ea typeface="Consolas"/>
                <a:cs typeface="Consolas"/>
                <a:sym typeface="Consolas"/>
              </a:rPr>
              <a:t>N</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other</a:t>
            </a:r>
            <a:r>
              <a:rPr lang="en-US">
                <a:solidFill>
                  <a:schemeClr val="dk1"/>
                </a:solidFill>
                <a:highlight>
                  <a:srgbClr val="FFFFFF"/>
                </a:highlight>
                <a:latin typeface="Consolas"/>
                <a:ea typeface="Consolas"/>
                <a:cs typeface="Consolas"/>
                <a:sym typeface="Consolas"/>
              </a:rPr>
              <a:t>=-</a:t>
            </a:r>
            <a:r>
              <a:rPr lang="en-US">
                <a:solidFill>
                  <a:srgbClr val="267F99"/>
                </a:solidFill>
                <a:highlight>
                  <a:srgbClr val="FFFFFF"/>
                </a:highlight>
                <a:latin typeface="Consolas"/>
                <a:ea typeface="Consolas"/>
                <a:cs typeface="Consolas"/>
                <a:sym typeface="Consolas"/>
              </a:rPr>
              <a:t>float</a:t>
            </a:r>
            <a:r>
              <a:rPr lang="en-US">
                <a:solidFill>
                  <a:schemeClr val="dk1"/>
                </a:solidFill>
                <a:highlight>
                  <a:srgbClr val="FFFFFF"/>
                </a:highlight>
                <a:latin typeface="Consolas"/>
                <a:ea typeface="Consolas"/>
                <a:cs typeface="Consolas"/>
                <a:sym typeface="Consolas"/>
              </a:rPr>
              <a:t>(</a:t>
            </a:r>
            <a:r>
              <a:rPr lang="en-US">
                <a:solidFill>
                  <a:srgbClr val="A31515"/>
                </a:solidFill>
                <a:highlight>
                  <a:srgbClr val="FFFFFF"/>
                </a:highlight>
                <a:latin typeface="Consolas"/>
                <a:ea typeface="Consolas"/>
                <a:cs typeface="Consolas"/>
                <a:sym typeface="Consolas"/>
              </a:rPr>
              <a:t>'inf'</a:t>
            </a:r>
            <a:r>
              <a:rPr lang="en-US">
                <a:solidFill>
                  <a:schemeClr val="dk1"/>
                </a:solidFill>
                <a:highlight>
                  <a:srgbClr val="FFFFFF"/>
                </a:highlight>
                <a:latin typeface="Consolas"/>
                <a:ea typeface="Consolas"/>
                <a:cs typeface="Consolas"/>
                <a:sym typeface="Consolas"/>
              </a:rPr>
              <a:t>))</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z</a:t>
            </a:r>
            <a:r>
              <a:rPr lang="en-US">
                <a:solidFill>
                  <a:schemeClr val="dk1"/>
                </a:solidFill>
                <a:highlight>
                  <a:srgbClr val="FFFFFF"/>
                </a:highlight>
                <a:latin typeface="Consolas"/>
                <a:ea typeface="Consolas"/>
                <a:cs typeface="Consolas"/>
                <a:sym typeface="Consolas"/>
              </a:rPr>
              <a:t> = </a:t>
            </a:r>
            <a:r>
              <a:rPr lang="en-US">
                <a:solidFill>
                  <a:srgbClr val="001080"/>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 - </a:t>
            </a:r>
            <a:r>
              <a:rPr lang="en-US">
                <a:solidFill>
                  <a:srgbClr val="267F99"/>
                </a:solidFill>
                <a:highlight>
                  <a:srgbClr val="FFFFFF"/>
                </a:highlight>
                <a:latin typeface="Consolas"/>
                <a:ea typeface="Consolas"/>
                <a:cs typeface="Consolas"/>
                <a:sym typeface="Consolas"/>
              </a:rPr>
              <a:t>tl</a:t>
            </a:r>
            <a:r>
              <a:rPr lang="en-US">
                <a:solidFill>
                  <a:schemeClr val="dk1"/>
                </a:solidFill>
                <a:highlight>
                  <a:srgbClr val="FFFFFF"/>
                </a:highlight>
                <a:latin typeface="Consolas"/>
                <a:ea typeface="Consolas"/>
                <a:cs typeface="Consolas"/>
                <a:sym typeface="Consolas"/>
              </a:rPr>
              <a:t>.max(</a:t>
            </a:r>
            <a:r>
              <a:rPr lang="en-US">
                <a:solidFill>
                  <a:srgbClr val="001080"/>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axis</a:t>
            </a:r>
            <a:r>
              <a:rPr lang="en-US">
                <a:solidFill>
                  <a:schemeClr val="dk1"/>
                </a:solidFill>
                <a:highlight>
                  <a:srgbClr val="FFFFFF"/>
                </a:highlight>
                <a:latin typeface="Consolas"/>
                <a:ea typeface="Consolas"/>
                <a:cs typeface="Consolas"/>
                <a:sym typeface="Consolas"/>
              </a:rPr>
              <a:t>=</a:t>
            </a:r>
            <a:r>
              <a:rPr lang="en-US">
                <a:solidFill>
                  <a:srgbClr val="098658"/>
                </a:solidFill>
                <a:highlight>
                  <a:srgbClr val="FFFFFF"/>
                </a:highlight>
                <a:latin typeface="Consolas"/>
                <a:ea typeface="Consolas"/>
                <a:cs typeface="Consolas"/>
                <a:sym typeface="Consolas"/>
              </a:rPr>
              <a:t>0</a:t>
            </a:r>
            <a:r>
              <a:rPr lang="en-US">
                <a:solidFill>
                  <a:schemeClr val="dk1"/>
                </a:solidFill>
                <a:highlight>
                  <a:srgbClr val="FFFFFF"/>
                </a:highlight>
                <a:latin typeface="Consolas"/>
                <a:ea typeface="Consolas"/>
                <a:cs typeface="Consolas"/>
                <a:sym typeface="Consolas"/>
              </a:rPr>
              <a:t>)</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num</a:t>
            </a:r>
            <a:r>
              <a:rPr lang="en-US">
                <a:solidFill>
                  <a:schemeClr val="dk1"/>
                </a:solidFill>
                <a:highlight>
                  <a:srgbClr val="FFFFFF"/>
                </a:highlight>
                <a:latin typeface="Consolas"/>
                <a:ea typeface="Consolas"/>
                <a:cs typeface="Consolas"/>
                <a:sym typeface="Consolas"/>
              </a:rPr>
              <a:t> = </a:t>
            </a:r>
            <a:r>
              <a:rPr lang="en-US">
                <a:solidFill>
                  <a:srgbClr val="267F99"/>
                </a:solidFill>
                <a:highlight>
                  <a:srgbClr val="FFFFFF"/>
                </a:highlight>
                <a:latin typeface="Consolas"/>
                <a:ea typeface="Consolas"/>
                <a:cs typeface="Consolas"/>
                <a:sym typeface="Consolas"/>
              </a:rPr>
              <a:t>tl</a:t>
            </a:r>
            <a:r>
              <a:rPr lang="en-US">
                <a:solidFill>
                  <a:schemeClr val="dk1"/>
                </a:solidFill>
                <a:highlight>
                  <a:srgbClr val="FFFFFF"/>
                </a:highlight>
                <a:latin typeface="Consolas"/>
                <a:ea typeface="Consolas"/>
                <a:cs typeface="Consolas"/>
                <a:sym typeface="Consolas"/>
              </a:rPr>
              <a:t>.exp(</a:t>
            </a:r>
            <a:r>
              <a:rPr lang="en-US">
                <a:solidFill>
                  <a:srgbClr val="001080"/>
                </a:solidFill>
                <a:highlight>
                  <a:srgbClr val="FFFFFF"/>
                </a:highlight>
                <a:latin typeface="Consolas"/>
                <a:ea typeface="Consolas"/>
                <a:cs typeface="Consolas"/>
                <a:sym typeface="Consolas"/>
              </a:rPr>
              <a:t>z</a:t>
            </a:r>
            <a:r>
              <a:rPr lang="en-US">
                <a:solidFill>
                  <a:schemeClr val="dk1"/>
                </a:solidFill>
                <a:highlight>
                  <a:srgbClr val="FFFFFF"/>
                </a:highlight>
                <a:latin typeface="Consolas"/>
                <a:ea typeface="Consolas"/>
                <a:cs typeface="Consolas"/>
                <a:sym typeface="Consolas"/>
              </a:rPr>
              <a:t>)</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denom</a:t>
            </a:r>
            <a:r>
              <a:rPr lang="en-US">
                <a:solidFill>
                  <a:schemeClr val="dk1"/>
                </a:solidFill>
                <a:highlight>
                  <a:srgbClr val="FFFFFF"/>
                </a:highlight>
                <a:latin typeface="Consolas"/>
                <a:ea typeface="Consolas"/>
                <a:cs typeface="Consolas"/>
                <a:sym typeface="Consolas"/>
              </a:rPr>
              <a:t> = </a:t>
            </a:r>
            <a:r>
              <a:rPr lang="en-US">
                <a:solidFill>
                  <a:srgbClr val="267F99"/>
                </a:solidFill>
                <a:highlight>
                  <a:srgbClr val="FFFFFF"/>
                </a:highlight>
                <a:latin typeface="Consolas"/>
                <a:ea typeface="Consolas"/>
                <a:cs typeface="Consolas"/>
                <a:sym typeface="Consolas"/>
              </a:rPr>
              <a:t>tl</a:t>
            </a:r>
            <a:r>
              <a:rPr lang="en-US">
                <a:solidFill>
                  <a:schemeClr val="dk1"/>
                </a:solidFill>
                <a:highlight>
                  <a:srgbClr val="FFFFFF"/>
                </a:highlight>
                <a:latin typeface="Consolas"/>
                <a:ea typeface="Consolas"/>
                <a:cs typeface="Consolas"/>
                <a:sym typeface="Consolas"/>
              </a:rPr>
              <a:t>.sum(</a:t>
            </a:r>
            <a:r>
              <a:rPr lang="en-US">
                <a:solidFill>
                  <a:srgbClr val="001080"/>
                </a:solidFill>
                <a:highlight>
                  <a:srgbClr val="FFFFFF"/>
                </a:highlight>
                <a:latin typeface="Consolas"/>
                <a:ea typeface="Consolas"/>
                <a:cs typeface="Consolas"/>
                <a:sym typeface="Consolas"/>
              </a:rPr>
              <a:t>num</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axis</a:t>
            </a:r>
            <a:r>
              <a:rPr lang="en-US">
                <a:solidFill>
                  <a:schemeClr val="dk1"/>
                </a:solidFill>
                <a:highlight>
                  <a:srgbClr val="FFFFFF"/>
                </a:highlight>
                <a:latin typeface="Consolas"/>
                <a:ea typeface="Consolas"/>
                <a:cs typeface="Consolas"/>
                <a:sym typeface="Consolas"/>
              </a:rPr>
              <a:t>=</a:t>
            </a:r>
            <a:r>
              <a:rPr lang="en-US">
                <a:solidFill>
                  <a:srgbClr val="098658"/>
                </a:solidFill>
                <a:highlight>
                  <a:srgbClr val="FFFFFF"/>
                </a:highlight>
                <a:latin typeface="Consolas"/>
                <a:ea typeface="Consolas"/>
                <a:cs typeface="Consolas"/>
                <a:sym typeface="Consolas"/>
              </a:rPr>
              <a:t>0</a:t>
            </a:r>
            <a:r>
              <a:rPr lang="en-US">
                <a:solidFill>
                  <a:schemeClr val="dk1"/>
                </a:solidFill>
                <a:highlight>
                  <a:srgbClr val="FFFFFF"/>
                </a:highlight>
                <a:latin typeface="Consolas"/>
                <a:ea typeface="Consolas"/>
                <a:cs typeface="Consolas"/>
                <a:sym typeface="Consolas"/>
              </a:rPr>
              <a:t>)</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y</a:t>
            </a:r>
            <a:r>
              <a:rPr lang="en-US">
                <a:solidFill>
                  <a:schemeClr val="dk1"/>
                </a:solidFill>
                <a:highlight>
                  <a:srgbClr val="FFFFFF"/>
                </a:highlight>
                <a:latin typeface="Consolas"/>
                <a:ea typeface="Consolas"/>
                <a:cs typeface="Consolas"/>
                <a:sym typeface="Consolas"/>
              </a:rPr>
              <a:t> = </a:t>
            </a:r>
            <a:r>
              <a:rPr lang="en-US">
                <a:solidFill>
                  <a:srgbClr val="001080"/>
                </a:solidFill>
                <a:highlight>
                  <a:srgbClr val="FFFFFF"/>
                </a:highlight>
                <a:latin typeface="Consolas"/>
                <a:ea typeface="Consolas"/>
                <a:cs typeface="Consolas"/>
                <a:sym typeface="Consolas"/>
              </a:rPr>
              <a:t>num</a:t>
            </a:r>
            <a:r>
              <a:rPr lang="en-US">
                <a:solidFill>
                  <a:schemeClr val="dk1"/>
                </a:solidFill>
                <a:highlight>
                  <a:srgbClr val="FFFFFF"/>
                </a:highlight>
                <a:latin typeface="Consolas"/>
                <a:ea typeface="Consolas"/>
                <a:cs typeface="Consolas"/>
                <a:sym typeface="Consolas"/>
              </a:rPr>
              <a:t> / </a:t>
            </a:r>
            <a:r>
              <a:rPr lang="en-US">
                <a:solidFill>
                  <a:srgbClr val="001080"/>
                </a:solidFill>
                <a:highlight>
                  <a:srgbClr val="FFFFFF"/>
                </a:highlight>
                <a:latin typeface="Consolas"/>
                <a:ea typeface="Consolas"/>
                <a:cs typeface="Consolas"/>
                <a:sym typeface="Consolas"/>
              </a:rPr>
              <a:t>denom</a:t>
            </a:r>
            <a:endParaRPr>
              <a:solidFill>
                <a:srgbClr val="00108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Y</a:t>
            </a:r>
            <a:r>
              <a:rPr lang="en-US">
                <a:solidFill>
                  <a:schemeClr val="dk1"/>
                </a:solidFill>
                <a:highlight>
                  <a:srgbClr val="FFFFFF"/>
                </a:highlight>
                <a:latin typeface="Consolas"/>
                <a:ea typeface="Consolas"/>
                <a:cs typeface="Consolas"/>
                <a:sym typeface="Consolas"/>
              </a:rPr>
              <a:t> = </a:t>
            </a:r>
            <a:r>
              <a:rPr lang="en-US">
                <a:solidFill>
                  <a:srgbClr val="001080"/>
                </a:solidFill>
                <a:highlight>
                  <a:srgbClr val="FFFFFF"/>
                </a:highlight>
                <a:latin typeface="Consolas"/>
                <a:ea typeface="Consolas"/>
                <a:cs typeface="Consolas"/>
                <a:sym typeface="Consolas"/>
              </a:rPr>
              <a:t>Y</a:t>
            </a:r>
            <a:r>
              <a:rPr lang="en-US">
                <a:solidFill>
                  <a:schemeClr val="dk1"/>
                </a:solidFill>
                <a:highlight>
                  <a:srgbClr val="FFFFFF"/>
                </a:highlight>
                <a:latin typeface="Consolas"/>
                <a:ea typeface="Consolas"/>
                <a:cs typeface="Consolas"/>
                <a:sym typeface="Consolas"/>
              </a:rPr>
              <a:t> + </a:t>
            </a:r>
            <a:r>
              <a:rPr lang="en-US">
                <a:solidFill>
                  <a:srgbClr val="001080"/>
                </a:solidFill>
                <a:highlight>
                  <a:srgbClr val="FFFFFF"/>
                </a:highlight>
                <a:latin typeface="Consolas"/>
                <a:ea typeface="Consolas"/>
                <a:cs typeface="Consolas"/>
                <a:sym typeface="Consolas"/>
              </a:rPr>
              <a:t>m</a:t>
            </a:r>
            <a:r>
              <a:rPr lang="en-US">
                <a:solidFill>
                  <a:schemeClr val="dk1"/>
                </a:solidFill>
                <a:highlight>
                  <a:srgbClr val="FFFFFF"/>
                </a:highlight>
                <a:latin typeface="Consolas"/>
                <a:ea typeface="Consolas"/>
                <a:cs typeface="Consolas"/>
                <a:sym typeface="Consolas"/>
              </a:rPr>
              <a:t> * </a:t>
            </a:r>
            <a:r>
              <a:rPr lang="en-US">
                <a:solidFill>
                  <a:srgbClr val="001080"/>
                </a:solidFill>
                <a:highlight>
                  <a:srgbClr val="FFFFFF"/>
                </a:highlight>
                <a:latin typeface="Consolas"/>
                <a:ea typeface="Consolas"/>
                <a:cs typeface="Consolas"/>
                <a:sym typeface="Consolas"/>
              </a:rPr>
              <a:t>stride_ym</a:t>
            </a:r>
            <a:r>
              <a:rPr lang="en-US">
                <a:solidFill>
                  <a:schemeClr val="dk1"/>
                </a:solidFill>
                <a:highlight>
                  <a:srgbClr val="FFFFFF"/>
                </a:highlight>
                <a:latin typeface="Consolas"/>
                <a:ea typeface="Consolas"/>
                <a:cs typeface="Consolas"/>
                <a:sym typeface="Consolas"/>
              </a:rPr>
              <a:t> + </a:t>
            </a:r>
            <a:r>
              <a:rPr lang="en-US">
                <a:solidFill>
                  <a:srgbClr val="001080"/>
                </a:solidFill>
                <a:highlight>
                  <a:srgbClr val="FFFFFF"/>
                </a:highlight>
                <a:latin typeface="Consolas"/>
                <a:ea typeface="Consolas"/>
                <a:cs typeface="Consolas"/>
                <a:sym typeface="Consolas"/>
              </a:rPr>
              <a:t>n</a:t>
            </a:r>
            <a:r>
              <a:rPr lang="en-US">
                <a:solidFill>
                  <a:schemeClr val="dk1"/>
                </a:solidFill>
                <a:highlight>
                  <a:srgbClr val="FFFFFF"/>
                </a:highlight>
                <a:latin typeface="Consolas"/>
                <a:ea typeface="Consolas"/>
                <a:cs typeface="Consolas"/>
                <a:sym typeface="Consolas"/>
              </a:rPr>
              <a:t> * </a:t>
            </a:r>
            <a:r>
              <a:rPr lang="en-US">
                <a:solidFill>
                  <a:srgbClr val="001080"/>
                </a:solidFill>
                <a:highlight>
                  <a:srgbClr val="FFFFFF"/>
                </a:highlight>
                <a:latin typeface="Consolas"/>
                <a:ea typeface="Consolas"/>
                <a:cs typeface="Consolas"/>
                <a:sym typeface="Consolas"/>
              </a:rPr>
              <a:t>stride_yn</a:t>
            </a:r>
            <a:endParaRPr>
              <a:solidFill>
                <a:srgbClr val="00108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chemeClr val="dk1"/>
                </a:solidFill>
                <a:highlight>
                  <a:srgbClr val="FFFFFF"/>
                </a:highlight>
                <a:latin typeface="Consolas"/>
                <a:ea typeface="Consolas"/>
                <a:cs typeface="Consolas"/>
                <a:sym typeface="Consolas"/>
              </a:rPr>
              <a:t>  </a:t>
            </a:r>
            <a:r>
              <a:rPr lang="en-US">
                <a:solidFill>
                  <a:srgbClr val="267F99"/>
                </a:solidFill>
                <a:highlight>
                  <a:srgbClr val="FFFFFF"/>
                </a:highlight>
                <a:latin typeface="Consolas"/>
                <a:ea typeface="Consolas"/>
                <a:cs typeface="Consolas"/>
                <a:sym typeface="Consolas"/>
              </a:rPr>
              <a:t>tl</a:t>
            </a:r>
            <a:r>
              <a:rPr lang="en-US">
                <a:solidFill>
                  <a:schemeClr val="dk1"/>
                </a:solidFill>
                <a:highlight>
                  <a:srgbClr val="FFFFFF"/>
                </a:highlight>
                <a:latin typeface="Consolas"/>
                <a:ea typeface="Consolas"/>
                <a:cs typeface="Consolas"/>
                <a:sym typeface="Consolas"/>
              </a:rPr>
              <a:t>.store(</a:t>
            </a:r>
            <a:r>
              <a:rPr lang="en-US">
                <a:solidFill>
                  <a:srgbClr val="001080"/>
                </a:solidFill>
                <a:highlight>
                  <a:srgbClr val="FFFFFF"/>
                </a:highlight>
                <a:latin typeface="Consolas"/>
                <a:ea typeface="Consolas"/>
                <a:cs typeface="Consolas"/>
                <a:sym typeface="Consolas"/>
              </a:rPr>
              <a:t>Y</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y</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mask</a:t>
            </a:r>
            <a:r>
              <a:rPr lang="en-US">
                <a:solidFill>
                  <a:schemeClr val="dk1"/>
                </a:solidFill>
                <a:highlight>
                  <a:srgbClr val="FFFFFF"/>
                </a:highlight>
                <a:latin typeface="Consolas"/>
                <a:ea typeface="Consolas"/>
                <a:cs typeface="Consolas"/>
                <a:sym typeface="Consolas"/>
              </a:rPr>
              <a:t>=</a:t>
            </a:r>
            <a:r>
              <a:rPr lang="en-US">
                <a:solidFill>
                  <a:srgbClr val="001080"/>
                </a:solidFill>
                <a:highlight>
                  <a:srgbClr val="FFFFFF"/>
                </a:highlight>
                <a:latin typeface="Consolas"/>
                <a:ea typeface="Consolas"/>
                <a:cs typeface="Consolas"/>
                <a:sym typeface="Consolas"/>
              </a:rPr>
              <a:t>n</a:t>
            </a:r>
            <a:r>
              <a:rPr lang="en-US">
                <a:solidFill>
                  <a:schemeClr val="dk1"/>
                </a:solidFill>
                <a:highlight>
                  <a:srgbClr val="FFFFFF"/>
                </a:highlight>
                <a:latin typeface="Consolas"/>
                <a:ea typeface="Consolas"/>
                <a:cs typeface="Consolas"/>
                <a:sym typeface="Consolas"/>
              </a:rPr>
              <a:t> &lt; </a:t>
            </a:r>
            <a:r>
              <a:rPr lang="en-US">
                <a:solidFill>
                  <a:srgbClr val="001080"/>
                </a:solidFill>
                <a:highlight>
                  <a:srgbClr val="FFFFFF"/>
                </a:highlight>
                <a:latin typeface="Consolas"/>
                <a:ea typeface="Consolas"/>
                <a:cs typeface="Consolas"/>
                <a:sym typeface="Consolas"/>
              </a:rPr>
              <a:t>N</a:t>
            </a:r>
            <a:r>
              <a:rPr lang="en-US">
                <a:solidFill>
                  <a:schemeClr val="dk1"/>
                </a:solidFill>
                <a:highlight>
                  <a:srgbClr val="FFFFFF"/>
                </a:highlight>
                <a:latin typeface="Consolas"/>
                <a:ea typeface="Consolas"/>
                <a:cs typeface="Consolas"/>
                <a:sym typeface="Consolas"/>
              </a:rPr>
              <a:t>)</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rgbClr val="AF00DB"/>
                </a:solidFill>
                <a:highlight>
                  <a:srgbClr val="FFFFFF"/>
                </a:highlight>
                <a:latin typeface="Consolas"/>
                <a:ea typeface="Consolas"/>
                <a:cs typeface="Consolas"/>
                <a:sym typeface="Consolas"/>
              </a:rPr>
              <a:t>import</a:t>
            </a:r>
            <a:r>
              <a:rPr lang="en-US">
                <a:solidFill>
                  <a:schemeClr val="dk1"/>
                </a:solidFill>
                <a:highlight>
                  <a:srgbClr val="FFFFFF"/>
                </a:highlight>
                <a:latin typeface="Consolas"/>
                <a:ea typeface="Consolas"/>
                <a:cs typeface="Consolas"/>
                <a:sym typeface="Consolas"/>
              </a:rPr>
              <a:t> </a:t>
            </a:r>
            <a:r>
              <a:rPr lang="en-US">
                <a:solidFill>
                  <a:srgbClr val="267F99"/>
                </a:solidFill>
                <a:highlight>
                  <a:srgbClr val="FFFFFF"/>
                </a:highlight>
                <a:latin typeface="Consolas"/>
                <a:ea typeface="Consolas"/>
                <a:cs typeface="Consolas"/>
                <a:sym typeface="Consolas"/>
              </a:rPr>
              <a:t>torch</a:t>
            </a:r>
            <a:endParaRPr>
              <a:solidFill>
                <a:srgbClr val="267F99"/>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rgbClr val="008000"/>
                </a:solidFill>
                <a:highlight>
                  <a:srgbClr val="FFFFFF"/>
                </a:highlight>
                <a:latin typeface="Consolas"/>
                <a:ea typeface="Consolas"/>
                <a:cs typeface="Consolas"/>
                <a:sym typeface="Consolas"/>
              </a:rPr>
              <a:t># Allocate input/output tensors</a:t>
            </a:r>
            <a:endParaRPr>
              <a:solidFill>
                <a:srgbClr val="008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rgbClr val="0070C1"/>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 = </a:t>
            </a:r>
            <a:r>
              <a:rPr lang="en-US">
                <a:solidFill>
                  <a:srgbClr val="267F99"/>
                </a:solidFill>
                <a:highlight>
                  <a:srgbClr val="FFFFFF"/>
                </a:highlight>
                <a:latin typeface="Consolas"/>
                <a:ea typeface="Consolas"/>
                <a:cs typeface="Consolas"/>
                <a:sym typeface="Consolas"/>
              </a:rPr>
              <a:t>torch</a:t>
            </a:r>
            <a:r>
              <a:rPr lang="en-US">
                <a:solidFill>
                  <a:schemeClr val="dk1"/>
                </a:solidFill>
                <a:highlight>
                  <a:srgbClr val="FFFFFF"/>
                </a:highlight>
                <a:latin typeface="Consolas"/>
                <a:ea typeface="Consolas"/>
                <a:cs typeface="Consolas"/>
                <a:sym typeface="Consolas"/>
              </a:rPr>
              <a:t>.</a:t>
            </a:r>
            <a:r>
              <a:rPr lang="en-US">
                <a:solidFill>
                  <a:srgbClr val="795E26"/>
                </a:solidFill>
                <a:highlight>
                  <a:srgbClr val="FFFFFF"/>
                </a:highlight>
                <a:latin typeface="Consolas"/>
                <a:ea typeface="Consolas"/>
                <a:cs typeface="Consolas"/>
                <a:sym typeface="Consolas"/>
              </a:rPr>
              <a:t>normal</a:t>
            </a:r>
            <a:r>
              <a:rPr lang="en-US">
                <a:solidFill>
                  <a:schemeClr val="dk1"/>
                </a:solidFill>
                <a:highlight>
                  <a:srgbClr val="FFFFFF"/>
                </a:highlight>
                <a:latin typeface="Consolas"/>
                <a:ea typeface="Consolas"/>
                <a:cs typeface="Consolas"/>
                <a:sym typeface="Consolas"/>
              </a:rPr>
              <a:t>(</a:t>
            </a:r>
            <a:r>
              <a:rPr lang="en-US">
                <a:solidFill>
                  <a:srgbClr val="098658"/>
                </a:solidFill>
                <a:highlight>
                  <a:srgbClr val="FFFFFF"/>
                </a:highlight>
                <a:latin typeface="Consolas"/>
                <a:ea typeface="Consolas"/>
                <a:cs typeface="Consolas"/>
                <a:sym typeface="Consolas"/>
              </a:rPr>
              <a:t>0</a:t>
            </a:r>
            <a:r>
              <a:rPr lang="en-US">
                <a:solidFill>
                  <a:schemeClr val="dk1"/>
                </a:solidFill>
                <a:highlight>
                  <a:srgbClr val="FFFFFF"/>
                </a:highlight>
                <a:latin typeface="Consolas"/>
                <a:ea typeface="Consolas"/>
                <a:cs typeface="Consolas"/>
                <a:sym typeface="Consolas"/>
              </a:rPr>
              <a:t>, </a:t>
            </a:r>
            <a:r>
              <a:rPr lang="en-US">
                <a:solidFill>
                  <a:srgbClr val="098658"/>
                </a:solidFill>
                <a:highlight>
                  <a:srgbClr val="FFFFFF"/>
                </a:highlight>
                <a:latin typeface="Consolas"/>
                <a:ea typeface="Consolas"/>
                <a:cs typeface="Consolas"/>
                <a:sym typeface="Consolas"/>
              </a:rPr>
              <a:t>1</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size</a:t>
            </a:r>
            <a:r>
              <a:rPr lang="en-US">
                <a:solidFill>
                  <a:schemeClr val="dk1"/>
                </a:solidFill>
                <a:highlight>
                  <a:srgbClr val="FFFFFF"/>
                </a:highlight>
                <a:latin typeface="Consolas"/>
                <a:ea typeface="Consolas"/>
                <a:cs typeface="Consolas"/>
                <a:sym typeface="Consolas"/>
              </a:rPr>
              <a:t>=(</a:t>
            </a:r>
            <a:r>
              <a:rPr lang="en-US">
                <a:solidFill>
                  <a:srgbClr val="098658"/>
                </a:solidFill>
                <a:highlight>
                  <a:srgbClr val="FFFFFF"/>
                </a:highlight>
                <a:latin typeface="Consolas"/>
                <a:ea typeface="Consolas"/>
                <a:cs typeface="Consolas"/>
                <a:sym typeface="Consolas"/>
              </a:rPr>
              <a:t>583</a:t>
            </a:r>
            <a:r>
              <a:rPr lang="en-US">
                <a:solidFill>
                  <a:schemeClr val="dk1"/>
                </a:solidFill>
                <a:highlight>
                  <a:srgbClr val="FFFFFF"/>
                </a:highlight>
                <a:latin typeface="Consolas"/>
                <a:ea typeface="Consolas"/>
                <a:cs typeface="Consolas"/>
                <a:sym typeface="Consolas"/>
              </a:rPr>
              <a:t>, </a:t>
            </a:r>
            <a:r>
              <a:rPr lang="en-US">
                <a:solidFill>
                  <a:srgbClr val="098658"/>
                </a:solidFill>
                <a:highlight>
                  <a:srgbClr val="FFFFFF"/>
                </a:highlight>
                <a:latin typeface="Consolas"/>
                <a:ea typeface="Consolas"/>
                <a:cs typeface="Consolas"/>
                <a:sym typeface="Consolas"/>
              </a:rPr>
              <a:t>931</a:t>
            </a:r>
            <a:r>
              <a:rPr lang="en-US">
                <a:solidFill>
                  <a:schemeClr val="dk1"/>
                </a:solidFill>
                <a:highlight>
                  <a:srgbClr val="FFFFFF"/>
                </a:highlight>
                <a:latin typeface="Consolas"/>
                <a:ea typeface="Consolas"/>
                <a:cs typeface="Consolas"/>
                <a:sym typeface="Consolas"/>
              </a:rPr>
              <a:t>), </a:t>
            </a:r>
            <a:r>
              <a:rPr lang="en-US">
                <a:solidFill>
                  <a:srgbClr val="001080"/>
                </a:solidFill>
                <a:highlight>
                  <a:srgbClr val="FFFFFF"/>
                </a:highlight>
                <a:latin typeface="Consolas"/>
                <a:ea typeface="Consolas"/>
                <a:cs typeface="Consolas"/>
                <a:sym typeface="Consolas"/>
              </a:rPr>
              <a:t>device</a:t>
            </a:r>
            <a:r>
              <a:rPr lang="en-US">
                <a:solidFill>
                  <a:schemeClr val="dk1"/>
                </a:solidFill>
                <a:highlight>
                  <a:srgbClr val="FFFFFF"/>
                </a:highlight>
                <a:latin typeface="Consolas"/>
                <a:ea typeface="Consolas"/>
                <a:cs typeface="Consolas"/>
                <a:sym typeface="Consolas"/>
              </a:rPr>
              <a:t>=</a:t>
            </a:r>
            <a:r>
              <a:rPr lang="en-US">
                <a:solidFill>
                  <a:srgbClr val="A31515"/>
                </a:solidFill>
                <a:highlight>
                  <a:srgbClr val="FFFFFF"/>
                </a:highlight>
                <a:latin typeface="Consolas"/>
                <a:ea typeface="Consolas"/>
                <a:cs typeface="Consolas"/>
                <a:sym typeface="Consolas"/>
              </a:rPr>
              <a:t>'cuda'</a:t>
            </a:r>
            <a:r>
              <a:rPr lang="en-US">
                <a:solidFill>
                  <a:schemeClr val="dk1"/>
                </a:solidFill>
                <a:highlight>
                  <a:srgbClr val="FFFFFF"/>
                </a:highlight>
                <a:latin typeface="Consolas"/>
                <a:ea typeface="Consolas"/>
                <a:cs typeface="Consolas"/>
                <a:sym typeface="Consolas"/>
              </a:rPr>
              <a:t>)</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rgbClr val="0070C1"/>
                </a:solidFill>
                <a:highlight>
                  <a:srgbClr val="FFFFFF"/>
                </a:highlight>
                <a:latin typeface="Consolas"/>
                <a:ea typeface="Consolas"/>
                <a:cs typeface="Consolas"/>
                <a:sym typeface="Consolas"/>
              </a:rPr>
              <a:t>Y</a:t>
            </a:r>
            <a:r>
              <a:rPr lang="en-US">
                <a:solidFill>
                  <a:schemeClr val="dk1"/>
                </a:solidFill>
                <a:highlight>
                  <a:srgbClr val="FFFFFF"/>
                </a:highlight>
                <a:latin typeface="Consolas"/>
                <a:ea typeface="Consolas"/>
                <a:cs typeface="Consolas"/>
                <a:sym typeface="Consolas"/>
              </a:rPr>
              <a:t> = </a:t>
            </a:r>
            <a:r>
              <a:rPr lang="en-US">
                <a:solidFill>
                  <a:srgbClr val="267F99"/>
                </a:solidFill>
                <a:highlight>
                  <a:srgbClr val="FFFFFF"/>
                </a:highlight>
                <a:latin typeface="Consolas"/>
                <a:ea typeface="Consolas"/>
                <a:cs typeface="Consolas"/>
                <a:sym typeface="Consolas"/>
              </a:rPr>
              <a:t>torch</a:t>
            </a:r>
            <a:r>
              <a:rPr lang="en-US">
                <a:solidFill>
                  <a:schemeClr val="dk1"/>
                </a:solidFill>
                <a:highlight>
                  <a:srgbClr val="FFFFFF"/>
                </a:highlight>
                <a:latin typeface="Consolas"/>
                <a:ea typeface="Consolas"/>
                <a:cs typeface="Consolas"/>
                <a:sym typeface="Consolas"/>
              </a:rPr>
              <a:t>.</a:t>
            </a:r>
            <a:r>
              <a:rPr lang="en-US">
                <a:solidFill>
                  <a:srgbClr val="795E26"/>
                </a:solidFill>
                <a:highlight>
                  <a:srgbClr val="FFFFFF"/>
                </a:highlight>
                <a:latin typeface="Consolas"/>
                <a:ea typeface="Consolas"/>
                <a:cs typeface="Consolas"/>
                <a:sym typeface="Consolas"/>
              </a:rPr>
              <a:t>empty_like</a:t>
            </a:r>
            <a:r>
              <a:rPr lang="en-US">
                <a:solidFill>
                  <a:schemeClr val="dk1"/>
                </a:solidFill>
                <a:highlight>
                  <a:srgbClr val="FFFFFF"/>
                </a:highlight>
                <a:latin typeface="Consolas"/>
                <a:ea typeface="Consolas"/>
                <a:cs typeface="Consolas"/>
                <a:sym typeface="Consolas"/>
              </a:rPr>
              <a:t>(</a:t>
            </a:r>
            <a:r>
              <a:rPr lang="en-US">
                <a:solidFill>
                  <a:srgbClr val="0070C1"/>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rgbClr val="008000"/>
                </a:solidFill>
                <a:highlight>
                  <a:srgbClr val="FFFFFF"/>
                </a:highlight>
                <a:latin typeface="Consolas"/>
                <a:ea typeface="Consolas"/>
                <a:cs typeface="Consolas"/>
                <a:sym typeface="Consolas"/>
              </a:rPr>
              <a:t># SPMD launch grid</a:t>
            </a:r>
            <a:endParaRPr>
              <a:solidFill>
                <a:srgbClr val="008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rgbClr val="001080"/>
                </a:solidFill>
                <a:highlight>
                  <a:srgbClr val="FFFFFF"/>
                </a:highlight>
                <a:latin typeface="Consolas"/>
                <a:ea typeface="Consolas"/>
                <a:cs typeface="Consolas"/>
                <a:sym typeface="Consolas"/>
              </a:rPr>
              <a:t>grid</a:t>
            </a:r>
            <a:r>
              <a:rPr lang="en-US">
                <a:solidFill>
                  <a:schemeClr val="dk1"/>
                </a:solidFill>
                <a:highlight>
                  <a:srgbClr val="FFFFFF"/>
                </a:highlight>
                <a:latin typeface="Consolas"/>
                <a:ea typeface="Consolas"/>
                <a:cs typeface="Consolas"/>
                <a:sym typeface="Consolas"/>
              </a:rPr>
              <a:t> = (</a:t>
            </a:r>
            <a:r>
              <a:rPr lang="en-US">
                <a:solidFill>
                  <a:srgbClr val="0070C1"/>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a:t>
            </a:r>
            <a:r>
              <a:rPr lang="en-US">
                <a:solidFill>
                  <a:srgbClr val="001080"/>
                </a:solidFill>
                <a:highlight>
                  <a:srgbClr val="FFFFFF"/>
                </a:highlight>
                <a:latin typeface="Consolas"/>
                <a:ea typeface="Consolas"/>
                <a:cs typeface="Consolas"/>
                <a:sym typeface="Consolas"/>
              </a:rPr>
              <a:t>shape</a:t>
            </a:r>
            <a:r>
              <a:rPr lang="en-US">
                <a:solidFill>
                  <a:schemeClr val="dk1"/>
                </a:solidFill>
                <a:highlight>
                  <a:srgbClr val="FFFFFF"/>
                </a:highlight>
                <a:latin typeface="Consolas"/>
                <a:ea typeface="Consolas"/>
                <a:cs typeface="Consolas"/>
                <a:sym typeface="Consolas"/>
              </a:rPr>
              <a:t>[</a:t>
            </a:r>
            <a:r>
              <a:rPr lang="en-US">
                <a:solidFill>
                  <a:srgbClr val="098658"/>
                </a:solidFill>
                <a:highlight>
                  <a:srgbClr val="FFFFFF"/>
                </a:highlight>
                <a:latin typeface="Consolas"/>
                <a:ea typeface="Consolas"/>
                <a:cs typeface="Consolas"/>
                <a:sym typeface="Consolas"/>
              </a:rPr>
              <a:t>0</a:t>
            </a:r>
            <a:r>
              <a:rPr lang="en-US">
                <a:solidFill>
                  <a:schemeClr val="dk1"/>
                </a:solidFill>
                <a:highlight>
                  <a:srgbClr val="FFFFFF"/>
                </a:highlight>
                <a:latin typeface="Consolas"/>
                <a:ea typeface="Consolas"/>
                <a:cs typeface="Consolas"/>
                <a:sym typeface="Consolas"/>
              </a:rPr>
              <a:t>], )</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rgbClr val="008000"/>
                </a:solidFill>
                <a:highlight>
                  <a:srgbClr val="FFFFFF"/>
                </a:highlight>
                <a:latin typeface="Consolas"/>
                <a:ea typeface="Consolas"/>
                <a:cs typeface="Consolas"/>
                <a:sym typeface="Consolas"/>
              </a:rPr>
              <a:t># enqueue GPU kernel</a:t>
            </a:r>
            <a:endParaRPr>
              <a:solidFill>
                <a:srgbClr val="008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rgbClr val="795E26"/>
                </a:solidFill>
                <a:highlight>
                  <a:srgbClr val="FFFFFF"/>
                </a:highlight>
                <a:latin typeface="Consolas"/>
                <a:ea typeface="Consolas"/>
                <a:cs typeface="Consolas"/>
                <a:sym typeface="Consolas"/>
              </a:rPr>
              <a:t>softmax</a:t>
            </a:r>
            <a:r>
              <a:rPr lang="en-US">
                <a:solidFill>
                  <a:schemeClr val="dk1"/>
                </a:solidFill>
                <a:highlight>
                  <a:srgbClr val="FFFFFF"/>
                </a:highlight>
                <a:latin typeface="Consolas"/>
                <a:ea typeface="Consolas"/>
                <a:cs typeface="Consolas"/>
                <a:sym typeface="Consolas"/>
              </a:rPr>
              <a:t>[</a:t>
            </a:r>
            <a:r>
              <a:rPr lang="en-US">
                <a:solidFill>
                  <a:srgbClr val="001080"/>
                </a:solidFill>
                <a:highlight>
                  <a:srgbClr val="FFFFFF"/>
                </a:highlight>
                <a:latin typeface="Consolas"/>
                <a:ea typeface="Consolas"/>
                <a:cs typeface="Consolas"/>
                <a:sym typeface="Consolas"/>
              </a:rPr>
              <a:t>grid</a:t>
            </a:r>
            <a:r>
              <a:rPr lang="en-US">
                <a:solidFill>
                  <a:schemeClr val="dk1"/>
                </a:solidFill>
                <a:highlight>
                  <a:srgbClr val="FFFFFF"/>
                </a:highlight>
                <a:latin typeface="Consolas"/>
                <a:ea typeface="Consolas"/>
                <a:cs typeface="Consolas"/>
                <a:sym typeface="Consolas"/>
              </a:rPr>
              <a:t>](</a:t>
            </a:r>
            <a:r>
              <a:rPr lang="en-US">
                <a:solidFill>
                  <a:srgbClr val="0070C1"/>
                </a:solidFill>
                <a:highlight>
                  <a:srgbClr val="FFFFFF"/>
                </a:highlight>
                <a:latin typeface="Consolas"/>
                <a:ea typeface="Consolas"/>
                <a:cs typeface="Consolas"/>
                <a:sym typeface="Consolas"/>
              </a:rPr>
              <a:t>Y</a:t>
            </a:r>
            <a:r>
              <a:rPr lang="en-US">
                <a:solidFill>
                  <a:schemeClr val="dk1"/>
                </a:solidFill>
                <a:highlight>
                  <a:srgbClr val="FFFFFF"/>
                </a:highlight>
                <a:latin typeface="Consolas"/>
                <a:ea typeface="Consolas"/>
                <a:cs typeface="Consolas"/>
                <a:sym typeface="Consolas"/>
              </a:rPr>
              <a:t>, </a:t>
            </a:r>
            <a:r>
              <a:rPr lang="en-US">
                <a:solidFill>
                  <a:srgbClr val="0070C1"/>
                </a:solidFill>
                <a:highlight>
                  <a:srgbClr val="FFFFFF"/>
                </a:highlight>
                <a:latin typeface="Consolas"/>
                <a:ea typeface="Consolas"/>
                <a:cs typeface="Consolas"/>
                <a:sym typeface="Consolas"/>
              </a:rPr>
              <a:t>Y</a:t>
            </a:r>
            <a:r>
              <a:rPr lang="en-US">
                <a:solidFill>
                  <a:schemeClr val="dk1"/>
                </a:solidFill>
                <a:highlight>
                  <a:srgbClr val="FFFFFF"/>
                </a:highlight>
                <a:latin typeface="Consolas"/>
                <a:ea typeface="Consolas"/>
                <a:cs typeface="Consolas"/>
                <a:sym typeface="Consolas"/>
              </a:rPr>
              <a:t>.</a:t>
            </a:r>
            <a:r>
              <a:rPr lang="en-US">
                <a:solidFill>
                  <a:srgbClr val="795E26"/>
                </a:solidFill>
                <a:highlight>
                  <a:srgbClr val="FFFFFF"/>
                </a:highlight>
                <a:latin typeface="Consolas"/>
                <a:ea typeface="Consolas"/>
                <a:cs typeface="Consolas"/>
                <a:sym typeface="Consolas"/>
              </a:rPr>
              <a:t>stride</a:t>
            </a:r>
            <a:r>
              <a:rPr lang="en-US">
                <a:solidFill>
                  <a:schemeClr val="dk1"/>
                </a:solidFill>
                <a:highlight>
                  <a:srgbClr val="FFFFFF"/>
                </a:highlight>
                <a:latin typeface="Consolas"/>
                <a:ea typeface="Consolas"/>
                <a:cs typeface="Consolas"/>
                <a:sym typeface="Consolas"/>
              </a:rPr>
              <a:t>(</a:t>
            </a:r>
            <a:r>
              <a:rPr lang="en-US">
                <a:solidFill>
                  <a:srgbClr val="098658"/>
                </a:solidFill>
                <a:highlight>
                  <a:srgbClr val="FFFFFF"/>
                </a:highlight>
                <a:latin typeface="Consolas"/>
                <a:ea typeface="Consolas"/>
                <a:cs typeface="Consolas"/>
                <a:sym typeface="Consolas"/>
              </a:rPr>
              <a:t>0</a:t>
            </a:r>
            <a:r>
              <a:rPr lang="en-US">
                <a:solidFill>
                  <a:schemeClr val="dk1"/>
                </a:solidFill>
                <a:highlight>
                  <a:srgbClr val="FFFFFF"/>
                </a:highlight>
                <a:latin typeface="Consolas"/>
                <a:ea typeface="Consolas"/>
                <a:cs typeface="Consolas"/>
                <a:sym typeface="Consolas"/>
              </a:rPr>
              <a:t>), </a:t>
            </a:r>
            <a:r>
              <a:rPr lang="en-US">
                <a:solidFill>
                  <a:srgbClr val="0070C1"/>
                </a:solidFill>
                <a:highlight>
                  <a:srgbClr val="FFFFFF"/>
                </a:highlight>
                <a:latin typeface="Consolas"/>
                <a:ea typeface="Consolas"/>
                <a:cs typeface="Consolas"/>
                <a:sym typeface="Consolas"/>
              </a:rPr>
              <a:t>Y</a:t>
            </a:r>
            <a:r>
              <a:rPr lang="en-US">
                <a:solidFill>
                  <a:schemeClr val="dk1"/>
                </a:solidFill>
                <a:highlight>
                  <a:srgbClr val="FFFFFF"/>
                </a:highlight>
                <a:latin typeface="Consolas"/>
                <a:ea typeface="Consolas"/>
                <a:cs typeface="Consolas"/>
                <a:sym typeface="Consolas"/>
              </a:rPr>
              <a:t>.</a:t>
            </a:r>
            <a:r>
              <a:rPr lang="en-US">
                <a:solidFill>
                  <a:srgbClr val="795E26"/>
                </a:solidFill>
                <a:highlight>
                  <a:srgbClr val="FFFFFF"/>
                </a:highlight>
                <a:latin typeface="Consolas"/>
                <a:ea typeface="Consolas"/>
                <a:cs typeface="Consolas"/>
                <a:sym typeface="Consolas"/>
              </a:rPr>
              <a:t>stride</a:t>
            </a:r>
            <a:r>
              <a:rPr lang="en-US">
                <a:solidFill>
                  <a:schemeClr val="dk1"/>
                </a:solidFill>
                <a:highlight>
                  <a:srgbClr val="FFFFFF"/>
                </a:highlight>
                <a:latin typeface="Consolas"/>
                <a:ea typeface="Consolas"/>
                <a:cs typeface="Consolas"/>
                <a:sym typeface="Consolas"/>
              </a:rPr>
              <a:t>(</a:t>
            </a:r>
            <a:r>
              <a:rPr lang="en-US">
                <a:solidFill>
                  <a:srgbClr val="098658"/>
                </a:solidFill>
                <a:highlight>
                  <a:srgbClr val="FFFFFF"/>
                </a:highlight>
                <a:latin typeface="Consolas"/>
                <a:ea typeface="Consolas"/>
                <a:cs typeface="Consolas"/>
                <a:sym typeface="Consolas"/>
              </a:rPr>
              <a:t>1</a:t>
            </a:r>
            <a:r>
              <a:rPr lang="en-US">
                <a:solidFill>
                  <a:schemeClr val="dk1"/>
                </a:solidFill>
                <a:highlight>
                  <a:srgbClr val="FFFFFF"/>
                </a:highlight>
                <a:latin typeface="Consolas"/>
                <a:ea typeface="Consolas"/>
                <a:cs typeface="Consolas"/>
                <a:sym typeface="Consolas"/>
              </a:rPr>
              <a:t>),</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chemeClr val="dk1"/>
                </a:solidFill>
                <a:highlight>
                  <a:srgbClr val="FFFFFF"/>
                </a:highlight>
                <a:latin typeface="Consolas"/>
                <a:ea typeface="Consolas"/>
                <a:cs typeface="Consolas"/>
                <a:sym typeface="Consolas"/>
              </a:rPr>
              <a:t>              </a:t>
            </a:r>
            <a:r>
              <a:rPr lang="en-US">
                <a:solidFill>
                  <a:srgbClr val="0070C1"/>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 </a:t>
            </a:r>
            <a:r>
              <a:rPr lang="en-US">
                <a:solidFill>
                  <a:srgbClr val="0070C1"/>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a:t>
            </a:r>
            <a:r>
              <a:rPr lang="en-US">
                <a:solidFill>
                  <a:srgbClr val="795E26"/>
                </a:solidFill>
                <a:highlight>
                  <a:srgbClr val="FFFFFF"/>
                </a:highlight>
                <a:latin typeface="Consolas"/>
                <a:ea typeface="Consolas"/>
                <a:cs typeface="Consolas"/>
                <a:sym typeface="Consolas"/>
              </a:rPr>
              <a:t>stride</a:t>
            </a:r>
            <a:r>
              <a:rPr lang="en-US">
                <a:solidFill>
                  <a:schemeClr val="dk1"/>
                </a:solidFill>
                <a:highlight>
                  <a:srgbClr val="FFFFFF"/>
                </a:highlight>
                <a:latin typeface="Consolas"/>
                <a:ea typeface="Consolas"/>
                <a:cs typeface="Consolas"/>
                <a:sym typeface="Consolas"/>
              </a:rPr>
              <a:t>(</a:t>
            </a:r>
            <a:r>
              <a:rPr lang="en-US">
                <a:solidFill>
                  <a:srgbClr val="098658"/>
                </a:solidFill>
                <a:highlight>
                  <a:srgbClr val="FFFFFF"/>
                </a:highlight>
                <a:latin typeface="Consolas"/>
                <a:ea typeface="Consolas"/>
                <a:cs typeface="Consolas"/>
                <a:sym typeface="Consolas"/>
              </a:rPr>
              <a:t>0</a:t>
            </a:r>
            <a:r>
              <a:rPr lang="en-US">
                <a:solidFill>
                  <a:schemeClr val="dk1"/>
                </a:solidFill>
                <a:highlight>
                  <a:srgbClr val="FFFFFF"/>
                </a:highlight>
                <a:latin typeface="Consolas"/>
                <a:ea typeface="Consolas"/>
                <a:cs typeface="Consolas"/>
                <a:sym typeface="Consolas"/>
              </a:rPr>
              <a:t>), </a:t>
            </a:r>
            <a:r>
              <a:rPr lang="en-US">
                <a:solidFill>
                  <a:srgbClr val="0070C1"/>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a:t>
            </a:r>
            <a:r>
              <a:rPr lang="en-US">
                <a:solidFill>
                  <a:srgbClr val="795E26"/>
                </a:solidFill>
                <a:highlight>
                  <a:srgbClr val="FFFFFF"/>
                </a:highlight>
                <a:latin typeface="Consolas"/>
                <a:ea typeface="Consolas"/>
                <a:cs typeface="Consolas"/>
                <a:sym typeface="Consolas"/>
              </a:rPr>
              <a:t>stride</a:t>
            </a:r>
            <a:r>
              <a:rPr lang="en-US">
                <a:solidFill>
                  <a:schemeClr val="dk1"/>
                </a:solidFill>
                <a:highlight>
                  <a:srgbClr val="FFFFFF"/>
                </a:highlight>
                <a:latin typeface="Consolas"/>
                <a:ea typeface="Consolas"/>
                <a:cs typeface="Consolas"/>
                <a:sym typeface="Consolas"/>
              </a:rPr>
              <a:t>(</a:t>
            </a:r>
            <a:r>
              <a:rPr lang="en-US">
                <a:solidFill>
                  <a:srgbClr val="098658"/>
                </a:solidFill>
                <a:highlight>
                  <a:srgbClr val="FFFFFF"/>
                </a:highlight>
                <a:latin typeface="Consolas"/>
                <a:ea typeface="Consolas"/>
                <a:cs typeface="Consolas"/>
                <a:sym typeface="Consolas"/>
              </a:rPr>
              <a:t>1</a:t>
            </a:r>
            <a:r>
              <a:rPr lang="en-US">
                <a:solidFill>
                  <a:schemeClr val="dk1"/>
                </a:solidFill>
                <a:highlight>
                  <a:srgbClr val="FFFFFF"/>
                </a:highlight>
                <a:latin typeface="Consolas"/>
                <a:ea typeface="Consolas"/>
                <a:cs typeface="Consolas"/>
                <a:sym typeface="Consolas"/>
              </a:rPr>
              <a:t>),</a:t>
            </a:r>
            <a:endParaRPr>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a:solidFill>
                  <a:schemeClr val="dk1"/>
                </a:solidFill>
                <a:highlight>
                  <a:srgbClr val="FFFFFF"/>
                </a:highlight>
                <a:latin typeface="Consolas"/>
                <a:ea typeface="Consolas"/>
                <a:cs typeface="Consolas"/>
                <a:sym typeface="Consolas"/>
              </a:rPr>
              <a:t>              </a:t>
            </a:r>
            <a:r>
              <a:rPr lang="en-US">
                <a:solidFill>
                  <a:srgbClr val="0070C1"/>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a:t>
            </a:r>
            <a:r>
              <a:rPr lang="en-US">
                <a:solidFill>
                  <a:srgbClr val="001080"/>
                </a:solidFill>
                <a:highlight>
                  <a:srgbClr val="FFFFFF"/>
                </a:highlight>
                <a:latin typeface="Consolas"/>
                <a:ea typeface="Consolas"/>
                <a:cs typeface="Consolas"/>
                <a:sym typeface="Consolas"/>
              </a:rPr>
              <a:t>shape</a:t>
            </a:r>
            <a:r>
              <a:rPr lang="en-US">
                <a:solidFill>
                  <a:schemeClr val="dk1"/>
                </a:solidFill>
                <a:highlight>
                  <a:srgbClr val="FFFFFF"/>
                </a:highlight>
                <a:latin typeface="Consolas"/>
                <a:ea typeface="Consolas"/>
                <a:cs typeface="Consolas"/>
                <a:sym typeface="Consolas"/>
              </a:rPr>
              <a:t>[</a:t>
            </a:r>
            <a:r>
              <a:rPr lang="en-US">
                <a:solidFill>
                  <a:srgbClr val="098658"/>
                </a:solidFill>
                <a:highlight>
                  <a:srgbClr val="FFFFFF"/>
                </a:highlight>
                <a:latin typeface="Consolas"/>
                <a:ea typeface="Consolas"/>
                <a:cs typeface="Consolas"/>
                <a:sym typeface="Consolas"/>
              </a:rPr>
              <a:t>0</a:t>
            </a:r>
            <a:r>
              <a:rPr lang="en-US">
                <a:solidFill>
                  <a:schemeClr val="dk1"/>
                </a:solidFill>
                <a:highlight>
                  <a:srgbClr val="FFFFFF"/>
                </a:highlight>
                <a:latin typeface="Consolas"/>
                <a:ea typeface="Consolas"/>
                <a:cs typeface="Consolas"/>
                <a:sym typeface="Consolas"/>
              </a:rPr>
              <a:t>]    , </a:t>
            </a:r>
            <a:r>
              <a:rPr lang="en-US">
                <a:solidFill>
                  <a:srgbClr val="0070C1"/>
                </a:solidFill>
                <a:highlight>
                  <a:srgbClr val="FFFFFF"/>
                </a:highlight>
                <a:latin typeface="Consolas"/>
                <a:ea typeface="Consolas"/>
                <a:cs typeface="Consolas"/>
                <a:sym typeface="Consolas"/>
              </a:rPr>
              <a:t>X</a:t>
            </a:r>
            <a:r>
              <a:rPr lang="en-US">
                <a:solidFill>
                  <a:schemeClr val="dk1"/>
                </a:solidFill>
                <a:highlight>
                  <a:srgbClr val="FFFFFF"/>
                </a:highlight>
                <a:latin typeface="Consolas"/>
                <a:ea typeface="Consolas"/>
                <a:cs typeface="Consolas"/>
                <a:sym typeface="Consolas"/>
              </a:rPr>
              <a:t>.</a:t>
            </a:r>
            <a:r>
              <a:rPr lang="en-US">
                <a:solidFill>
                  <a:srgbClr val="001080"/>
                </a:solidFill>
                <a:highlight>
                  <a:srgbClr val="FFFFFF"/>
                </a:highlight>
                <a:latin typeface="Consolas"/>
                <a:ea typeface="Consolas"/>
                <a:cs typeface="Consolas"/>
                <a:sym typeface="Consolas"/>
              </a:rPr>
              <a:t>shape</a:t>
            </a:r>
            <a:r>
              <a:rPr lang="en-US">
                <a:solidFill>
                  <a:schemeClr val="dk1"/>
                </a:solidFill>
                <a:highlight>
                  <a:srgbClr val="FFFFFF"/>
                </a:highlight>
                <a:latin typeface="Consolas"/>
                <a:ea typeface="Consolas"/>
                <a:cs typeface="Consolas"/>
                <a:sym typeface="Consolas"/>
              </a:rPr>
              <a:t>[</a:t>
            </a:r>
            <a:r>
              <a:rPr lang="en-US">
                <a:solidFill>
                  <a:srgbClr val="098658"/>
                </a:solidFill>
                <a:highlight>
                  <a:srgbClr val="FFFFFF"/>
                </a:highlight>
                <a:latin typeface="Consolas"/>
                <a:ea typeface="Consolas"/>
                <a:cs typeface="Consolas"/>
                <a:sym typeface="Consolas"/>
              </a:rPr>
              <a:t>1</a:t>
            </a:r>
            <a:r>
              <a:rPr lang="en-US">
                <a:solidFill>
                  <a:schemeClr val="dk1"/>
                </a:solidFill>
                <a:highlight>
                  <a:srgbClr val="FFFFFF"/>
                </a:highlight>
                <a:latin typeface="Consolas"/>
                <a:ea typeface="Consolas"/>
                <a:cs typeface="Consolas"/>
                <a:sym typeface="Consolas"/>
              </a:rPr>
              <a:t>],  </a:t>
            </a:r>
            <a:r>
              <a:rPr lang="en-US">
                <a:solidFill>
                  <a:srgbClr val="098658"/>
                </a:solidFill>
                <a:highlight>
                  <a:srgbClr val="FFFFFF"/>
                </a:highlight>
                <a:latin typeface="Consolas"/>
                <a:ea typeface="Consolas"/>
                <a:cs typeface="Consolas"/>
                <a:sym typeface="Consolas"/>
              </a:rPr>
              <a:t>1024</a:t>
            </a:r>
            <a:r>
              <a:rPr lang="en-US">
                <a:solidFill>
                  <a:schemeClr val="dk1"/>
                </a:solidFill>
                <a:highlight>
                  <a:srgbClr val="FFFFFF"/>
                </a:highlight>
                <a:latin typeface="Consolas"/>
                <a:ea typeface="Consolas"/>
                <a:cs typeface="Consolas"/>
                <a:sym typeface="Consolas"/>
              </a:rPr>
              <a:t>)</a:t>
            </a:r>
            <a:endParaRPr>
              <a:solidFill>
                <a:srgbClr val="AF00DB"/>
              </a:solidFill>
              <a:latin typeface="Consolas"/>
              <a:ea typeface="Consolas"/>
              <a:cs typeface="Consolas"/>
              <a:sym typeface="Consolas"/>
            </a:endParaRPr>
          </a:p>
        </p:txBody>
      </p:sp>
      <p:pic>
        <p:nvPicPr>
          <p:cNvPr id="402" name="Google Shape;402;g3dc35a4ca61_0_0"/>
          <p:cNvPicPr preferRelativeResize="0"/>
          <p:nvPr/>
        </p:nvPicPr>
        <p:blipFill>
          <a:blip r:embed="rId6">
            <a:alphaModFix/>
          </a:blip>
          <a:stretch>
            <a:fillRect/>
          </a:stretch>
        </p:blipFill>
        <p:spPr>
          <a:xfrm>
            <a:off x="736525" y="4371025"/>
            <a:ext cx="3382175" cy="2370425"/>
          </a:xfrm>
          <a:prstGeom prst="rect">
            <a:avLst/>
          </a:prstGeom>
          <a:noFill/>
          <a:ln>
            <a:noFill/>
          </a:ln>
        </p:spPr>
      </p:pic>
      <p:sp>
        <p:nvSpPr>
          <p:cNvPr id="403" name="Google Shape;403;g3dc35a4ca61_0_0"/>
          <p:cNvSpPr/>
          <p:nvPr/>
        </p:nvSpPr>
        <p:spPr>
          <a:xfrm>
            <a:off x="1223950" y="6197450"/>
            <a:ext cx="602400" cy="4953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404" name="Google Shape;404;g3dc35a4ca61_0_0"/>
          <p:cNvCxnSpPr>
            <a:endCxn id="403" idx="3"/>
          </p:cNvCxnSpPr>
          <p:nvPr/>
        </p:nvCxnSpPr>
        <p:spPr>
          <a:xfrm flipH="1">
            <a:off x="1826350" y="5993600"/>
            <a:ext cx="1981500" cy="451500"/>
          </a:xfrm>
          <a:prstGeom prst="straightConnector1">
            <a:avLst/>
          </a:prstGeom>
          <a:noFill/>
          <a:ln cap="flat" cmpd="sng" w="38100">
            <a:solidFill>
              <a:srgbClr val="FF0000"/>
            </a:solidFill>
            <a:prstDash val="solid"/>
            <a:round/>
            <a:headEnd len="med" w="med" type="none"/>
            <a:tailEnd len="med" w="med" type="triangle"/>
          </a:ln>
        </p:spPr>
      </p:cxnSp>
      <p:grpSp>
        <p:nvGrpSpPr>
          <p:cNvPr id="405" name="Google Shape;405;g3dc35a4ca61_0_0"/>
          <p:cNvGrpSpPr/>
          <p:nvPr/>
        </p:nvGrpSpPr>
        <p:grpSpPr>
          <a:xfrm>
            <a:off x="7003600" y="6412738"/>
            <a:ext cx="5188500" cy="445275"/>
            <a:chOff x="289925" y="5611838"/>
            <a:chExt cx="5188500" cy="445275"/>
          </a:xfrm>
        </p:grpSpPr>
        <p:sp>
          <p:nvSpPr>
            <p:cNvPr id="406" name="Google Shape;406;g3dc35a4ca61_0_0"/>
            <p:cNvSpPr/>
            <p:nvPr/>
          </p:nvSpPr>
          <p:spPr>
            <a:xfrm>
              <a:off x="289925" y="5611850"/>
              <a:ext cx="5188500" cy="445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solidFill>
                  <a:srgbClr val="000000"/>
                </a:solidFill>
              </a:endParaRPr>
            </a:p>
          </p:txBody>
        </p:sp>
        <p:pic>
          <p:nvPicPr>
            <p:cNvPr id="407" name="Google Shape;407;g3dc35a4ca61_0_0"/>
            <p:cNvPicPr preferRelativeResize="0"/>
            <p:nvPr/>
          </p:nvPicPr>
          <p:blipFill>
            <a:blip r:embed="rId7">
              <a:alphaModFix/>
            </a:blip>
            <a:stretch>
              <a:fillRect/>
            </a:stretch>
          </p:blipFill>
          <p:spPr>
            <a:xfrm>
              <a:off x="289925" y="5611838"/>
              <a:ext cx="445275" cy="445275"/>
            </a:xfrm>
            <a:prstGeom prst="rect">
              <a:avLst/>
            </a:prstGeom>
            <a:noFill/>
            <a:ln>
              <a:noFill/>
            </a:ln>
          </p:spPr>
        </p:pic>
        <p:sp>
          <p:nvSpPr>
            <p:cNvPr id="408" name="Google Shape;408;g3dc35a4ca61_0_0"/>
            <p:cNvSpPr/>
            <p:nvPr/>
          </p:nvSpPr>
          <p:spPr>
            <a:xfrm>
              <a:off x="777375" y="5611850"/>
              <a:ext cx="4701000" cy="445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rgbClr val="000000"/>
                </a:buClr>
                <a:buSzPts val="2400"/>
                <a:buFont typeface="Arial"/>
                <a:buNone/>
              </a:pPr>
              <a:r>
                <a:rPr lang="en-US" sz="2400" u="sng">
                  <a:solidFill>
                    <a:schemeClr val="hlink"/>
                  </a:solidFill>
                  <a:hlinkClick r:id="rId8"/>
                </a:rPr>
                <a:t>https://godbolt.org/z/fc37Edob6</a:t>
              </a:r>
              <a:r>
                <a:rPr lang="en-US" sz="2400"/>
                <a:t> </a:t>
              </a:r>
              <a:endParaRPr sz="2400"/>
            </a:p>
          </p:txBody>
        </p:sp>
      </p:grpSp>
      <p:pic>
        <p:nvPicPr>
          <p:cNvPr id="409" name="Google Shape;409;g3dc35a4ca61_0_0"/>
          <p:cNvPicPr preferRelativeResize="0"/>
          <p:nvPr/>
        </p:nvPicPr>
        <p:blipFill>
          <a:blip r:embed="rId9">
            <a:alphaModFix/>
          </a:blip>
          <a:stretch>
            <a:fillRect/>
          </a:stretch>
        </p:blipFill>
        <p:spPr>
          <a:xfrm>
            <a:off x="2331425" y="0"/>
            <a:ext cx="2768450" cy="16870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g3f3d4aa79e3_0_24"/>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US"/>
              <a:t>Content</a:t>
            </a:r>
            <a:endParaRPr/>
          </a:p>
        </p:txBody>
      </p:sp>
      <p:sp>
        <p:nvSpPr>
          <p:cNvPr id="416" name="Google Shape;416;g3f3d4aa79e3_0_24"/>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LLVM vs GCC</a:t>
            </a:r>
            <a:endParaRPr/>
          </a:p>
          <a:p>
            <a:pPr indent="-342900" lvl="0" marL="457200" rtl="0" algn="l">
              <a:spcBef>
                <a:spcPts val="0"/>
              </a:spcBef>
              <a:spcAft>
                <a:spcPts val="0"/>
              </a:spcAft>
              <a:buSzPts val="1800"/>
              <a:buChar char="•"/>
            </a:pPr>
            <a:r>
              <a:rPr lang="en-US"/>
              <a:t>AOT vs JIT</a:t>
            </a:r>
            <a:endParaRPr/>
          </a:p>
          <a:p>
            <a:pPr indent="-342900" lvl="0" marL="457200" rtl="0" algn="l">
              <a:spcBef>
                <a:spcPts val="0"/>
              </a:spcBef>
              <a:spcAft>
                <a:spcPts val="0"/>
              </a:spcAft>
              <a:buSzPts val="1800"/>
              <a:buChar char="•"/>
            </a:pPr>
            <a:r>
              <a:rPr lang="en-US"/>
              <a:t>Compilers integration into ML workflows</a:t>
            </a:r>
            <a:endParaRPr/>
          </a:p>
          <a:p>
            <a:pPr indent="-342900" lvl="0" marL="457200" rtl="0" algn="l">
              <a:spcBef>
                <a:spcPts val="0"/>
              </a:spcBef>
              <a:spcAft>
                <a:spcPts val="0"/>
              </a:spcAft>
              <a:buSzPts val="1800"/>
              <a:buChar char="•"/>
            </a:pPr>
            <a:r>
              <a:rPr b="1" lang="en-US"/>
              <a:t>Python compilation process</a:t>
            </a:r>
            <a:endParaRPr b="1"/>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g3dc35a4ca61_0_67"/>
          <p:cNvSpPr txBox="1"/>
          <p:nvPr>
            <p:ph type="title"/>
          </p:nvPr>
        </p:nvSpPr>
        <p:spPr>
          <a:xfrm>
            <a:off x="571370" y="571500"/>
            <a:ext cx="11010900" cy="952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525252"/>
              </a:buClr>
              <a:buSzPts val="4000"/>
              <a:buFont typeface="Arial"/>
              <a:buNone/>
            </a:pPr>
            <a:r>
              <a:rPr lang="en-US"/>
              <a:t>Python interpreter &lt;-&gt; built-in modules &amp; functions</a:t>
            </a:r>
            <a:endParaRPr/>
          </a:p>
        </p:txBody>
      </p:sp>
      <p:pic>
        <p:nvPicPr>
          <p:cNvPr id="422" name="Google Shape;422;g3dc35a4ca61_0_67"/>
          <p:cNvPicPr preferRelativeResize="0"/>
          <p:nvPr/>
        </p:nvPicPr>
        <p:blipFill rotWithShape="1">
          <a:blip r:embed="rId3">
            <a:alphaModFix/>
          </a:blip>
          <a:srcRect b="0" l="0" r="0" t="0"/>
          <a:stretch/>
        </p:blipFill>
        <p:spPr>
          <a:xfrm>
            <a:off x="5813199" y="1524000"/>
            <a:ext cx="6378800" cy="3763375"/>
          </a:xfrm>
          <a:prstGeom prst="rect">
            <a:avLst/>
          </a:prstGeom>
          <a:noFill/>
          <a:ln>
            <a:noFill/>
          </a:ln>
        </p:spPr>
      </p:pic>
      <p:sp>
        <p:nvSpPr>
          <p:cNvPr id="423" name="Google Shape;423;g3dc35a4ca61_0_67"/>
          <p:cNvSpPr txBox="1"/>
          <p:nvPr/>
        </p:nvSpPr>
        <p:spPr>
          <a:xfrm>
            <a:off x="510625" y="1718425"/>
            <a:ext cx="5223900" cy="449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CPython exposes much of its internal pipeline through public APIs:</a:t>
            </a:r>
            <a:endParaRPr sz="2800">
              <a:solidFill>
                <a:schemeClr val="dk1"/>
              </a:solidFill>
              <a:latin typeface="Calibri"/>
              <a:ea typeface="Calibri"/>
              <a:cs typeface="Calibri"/>
              <a:sym typeface="Calibri"/>
            </a:endParaRPr>
          </a:p>
          <a:p>
            <a:pPr indent="-406400" lvl="0" marL="45720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Inspect and transform source with </a:t>
            </a:r>
            <a:r>
              <a:rPr lang="en-US" sz="2800">
                <a:solidFill>
                  <a:schemeClr val="dk1"/>
                </a:solidFill>
                <a:latin typeface="Consolas"/>
                <a:ea typeface="Consolas"/>
                <a:cs typeface="Consolas"/>
                <a:sym typeface="Consolas"/>
              </a:rPr>
              <a:t>tokenize</a:t>
            </a:r>
            <a:r>
              <a:rPr lang="en-US" sz="2800">
                <a:solidFill>
                  <a:schemeClr val="dk1"/>
                </a:solidFill>
                <a:latin typeface="Calibri"/>
                <a:ea typeface="Calibri"/>
                <a:cs typeface="Calibri"/>
                <a:sym typeface="Calibri"/>
              </a:rPr>
              <a:t> and </a:t>
            </a:r>
            <a:r>
              <a:rPr lang="en-US" sz="2800">
                <a:solidFill>
                  <a:schemeClr val="dk1"/>
                </a:solidFill>
                <a:latin typeface="Consolas"/>
                <a:ea typeface="Consolas"/>
                <a:cs typeface="Consolas"/>
                <a:sym typeface="Consolas"/>
              </a:rPr>
              <a:t>ast</a:t>
            </a:r>
            <a:endParaRPr sz="2800">
              <a:solidFill>
                <a:schemeClr val="dk1"/>
              </a:solidFill>
              <a:latin typeface="Consolas"/>
              <a:ea typeface="Consolas"/>
              <a:cs typeface="Consolas"/>
              <a:sym typeface="Consolas"/>
            </a:endParaRPr>
          </a:p>
          <a:p>
            <a:pPr indent="-406400" lvl="0" marL="45720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Produce and inspect code objects with </a:t>
            </a:r>
            <a:r>
              <a:rPr lang="en-US" sz="2800">
                <a:solidFill>
                  <a:schemeClr val="dk1"/>
                </a:solidFill>
                <a:latin typeface="Consolas"/>
                <a:ea typeface="Consolas"/>
                <a:cs typeface="Consolas"/>
                <a:sym typeface="Consolas"/>
              </a:rPr>
              <a:t>compile()</a:t>
            </a:r>
            <a:r>
              <a:rPr lang="en-US" sz="2800">
                <a:solidFill>
                  <a:schemeClr val="dk1"/>
                </a:solidFill>
                <a:latin typeface="Calibri"/>
                <a:ea typeface="Calibri"/>
                <a:cs typeface="Calibri"/>
                <a:sym typeface="Calibri"/>
              </a:rPr>
              <a:t> and dis</a:t>
            </a:r>
            <a:endParaRPr sz="2800">
              <a:solidFill>
                <a:schemeClr val="dk1"/>
              </a:solidFill>
              <a:latin typeface="Calibri"/>
              <a:ea typeface="Calibri"/>
              <a:cs typeface="Calibri"/>
              <a:sym typeface="Calibri"/>
            </a:endParaRPr>
          </a:p>
          <a:p>
            <a:pPr indent="-406400" lvl="0" marL="45720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Execute compiled code with </a:t>
            </a:r>
            <a:r>
              <a:rPr lang="en-US" sz="2800">
                <a:solidFill>
                  <a:schemeClr val="dk1"/>
                </a:solidFill>
                <a:latin typeface="Consolas"/>
                <a:ea typeface="Consolas"/>
                <a:cs typeface="Consolas"/>
                <a:sym typeface="Consolas"/>
              </a:rPr>
              <a:t>exec()</a:t>
            </a:r>
            <a:endParaRPr sz="2800">
              <a:solidFill>
                <a:schemeClr val="dk1"/>
              </a:solidFill>
              <a:latin typeface="Consolas"/>
              <a:ea typeface="Consolas"/>
              <a:cs typeface="Consolas"/>
              <a:sym typeface="Consola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g3dc35a4ca61_0_77"/>
          <p:cNvSpPr txBox="1"/>
          <p:nvPr>
            <p:ph type="title"/>
          </p:nvPr>
        </p:nvSpPr>
        <p:spPr>
          <a:xfrm>
            <a:off x="571370" y="571500"/>
            <a:ext cx="11010900" cy="952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525252"/>
              </a:buClr>
              <a:buSzPts val="4000"/>
              <a:buFont typeface="Arial"/>
              <a:buNone/>
            </a:pPr>
            <a:r>
              <a:rPr lang="en-US"/>
              <a:t>Python AST Parser</a:t>
            </a:r>
            <a:endParaRPr/>
          </a:p>
        </p:txBody>
      </p:sp>
      <p:sp>
        <p:nvSpPr>
          <p:cNvPr id="429" name="Google Shape;429;g3dc35a4ca61_0_77"/>
          <p:cNvSpPr txBox="1"/>
          <p:nvPr>
            <p:ph idx="1" type="body"/>
          </p:nvPr>
        </p:nvSpPr>
        <p:spPr>
          <a:xfrm>
            <a:off x="571375" y="1673450"/>
            <a:ext cx="6145800" cy="50436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None/>
            </a:pPr>
            <a:r>
              <a:rPr lang="en-US" sz="1900">
                <a:latin typeface="Consolas"/>
                <a:ea typeface="Consolas"/>
                <a:cs typeface="Consolas"/>
                <a:sym typeface="Consolas"/>
              </a:rPr>
              <a:t>python3 -m ast --help</a:t>
            </a:r>
            <a:endParaRPr sz="1900">
              <a:latin typeface="Consolas"/>
              <a:ea typeface="Consolas"/>
              <a:cs typeface="Consolas"/>
              <a:sym typeface="Consolas"/>
            </a:endParaRPr>
          </a:p>
          <a:p>
            <a:pPr indent="0" lvl="0" marL="0" rtl="0" algn="l">
              <a:lnSpc>
                <a:spcPct val="100000"/>
              </a:lnSpc>
              <a:spcBef>
                <a:spcPts val="1200"/>
              </a:spcBef>
              <a:spcAft>
                <a:spcPts val="0"/>
              </a:spcAft>
              <a:buNone/>
            </a:pPr>
            <a:r>
              <a:rPr lang="en-US" sz="1900">
                <a:latin typeface="Consolas"/>
                <a:ea typeface="Consolas"/>
                <a:cs typeface="Consolas"/>
                <a:sym typeface="Consolas"/>
              </a:rPr>
              <a:t>ast.parse("def sum(a, b): return a + b")</a:t>
            </a:r>
            <a:endParaRPr sz="1900">
              <a:latin typeface="Consolas"/>
              <a:ea typeface="Consolas"/>
              <a:cs typeface="Consolas"/>
              <a:sym typeface="Consolas"/>
            </a:endParaRPr>
          </a:p>
          <a:p>
            <a:pPr indent="0" lvl="0" marL="0" rtl="0" algn="l">
              <a:lnSpc>
                <a:spcPct val="100000"/>
              </a:lnSpc>
              <a:spcBef>
                <a:spcPts val="1200"/>
              </a:spcBef>
              <a:spcAft>
                <a:spcPts val="0"/>
              </a:spcAft>
              <a:buNone/>
            </a:pPr>
            <a:r>
              <a:rPr lang="en-US"/>
              <a:t>Classes and methods:</a:t>
            </a:r>
            <a:endParaRPr/>
          </a:p>
          <a:p>
            <a:pPr indent="-342900" lvl="0" marL="457200" rtl="0" algn="l">
              <a:lnSpc>
                <a:spcPct val="100000"/>
              </a:lnSpc>
              <a:spcBef>
                <a:spcPts val="1200"/>
              </a:spcBef>
              <a:spcAft>
                <a:spcPts val="0"/>
              </a:spcAft>
              <a:buSzPts val="1800"/>
              <a:buChar char="•"/>
            </a:pPr>
            <a:r>
              <a:rPr lang="en-US" sz="1800">
                <a:latin typeface="Consolas"/>
                <a:ea typeface="Consolas"/>
                <a:cs typeface="Consolas"/>
                <a:sym typeface="Consolas"/>
              </a:rPr>
              <a:t>ast.NodeVisitor</a:t>
            </a:r>
            <a:r>
              <a:rPr lang="en-US" sz="1800"/>
              <a:t> - base class to walk AST in read-only mode</a:t>
            </a:r>
            <a:endParaRPr sz="1800"/>
          </a:p>
          <a:p>
            <a:pPr indent="-342900" lvl="0" marL="457200" rtl="0" algn="l">
              <a:lnSpc>
                <a:spcPct val="100000"/>
              </a:lnSpc>
              <a:spcBef>
                <a:spcPts val="0"/>
              </a:spcBef>
              <a:spcAft>
                <a:spcPts val="0"/>
              </a:spcAft>
              <a:buSzPts val="1800"/>
              <a:buChar char="•"/>
            </a:pPr>
            <a:r>
              <a:rPr lang="en-US" sz="1800">
                <a:latin typeface="Consolas"/>
                <a:ea typeface="Consolas"/>
                <a:cs typeface="Consolas"/>
                <a:sym typeface="Consolas"/>
              </a:rPr>
              <a:t>ast.NodeTransformer</a:t>
            </a:r>
            <a:r>
              <a:rPr lang="en-US" sz="1800"/>
              <a:t> - base class to walk AST to replace/remove nodes</a:t>
            </a:r>
            <a:endParaRPr sz="1800"/>
          </a:p>
          <a:p>
            <a:pPr indent="-342900" lvl="0" marL="457200" rtl="0" algn="l">
              <a:lnSpc>
                <a:spcPct val="100000"/>
              </a:lnSpc>
              <a:spcBef>
                <a:spcPts val="0"/>
              </a:spcBef>
              <a:spcAft>
                <a:spcPts val="0"/>
              </a:spcAft>
              <a:buSzPts val="1800"/>
              <a:buFont typeface="Calibri"/>
              <a:buChar char="•"/>
            </a:pPr>
            <a:r>
              <a:rPr lang="en-US" sz="1800">
                <a:latin typeface="Consolas"/>
                <a:ea typeface="Consolas"/>
                <a:cs typeface="Consolas"/>
                <a:sym typeface="Consolas"/>
              </a:rPr>
              <a:t>ast.walk()</a:t>
            </a:r>
            <a:r>
              <a:rPr lang="en-US" sz="1800"/>
              <a:t> - walk without Visitor pattern</a:t>
            </a:r>
            <a:endParaRPr sz="1800"/>
          </a:p>
          <a:p>
            <a:pPr indent="-342900" lvl="0" marL="457200" rtl="0" algn="l">
              <a:lnSpc>
                <a:spcPct val="100000"/>
              </a:lnSpc>
              <a:spcBef>
                <a:spcPts val="0"/>
              </a:spcBef>
              <a:spcAft>
                <a:spcPts val="0"/>
              </a:spcAft>
              <a:buSzPts val="1800"/>
              <a:buFont typeface="Calibri"/>
              <a:buChar char="•"/>
            </a:pPr>
            <a:r>
              <a:rPr lang="en-US" sz="1800">
                <a:latin typeface="Consolas"/>
                <a:ea typeface="Consolas"/>
                <a:cs typeface="Consolas"/>
                <a:sym typeface="Consolas"/>
              </a:rPr>
              <a:t>ast.literal_eval() / eval()</a:t>
            </a:r>
            <a:r>
              <a:rPr lang="en-US" sz="1800"/>
              <a:t> - evaluate AST</a:t>
            </a:r>
            <a:endParaRPr sz="1800"/>
          </a:p>
          <a:p>
            <a:pPr indent="-342900" lvl="0" marL="457200" rtl="0" algn="l">
              <a:lnSpc>
                <a:spcPct val="100000"/>
              </a:lnSpc>
              <a:spcBef>
                <a:spcPts val="0"/>
              </a:spcBef>
              <a:spcAft>
                <a:spcPts val="0"/>
              </a:spcAft>
              <a:buSzPts val="1800"/>
              <a:buFont typeface="Calibri"/>
              <a:buChar char="•"/>
            </a:pPr>
            <a:r>
              <a:rPr lang="en-US" sz="1800">
                <a:latin typeface="Consolas"/>
                <a:ea typeface="Consolas"/>
                <a:cs typeface="Consolas"/>
                <a:sym typeface="Consolas"/>
              </a:rPr>
              <a:t>ast.unparse()</a:t>
            </a:r>
            <a:r>
              <a:rPr lang="en-US" sz="1800"/>
              <a:t> – useful for decompiler or obfuscator</a:t>
            </a:r>
            <a:endParaRPr sz="1800"/>
          </a:p>
        </p:txBody>
      </p:sp>
      <p:sp>
        <p:nvSpPr>
          <p:cNvPr id="430" name="Google Shape;430;g3dc35a4ca61_0_77"/>
          <p:cNvSpPr txBox="1"/>
          <p:nvPr/>
        </p:nvSpPr>
        <p:spPr>
          <a:xfrm>
            <a:off x="7133825" y="763975"/>
            <a:ext cx="5058300" cy="427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onsolas"/>
                <a:ea typeface="Consolas"/>
                <a:cs typeface="Consolas"/>
                <a:sym typeface="Consolas"/>
              </a:rPr>
              <a:t>$ python3</a:t>
            </a:r>
            <a:endParaRPr>
              <a:latin typeface="Consolas"/>
              <a:ea typeface="Consolas"/>
              <a:cs typeface="Consolas"/>
              <a:sym typeface="Consolas"/>
            </a:endParaRPr>
          </a:p>
          <a:p>
            <a:pPr indent="0" lvl="0" marL="0" rtl="0" algn="l">
              <a:spcBef>
                <a:spcPts val="0"/>
              </a:spcBef>
              <a:spcAft>
                <a:spcPts val="0"/>
              </a:spcAft>
              <a:buNone/>
            </a:pPr>
            <a:r>
              <a:rPr lang="en-US">
                <a:latin typeface="Consolas"/>
                <a:ea typeface="Consolas"/>
                <a:cs typeface="Consolas"/>
                <a:sym typeface="Consolas"/>
              </a:rPr>
              <a:t>Python 3.14.3 (main, Feb  3 2026, 15:32:20) [Clang 17.0.0 (clang-1700.6.3.2)] on darwin</a:t>
            </a:r>
            <a:endParaRPr>
              <a:latin typeface="Consolas"/>
              <a:ea typeface="Consolas"/>
              <a:cs typeface="Consolas"/>
              <a:sym typeface="Consolas"/>
            </a:endParaRPr>
          </a:p>
          <a:p>
            <a:pPr indent="0" lvl="0" marL="0" rtl="0" algn="l">
              <a:spcBef>
                <a:spcPts val="0"/>
              </a:spcBef>
              <a:spcAft>
                <a:spcPts val="0"/>
              </a:spcAft>
              <a:buNone/>
            </a:pPr>
            <a:r>
              <a:rPr lang="en-US">
                <a:latin typeface="Consolas"/>
                <a:ea typeface="Consolas"/>
                <a:cs typeface="Consolas"/>
                <a:sym typeface="Consolas"/>
              </a:rPr>
              <a:t>Type "help", "copyright", "credits" or "license" for more information.</a:t>
            </a:r>
            <a:endParaRPr>
              <a:latin typeface="Consolas"/>
              <a:ea typeface="Consolas"/>
              <a:cs typeface="Consolas"/>
              <a:sym typeface="Consolas"/>
            </a:endParaRPr>
          </a:p>
          <a:p>
            <a:pPr indent="0" lvl="0" marL="0" rtl="0" algn="l">
              <a:spcBef>
                <a:spcPts val="0"/>
              </a:spcBef>
              <a:spcAft>
                <a:spcPts val="0"/>
              </a:spcAft>
              <a:buNone/>
            </a:pPr>
            <a:r>
              <a:rPr lang="en-US">
                <a:latin typeface="Consolas"/>
                <a:ea typeface="Consolas"/>
                <a:cs typeface="Consolas"/>
                <a:sym typeface="Consolas"/>
              </a:rPr>
              <a:t>&gt;&gt;&gt; import ast</a:t>
            </a:r>
            <a:endParaRPr>
              <a:latin typeface="Consolas"/>
              <a:ea typeface="Consolas"/>
              <a:cs typeface="Consolas"/>
              <a:sym typeface="Consolas"/>
            </a:endParaRPr>
          </a:p>
          <a:p>
            <a:pPr indent="0" lvl="0" marL="0" rtl="0" algn="l">
              <a:spcBef>
                <a:spcPts val="0"/>
              </a:spcBef>
              <a:spcAft>
                <a:spcPts val="0"/>
              </a:spcAft>
              <a:buNone/>
            </a:pPr>
            <a:r>
              <a:rPr lang="en-US">
                <a:latin typeface="Consolas"/>
                <a:ea typeface="Consolas"/>
                <a:cs typeface="Consolas"/>
                <a:sym typeface="Consolas"/>
              </a:rPr>
              <a:t>&gt;&gt;&gt; a = ast.parse("def sum(a, b): return a + b")</a:t>
            </a:r>
            <a:endParaRPr>
              <a:latin typeface="Consolas"/>
              <a:ea typeface="Consolas"/>
              <a:cs typeface="Consolas"/>
              <a:sym typeface="Consolas"/>
            </a:endParaRPr>
          </a:p>
          <a:p>
            <a:pPr indent="0" lvl="0" marL="0" rtl="0" algn="l">
              <a:spcBef>
                <a:spcPts val="0"/>
              </a:spcBef>
              <a:spcAft>
                <a:spcPts val="0"/>
              </a:spcAft>
              <a:buNone/>
            </a:pPr>
            <a:r>
              <a:rPr lang="en-US">
                <a:latin typeface="Consolas"/>
                <a:ea typeface="Consolas"/>
                <a:cs typeface="Consolas"/>
                <a:sym typeface="Consolas"/>
              </a:rPr>
              <a:t>&gt;&gt;&gt; a</a:t>
            </a:r>
            <a:endParaRPr>
              <a:latin typeface="Consolas"/>
              <a:ea typeface="Consolas"/>
              <a:cs typeface="Consolas"/>
              <a:sym typeface="Consolas"/>
            </a:endParaRPr>
          </a:p>
          <a:p>
            <a:pPr indent="0" lvl="0" marL="0" rtl="0" algn="l">
              <a:spcBef>
                <a:spcPts val="0"/>
              </a:spcBef>
              <a:spcAft>
                <a:spcPts val="0"/>
              </a:spcAft>
              <a:buNone/>
            </a:pPr>
            <a:r>
              <a:rPr lang="en-US">
                <a:latin typeface="Consolas"/>
                <a:ea typeface="Consolas"/>
                <a:cs typeface="Consolas"/>
                <a:sym typeface="Consolas"/>
              </a:rPr>
              <a:t>Module(body=[FunctionDef(name='sum', args=arguments(posonlyargs=[], args=[arg(...), arg(...)], vararg=None, kwonlyargs=[], kw_defaults=[], kwarg=None, defaults=[]), body=[Return(value=BinOp(...))], decorator_list=[], returns=None, type_comment=None, type_params=[])], type_ignores=[])</a:t>
            </a:r>
            <a:endParaRPr>
              <a:latin typeface="Consolas"/>
              <a:ea typeface="Consolas"/>
              <a:cs typeface="Consolas"/>
              <a:sym typeface="Consolas"/>
            </a:endParaRPr>
          </a:p>
          <a:p>
            <a:pPr indent="0" lvl="0" marL="0" rtl="0" algn="l">
              <a:spcBef>
                <a:spcPts val="0"/>
              </a:spcBef>
              <a:spcAft>
                <a:spcPts val="0"/>
              </a:spcAft>
              <a:buNone/>
            </a:pPr>
            <a:r>
              <a:rPr lang="en-US">
                <a:latin typeface="Consolas"/>
                <a:ea typeface="Consolas"/>
                <a:cs typeface="Consolas"/>
                <a:sym typeface="Consolas"/>
              </a:rPr>
              <a:t>&gt;&gt;&gt; ast.unparse(a)</a:t>
            </a:r>
            <a:endParaRPr>
              <a:latin typeface="Consolas"/>
              <a:ea typeface="Consolas"/>
              <a:cs typeface="Consolas"/>
              <a:sym typeface="Consolas"/>
            </a:endParaRPr>
          </a:p>
          <a:p>
            <a:pPr indent="0" lvl="0" marL="0" rtl="0" algn="l">
              <a:spcBef>
                <a:spcPts val="0"/>
              </a:spcBef>
              <a:spcAft>
                <a:spcPts val="0"/>
              </a:spcAft>
              <a:buNone/>
            </a:pPr>
            <a:r>
              <a:rPr lang="en-US">
                <a:latin typeface="Consolas"/>
                <a:ea typeface="Consolas"/>
                <a:cs typeface="Consolas"/>
                <a:sym typeface="Consolas"/>
              </a:rPr>
              <a:t>'def sum(a, b):\n    return a + b'</a:t>
            </a:r>
            <a:endParaRPr>
              <a:latin typeface="Consolas"/>
              <a:ea typeface="Consolas"/>
              <a:cs typeface="Consolas"/>
              <a:sym typeface="Consolas"/>
            </a:endParaRPr>
          </a:p>
          <a:p>
            <a:pPr indent="0" lvl="0" marL="0" rtl="0" algn="l">
              <a:spcBef>
                <a:spcPts val="0"/>
              </a:spcBef>
              <a:spcAft>
                <a:spcPts val="0"/>
              </a:spcAft>
              <a:buNone/>
            </a:pPr>
            <a:r>
              <a:t/>
            </a:r>
            <a:endParaRPr>
              <a:latin typeface="Consolas"/>
              <a:ea typeface="Consolas"/>
              <a:cs typeface="Consolas"/>
              <a:sym typeface="Consola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g3dc35a4ca61_0_361"/>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Python Virtual Machine</a:t>
            </a:r>
            <a:endParaRPr/>
          </a:p>
        </p:txBody>
      </p:sp>
      <p:sp>
        <p:nvSpPr>
          <p:cNvPr id="437" name="Google Shape;437;g3dc35a4ca61_0_361"/>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Python source code is first compiled into bytecode</a:t>
            </a:r>
            <a:endParaRPr/>
          </a:p>
          <a:p>
            <a:pPr indent="-342900" lvl="0" marL="457200" rtl="0" algn="l">
              <a:spcBef>
                <a:spcPts val="0"/>
              </a:spcBef>
              <a:spcAft>
                <a:spcPts val="0"/>
              </a:spcAft>
              <a:buSzPts val="1800"/>
              <a:buChar char="•"/>
            </a:pPr>
            <a:r>
              <a:rPr lang="en-US"/>
              <a:t>Bytecode is a low-level, platform-independent instruction format</a:t>
            </a:r>
            <a:endParaRPr/>
          </a:p>
          <a:p>
            <a:pPr indent="-342900" lvl="0" marL="457200" rtl="0" algn="l">
              <a:spcBef>
                <a:spcPts val="0"/>
              </a:spcBef>
              <a:spcAft>
                <a:spcPts val="0"/>
              </a:spcAft>
              <a:buSzPts val="1800"/>
              <a:buChar char="•"/>
            </a:pPr>
            <a:r>
              <a:rPr lang="en-US"/>
              <a:t>The Python Virtual Machine executes this bytecode</a:t>
            </a:r>
            <a:endParaRPr/>
          </a:p>
          <a:p>
            <a:pPr indent="-342900" lvl="0" marL="457200" rtl="0" algn="l">
              <a:spcBef>
                <a:spcPts val="0"/>
              </a:spcBef>
              <a:spcAft>
                <a:spcPts val="0"/>
              </a:spcAft>
              <a:buSzPts val="1800"/>
              <a:buChar char="•"/>
            </a:pPr>
            <a:r>
              <a:rPr lang="en-US"/>
              <a:t>In CPython, the VM is an interpreter written mostly in C</a:t>
            </a:r>
            <a:endParaRPr/>
          </a:p>
          <a:p>
            <a:pPr indent="-342900" lvl="0" marL="457200" rtl="0" algn="l">
              <a:spcBef>
                <a:spcPts val="0"/>
              </a:spcBef>
              <a:spcAft>
                <a:spcPts val="0"/>
              </a:spcAft>
              <a:buSzPts val="1800"/>
              <a:buChar char="•"/>
            </a:pPr>
            <a:r>
              <a:rPr lang="en-US"/>
              <a:t>Execution is stack-based (like JVM): bytecode instructions push and pop values from a virtual stack</a:t>
            </a:r>
            <a:endParaRPr/>
          </a:p>
        </p:txBody>
      </p:sp>
      <p:pic>
        <p:nvPicPr>
          <p:cNvPr id="438" name="Google Shape;438;g3dc35a4ca61_0_361"/>
          <p:cNvPicPr preferRelativeResize="0"/>
          <p:nvPr/>
        </p:nvPicPr>
        <p:blipFill rotWithShape="1">
          <a:blip r:embed="rId3">
            <a:alphaModFix/>
          </a:blip>
          <a:srcRect b="0" l="0" r="0" t="0"/>
          <a:stretch/>
        </p:blipFill>
        <p:spPr>
          <a:xfrm>
            <a:off x="609730" y="4178531"/>
            <a:ext cx="6581775" cy="2181225"/>
          </a:xfrm>
          <a:prstGeom prst="rect">
            <a:avLst/>
          </a:prstGeom>
          <a:noFill/>
          <a:ln>
            <a:noFill/>
          </a:ln>
        </p:spPr>
      </p:pic>
      <p:pic>
        <p:nvPicPr>
          <p:cNvPr id="439" name="Google Shape;439;g3dc35a4ca61_0_361"/>
          <p:cNvPicPr preferRelativeResize="0"/>
          <p:nvPr/>
        </p:nvPicPr>
        <p:blipFill rotWithShape="1">
          <a:blip r:embed="rId4">
            <a:alphaModFix/>
          </a:blip>
          <a:srcRect b="0" l="0" r="0" t="0"/>
          <a:stretch/>
        </p:blipFill>
        <p:spPr>
          <a:xfrm>
            <a:off x="6368562" y="5735502"/>
            <a:ext cx="4648200" cy="1143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g3dc35a4ca61_0_87"/>
          <p:cNvSpPr txBox="1"/>
          <p:nvPr>
            <p:ph type="title"/>
          </p:nvPr>
        </p:nvSpPr>
        <p:spPr>
          <a:xfrm>
            <a:off x="571370" y="571500"/>
            <a:ext cx="11010900" cy="952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525252"/>
              </a:buClr>
              <a:buSzPts val="4000"/>
              <a:buFont typeface="Arial"/>
              <a:buNone/>
            </a:pPr>
            <a:r>
              <a:rPr lang="en-US"/>
              <a:t>Python bytecode (IR)</a:t>
            </a:r>
            <a:endParaRPr/>
          </a:p>
        </p:txBody>
      </p:sp>
      <p:sp>
        <p:nvSpPr>
          <p:cNvPr id="445" name="Google Shape;445;g3dc35a4ca61_0_87"/>
          <p:cNvSpPr txBox="1"/>
          <p:nvPr>
            <p:ph idx="1" type="body"/>
          </p:nvPr>
        </p:nvSpPr>
        <p:spPr>
          <a:xfrm>
            <a:off x="571370" y="1523999"/>
            <a:ext cx="11010900" cy="4575000"/>
          </a:xfrm>
          <a:prstGeom prst="rect">
            <a:avLst/>
          </a:prstGeom>
          <a:noFill/>
          <a:ln>
            <a:noFill/>
          </a:ln>
        </p:spPr>
        <p:txBody>
          <a:bodyPr anchorCtr="0" anchor="t" bIns="0" lIns="0" spcFirstLastPara="1" rIns="0" wrap="square" tIns="0">
            <a:normAutofit/>
          </a:bodyPr>
          <a:lstStyle/>
          <a:p>
            <a:pPr indent="-342900" lvl="0" marL="457200" rtl="0" algn="l">
              <a:lnSpc>
                <a:spcPct val="100000"/>
              </a:lnSpc>
              <a:spcBef>
                <a:spcPts val="0"/>
              </a:spcBef>
              <a:spcAft>
                <a:spcPts val="0"/>
              </a:spcAft>
              <a:buSzPts val="1800"/>
              <a:buChar char="•"/>
            </a:pPr>
            <a:r>
              <a:rPr lang="en-US"/>
              <a:t>As any IR it has 3 forms:</a:t>
            </a:r>
            <a:endParaRPr/>
          </a:p>
          <a:p>
            <a:pPr indent="-342900" lvl="1" marL="914400" rtl="0" algn="l">
              <a:lnSpc>
                <a:spcPct val="100000"/>
              </a:lnSpc>
              <a:spcBef>
                <a:spcPts val="0"/>
              </a:spcBef>
              <a:spcAft>
                <a:spcPts val="0"/>
              </a:spcAft>
              <a:buSzPts val="1800"/>
              <a:buChar char="•"/>
            </a:pPr>
            <a:r>
              <a:rPr lang="en-US"/>
              <a:t>Byte-code itself: </a:t>
            </a:r>
            <a:r>
              <a:rPr b="1" lang="en-US"/>
              <a:t>*.pyc</a:t>
            </a:r>
            <a:r>
              <a:rPr lang="en-US"/>
              <a:t> file content or code_object</a:t>
            </a:r>
            <a:r>
              <a:rPr b="1" lang="en-US"/>
              <a:t>.co_code</a:t>
            </a:r>
            <a:endParaRPr b="1"/>
          </a:p>
          <a:p>
            <a:pPr indent="-342900" lvl="1" marL="914400" rtl="0" algn="l">
              <a:lnSpc>
                <a:spcPct val="100000"/>
              </a:lnSpc>
              <a:spcBef>
                <a:spcPts val="0"/>
              </a:spcBef>
              <a:spcAft>
                <a:spcPts val="0"/>
              </a:spcAft>
              <a:buSzPts val="1800"/>
              <a:buChar char="•"/>
            </a:pPr>
            <a:r>
              <a:rPr lang="en-US"/>
              <a:t>In-memory representation: </a:t>
            </a:r>
            <a:r>
              <a:rPr b="1" lang="en-US"/>
              <a:t>code_object = compile(…)</a:t>
            </a:r>
            <a:endParaRPr/>
          </a:p>
          <a:p>
            <a:pPr indent="-342900" lvl="1" marL="914400" rtl="0" algn="l">
              <a:lnSpc>
                <a:spcPct val="100000"/>
              </a:lnSpc>
              <a:spcBef>
                <a:spcPts val="0"/>
              </a:spcBef>
              <a:spcAft>
                <a:spcPts val="0"/>
              </a:spcAft>
              <a:buSzPts val="1800"/>
              <a:buChar char="•"/>
            </a:pPr>
            <a:r>
              <a:rPr lang="en-US"/>
              <a:t>String representation: </a:t>
            </a:r>
            <a:r>
              <a:rPr b="1" lang="en-US"/>
              <a:t>import dis; dis.dis(code_object)</a:t>
            </a:r>
            <a:endParaRPr/>
          </a:p>
        </p:txBody>
      </p:sp>
      <p:pic>
        <p:nvPicPr>
          <p:cNvPr id="446" name="Google Shape;446;g3dc35a4ca61_0_87"/>
          <p:cNvPicPr preferRelativeResize="0"/>
          <p:nvPr/>
        </p:nvPicPr>
        <p:blipFill rotWithShape="1">
          <a:blip r:embed="rId3">
            <a:alphaModFix/>
          </a:blip>
          <a:srcRect b="0" l="0" r="0" t="0"/>
          <a:stretch/>
        </p:blipFill>
        <p:spPr>
          <a:xfrm>
            <a:off x="609730" y="3645131"/>
            <a:ext cx="6581775" cy="2181225"/>
          </a:xfrm>
          <a:prstGeom prst="rect">
            <a:avLst/>
          </a:prstGeom>
          <a:noFill/>
          <a:ln>
            <a:noFill/>
          </a:ln>
        </p:spPr>
      </p:pic>
      <p:pic>
        <p:nvPicPr>
          <p:cNvPr id="447" name="Google Shape;447;g3dc35a4ca61_0_87"/>
          <p:cNvPicPr preferRelativeResize="0"/>
          <p:nvPr/>
        </p:nvPicPr>
        <p:blipFill rotWithShape="1">
          <a:blip r:embed="rId4">
            <a:alphaModFix/>
          </a:blip>
          <a:srcRect b="0" l="0" r="0" t="0"/>
          <a:stretch/>
        </p:blipFill>
        <p:spPr>
          <a:xfrm>
            <a:off x="6368562" y="5202102"/>
            <a:ext cx="4648200" cy="1143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g3dc35a4ca61_0_105"/>
          <p:cNvSpPr txBox="1"/>
          <p:nvPr>
            <p:ph type="title"/>
          </p:nvPr>
        </p:nvSpPr>
        <p:spPr>
          <a:xfrm>
            <a:off x="571370" y="571500"/>
            <a:ext cx="11010900" cy="952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525252"/>
              </a:buClr>
              <a:buSzPts val="4000"/>
              <a:buFont typeface="Arial"/>
              <a:buNone/>
            </a:pPr>
            <a:r>
              <a:rPr lang="en-US"/>
              <a:t>JIT compiler for Python</a:t>
            </a:r>
            <a:endParaRPr/>
          </a:p>
        </p:txBody>
      </p:sp>
      <p:sp>
        <p:nvSpPr>
          <p:cNvPr id="453" name="Google Shape;453;g3dc35a4ca61_0_105"/>
          <p:cNvSpPr txBox="1"/>
          <p:nvPr>
            <p:ph idx="1" type="body"/>
          </p:nvPr>
        </p:nvSpPr>
        <p:spPr>
          <a:xfrm>
            <a:off x="571375" y="1673450"/>
            <a:ext cx="6145800" cy="45750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None/>
            </a:pPr>
            <a:r>
              <a:rPr lang="en-US"/>
              <a:t>PyPy is a Python implemented in RPython as a JIT compiler</a:t>
            </a:r>
            <a:endParaRPr/>
          </a:p>
          <a:p>
            <a:pPr indent="-342900" lvl="0" marL="457200" rtl="0" algn="l">
              <a:lnSpc>
                <a:spcPct val="100000"/>
              </a:lnSpc>
              <a:spcBef>
                <a:spcPts val="1200"/>
              </a:spcBef>
              <a:spcAft>
                <a:spcPts val="0"/>
              </a:spcAft>
              <a:buSzPts val="1800"/>
              <a:buChar char="•"/>
            </a:pPr>
            <a:r>
              <a:rPr lang="en-US"/>
              <a:t>Provides g</a:t>
            </a:r>
            <a:r>
              <a:rPr lang="en-US"/>
              <a:t>ood compatibility for pure Python, but C-extension-heavy workloads remain problematic</a:t>
            </a:r>
            <a:endParaRPr/>
          </a:p>
          <a:p>
            <a:pPr indent="-342900" lvl="0" marL="457200" rtl="0" algn="l">
              <a:lnSpc>
                <a:spcPct val="100000"/>
              </a:lnSpc>
              <a:spcBef>
                <a:spcPts val="0"/>
              </a:spcBef>
              <a:spcAft>
                <a:spcPts val="0"/>
              </a:spcAft>
              <a:buSzPts val="1800"/>
              <a:buChar char="•"/>
            </a:pPr>
            <a:r>
              <a:rPr lang="en-US"/>
              <a:t>CPython 3.14 is stable (as of May 2026), while current PyPy targets only Python 3.11</a:t>
            </a:r>
            <a:endParaRPr/>
          </a:p>
          <a:p>
            <a:pPr indent="-342900" lvl="0" marL="457200" rtl="0" algn="l">
              <a:lnSpc>
                <a:spcPct val="100000"/>
              </a:lnSpc>
              <a:spcBef>
                <a:spcPts val="0"/>
              </a:spcBef>
              <a:spcAft>
                <a:spcPts val="0"/>
              </a:spcAft>
              <a:buSzPts val="1800"/>
              <a:buChar char="•"/>
            </a:pPr>
            <a:r>
              <a:rPr lang="en-US"/>
              <a:t>3 times faster on average comparing with CPython 3.11*</a:t>
            </a:r>
            <a:endParaRPr/>
          </a:p>
        </p:txBody>
      </p:sp>
      <p:sp>
        <p:nvSpPr>
          <p:cNvPr id="454" name="Google Shape;454;g3dc35a4ca61_0_105"/>
          <p:cNvSpPr txBox="1"/>
          <p:nvPr/>
        </p:nvSpPr>
        <p:spPr>
          <a:xfrm>
            <a:off x="9691800" y="6457800"/>
            <a:ext cx="2500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3"/>
              </a:rPr>
              <a:t>https://github.com/pypy/pypy</a:t>
            </a:r>
            <a:r>
              <a:rPr lang="en-US"/>
              <a:t> </a:t>
            </a:r>
            <a:endParaRPr/>
          </a:p>
        </p:txBody>
      </p:sp>
      <p:sp>
        <p:nvSpPr>
          <p:cNvPr id="455" name="Google Shape;455;g3dc35a4ca61_0_105"/>
          <p:cNvSpPr txBox="1"/>
          <p:nvPr/>
        </p:nvSpPr>
        <p:spPr>
          <a:xfrm>
            <a:off x="615150" y="6498825"/>
            <a:ext cx="6717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 numbers are workload dependent, may vary in different scenarios</a:t>
            </a:r>
            <a:endParaRPr sz="1800">
              <a:solidFill>
                <a:schemeClr val="dk1"/>
              </a:solidFill>
              <a:latin typeface="Calibri"/>
              <a:ea typeface="Calibri"/>
              <a:cs typeface="Calibri"/>
              <a:sym typeface="Calibri"/>
            </a:endParaRPr>
          </a:p>
        </p:txBody>
      </p:sp>
      <p:pic>
        <p:nvPicPr>
          <p:cNvPr id="456" name="Google Shape;456;g3dc35a4ca61_0_105"/>
          <p:cNvPicPr preferRelativeResize="0"/>
          <p:nvPr/>
        </p:nvPicPr>
        <p:blipFill>
          <a:blip r:embed="rId4">
            <a:alphaModFix/>
          </a:blip>
          <a:stretch>
            <a:fillRect/>
          </a:stretch>
        </p:blipFill>
        <p:spPr>
          <a:xfrm>
            <a:off x="6653900" y="1524000"/>
            <a:ext cx="5455149" cy="3506400"/>
          </a:xfrm>
          <a:prstGeom prst="rect">
            <a:avLst/>
          </a:prstGeom>
          <a:noFill/>
          <a:ln>
            <a:noFill/>
          </a:ln>
        </p:spPr>
      </p:pic>
      <p:sp>
        <p:nvSpPr>
          <p:cNvPr id="457" name="Google Shape;457;g3dc35a4ca61_0_105"/>
          <p:cNvSpPr txBox="1"/>
          <p:nvPr/>
        </p:nvSpPr>
        <p:spPr>
          <a:xfrm>
            <a:off x="8334375" y="5030400"/>
            <a:ext cx="2004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5"/>
              </a:rPr>
              <a:t>https://speed.pypy.org/</a:t>
            </a:r>
            <a:r>
              <a:rPr lang="en-US"/>
              <a: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g3dc35a4ca61_0_110"/>
          <p:cNvSpPr txBox="1"/>
          <p:nvPr>
            <p:ph type="title"/>
          </p:nvPr>
        </p:nvSpPr>
        <p:spPr>
          <a:xfrm>
            <a:off x="571370" y="571500"/>
            <a:ext cx="11010900" cy="952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525252"/>
              </a:buClr>
              <a:buSzPts val="4000"/>
              <a:buFont typeface="Arial"/>
              <a:buNone/>
            </a:pPr>
            <a:r>
              <a:rPr lang="en-US"/>
              <a:t>JIT compilers for Python functions</a:t>
            </a:r>
            <a:endParaRPr/>
          </a:p>
        </p:txBody>
      </p:sp>
      <p:sp>
        <p:nvSpPr>
          <p:cNvPr id="463" name="Google Shape;463;g3dc35a4ca61_0_110"/>
          <p:cNvSpPr txBox="1"/>
          <p:nvPr>
            <p:ph idx="1" type="body"/>
          </p:nvPr>
        </p:nvSpPr>
        <p:spPr>
          <a:xfrm>
            <a:off x="571375" y="1673450"/>
            <a:ext cx="7981200" cy="5053500"/>
          </a:xfrm>
          <a:prstGeom prst="rect">
            <a:avLst/>
          </a:prstGeom>
          <a:noFill/>
          <a:ln>
            <a:noFill/>
          </a:ln>
        </p:spPr>
        <p:txBody>
          <a:bodyPr anchorCtr="0" anchor="t" bIns="0" lIns="0" spcFirstLastPara="1" rIns="0" wrap="square" tIns="0">
            <a:normAutofit lnSpcReduction="20000"/>
          </a:bodyPr>
          <a:lstStyle/>
          <a:p>
            <a:pPr indent="0" lvl="0" marL="0" rtl="0" algn="l">
              <a:lnSpc>
                <a:spcPct val="100000"/>
              </a:lnSpc>
              <a:spcBef>
                <a:spcPts val="0"/>
              </a:spcBef>
              <a:spcAft>
                <a:spcPts val="0"/>
              </a:spcAft>
              <a:buNone/>
            </a:pPr>
            <a:r>
              <a:rPr lang="en-US"/>
              <a:t>Numba</a:t>
            </a:r>
            <a:endParaRPr/>
          </a:p>
          <a:p>
            <a:pPr indent="-342900" lvl="0" marL="457200" rtl="0" algn="l">
              <a:lnSpc>
                <a:spcPct val="100000"/>
              </a:lnSpc>
              <a:spcBef>
                <a:spcPts val="0"/>
              </a:spcBef>
              <a:spcAft>
                <a:spcPts val="0"/>
              </a:spcAft>
              <a:buSzPts val="1800"/>
              <a:buChar char="•"/>
            </a:pPr>
            <a:r>
              <a:rPr lang="en-US"/>
              <a:t>JIT-compiles Python functions to machine code via LLVM</a:t>
            </a:r>
            <a:endParaRPr/>
          </a:p>
          <a:p>
            <a:pPr indent="-342900" lvl="0" marL="457200" rtl="0" algn="l">
              <a:lnSpc>
                <a:spcPct val="100000"/>
              </a:lnSpc>
              <a:spcBef>
                <a:spcPts val="0"/>
              </a:spcBef>
              <a:spcAft>
                <a:spcPts val="0"/>
              </a:spcAft>
              <a:buSzPts val="1800"/>
              <a:buChar char="•"/>
            </a:pPr>
            <a:r>
              <a:rPr lang="en-US"/>
              <a:t>Best for NumPy-heavy numerical code</a:t>
            </a:r>
            <a:endParaRPr/>
          </a:p>
          <a:p>
            <a:pPr indent="-342900" lvl="0" marL="457200" rtl="0" algn="l">
              <a:lnSpc>
                <a:spcPct val="100000"/>
              </a:lnSpc>
              <a:spcBef>
                <a:spcPts val="0"/>
              </a:spcBef>
              <a:spcAft>
                <a:spcPts val="0"/>
              </a:spcAft>
              <a:buSzPts val="1800"/>
              <a:buChar char="•"/>
            </a:pPr>
            <a:r>
              <a:rPr lang="en-US"/>
              <a:t>Supports CPU and some GPU targets, especially CUDA</a:t>
            </a:r>
            <a:endParaRPr/>
          </a:p>
          <a:p>
            <a:pPr indent="-342900" lvl="0" marL="457200" rtl="0" algn="l">
              <a:lnSpc>
                <a:spcPct val="100000"/>
              </a:lnSpc>
              <a:spcBef>
                <a:spcPts val="0"/>
              </a:spcBef>
              <a:spcAft>
                <a:spcPts val="0"/>
              </a:spcAft>
              <a:buSzPts val="1800"/>
              <a:buChar char="•"/>
            </a:pPr>
            <a:r>
              <a:rPr lang="en-US"/>
              <a:t>Minimal code changes: often just add </a:t>
            </a:r>
            <a:r>
              <a:rPr lang="en-US">
                <a:latin typeface="Consolas"/>
                <a:ea typeface="Consolas"/>
                <a:cs typeface="Consolas"/>
                <a:sym typeface="Consolas"/>
              </a:rPr>
              <a:t>@numba.jit</a:t>
            </a:r>
            <a:endParaRPr>
              <a:latin typeface="Consolas"/>
              <a:ea typeface="Consolas"/>
              <a:cs typeface="Consolas"/>
              <a:sym typeface="Consolas"/>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US"/>
              <a:t>Taichi</a:t>
            </a:r>
            <a:endParaRPr/>
          </a:p>
          <a:p>
            <a:pPr indent="-342900" lvl="0" marL="457200" rtl="0" algn="l">
              <a:lnSpc>
                <a:spcPct val="100000"/>
              </a:lnSpc>
              <a:spcBef>
                <a:spcPts val="0"/>
              </a:spcBef>
              <a:spcAft>
                <a:spcPts val="0"/>
              </a:spcAft>
              <a:buSzPts val="1800"/>
              <a:buChar char="•"/>
            </a:pPr>
            <a:r>
              <a:rPr lang="en-US"/>
              <a:t>Python-embedded DSL for high-performance kernels</a:t>
            </a:r>
            <a:endParaRPr/>
          </a:p>
          <a:p>
            <a:pPr indent="-342900" lvl="0" marL="457200" rtl="0" algn="l">
              <a:lnSpc>
                <a:spcPct val="100000"/>
              </a:lnSpc>
              <a:spcBef>
                <a:spcPts val="0"/>
              </a:spcBef>
              <a:spcAft>
                <a:spcPts val="0"/>
              </a:spcAft>
              <a:buSzPts val="1800"/>
              <a:buChar char="•"/>
            </a:pPr>
            <a:r>
              <a:rPr lang="en-US"/>
              <a:t>Designed for parallel simulation, graphics, and numerical computing</a:t>
            </a:r>
            <a:endParaRPr/>
          </a:p>
          <a:p>
            <a:pPr indent="-342900" lvl="0" marL="457200" rtl="0" algn="l">
              <a:lnSpc>
                <a:spcPct val="100000"/>
              </a:lnSpc>
              <a:spcBef>
                <a:spcPts val="0"/>
              </a:spcBef>
              <a:spcAft>
                <a:spcPts val="0"/>
              </a:spcAft>
              <a:buSzPts val="1800"/>
              <a:buChar char="•"/>
            </a:pPr>
            <a:r>
              <a:rPr lang="en-US"/>
              <a:t>Targets CPU/GPU backends</a:t>
            </a:r>
            <a:endParaRPr/>
          </a:p>
        </p:txBody>
      </p:sp>
      <p:sp>
        <p:nvSpPr>
          <p:cNvPr id="464" name="Google Shape;464;g3dc35a4ca61_0_110"/>
          <p:cNvSpPr txBox="1"/>
          <p:nvPr/>
        </p:nvSpPr>
        <p:spPr>
          <a:xfrm>
            <a:off x="8741175" y="609205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3"/>
              </a:rPr>
              <a:t>https://www.taichi-lang.org/</a:t>
            </a:r>
            <a:r>
              <a:rPr lang="en-US"/>
              <a:t> </a:t>
            </a:r>
            <a:endParaRPr/>
          </a:p>
          <a:p>
            <a:pPr indent="0" lvl="0" marL="0" rtl="0" algn="l">
              <a:spcBef>
                <a:spcPts val="0"/>
              </a:spcBef>
              <a:spcAft>
                <a:spcPts val="0"/>
              </a:spcAft>
              <a:buNone/>
            </a:pPr>
            <a:r>
              <a:rPr lang="en-US" u="sng">
                <a:solidFill>
                  <a:schemeClr val="hlink"/>
                </a:solidFill>
                <a:hlinkClick r:id="rId4"/>
              </a:rPr>
              <a:t>https://github.com/taichi-dev/taichi</a:t>
            </a:r>
            <a:r>
              <a:rPr lang="en-US"/>
              <a:t> </a:t>
            </a:r>
            <a:endParaRPr/>
          </a:p>
        </p:txBody>
      </p:sp>
      <p:sp>
        <p:nvSpPr>
          <p:cNvPr id="465" name="Google Shape;465;g3dc35a4ca61_0_110"/>
          <p:cNvSpPr txBox="1"/>
          <p:nvPr/>
        </p:nvSpPr>
        <p:spPr>
          <a:xfrm>
            <a:off x="8646300" y="3482013"/>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5"/>
              </a:rPr>
              <a:t>https://numba.pydata.org/</a:t>
            </a:r>
            <a:r>
              <a:rPr lang="en-US"/>
              <a:t> </a:t>
            </a:r>
            <a:endParaRPr/>
          </a:p>
          <a:p>
            <a:pPr indent="0" lvl="0" marL="0" rtl="0" algn="l">
              <a:spcBef>
                <a:spcPts val="0"/>
              </a:spcBef>
              <a:spcAft>
                <a:spcPts val="0"/>
              </a:spcAft>
              <a:buNone/>
            </a:pPr>
            <a:r>
              <a:rPr lang="en-US" u="sng">
                <a:solidFill>
                  <a:schemeClr val="hlink"/>
                </a:solidFill>
                <a:hlinkClick r:id="rId6"/>
              </a:rPr>
              <a:t>https://github.com/numba/numba</a:t>
            </a:r>
            <a:r>
              <a:rPr lang="en-US"/>
              <a:t> </a:t>
            </a:r>
            <a:endParaRPr/>
          </a:p>
        </p:txBody>
      </p:sp>
      <p:pic>
        <p:nvPicPr>
          <p:cNvPr id="466" name="Google Shape;466;g3dc35a4ca61_0_110"/>
          <p:cNvPicPr preferRelativeResize="0"/>
          <p:nvPr/>
        </p:nvPicPr>
        <p:blipFill>
          <a:blip r:embed="rId7">
            <a:alphaModFix/>
          </a:blip>
          <a:stretch>
            <a:fillRect/>
          </a:stretch>
        </p:blipFill>
        <p:spPr>
          <a:xfrm>
            <a:off x="8786400" y="1455935"/>
            <a:ext cx="2859901" cy="2026079"/>
          </a:xfrm>
          <a:prstGeom prst="rect">
            <a:avLst/>
          </a:prstGeom>
          <a:noFill/>
          <a:ln>
            <a:noFill/>
          </a:ln>
        </p:spPr>
      </p:pic>
      <p:pic>
        <p:nvPicPr>
          <p:cNvPr id="467" name="Google Shape;467;g3dc35a4ca61_0_110"/>
          <p:cNvPicPr preferRelativeResize="0"/>
          <p:nvPr/>
        </p:nvPicPr>
        <p:blipFill>
          <a:blip r:embed="rId8">
            <a:alphaModFix/>
          </a:blip>
          <a:stretch>
            <a:fillRect/>
          </a:stretch>
        </p:blipFill>
        <p:spPr>
          <a:xfrm>
            <a:off x="8741175" y="4390800"/>
            <a:ext cx="2905126" cy="179971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g3dc35a4ca61_0_115"/>
          <p:cNvSpPr txBox="1"/>
          <p:nvPr>
            <p:ph type="title"/>
          </p:nvPr>
        </p:nvSpPr>
        <p:spPr>
          <a:xfrm>
            <a:off x="571370" y="571500"/>
            <a:ext cx="11010900" cy="952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525252"/>
              </a:buClr>
              <a:buSzPts val="4000"/>
              <a:buFont typeface="Arial"/>
              <a:buNone/>
            </a:pPr>
            <a:r>
              <a:rPr lang="en-US"/>
              <a:t>Typical compilation pipeline (Numba)</a:t>
            </a:r>
            <a:endParaRPr/>
          </a:p>
        </p:txBody>
      </p:sp>
      <p:pic>
        <p:nvPicPr>
          <p:cNvPr id="473" name="Google Shape;473;g3dc35a4ca61_0_115"/>
          <p:cNvPicPr preferRelativeResize="0"/>
          <p:nvPr/>
        </p:nvPicPr>
        <p:blipFill rotWithShape="1">
          <a:blip r:embed="rId3">
            <a:alphaModFix/>
          </a:blip>
          <a:srcRect b="0" l="0" r="0" t="0"/>
          <a:stretch/>
        </p:blipFill>
        <p:spPr>
          <a:xfrm>
            <a:off x="609813" y="1312252"/>
            <a:ext cx="2819301" cy="4455502"/>
          </a:xfrm>
          <a:prstGeom prst="rect">
            <a:avLst/>
          </a:prstGeom>
          <a:noFill/>
          <a:ln>
            <a:noFill/>
          </a:ln>
        </p:spPr>
      </p:pic>
      <p:pic>
        <p:nvPicPr>
          <p:cNvPr id="474" name="Google Shape;474;g3dc35a4ca61_0_115"/>
          <p:cNvPicPr preferRelativeResize="0"/>
          <p:nvPr/>
        </p:nvPicPr>
        <p:blipFill rotWithShape="1">
          <a:blip r:embed="rId4">
            <a:alphaModFix/>
          </a:blip>
          <a:srcRect b="0" l="0" r="0" t="0"/>
          <a:stretch/>
        </p:blipFill>
        <p:spPr>
          <a:xfrm>
            <a:off x="10034043" y="533033"/>
            <a:ext cx="1548143" cy="5926016"/>
          </a:xfrm>
          <a:prstGeom prst="rect">
            <a:avLst/>
          </a:prstGeom>
          <a:noFill/>
          <a:ln>
            <a:noFill/>
          </a:ln>
        </p:spPr>
      </p:pic>
      <p:sp>
        <p:nvSpPr>
          <p:cNvPr id="475" name="Google Shape;475;g3dc35a4ca61_0_115"/>
          <p:cNvSpPr txBox="1"/>
          <p:nvPr/>
        </p:nvSpPr>
        <p:spPr>
          <a:xfrm>
            <a:off x="3641325" y="6459050"/>
            <a:ext cx="5982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5"/>
              </a:rPr>
              <a:t>https://numba.pydata.org/numba-doc/dev/developer/architecture.html</a:t>
            </a:r>
            <a:r>
              <a:rPr lang="en-US"/>
              <a:t> </a:t>
            </a:r>
            <a:endParaRPr/>
          </a:p>
        </p:txBody>
      </p:sp>
      <p:pic>
        <p:nvPicPr>
          <p:cNvPr id="476" name="Google Shape;476;g3dc35a4ca61_0_115"/>
          <p:cNvPicPr preferRelativeResize="0"/>
          <p:nvPr/>
        </p:nvPicPr>
        <p:blipFill>
          <a:blip r:embed="rId6">
            <a:alphaModFix/>
          </a:blip>
          <a:stretch>
            <a:fillRect/>
          </a:stretch>
        </p:blipFill>
        <p:spPr>
          <a:xfrm>
            <a:off x="3581514" y="1676400"/>
            <a:ext cx="6300130" cy="2957355"/>
          </a:xfrm>
          <a:prstGeom prst="rect">
            <a:avLst/>
          </a:prstGeom>
          <a:noFill/>
          <a:ln>
            <a:noFill/>
          </a:ln>
        </p:spPr>
      </p:pic>
      <p:sp>
        <p:nvSpPr>
          <p:cNvPr id="477" name="Google Shape;477;g3dc35a4ca61_0_115"/>
          <p:cNvSpPr txBox="1"/>
          <p:nvPr/>
        </p:nvSpPr>
        <p:spPr>
          <a:xfrm>
            <a:off x="128975" y="5767750"/>
            <a:ext cx="5595300" cy="7389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US" sz="1200">
                <a:solidFill>
                  <a:srgbClr val="222222"/>
                </a:solidFill>
                <a:highlight>
                  <a:srgbClr val="FFFFFF"/>
                </a:highlight>
                <a:latin typeface="Calibri"/>
                <a:ea typeface="Calibri"/>
                <a:cs typeface="Calibri"/>
                <a:sym typeface="Calibri"/>
              </a:rPr>
              <a:t>Saedi, Omid. "Towards Eco-Conscious Python: A Comparative Analysis of Performance, Energy Efficiency and Carbon Emissions Between CPython and Alternative Implementations." (2024).</a:t>
            </a:r>
            <a:endParaRPr sz="12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g3dc35a4ca61_0_122"/>
          <p:cNvSpPr txBox="1"/>
          <p:nvPr>
            <p:ph type="title"/>
          </p:nvPr>
        </p:nvSpPr>
        <p:spPr>
          <a:xfrm>
            <a:off x="571370" y="571500"/>
            <a:ext cx="11010900" cy="952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525252"/>
              </a:buClr>
              <a:buSzPts val="4000"/>
              <a:buFont typeface="Arial"/>
              <a:buNone/>
            </a:pPr>
            <a:r>
              <a:rPr lang="en-US"/>
              <a:t>Type inference for Python</a:t>
            </a:r>
            <a:endParaRPr/>
          </a:p>
        </p:txBody>
      </p:sp>
      <p:sp>
        <p:nvSpPr>
          <p:cNvPr id="483" name="Google Shape;483;g3dc35a4ca61_0_122"/>
          <p:cNvSpPr txBox="1"/>
          <p:nvPr>
            <p:ph idx="1" type="body"/>
          </p:nvPr>
        </p:nvSpPr>
        <p:spPr>
          <a:xfrm>
            <a:off x="571370" y="1673454"/>
            <a:ext cx="11010900" cy="4575000"/>
          </a:xfrm>
          <a:prstGeom prst="rect">
            <a:avLst/>
          </a:prstGeom>
          <a:noFill/>
          <a:ln>
            <a:noFill/>
          </a:ln>
        </p:spPr>
        <p:txBody>
          <a:bodyPr anchorCtr="0" anchor="t" bIns="0" lIns="0" spcFirstLastPara="1" rIns="0" wrap="square" tIns="0">
            <a:normAutofit/>
          </a:bodyPr>
          <a:lstStyle/>
          <a:p>
            <a:pPr indent="-342900" lvl="0" marL="457200" rtl="0" algn="l">
              <a:lnSpc>
                <a:spcPct val="100000"/>
              </a:lnSpc>
              <a:spcBef>
                <a:spcPts val="0"/>
              </a:spcBef>
              <a:spcAft>
                <a:spcPts val="0"/>
              </a:spcAft>
              <a:buSzPts val="1800"/>
              <a:buChar char="•"/>
            </a:pPr>
            <a:r>
              <a:rPr lang="en-US"/>
              <a:t>mypy + mypyC (transpiler to C)</a:t>
            </a:r>
            <a:endParaRPr/>
          </a:p>
          <a:p>
            <a:pPr indent="-342900" lvl="0" marL="457200" rtl="0" algn="l">
              <a:lnSpc>
                <a:spcPct val="100000"/>
              </a:lnSpc>
              <a:spcBef>
                <a:spcPts val="0"/>
              </a:spcBef>
              <a:spcAft>
                <a:spcPts val="0"/>
              </a:spcAft>
              <a:buSzPts val="1800"/>
              <a:buChar char="•"/>
            </a:pPr>
            <a:r>
              <a:rPr lang="en-US"/>
              <a:t>pytype (type hints are not necessary; by Google)</a:t>
            </a:r>
            <a:endParaRPr/>
          </a:p>
          <a:p>
            <a:pPr indent="-342900" lvl="0" marL="457200" rtl="0" algn="l">
              <a:lnSpc>
                <a:spcPct val="100000"/>
              </a:lnSpc>
              <a:spcBef>
                <a:spcPts val="0"/>
              </a:spcBef>
              <a:spcAft>
                <a:spcPts val="0"/>
              </a:spcAft>
              <a:buSzPts val="1800"/>
              <a:buChar char="•"/>
            </a:pPr>
            <a:r>
              <a:rPr lang="en-US"/>
              <a:t>pyright (type checker for VSCode; by Microsoft; written in TypeScript)</a:t>
            </a:r>
            <a:endParaRPr/>
          </a:p>
          <a:p>
            <a:pPr indent="0" lvl="0" marL="0" rtl="0" algn="l">
              <a:lnSpc>
                <a:spcPct val="100000"/>
              </a:lnSpc>
              <a:spcBef>
                <a:spcPts val="1200"/>
              </a:spcBef>
              <a:spcAft>
                <a:spcPts val="0"/>
              </a:spcAft>
              <a:buNone/>
            </a:pPr>
            <a:r>
              <a:t/>
            </a:r>
            <a:endParaRPr/>
          </a:p>
          <a:p>
            <a:pPr indent="0" lvl="0" marL="0" rtl="0" algn="l">
              <a:lnSpc>
                <a:spcPct val="100000"/>
              </a:lnSpc>
              <a:spcBef>
                <a:spcPts val="1200"/>
              </a:spcBef>
              <a:spcAft>
                <a:spcPts val="0"/>
              </a:spcAft>
              <a:buNone/>
            </a:pPr>
            <a:r>
              <a:rPr lang="en-US"/>
              <a:t>Python type hints are Turing-complete that means that full static checking/inference is undecidable</a:t>
            </a:r>
            <a:endParaRPr/>
          </a:p>
          <a:p>
            <a:pPr indent="0" lvl="0" marL="0" rtl="0" algn="l">
              <a:lnSpc>
                <a:spcPct val="100000"/>
              </a:lnSpc>
              <a:spcBef>
                <a:spcPts val="1200"/>
              </a:spcBef>
              <a:spcAft>
                <a:spcPts val="0"/>
              </a:spcAft>
              <a:buNone/>
            </a:pPr>
            <a:r>
              <a:rPr lang="en-US" u="sng">
                <a:solidFill>
                  <a:schemeClr val="hlink"/>
                </a:solidFill>
                <a:hlinkClick r:id="rId3"/>
              </a:rPr>
              <a:t>https://arxiv.org/pdf/2208.14755.pdf</a:t>
            </a:r>
            <a:endParaRPr/>
          </a:p>
          <a:p>
            <a:pPr indent="0" lvl="0" marL="0" rtl="0" algn="l">
              <a:lnSpc>
                <a:spcPct val="100000"/>
              </a:lnSpc>
              <a:spcBef>
                <a:spcPts val="1200"/>
              </a:spcBef>
              <a:spcAft>
                <a:spcPts val="0"/>
              </a:spcAft>
              <a:buNone/>
            </a:pPr>
            <a:r>
              <a:rPr lang="en-US"/>
              <a:t>mypy, pyright, pytype implement useful decidable approximations</a:t>
            </a:r>
            <a:endParaRPr/>
          </a:p>
        </p:txBody>
      </p:sp>
      <p:pic>
        <p:nvPicPr>
          <p:cNvPr id="484" name="Google Shape;484;g3dc35a4ca61_0_122"/>
          <p:cNvPicPr preferRelativeResize="0"/>
          <p:nvPr/>
        </p:nvPicPr>
        <p:blipFill>
          <a:blip r:embed="rId4">
            <a:alphaModFix/>
          </a:blip>
          <a:stretch>
            <a:fillRect/>
          </a:stretch>
        </p:blipFill>
        <p:spPr>
          <a:xfrm>
            <a:off x="7526175" y="1524000"/>
            <a:ext cx="2255774" cy="454250"/>
          </a:xfrm>
          <a:prstGeom prst="rect">
            <a:avLst/>
          </a:prstGeom>
          <a:noFill/>
          <a:ln>
            <a:noFill/>
          </a:ln>
        </p:spPr>
      </p:pic>
      <p:pic>
        <p:nvPicPr>
          <p:cNvPr id="485" name="Google Shape;485;g3dc35a4ca61_0_122"/>
          <p:cNvPicPr preferRelativeResize="0"/>
          <p:nvPr/>
        </p:nvPicPr>
        <p:blipFill>
          <a:blip r:embed="rId5">
            <a:alphaModFix/>
          </a:blip>
          <a:stretch>
            <a:fillRect/>
          </a:stretch>
        </p:blipFill>
        <p:spPr>
          <a:xfrm>
            <a:off x="10261166" y="1876475"/>
            <a:ext cx="1639850" cy="6791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g3dc35a4ca61_0_9"/>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Compilers evolution</a:t>
            </a:r>
            <a:endParaRPr/>
          </a:p>
        </p:txBody>
      </p:sp>
      <p:sp>
        <p:nvSpPr>
          <p:cNvPr id="492" name="Google Shape;492;g3dc35a4ca61_0_9"/>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Compilers are constantly evolving…</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a:t>Understanding compilers means understanding how modern software is built, optimized and adapted to run on the hardware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97" name="Shape 497"/>
        <p:cNvGrpSpPr/>
        <p:nvPr/>
      </p:nvGrpSpPr>
      <p:grpSpPr>
        <a:xfrm>
          <a:off x="0" y="0"/>
          <a:ext cx="0" cy="0"/>
          <a:chOff x="0" y="0"/>
          <a:chExt cx="0" cy="0"/>
        </a:xfrm>
      </p:grpSpPr>
      <p:sp>
        <p:nvSpPr>
          <p:cNvPr id="498" name="Google Shape;498;g35904ca52a9_0_110"/>
          <p:cNvSpPr txBox="1"/>
          <p:nvPr>
            <p:ph type="title"/>
          </p:nvPr>
        </p:nvSpPr>
        <p:spPr>
          <a:xfrm>
            <a:off x="571500" y="571501"/>
            <a:ext cx="11010900" cy="952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4000"/>
              <a:buNone/>
            </a:pPr>
            <a:r>
              <a:rPr lang="en-US"/>
              <a:t>Course feedback form</a:t>
            </a:r>
            <a:endParaRPr/>
          </a:p>
        </p:txBody>
      </p:sp>
      <p:sp>
        <p:nvSpPr>
          <p:cNvPr id="499" name="Google Shape;499;g35904ca52a9_0_110"/>
          <p:cNvSpPr txBox="1"/>
          <p:nvPr/>
        </p:nvSpPr>
        <p:spPr>
          <a:xfrm>
            <a:off x="571375" y="1673451"/>
            <a:ext cx="11010900" cy="29118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1000"/>
              </a:spcBef>
              <a:spcAft>
                <a:spcPts val="0"/>
              </a:spcAft>
              <a:buClr>
                <a:srgbClr val="000000"/>
              </a:buClr>
              <a:buSzPts val="2800"/>
              <a:buFont typeface="Arial"/>
              <a:buNone/>
            </a:pPr>
            <a:r>
              <a:rPr lang="en-US" sz="2800" u="sng">
                <a:solidFill>
                  <a:schemeClr val="hlink"/>
                </a:solidFill>
                <a:latin typeface="Calibri"/>
                <a:ea typeface="Calibri"/>
                <a:cs typeface="Calibri"/>
                <a:sym typeface="Calibri"/>
                <a:hlinkClick r:id="rId3"/>
              </a:rPr>
              <a:t>https://forms.gle/taqUuCfNCq4u5Xn9A</a:t>
            </a:r>
            <a:r>
              <a:rPr lang="en-US" sz="2800">
                <a:latin typeface="Calibri"/>
                <a:ea typeface="Calibri"/>
                <a:cs typeface="Calibri"/>
                <a:sym typeface="Calibri"/>
              </a:rPr>
              <a:t> </a:t>
            </a:r>
            <a:endParaRPr b="0" i="0" sz="2800" u="none" cap="none" strike="noStrike">
              <a:solidFill>
                <a:srgbClr val="000000"/>
              </a:solidFill>
              <a:latin typeface="Calibri"/>
              <a:ea typeface="Calibri"/>
              <a:cs typeface="Calibri"/>
              <a:sym typeface="Calibri"/>
            </a:endParaRPr>
          </a:p>
        </p:txBody>
      </p:sp>
      <p:sp>
        <p:nvSpPr>
          <p:cNvPr id="500" name="Google Shape;500;g35904ca52a9_0_110"/>
          <p:cNvSpPr txBox="1"/>
          <p:nvPr/>
        </p:nvSpPr>
        <p:spPr>
          <a:xfrm>
            <a:off x="8510750" y="6397900"/>
            <a:ext cx="33561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25252"/>
                </a:solidFill>
                <a:latin typeface="Arial"/>
                <a:ea typeface="Arial"/>
                <a:cs typeface="Arial"/>
                <a:sym typeface="Arial"/>
              </a:rPr>
              <a:t>Backup: </a:t>
            </a:r>
            <a:r>
              <a:rPr b="0" i="0" lang="en-US" sz="2000" u="sng" cap="none" strike="noStrike">
                <a:solidFill>
                  <a:srgbClr val="0068B5"/>
                </a:solidFill>
                <a:latin typeface="Arial"/>
                <a:ea typeface="Arial"/>
                <a:cs typeface="Arial"/>
                <a:sym typeface="Arial"/>
                <a:hlinkClick r:id="rId4">
                  <a:extLst>
                    <a:ext uri="{A12FA001-AC4F-418D-AE19-62706E023703}">
                      <ahyp:hlinkClr val="tx"/>
                    </a:ext>
                  </a:extLst>
                </a:hlinkClick>
              </a:rPr>
              <a:t>me@gooddoog.ru</a:t>
            </a:r>
            <a:r>
              <a:rPr b="0" i="0" lang="en-US" sz="2000" u="none" cap="none" strike="noStrike">
                <a:solidFill>
                  <a:srgbClr val="525252"/>
                </a:solidFill>
                <a:latin typeface="Arial"/>
                <a:ea typeface="Arial"/>
                <a:cs typeface="Arial"/>
                <a:sym typeface="Arial"/>
              </a:rPr>
              <a:t> </a:t>
            </a:r>
            <a:endParaRPr b="0" i="0" sz="2000" u="none" cap="none" strike="noStrike">
              <a:solidFill>
                <a:srgbClr val="525252"/>
              </a:solidFill>
              <a:latin typeface="Arial"/>
              <a:ea typeface="Arial"/>
              <a:cs typeface="Arial"/>
              <a:sym typeface="Arial"/>
            </a:endParaRPr>
          </a:p>
        </p:txBody>
      </p:sp>
      <p:pic>
        <p:nvPicPr>
          <p:cNvPr id="501" name="Google Shape;501;g35904ca52a9_0_110"/>
          <p:cNvPicPr preferRelativeResize="0"/>
          <p:nvPr/>
        </p:nvPicPr>
        <p:blipFill>
          <a:blip r:embed="rId5">
            <a:alphaModFix/>
          </a:blip>
          <a:stretch>
            <a:fillRect/>
          </a:stretch>
        </p:blipFill>
        <p:spPr>
          <a:xfrm>
            <a:off x="9021175" y="1813776"/>
            <a:ext cx="1979325" cy="196794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g39a6a542a37_0_119"/>
          <p:cNvSpPr txBox="1"/>
          <p:nvPr>
            <p:ph type="title"/>
          </p:nvPr>
        </p:nvSpPr>
        <p:spPr>
          <a:xfrm>
            <a:off x="571500" y="571501"/>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Test</a:t>
            </a:r>
            <a:endParaRPr/>
          </a:p>
        </p:txBody>
      </p:sp>
      <p:sp>
        <p:nvSpPr>
          <p:cNvPr id="508" name="Google Shape;508;g39a6a542a37_0_119"/>
          <p:cNvSpPr txBox="1"/>
          <p:nvPr/>
        </p:nvSpPr>
        <p:spPr>
          <a:xfrm>
            <a:off x="571375" y="1673451"/>
            <a:ext cx="11010900" cy="2911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None/>
            </a:pPr>
            <a:r>
              <a:rPr lang="en-US" sz="2800" u="sng">
                <a:solidFill>
                  <a:schemeClr val="hlink"/>
                </a:solidFill>
                <a:latin typeface="Calibri"/>
                <a:ea typeface="Calibri"/>
                <a:cs typeface="Calibri"/>
                <a:sym typeface="Calibri"/>
                <a:hlinkClick r:id="rId3"/>
              </a:rPr>
              <a:t>https://forms.gle/kQENCeeS6anmf6Lp8</a:t>
            </a:r>
            <a:r>
              <a:rPr lang="en-US" sz="2800">
                <a:latin typeface="Calibri"/>
                <a:ea typeface="Calibri"/>
                <a:cs typeface="Calibri"/>
                <a:sym typeface="Calibri"/>
              </a:rPr>
              <a:t> </a:t>
            </a:r>
            <a:endParaRPr sz="2800">
              <a:solidFill>
                <a:srgbClr val="000000"/>
              </a:solidFill>
              <a:latin typeface="Calibri"/>
              <a:ea typeface="Calibri"/>
              <a:cs typeface="Calibri"/>
              <a:sym typeface="Calibri"/>
            </a:endParaRPr>
          </a:p>
          <a:p>
            <a:pPr indent="0" lvl="0" marL="0" rtl="0" algn="l">
              <a:lnSpc>
                <a:spcPct val="90000"/>
              </a:lnSpc>
              <a:spcBef>
                <a:spcPts val="1000"/>
              </a:spcBef>
              <a:spcAft>
                <a:spcPts val="0"/>
              </a:spcAft>
              <a:buNone/>
            </a:pPr>
            <a:r>
              <a:rPr lang="en-US" sz="2800">
                <a:solidFill>
                  <a:srgbClr val="000000"/>
                </a:solidFill>
                <a:latin typeface="Calibri"/>
                <a:ea typeface="Calibri"/>
                <a:cs typeface="Calibri"/>
                <a:sym typeface="Calibri"/>
              </a:rPr>
              <a:t>Submission time: </a:t>
            </a:r>
            <a:r>
              <a:rPr b="1" lang="en-US" sz="2800">
                <a:solidFill>
                  <a:srgbClr val="000000"/>
                </a:solidFill>
                <a:latin typeface="Calibri"/>
                <a:ea typeface="Calibri"/>
                <a:cs typeface="Calibri"/>
                <a:sym typeface="Calibri"/>
              </a:rPr>
              <a:t>10 minutes</a:t>
            </a:r>
            <a:r>
              <a:rPr lang="en-US" sz="2800">
                <a:solidFill>
                  <a:srgbClr val="000000"/>
                </a:solidFill>
                <a:latin typeface="Calibri"/>
                <a:ea typeface="Calibri"/>
                <a:cs typeface="Calibri"/>
                <a:sym typeface="Calibri"/>
              </a:rPr>
              <a:t> </a:t>
            </a:r>
            <a:endParaRPr sz="2800">
              <a:solidFill>
                <a:srgbClr val="000000"/>
              </a:solidFill>
              <a:latin typeface="Calibri"/>
              <a:ea typeface="Calibri"/>
              <a:cs typeface="Calibri"/>
              <a:sym typeface="Calibri"/>
            </a:endParaRPr>
          </a:p>
        </p:txBody>
      </p:sp>
      <p:sp>
        <p:nvSpPr>
          <p:cNvPr id="509" name="Google Shape;509;g39a6a542a37_0_119"/>
          <p:cNvSpPr txBox="1"/>
          <p:nvPr/>
        </p:nvSpPr>
        <p:spPr>
          <a:xfrm>
            <a:off x="8510750" y="6397900"/>
            <a:ext cx="3356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rgbClr val="525252"/>
                </a:solidFill>
              </a:rPr>
              <a:t>Backup: </a:t>
            </a:r>
            <a:r>
              <a:rPr lang="en-US" sz="2000" u="sng">
                <a:solidFill>
                  <a:srgbClr val="0068B5"/>
                </a:solidFill>
                <a:hlinkClick r:id="rId4">
                  <a:extLst>
                    <a:ext uri="{A12FA001-AC4F-418D-AE19-62706E023703}">
                      <ahyp:hlinkClr val="tx"/>
                    </a:ext>
                  </a:extLst>
                </a:hlinkClick>
              </a:rPr>
              <a:t>me@gooddoog.ru</a:t>
            </a:r>
            <a:r>
              <a:rPr lang="en-US" sz="2000">
                <a:solidFill>
                  <a:srgbClr val="525252"/>
                </a:solidFill>
              </a:rPr>
              <a:t> </a:t>
            </a:r>
            <a:endParaRPr sz="2000">
              <a:solidFill>
                <a:srgbClr val="525252"/>
              </a:solidFill>
            </a:endParaRPr>
          </a:p>
        </p:txBody>
      </p:sp>
      <p:pic>
        <p:nvPicPr>
          <p:cNvPr id="510" name="Google Shape;510;g39a6a542a37_0_119"/>
          <p:cNvPicPr preferRelativeResize="0"/>
          <p:nvPr/>
        </p:nvPicPr>
        <p:blipFill>
          <a:blip r:embed="rId5">
            <a:alphaModFix/>
          </a:blip>
          <a:stretch>
            <a:fillRect/>
          </a:stretch>
        </p:blipFill>
        <p:spPr>
          <a:xfrm>
            <a:off x="8848125" y="1673450"/>
            <a:ext cx="2882300" cy="2801325"/>
          </a:xfrm>
          <a:prstGeom prst="rect">
            <a:avLst/>
          </a:prstGeom>
          <a:noFill/>
          <a:ln>
            <a:noFill/>
          </a:ln>
        </p:spPr>
      </p:pic>
      <p:pic>
        <p:nvPicPr>
          <p:cNvPr id="511" name="Google Shape;511;g39a6a542a37_0_119"/>
          <p:cNvPicPr preferRelativeResize="0"/>
          <p:nvPr/>
        </p:nvPicPr>
        <p:blipFill>
          <a:blip r:embed="rId6">
            <a:alphaModFix/>
          </a:blip>
          <a:stretch>
            <a:fillRect/>
          </a:stretch>
        </p:blipFill>
        <p:spPr>
          <a:xfrm>
            <a:off x="231775" y="2902101"/>
            <a:ext cx="8205948" cy="18627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18"/>
          <p:cNvSpPr txBox="1"/>
          <p:nvPr>
            <p:ph type="title"/>
          </p:nvPr>
        </p:nvSpPr>
        <p:spPr>
          <a:xfrm>
            <a:off x="571500" y="571501"/>
            <a:ext cx="11010901" cy="952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525252"/>
              </a:buClr>
              <a:buSzPts val="4000"/>
              <a:buFont typeface="Calibri"/>
              <a:buNone/>
            </a:pPr>
            <a:r>
              <a:rPr lang="en-US"/>
              <a:t>Extra materials</a:t>
            </a:r>
            <a:endParaRPr/>
          </a:p>
        </p:txBody>
      </p:sp>
      <p:sp>
        <p:nvSpPr>
          <p:cNvPr id="517" name="Google Shape;517;p18"/>
          <p:cNvSpPr txBox="1"/>
          <p:nvPr>
            <p:ph idx="1" type="body"/>
          </p:nvPr>
        </p:nvSpPr>
        <p:spPr>
          <a:xfrm>
            <a:off x="571500" y="1673402"/>
            <a:ext cx="10837852" cy="4584830"/>
          </a:xfrm>
          <a:prstGeom prst="rect">
            <a:avLst/>
          </a:prstGeom>
          <a:noFill/>
          <a:ln>
            <a:noFill/>
          </a:ln>
        </p:spPr>
        <p:txBody>
          <a:bodyPr anchorCtr="0" anchor="t" bIns="45700" lIns="91425" spcFirstLastPara="1" rIns="91425" wrap="square" tIns="45700">
            <a:normAutofit/>
          </a:bodyPr>
          <a:lstStyle/>
          <a:p>
            <a:pPr indent="-330200" lvl="0" marL="457200" rtl="0" algn="l">
              <a:lnSpc>
                <a:spcPct val="90000"/>
              </a:lnSpc>
              <a:spcBef>
                <a:spcPts val="0"/>
              </a:spcBef>
              <a:spcAft>
                <a:spcPts val="0"/>
              </a:spcAft>
              <a:buSzPts val="1600"/>
              <a:buChar char="•"/>
            </a:pPr>
            <a:r>
              <a:rPr lang="en-US" sz="1600"/>
              <a:t>Triton Kernel Compilation Stages: </a:t>
            </a:r>
            <a:r>
              <a:rPr lang="en-US" sz="1600" u="sng">
                <a:solidFill>
                  <a:schemeClr val="hlink"/>
                </a:solidFill>
                <a:hlinkClick r:id="rId3"/>
              </a:rPr>
              <a:t>https://pytorch.org/blog/triton-kernel-compilation-stages/</a:t>
            </a:r>
            <a:r>
              <a:rPr lang="en-US" sz="1600"/>
              <a:t> </a:t>
            </a:r>
            <a:endParaRPr sz="1600"/>
          </a:p>
          <a:p>
            <a:pPr indent="-330200" lvl="0" marL="457200" rtl="0" algn="l">
              <a:lnSpc>
                <a:spcPct val="90000"/>
              </a:lnSpc>
              <a:spcBef>
                <a:spcPts val="0"/>
              </a:spcBef>
              <a:spcAft>
                <a:spcPts val="0"/>
              </a:spcAft>
              <a:buSzPts val="1600"/>
              <a:buChar char="•"/>
            </a:pPr>
            <a:r>
              <a:rPr lang="en-US" sz="1600"/>
              <a:t>CPython’s internals: </a:t>
            </a:r>
            <a:r>
              <a:rPr lang="en-US" sz="1600" u="sng">
                <a:solidFill>
                  <a:schemeClr val="hlink"/>
                </a:solidFill>
                <a:hlinkClick r:id="rId4"/>
              </a:rPr>
              <a:t>https://devguide.python.org/internals/</a:t>
            </a:r>
            <a:endParaRPr sz="1600"/>
          </a:p>
          <a:p>
            <a:pPr indent="0" lvl="0" marL="0" rtl="0" algn="l">
              <a:lnSpc>
                <a:spcPct val="90000"/>
              </a:lnSpc>
              <a:spcBef>
                <a:spcPts val="0"/>
              </a:spcBef>
              <a:spcAft>
                <a:spcPts val="0"/>
              </a:spcAft>
              <a:buNone/>
            </a:pPr>
            <a:r>
              <a:t/>
            </a:r>
            <a:endParaRPr sz="1600"/>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2022-04-12T07:39:01Z</dcterms:created>
  <dc:creator>Александр Баташев</dc:creator>
</cp:coreProperties>
</file>