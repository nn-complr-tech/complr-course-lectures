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y="6858000" cx="12192000"/>
  <p:notesSz cx="6858000" cy="9144000"/>
  <p:embeddedFontLst>
    <p:embeddedFont>
      <p:font typeface="Robot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iKRJgov/gBDyh2PNzfHJqk5yZA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Roboto-bold.fntdata"/><Relationship Id="rId61" Type="http://schemas.openxmlformats.org/officeDocument/2006/relationships/font" Target="fonts/Roboto-regular.fntdata"/><Relationship Id="rId20" Type="http://schemas.openxmlformats.org/officeDocument/2006/relationships/slide" Target="slides/slide16.xml"/><Relationship Id="rId64" Type="http://schemas.openxmlformats.org/officeDocument/2006/relationships/font" Target="fonts/Roboto-boldItalic.fntdata"/><Relationship Id="rId63" Type="http://schemas.openxmlformats.org/officeDocument/2006/relationships/font" Target="fonts/Roboto-italic.fntdata"/><Relationship Id="rId22" Type="http://schemas.openxmlformats.org/officeDocument/2006/relationships/slide" Target="slides/slide18.xml"/><Relationship Id="rId21" Type="http://schemas.openxmlformats.org/officeDocument/2006/relationships/slide" Target="slides/slide17.xml"/><Relationship Id="rId65"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bac36dbd5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7" name="Google Shape;97;g34bac36dbd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cbe5b1166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cbe5b11666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2cbe5b11666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70158642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70158642d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270158642d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be5b11666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cbe5b11666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2cbe5b11666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be5b11666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cbe5b11666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2cbe5b11666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cbe5b11666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cbe5b11666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2cbe5b11666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25b4b9e83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d25b4b9e83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2d25b4b9e83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70158642d6_0_5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70158642d6_0_5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270158642d6_0_5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70158642d6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70158642d6_0_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270158642d6_0_1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70158642d6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70158642d6_0_1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270158642d6_0_1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70158642d6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70158642d6_0_1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270158642d6_0_15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70158642d6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70158642d6_0_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270158642d6_0_1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70158642d6_0_7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70158642d6_0_7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270158642d6_0_7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70158642d6_0_7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70158642d6_0_7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270158642d6_0_7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837e7ff04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d837e7ff04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d837e7ff04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70158642d6_0_7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70158642d6_0_7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270158642d6_0_7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837e7ff04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837e7ff04_0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d837e7ff04_0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70158642d6_0_8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70158642d6_0_8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270158642d6_0_8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70158642d6_0_7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70158642d6_0_7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270158642d6_0_7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d25b4b9e83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d25b4b9e83_0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2d25b4b9e83_0_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d25b4b9e83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d25b4b9e83_0_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2d25b4b9e83_0_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d25b4b9e83_0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d25b4b9e83_0_1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2d25b4b9e83_0_1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d25b4b9e83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d25b4b9e83_0_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2d25b4b9e83_0_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70158642d6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70158642d6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g270158642d6_0_1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70158642d6_0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70158642d6_0_5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270158642d6_0_5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70158642d6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70158642d6_0_9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270158642d6_0_9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70158642d6_0_6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70158642d6_0_6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g270158642d6_0_6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70158642d6_0_7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70158642d6_0_70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g270158642d6_0_70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70158642d6_0_6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70158642d6_0_6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270158642d6_0_69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70158642d6_0_7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70158642d6_0_7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g270158642d6_0_7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70158642d6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70158642d6_0_1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270158642d6_0_1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70158642d6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70158642d6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g270158642d6_0_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70400c0d60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70400c0d60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g270400c0d60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70400c0d60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70400c0d60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270400c0d60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70400c0d60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270400c0d60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g270400c0d60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70400c0d60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70400c0d60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270400c0d60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70400c0d60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70400c0d60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g270400c0d60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d25b4b9e83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d25b4b9e83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g2d25b4b9e83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2d25b4b9e83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2d25b4b9e83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2d25b4b9e83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70158642d6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70158642d6_0_1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g270158642d6_0_1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70158642d6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70158642d6_0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g270158642d6_0_1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d25b4b9e83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d25b4b9e83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g2d25b4b9e83_0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d25b4b9e83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d25b4b9e83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g2d25b4b9e83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6387deeec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f6387deeec_1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g3f6387deeec_1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f6387deeec_1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f6387deeec_1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g3f6387deeec_1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6387deee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f6387deee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g3f6387deee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f6387deeec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f6387deeec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g3f6387deeec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d25b4b9e83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d25b4b9e83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g2d25b4b9e83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70400c0d60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70400c0d60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g270400c0d60_0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70400c0d60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270400c0d60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g270400c0d60_0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d25b4b9e83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2" name="Google Shape;592;g2d25b4b9e83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70158642d6_0_5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70158642d6_0_5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g270158642d6_0_5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70158642d6_0_5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70158642d6_0_5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g270158642d6_0_5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4e787fa399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4e787fa399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g34e787fa399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d837e7ff04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d837e7ff04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g3d837e7ff04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21" name="Shape 21"/>
        <p:cNvGrpSpPr/>
        <p:nvPr/>
      </p:nvGrpSpPr>
      <p:grpSpPr>
        <a:xfrm>
          <a:off x="0" y="0"/>
          <a:ext cx="0" cy="0"/>
          <a:chOff x="0" y="0"/>
          <a:chExt cx="0" cy="0"/>
        </a:xfrm>
      </p:grpSpPr>
      <p:sp>
        <p:nvSpPr>
          <p:cNvPr id="22" name="Google Shape;22;p16"/>
          <p:cNvSpPr txBox="1"/>
          <p:nvPr>
            <p:ph type="title"/>
          </p:nvPr>
        </p:nvSpPr>
        <p:spPr>
          <a:xfrm>
            <a:off x="571370" y="571500"/>
            <a:ext cx="11010816" cy="952499"/>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 type="body"/>
          </p:nvPr>
        </p:nvSpPr>
        <p:spPr>
          <a:xfrm>
            <a:off x="571370" y="1673454"/>
            <a:ext cx="11010900" cy="457494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2 Content Columns">
  <p:cSld name="Title &amp; 2 Content Columns">
    <p:spTree>
      <p:nvGrpSpPr>
        <p:cNvPr id="24" name="Shape 24"/>
        <p:cNvGrpSpPr/>
        <p:nvPr/>
      </p:nvGrpSpPr>
      <p:grpSpPr>
        <a:xfrm>
          <a:off x="0" y="0"/>
          <a:ext cx="0" cy="0"/>
          <a:chOff x="0" y="0"/>
          <a:chExt cx="0" cy="0"/>
        </a:xfrm>
      </p:grpSpPr>
      <p:sp>
        <p:nvSpPr>
          <p:cNvPr id="25" name="Google Shape;25;p17"/>
          <p:cNvSpPr txBox="1"/>
          <p:nvPr>
            <p:ph type="title"/>
          </p:nvPr>
        </p:nvSpPr>
        <p:spPr>
          <a:xfrm>
            <a:off x="571500" y="571501"/>
            <a:ext cx="11010901" cy="9525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525252"/>
              </a:buClr>
              <a:buSzPts val="4000"/>
              <a:buFont typeface="Calibri"/>
              <a:buNone/>
              <a:defRPr sz="4000">
                <a:solidFill>
                  <a:srgbClr val="52525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 type="body"/>
          </p:nvPr>
        </p:nvSpPr>
        <p:spPr>
          <a:xfrm>
            <a:off x="571500" y="1673402"/>
            <a:ext cx="5288525" cy="458483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17"/>
          <p:cNvSpPr txBox="1"/>
          <p:nvPr>
            <p:ph idx="2" type="body"/>
          </p:nvPr>
        </p:nvSpPr>
        <p:spPr>
          <a:xfrm>
            <a:off x="6289113" y="1673402"/>
            <a:ext cx="5288525" cy="458483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28" name="Shape 28"/>
        <p:cNvGrpSpPr/>
        <p:nvPr/>
      </p:nvGrpSpPr>
      <p:grpSpPr>
        <a:xfrm>
          <a:off x="0" y="0"/>
          <a:ext cx="0" cy="0"/>
          <a:chOff x="0" y="0"/>
          <a:chExt cx="0" cy="0"/>
        </a:xfrm>
      </p:grpSpPr>
      <p:sp>
        <p:nvSpPr>
          <p:cNvPr id="29" name="Google Shape;2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4" name="Shape 34"/>
        <p:cNvGrpSpPr/>
        <p:nvPr/>
      </p:nvGrpSpPr>
      <p:grpSpPr>
        <a:xfrm>
          <a:off x="0" y="0"/>
          <a:ext cx="0" cy="0"/>
          <a:chOff x="0" y="0"/>
          <a:chExt cx="0" cy="0"/>
        </a:xfrm>
      </p:grpSpPr>
      <p:sp>
        <p:nvSpPr>
          <p:cNvPr id="35" name="Google Shape;35;p1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40" name="Shape 40"/>
        <p:cNvGrpSpPr/>
        <p:nvPr/>
      </p:nvGrpSpPr>
      <p:grpSpPr>
        <a:xfrm>
          <a:off x="0" y="0"/>
          <a:ext cx="0" cy="0"/>
          <a:chOff x="0" y="0"/>
          <a:chExt cx="0" cy="0"/>
        </a:xfrm>
      </p:grpSpPr>
      <p:sp>
        <p:nvSpPr>
          <p:cNvPr id="41" name="Google Shape;4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7" name="Shape 47"/>
        <p:cNvGrpSpPr/>
        <p:nvPr/>
      </p:nvGrpSpPr>
      <p:grpSpPr>
        <a:xfrm>
          <a:off x="0" y="0"/>
          <a:ext cx="0" cy="0"/>
          <a:chOff x="0" y="0"/>
          <a:chExt cx="0" cy="0"/>
        </a:xfrm>
      </p:grpSpPr>
      <p:sp>
        <p:nvSpPr>
          <p:cNvPr id="48" name="Google Shape;48;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6" name="Shape 56"/>
        <p:cNvGrpSpPr/>
        <p:nvPr/>
      </p:nvGrpSpPr>
      <p:grpSpPr>
        <a:xfrm>
          <a:off x="0" y="0"/>
          <a:ext cx="0" cy="0"/>
          <a:chOff x="0" y="0"/>
          <a:chExt cx="0" cy="0"/>
        </a:xfrm>
      </p:grpSpPr>
      <p:sp>
        <p:nvSpPr>
          <p:cNvPr id="57" name="Google Shape;57;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61" name="Shape 61"/>
        <p:cNvGrpSpPr/>
        <p:nvPr/>
      </p:nvGrpSpPr>
      <p:grpSpPr>
        <a:xfrm>
          <a:off x="0" y="0"/>
          <a:ext cx="0" cy="0"/>
          <a:chOff x="0" y="0"/>
          <a:chExt cx="0" cy="0"/>
        </a:xfrm>
      </p:grpSpPr>
      <p:sp>
        <p:nvSpPr>
          <p:cNvPr id="62" name="Google Shape;6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65" name="Shape 65"/>
        <p:cNvGrpSpPr/>
        <p:nvPr/>
      </p:nvGrpSpPr>
      <p:grpSpPr>
        <a:xfrm>
          <a:off x="0" y="0"/>
          <a:ext cx="0" cy="0"/>
          <a:chOff x="0" y="0"/>
          <a:chExt cx="0" cy="0"/>
        </a:xfrm>
      </p:grpSpPr>
      <p:sp>
        <p:nvSpPr>
          <p:cNvPr id="66" name="Google Shape;66;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72" name="Shape 72"/>
        <p:cNvGrpSpPr/>
        <p:nvPr/>
      </p:nvGrpSpPr>
      <p:grpSpPr>
        <a:xfrm>
          <a:off x="0" y="0"/>
          <a:ext cx="0" cy="0"/>
          <a:chOff x="0" y="0"/>
          <a:chExt cx="0" cy="0"/>
        </a:xfrm>
      </p:grpSpPr>
      <p:sp>
        <p:nvSpPr>
          <p:cNvPr id="73" name="Google Shape;73;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p:nvPr>
            <p:ph idx="2" type="pic"/>
          </p:nvPr>
        </p:nvSpPr>
        <p:spPr>
          <a:xfrm>
            <a:off x="5183188" y="987425"/>
            <a:ext cx="6172200" cy="4873625"/>
          </a:xfrm>
          <a:prstGeom prst="rect">
            <a:avLst/>
          </a:prstGeom>
          <a:noFill/>
          <a:ln>
            <a:noFill/>
          </a:ln>
        </p:spPr>
      </p:sp>
      <p:sp>
        <p:nvSpPr>
          <p:cNvPr id="75" name="Google Shape;75;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9" name="Shape 79"/>
        <p:cNvGrpSpPr/>
        <p:nvPr/>
      </p:nvGrpSpPr>
      <p:grpSpPr>
        <a:xfrm>
          <a:off x="0" y="0"/>
          <a:ext cx="0" cy="0"/>
          <a:chOff x="0" y="0"/>
          <a:chExt cx="0" cy="0"/>
        </a:xfrm>
      </p:grpSpPr>
      <p:sp>
        <p:nvSpPr>
          <p:cNvPr id="80" name="Google Shape;8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85" name="Shape 85"/>
        <p:cNvGrpSpPr/>
        <p:nvPr/>
      </p:nvGrpSpPr>
      <p:grpSpPr>
        <a:xfrm>
          <a:off x="0" y="0"/>
          <a:ext cx="0" cy="0"/>
          <a:chOff x="0" y="0"/>
          <a:chExt cx="0" cy="0"/>
        </a:xfrm>
      </p:grpSpPr>
      <p:sp>
        <p:nvSpPr>
          <p:cNvPr id="86" name="Google Shape;86;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ue A" showMasterSp="0">
  <p:cSld name="Title Blue A">
    <p:bg>
      <p:bgPr>
        <a:solidFill>
          <a:srgbClr val="184A86"/>
        </a:solidFill>
      </p:bgPr>
    </p:bg>
    <p:spTree>
      <p:nvGrpSpPr>
        <p:cNvPr id="91" name="Shape 91"/>
        <p:cNvGrpSpPr/>
        <p:nvPr/>
      </p:nvGrpSpPr>
      <p:grpSpPr>
        <a:xfrm>
          <a:off x="0" y="0"/>
          <a:ext cx="0" cy="0"/>
          <a:chOff x="0" y="0"/>
          <a:chExt cx="0" cy="0"/>
        </a:xfrm>
      </p:grpSpPr>
      <p:sp>
        <p:nvSpPr>
          <p:cNvPr id="92" name="Google Shape;92;g34bac36dbd5_0_91"/>
          <p:cNvSpPr txBox="1"/>
          <p:nvPr>
            <p:ph type="title"/>
          </p:nvPr>
        </p:nvSpPr>
        <p:spPr>
          <a:xfrm>
            <a:off x="1895475" y="3585279"/>
            <a:ext cx="10972800" cy="1091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7500"/>
              <a:buFont typeface="Arial"/>
              <a:buNone/>
              <a:defRPr sz="7500">
                <a:solidFill>
                  <a:schemeClr val="lt1"/>
                </a:solidFill>
              </a:defRPr>
            </a:lvl1pPr>
            <a:lvl2pPr lvl="1" algn="l">
              <a:lnSpc>
                <a:spcPct val="90000"/>
              </a:lnSpc>
              <a:spcBef>
                <a:spcPts val="0"/>
              </a:spcBef>
              <a:spcAft>
                <a:spcPts val="0"/>
              </a:spcAft>
              <a:buClr>
                <a:srgbClr val="535353"/>
              </a:buClr>
              <a:buSzPts val="1800"/>
              <a:buNone/>
              <a:defRPr/>
            </a:lvl2pPr>
            <a:lvl3pPr lvl="2" algn="l">
              <a:lnSpc>
                <a:spcPct val="90000"/>
              </a:lnSpc>
              <a:spcBef>
                <a:spcPts val="0"/>
              </a:spcBef>
              <a:spcAft>
                <a:spcPts val="0"/>
              </a:spcAft>
              <a:buClr>
                <a:srgbClr val="535353"/>
              </a:buClr>
              <a:buSzPts val="1800"/>
              <a:buNone/>
              <a:defRPr/>
            </a:lvl3pPr>
            <a:lvl4pPr lvl="3" algn="l">
              <a:lnSpc>
                <a:spcPct val="90000"/>
              </a:lnSpc>
              <a:spcBef>
                <a:spcPts val="0"/>
              </a:spcBef>
              <a:spcAft>
                <a:spcPts val="0"/>
              </a:spcAft>
              <a:buClr>
                <a:srgbClr val="535353"/>
              </a:buClr>
              <a:buSzPts val="1800"/>
              <a:buNone/>
              <a:defRPr/>
            </a:lvl4pPr>
            <a:lvl5pPr lvl="4" algn="l">
              <a:lnSpc>
                <a:spcPct val="90000"/>
              </a:lnSpc>
              <a:spcBef>
                <a:spcPts val="0"/>
              </a:spcBef>
              <a:spcAft>
                <a:spcPts val="0"/>
              </a:spcAft>
              <a:buClr>
                <a:srgbClr val="535353"/>
              </a:buClr>
              <a:buSzPts val="1800"/>
              <a:buNone/>
              <a:defRPr/>
            </a:lvl5pPr>
            <a:lvl6pPr lvl="5" algn="l">
              <a:lnSpc>
                <a:spcPct val="90000"/>
              </a:lnSpc>
              <a:spcBef>
                <a:spcPts val="0"/>
              </a:spcBef>
              <a:spcAft>
                <a:spcPts val="0"/>
              </a:spcAft>
              <a:buClr>
                <a:srgbClr val="535353"/>
              </a:buClr>
              <a:buSzPts val="1800"/>
              <a:buNone/>
              <a:defRPr/>
            </a:lvl6pPr>
            <a:lvl7pPr lvl="6" algn="l">
              <a:lnSpc>
                <a:spcPct val="90000"/>
              </a:lnSpc>
              <a:spcBef>
                <a:spcPts val="0"/>
              </a:spcBef>
              <a:spcAft>
                <a:spcPts val="0"/>
              </a:spcAft>
              <a:buClr>
                <a:srgbClr val="535353"/>
              </a:buClr>
              <a:buSzPts val="1800"/>
              <a:buNone/>
              <a:defRPr/>
            </a:lvl7pPr>
            <a:lvl8pPr lvl="7" algn="l">
              <a:lnSpc>
                <a:spcPct val="90000"/>
              </a:lnSpc>
              <a:spcBef>
                <a:spcPts val="0"/>
              </a:spcBef>
              <a:spcAft>
                <a:spcPts val="0"/>
              </a:spcAft>
              <a:buClr>
                <a:srgbClr val="535353"/>
              </a:buClr>
              <a:buSzPts val="1800"/>
              <a:buNone/>
              <a:defRPr/>
            </a:lvl8pPr>
            <a:lvl9pPr lvl="8" algn="l">
              <a:lnSpc>
                <a:spcPct val="90000"/>
              </a:lnSpc>
              <a:spcBef>
                <a:spcPts val="0"/>
              </a:spcBef>
              <a:spcAft>
                <a:spcPts val="0"/>
              </a:spcAft>
              <a:buClr>
                <a:srgbClr val="535353"/>
              </a:buClr>
              <a:buSzPts val="1800"/>
              <a:buNone/>
              <a:defRPr/>
            </a:lvl9pPr>
          </a:lstStyle>
          <a:p/>
        </p:txBody>
      </p:sp>
      <p:sp>
        <p:nvSpPr>
          <p:cNvPr id="93" name="Google Shape;93;g34bac36dbd5_0_91"/>
          <p:cNvSpPr txBox="1"/>
          <p:nvPr>
            <p:ph idx="1" type="body"/>
          </p:nvPr>
        </p:nvSpPr>
        <p:spPr>
          <a:xfrm>
            <a:off x="1895475" y="3182315"/>
            <a:ext cx="10296600" cy="3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rgbClr val="00C7FD"/>
              </a:buClr>
              <a:buSzPts val="1600"/>
              <a:buNone/>
              <a:defRPr b="1" i="0" sz="1600">
                <a:solidFill>
                  <a:srgbClr val="00C7FD"/>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
        <p:nvSpPr>
          <p:cNvPr id="94" name="Google Shape;94;g34bac36dbd5_0_91"/>
          <p:cNvSpPr txBox="1"/>
          <p:nvPr>
            <p:ph idx="2" type="body"/>
          </p:nvPr>
        </p:nvSpPr>
        <p:spPr>
          <a:xfrm>
            <a:off x="1908348" y="4778609"/>
            <a:ext cx="10283700" cy="32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lt1"/>
              </a:buClr>
              <a:buSzPts val="1800"/>
              <a:buNone/>
              <a:defRPr b="0" i="0" sz="1800">
                <a:solidFill>
                  <a:schemeClr val="lt1"/>
                </a:solidFill>
                <a:latin typeface="Arial"/>
                <a:ea typeface="Arial"/>
                <a:cs typeface="Arial"/>
                <a:sym typeface="Arial"/>
              </a:defRPr>
            </a:lvl1pPr>
            <a:lvl2pPr indent="-342900" lvl="1" marL="914400" algn="l">
              <a:lnSpc>
                <a:spcPct val="100000"/>
              </a:lnSpc>
              <a:spcBef>
                <a:spcPts val="1200"/>
              </a:spcBef>
              <a:spcAft>
                <a:spcPts val="0"/>
              </a:spcAft>
              <a:buClr>
                <a:schemeClr val="lt2"/>
              </a:buClr>
              <a:buSzPts val="1800"/>
              <a:buChar char="•"/>
              <a:defRPr/>
            </a:lvl2pPr>
            <a:lvl3pPr indent="-342900" lvl="2" marL="1371600" algn="l">
              <a:lnSpc>
                <a:spcPct val="100000"/>
              </a:lnSpc>
              <a:spcBef>
                <a:spcPts val="1200"/>
              </a:spcBef>
              <a:spcAft>
                <a:spcPts val="0"/>
              </a:spcAft>
              <a:buClr>
                <a:schemeClr val="lt2"/>
              </a:buClr>
              <a:buSzPts val="1800"/>
              <a:buChar char="•"/>
              <a:defRPr/>
            </a:lvl3pPr>
            <a:lvl4pPr indent="-342900" lvl="3" marL="1828800" algn="l">
              <a:lnSpc>
                <a:spcPct val="100000"/>
              </a:lnSpc>
              <a:spcBef>
                <a:spcPts val="1200"/>
              </a:spcBef>
              <a:spcAft>
                <a:spcPts val="0"/>
              </a:spcAft>
              <a:buClr>
                <a:schemeClr val="lt2"/>
              </a:buClr>
              <a:buSzPts val="1800"/>
              <a:buChar char="•"/>
              <a:defRPr/>
            </a:lvl4pPr>
            <a:lvl5pPr indent="-342900" lvl="4" marL="2286000" algn="l">
              <a:lnSpc>
                <a:spcPct val="100000"/>
              </a:lnSpc>
              <a:spcBef>
                <a:spcPts val="1200"/>
              </a:spcBef>
              <a:spcAft>
                <a:spcPts val="0"/>
              </a:spcAft>
              <a:buClr>
                <a:schemeClr val="lt2"/>
              </a:buClr>
              <a:buSzPts val="1800"/>
              <a:buChar char="•"/>
              <a:defRPr/>
            </a:lvl5pPr>
            <a:lvl6pPr indent="-228600" lvl="5" marL="2743200" algn="l">
              <a:lnSpc>
                <a:spcPct val="90000"/>
              </a:lnSpc>
              <a:spcBef>
                <a:spcPts val="0"/>
              </a:spcBef>
              <a:spcAft>
                <a:spcPts val="0"/>
              </a:spcAft>
              <a:buClr>
                <a:srgbClr val="5E5E5E"/>
              </a:buClr>
              <a:buSzPts val="1800"/>
              <a:buNone/>
              <a:defRPr/>
            </a:lvl6pPr>
            <a:lvl7pPr indent="-228600" lvl="6" marL="3200400" algn="l">
              <a:lnSpc>
                <a:spcPct val="90000"/>
              </a:lnSpc>
              <a:spcBef>
                <a:spcPts val="0"/>
              </a:spcBef>
              <a:spcAft>
                <a:spcPts val="0"/>
              </a:spcAft>
              <a:buClr>
                <a:srgbClr val="5E5E5E"/>
              </a:buClr>
              <a:buSzPts val="1800"/>
              <a:buNone/>
              <a:defRPr/>
            </a:lvl7pPr>
            <a:lvl8pPr indent="-228600" lvl="7" marL="3657600" algn="l">
              <a:lnSpc>
                <a:spcPct val="90000"/>
              </a:lnSpc>
              <a:spcBef>
                <a:spcPts val="0"/>
              </a:spcBef>
              <a:spcAft>
                <a:spcPts val="0"/>
              </a:spcAft>
              <a:buClr>
                <a:srgbClr val="5E5E5E"/>
              </a:buClr>
              <a:buSzPts val="1800"/>
              <a:buNone/>
              <a:defRPr/>
            </a:lvl8pPr>
            <a:lvl9pPr indent="-228600" lvl="8" marL="4114800" algn="l">
              <a:lnSpc>
                <a:spcPct val="90000"/>
              </a:lnSpc>
              <a:spcBef>
                <a:spcPts val="0"/>
              </a:spcBef>
              <a:spcAft>
                <a:spcPts val="0"/>
              </a:spcAft>
              <a:buClr>
                <a:srgbClr val="5E5E5E"/>
              </a:buClr>
              <a:buSzPts val="18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lastweek.io/notes/MLI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smt-lib.org/" TargetMode="External"/><Relationship Id="rId4" Type="http://schemas.openxmlformats.org/officeDocument/2006/relationships/hyperlink" Target="https://github.com/llvm/llvm-project/tree/main/mlir/lib/Target" TargetMode="External"/><Relationship Id="rId5" Type="http://schemas.openxmlformats.org/officeDocument/2006/relationships/image" Target="../media/image2.png"/><Relationship Id="rId6" Type="http://schemas.openxmlformats.org/officeDocument/2006/relationships/hyperlink" Target="https://godbolt.org/z/86YGo1o5E" TargetMode="External"/><Relationship Id="rId7"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godbolt.org/z/frz53j4o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hyperlink" Target="https://godbolt.org/z/75a8xTrGx" TargetMode="External"/><Relationship Id="rId6" Type="http://schemas.openxmlformats.org/officeDocument/2006/relationships/hyperlink" Target="https://godbolt.org/z/z9s9q1x1P"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hyperlink" Target="https://llvm.org/devmtg/2023-10/slides/techtalks/Zinenko-MLIRisNotAnMLCompiler.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hyperlink" Target="https://llvm.org/devmtg/2023-10/slides/techtalks/Zinenko-MLIRisNotAnMLCompiler.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mlir.llvm.org/docs/Pass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hyperlink" Target="http://lastweek.io/notes/MLI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github.com/llvm/llvm-project/blob/b6d0e74fb7d06b7f5693b5ba4078686617c91a66/mlir/test/Conversion/TosaToLinalg/tosa-to-linalg-named.mlir#L6" TargetMode="External"/><Relationship Id="rId4" Type="http://schemas.openxmlformats.org/officeDocument/2006/relationships/image" Target="../media/image2.png"/><Relationship Id="rId5" Type="http://schemas.openxmlformats.org/officeDocument/2006/relationships/hyperlink" Target="https://godbolt.org/z/K5aGoxTb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github.com/llvm/llvm-project/blob/b6d0e74fb7d06b7f5693b5ba4078686617c91a66/mlir/test/Conversion/TosaToLinalg/tosa-to-linalg-named.mlir#L6" TargetMode="External"/><Relationship Id="rId4" Type="http://schemas.openxmlformats.org/officeDocument/2006/relationships/image" Target="../media/image2.png"/><Relationship Id="rId5" Type="http://schemas.openxmlformats.org/officeDocument/2006/relationships/hyperlink" Target="https://godbolt.org/z/5PnTbWbj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mlir.llvm.org/docs/Dialects/Linalg/" TargetMode="External"/><Relationship Id="rId4" Type="http://schemas.openxmlformats.org/officeDocument/2006/relationships/hyperlink" Target="https://mlir.llvm.org/docs/Rationale/RationaleLinalgDialec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github.com/llvm/llvm-project/blob/76aa042dde6ba9ba57c680950f5818259ee02690/mlir/test/Dialect/Linalg/affine.mlir#L6" TargetMode="External"/><Relationship Id="rId4" Type="http://schemas.openxmlformats.org/officeDocument/2006/relationships/image" Target="../media/image2.png"/><Relationship Id="rId5" Type="http://schemas.openxmlformats.org/officeDocument/2006/relationships/hyperlink" Target="https://godbolt.org/z/b3jjfhx6j"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hyperlink" Target="https://godbolt.org/z/T3q1qzxqc"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hyperlink" Target="https://godbolt.org/z/Yd47xj6df" TargetMode="External"/><Relationship Id="rId5" Type="http://schemas.openxmlformats.org/officeDocument/2006/relationships/hyperlink" Target="https://sunfishcode.github.io/blog/2018/10/22/Canonicalization.html" TargetMode="External"/><Relationship Id="rId6" Type="http://schemas.openxmlformats.org/officeDocument/2006/relationships/hyperlink" Target="https://mlir.llvm.org/docs/Canonicalization/"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8.png"/><Relationship Id="rId4" Type="http://schemas.openxmlformats.org/officeDocument/2006/relationships/image" Target="../media/image10.png"/><Relationship Id="rId5" Type="http://schemas.openxmlformats.org/officeDocument/2006/relationships/hyperlink" Target="https://github.com/llvm/llvm-project/blob/7a484d3a1f630ba9ce7b22e744818be974971470/mlir/include/mlir/Dialect/Arith/IR/ArithOps.td#L244" TargetMode="External"/><Relationship Id="rId6" Type="http://schemas.openxmlformats.org/officeDocument/2006/relationships/hyperlink" Target="https://github.com/llvm/llvm-project/blob/02dfbbff1937b3e2c1ee1cd4a5ad0a9f03ee23ea/mlir/lib/Dialect/Arith/IR/ArithOps.cpp#L319-L323" TargetMode="External"/><Relationship Id="rId7" Type="http://schemas.openxmlformats.org/officeDocument/2006/relationships/image" Target="../media/image9.png"/><Relationship Id="rId8" Type="http://schemas.openxmlformats.org/officeDocument/2006/relationships/hyperlink" Target="https://github.com/llvm/llvm-project/blob/9baf14f77a632e6863c599228213620e0362c321/mlir/lib/Dialect/Arith/IR/ArithCanonicalization.td#L73-L78"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hyperlink" Target="https://github.com/llvm/llvm-project/blob/02dfbbff1937b3e2c1ee1cd4a5ad0a9f03ee23ea/mlir/lib/Dialect/Arith/IR/ArithCanonicalization.td#L35-L93" TargetMode="External"/><Relationship Id="rId5" Type="http://schemas.openxmlformats.org/officeDocument/2006/relationships/image" Target="../media/image26.png"/><Relationship Id="rId6" Type="http://schemas.openxmlformats.org/officeDocument/2006/relationships/hyperlink" Target="https://github.com/llvm/llvm-project/blob/02dfbbff1937b3e2c1ee1cd4a5ad0a9f03ee23ea/mlir/lib/Dialect/Tosa/IR/TosaCanonicalizations.cpp#L67C15-L7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mlir.llvm.org/docs/PatternRewriter/"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hyperlink" Target="https://medium.com/sniper-ai/mlir-tutorial-create-your-custom-dialect-lowering-to-llvm-ir-dialect-system-1-1f125a6a3008"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github.com/llvm/llvm-project/tree/main/mlir/include/mlir/Dialect/Math" TargetMode="Externa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mlir.llvm.org/docs/DefiningDialects/AttributesAndTypes/" TargetMode="External"/><Relationship Id="rId4" Type="http://schemas.openxmlformats.org/officeDocument/2006/relationships/hyperlink" Target="https://github.com/llvm/llvm-project/blob/main/mlir/include/mlir/Dialect/Arith/IR/ArithBase.td" TargetMode="External"/><Relationship Id="rId5" Type="http://schemas.openxmlformats.org/officeDocument/2006/relationships/hyperlink" Target="https://mlir.llvm.org/docs/Dialects/ArithOps/" TargetMode="External"/><Relationship Id="rId6" Type="http://schemas.openxmlformats.org/officeDocument/2006/relationships/image" Target="../media/image8.png"/><Relationship Id="rId7"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mlir.llvm.org/docs/DefiningDialects/Operations/" TargetMode="External"/><Relationship Id="rId4" Type="http://schemas.openxmlformats.org/officeDocument/2006/relationships/image" Target="../media/image14.png"/><Relationship Id="rId5"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19.png"/><Relationship Id="rId7" Type="http://schemas.openxmlformats.org/officeDocument/2006/relationships/hyperlink" Target="https://github.com/llvm/llvm-project/blob/76aa042dde6ba9ba57c680950f5818259ee02690/mlir/include/mlir/Dialect/Arith/IR/ArithOps.td#L209"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mlir.llvm.org/docs/PassManagemen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hyperlink" Target="https://mlir.llvm.org/docs/Passes/#-loop-invariant-code-motion"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hyperlink" Target="https://github.com/llvm/llvm-project/blob/76aa042dde6ba9ba57c680950f5818259ee02690/mlir/include/mlir/Transforms/Passes.td#L336-L339" TargetMode="External"/><Relationship Id="rId5" Type="http://schemas.openxmlformats.org/officeDocument/2006/relationships/hyperlink" Target="https://github.com/llvm/llvm-project/blob/76aa042dde6ba9ba57c680950f5818259ee02690/mlir/include/mlir/Transforms/Passes.h#L78-L80" TargetMode="External"/><Relationship Id="rId6"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9.png"/><Relationship Id="rId4" Type="http://schemas.openxmlformats.org/officeDocument/2006/relationships/hyperlink" Target="https://github.com/llvm/llvm-project/blob/76aa042dde6ba9ba57c680950f5818259ee02690/mlir/test/lib/Dialect/Linalg/TestLinalgFusionTransforms.cpp#L91C22-L91C28"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0.png"/><Relationship Id="rId4" Type="http://schemas.openxmlformats.org/officeDocument/2006/relationships/image" Target="../media/image22.png"/><Relationship Id="rId5"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github.com/llvm/llvm-project/blob/ffc9a30938ae5c42c03f9c563db1465876b4def6/mlir/lib/Transforms/TopologicalSort.cpp#L26" TargetMode="External"/><Relationship Id="rId4" Type="http://schemas.openxmlformats.org/officeDocument/2006/relationships/image" Target="../media/image34.png"/><Relationship Id="rId5" Type="http://schemas.openxmlformats.org/officeDocument/2006/relationships/image" Target="../media/image30.png"/><Relationship Id="rId6" Type="http://schemas.openxmlformats.org/officeDocument/2006/relationships/hyperlink" Target="https://github.com/llvm/llvm-project/blob/ffc9a30938ae5c42c03f9c563db1465876b4def6/mlir/lib/Analysis/Liveness.cpp#L70" TargetMode="External"/><Relationship Id="rId7" Type="http://schemas.openxmlformats.org/officeDocument/2006/relationships/image" Target="../media/image20.png"/><Relationship Id="rId8" Type="http://schemas.openxmlformats.org/officeDocument/2006/relationships/hyperlink" Target="https://github.com/llvm/llvm-project/blob/ffc9a30938ae5c42c03f9c563db1465876b4def6/mlir/test/lib/Dialect/SCF/TestLoopUnrolling.cpp#L57"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mlir.llvm.org/docs/CAPI/" TargetMode="External"/><Relationship Id="rId4" Type="http://schemas.openxmlformats.org/officeDocument/2006/relationships/hyperlink" Target="https://mlir.llvm.org/docs/Bindings/Python/" TargetMode="External"/><Relationship Id="rId5" Type="http://schemas.openxmlformats.org/officeDocument/2006/relationships/hyperlink" Target="https://github.com/raviqqe/melior"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7.png"/><Relationship Id="rId4" Type="http://schemas.openxmlformats.org/officeDocument/2006/relationships/image" Target="../media/image35.png"/><Relationship Id="rId5" Type="http://schemas.openxmlformats.org/officeDocument/2006/relationships/hyperlink" Target="https://mlir.llvm.org/docs/Bindings/Python/"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s://github.com/Xilinx/mlir-aie/blob/b8d512fa4368f5f9c77b76835323990e73cc099c/python/compiler/util.py#L414" TargetMode="External"/><Relationship Id="rId4" Type="http://schemas.openxmlformats.org/officeDocument/2006/relationships/hyperlink" Target="https://github.com/ingomueller-net/xdsl/blob/e67c2e00351cb7073dfa91a7e0e8e6e65bc60632/src/xdsl/mlir_converter.py#L129" TargetMode="External"/><Relationship Id="rId5" Type="http://schemas.openxmlformats.org/officeDocument/2006/relationships/hyperlink" Target="https://github.com/microsoft/triton-shared/blob/e771c1e604c9c8883e50ed8f0e13c647156aa7c3/backend/compiler.py#L172"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docs.python.org/3/extending/extending.html" TargetMode="External"/><Relationship Id="rId4" Type="http://schemas.openxmlformats.org/officeDocument/2006/relationships/hyperlink" Target="https://pybind11.readthedocs.io/en/stable/basics.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mlir.llvm.org/docs/Tools/mlir-reduce/" TargetMode="External"/><Relationship Id="rId4" Type="http://schemas.openxmlformats.org/officeDocument/2006/relationships/hyperlink" Target="https://mlir.llvm.org/getting_started/Debugging/"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mlir.llvm.org/"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mlir.llvm.org/docs/PassManagement/"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hyperlink" Target="https://forms.gle/1W5MqDQNfpvq35sUA" TargetMode="External"/><Relationship Id="rId4" Type="http://schemas.openxmlformats.org/officeDocument/2006/relationships/hyperlink" Target="mailto:me@gooddoog.ru" TargetMode="External"/><Relationship Id="rId5" Type="http://schemas.openxmlformats.org/officeDocument/2006/relationships/image" Target="../media/image25.png"/><Relationship Id="rId6"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s://forms.gle/HbN5qJU1sViVkSSP6" TargetMode="External"/><Relationship Id="rId4" Type="http://schemas.openxmlformats.org/officeDocument/2006/relationships/hyperlink" Target="mailto:me@gooddoog.ru" TargetMode="External"/><Relationship Id="rId5" Type="http://schemas.openxmlformats.org/officeDocument/2006/relationships/image" Target="../media/image24.png"/><Relationship Id="rId6"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hyperlink" Target="https://forms.gle/HBhDfT4prS4o5yicA" TargetMode="External"/><Relationship Id="rId4" Type="http://schemas.openxmlformats.org/officeDocument/2006/relationships/hyperlink" Target="mailto:me@gooddoog.ru" TargetMode="External"/><Relationship Id="rId5" Type="http://schemas.openxmlformats.org/officeDocument/2006/relationships/image" Target="../media/image27.png"/><Relationship Id="rId6" Type="http://schemas.openxmlformats.org/officeDocument/2006/relationships/image" Target="../media/image33.png"/></Relationships>
</file>

<file path=ppt/slides/_rels/slide56.xml.rels><?xml version="1.0" encoding="UTF-8" standalone="yes"?><Relationships xmlns="http://schemas.openxmlformats.org/package/2006/relationships"><Relationship Id="rId10" Type="http://schemas.openxmlformats.org/officeDocument/2006/relationships/hyperlink" Target="https://www.eecs.harvard.edu/~htk/publication/2019-mapl-tillet-kung-cox.pdf" TargetMode="External"/><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www.youtube.com/playlist?list=PLlONLmJCfHTo9WYfsoQvwjsa5ZB6hjOG5" TargetMode="External"/><Relationship Id="rId4" Type="http://schemas.openxmlformats.org/officeDocument/2006/relationships/hyperlink" Target="https://www.youtube.com/watch?v=qzljG6DKgic" TargetMode="External"/><Relationship Id="rId9" Type="http://schemas.openxmlformats.org/officeDocument/2006/relationships/hyperlink" Target="https://arxiv.org/pdf/2002.11054" TargetMode="External"/><Relationship Id="rId5" Type="http://schemas.openxmlformats.org/officeDocument/2006/relationships/hyperlink" Target="https://www.youtube.com/watch?v=lXAp6ZAWyBY" TargetMode="External"/><Relationship Id="rId6" Type="http://schemas.openxmlformats.org/officeDocument/2006/relationships/hyperlink" Target="https://www.youtube.com/watch?v=Esw84hH1Ed0" TargetMode="External"/><Relationship Id="rId7" Type="http://schemas.openxmlformats.org/officeDocument/2006/relationships/hyperlink" Target="https://www.lei.chat/posts/mlir-codegen-dialects-for-machine-learning-compilers/" TargetMode="External"/><Relationship Id="rId8" Type="http://schemas.openxmlformats.org/officeDocument/2006/relationships/hyperlink" Target="https://rcs.uwaterloo.ca/~ali/cs842-s23/papers/mlir.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4bac36dbd5_0_0"/>
          <p:cNvSpPr txBox="1"/>
          <p:nvPr>
            <p:ph type="title"/>
          </p:nvPr>
        </p:nvSpPr>
        <p:spPr>
          <a:xfrm>
            <a:off x="1895475" y="3585275"/>
            <a:ext cx="6192300" cy="1091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7500"/>
              <a:buFont typeface="Arial"/>
              <a:buNone/>
            </a:pPr>
            <a:r>
              <a:rPr lang="en-US"/>
              <a:t>Compilers 101</a:t>
            </a:r>
            <a:endParaRPr/>
          </a:p>
        </p:txBody>
      </p:sp>
      <p:sp>
        <p:nvSpPr>
          <p:cNvPr id="100" name="Google Shape;100;g34bac36dbd5_0_0"/>
          <p:cNvSpPr txBox="1"/>
          <p:nvPr>
            <p:ph idx="2" type="body"/>
          </p:nvPr>
        </p:nvSpPr>
        <p:spPr>
          <a:xfrm>
            <a:off x="1908350" y="4778600"/>
            <a:ext cx="8226000" cy="3267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1800"/>
              <a:buNone/>
            </a:pPr>
            <a:r>
              <a:rPr lang="en-US"/>
              <a:t>MLIR - Part 2</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2cbe5b11666_0_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Previously</a:t>
            </a:r>
            <a:endParaRPr/>
          </a:p>
        </p:txBody>
      </p:sp>
      <p:sp>
        <p:nvSpPr>
          <p:cNvPr id="107" name="Google Shape;107;g2cbe5b11666_0_6"/>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MLIR overview</a:t>
            </a:r>
            <a:endParaRPr/>
          </a:p>
          <a:p>
            <a:pPr indent="-342900" lvl="0" marL="457200" rtl="0" algn="l">
              <a:spcBef>
                <a:spcPts val="0"/>
              </a:spcBef>
              <a:spcAft>
                <a:spcPts val="0"/>
              </a:spcAft>
              <a:buSzPts val="1800"/>
              <a:buChar char="•"/>
            </a:pPr>
            <a:r>
              <a:rPr lang="en-US"/>
              <a:t>MLIR practical applications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270158642d6_0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a:t>
            </a:r>
            <a:endParaRPr/>
          </a:p>
        </p:txBody>
      </p:sp>
      <p:pic>
        <p:nvPicPr>
          <p:cNvPr id="114" name="Google Shape;114;g270158642d6_0_0"/>
          <p:cNvPicPr preferRelativeResize="0"/>
          <p:nvPr/>
        </p:nvPicPr>
        <p:blipFill>
          <a:blip r:embed="rId3">
            <a:alphaModFix/>
          </a:blip>
          <a:stretch>
            <a:fillRect/>
          </a:stretch>
        </p:blipFill>
        <p:spPr>
          <a:xfrm>
            <a:off x="0" y="1408850"/>
            <a:ext cx="12191999" cy="4486063"/>
          </a:xfrm>
          <a:prstGeom prst="rect">
            <a:avLst/>
          </a:prstGeom>
          <a:noFill/>
          <a:ln>
            <a:noFill/>
          </a:ln>
        </p:spPr>
      </p:pic>
      <p:sp>
        <p:nvSpPr>
          <p:cNvPr id="115" name="Google Shape;115;g270158642d6_0_0"/>
          <p:cNvSpPr txBox="1"/>
          <p:nvPr/>
        </p:nvSpPr>
        <p:spPr>
          <a:xfrm>
            <a:off x="4576813" y="5894925"/>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u="sng">
                <a:solidFill>
                  <a:schemeClr val="hlink"/>
                </a:solidFill>
                <a:hlinkClick r:id="rId4"/>
              </a:rPr>
              <a:t>http://lastweek.io/notes/MLIR/</a:t>
            </a: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cbe5b11666_0_12"/>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Today</a:t>
            </a:r>
            <a:endParaRPr/>
          </a:p>
        </p:txBody>
      </p:sp>
      <p:sp>
        <p:nvSpPr>
          <p:cNvPr id="122" name="Google Shape;122;g2cbe5b11666_0_12"/>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Available transformations and optimizations overview</a:t>
            </a:r>
            <a:endParaRPr/>
          </a:p>
          <a:p>
            <a:pPr indent="-342900" lvl="0" marL="457200" rtl="0" algn="l">
              <a:spcBef>
                <a:spcPts val="0"/>
              </a:spcBef>
              <a:spcAft>
                <a:spcPts val="0"/>
              </a:spcAft>
              <a:buSzPts val="1800"/>
              <a:buChar char="•"/>
            </a:pPr>
            <a:r>
              <a:rPr lang="en-US"/>
              <a:t>Custom dialects</a:t>
            </a:r>
            <a:endParaRPr/>
          </a:p>
          <a:p>
            <a:pPr indent="-342900" lvl="0" marL="457200" rtl="0" algn="l">
              <a:spcBef>
                <a:spcPts val="0"/>
              </a:spcBef>
              <a:spcAft>
                <a:spcPts val="0"/>
              </a:spcAft>
              <a:buSzPts val="1800"/>
              <a:buChar char="•"/>
            </a:pPr>
            <a:r>
              <a:rPr lang="en-US"/>
              <a:t>Writing a pass</a:t>
            </a:r>
            <a:endParaRPr/>
          </a:p>
          <a:p>
            <a:pPr indent="-342900" lvl="0" marL="457200" rtl="0" algn="l">
              <a:spcBef>
                <a:spcPts val="0"/>
              </a:spcBef>
              <a:spcAft>
                <a:spcPts val="0"/>
              </a:spcAft>
              <a:buSzPts val="1800"/>
              <a:buChar char="•"/>
            </a:pPr>
            <a:r>
              <a:rPr lang="en-US"/>
              <a:t>MLIR connections with other languages</a:t>
            </a:r>
            <a:endParaRPr/>
          </a:p>
          <a:p>
            <a:pPr indent="-342900" lvl="0" marL="457200" rtl="0" algn="l">
              <a:spcBef>
                <a:spcPts val="0"/>
              </a:spcBef>
              <a:spcAft>
                <a:spcPts val="0"/>
              </a:spcAft>
              <a:buSzPts val="1800"/>
              <a:buChar char="•"/>
            </a:pPr>
            <a:r>
              <a:rPr lang="en-US"/>
              <a:t>Python bindings overview</a:t>
            </a:r>
            <a:endParaRPr/>
          </a:p>
          <a:p>
            <a:pPr indent="-342900" lvl="0" marL="457200" rtl="0" algn="l">
              <a:spcBef>
                <a:spcPts val="0"/>
              </a:spcBef>
              <a:spcAft>
                <a:spcPts val="0"/>
              </a:spcAft>
              <a:buSzPts val="1800"/>
              <a:buChar char="•"/>
            </a:pPr>
            <a:r>
              <a:rPr lang="en-US"/>
              <a:t>Debugging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cbe5b11666_0_18"/>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mlir-translate</a:t>
            </a:r>
            <a:endParaRPr/>
          </a:p>
        </p:txBody>
      </p:sp>
      <p:sp>
        <p:nvSpPr>
          <p:cNvPr id="129" name="Google Shape;129;g2cbe5b11666_0_18"/>
          <p:cNvSpPr txBox="1"/>
          <p:nvPr>
            <p:ph idx="1" type="body"/>
          </p:nvPr>
        </p:nvSpPr>
        <p:spPr>
          <a:xfrm>
            <a:off x="571375" y="1438300"/>
            <a:ext cx="11010900" cy="51837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Translate MLIR to …</a:t>
            </a:r>
            <a:endParaRPr/>
          </a:p>
          <a:p>
            <a:pPr indent="-342900" lvl="1" marL="914400" rtl="0" algn="l">
              <a:spcBef>
                <a:spcPts val="0"/>
              </a:spcBef>
              <a:spcAft>
                <a:spcPts val="0"/>
              </a:spcAft>
              <a:buSzPts val="1800"/>
              <a:buChar char="•"/>
            </a:pPr>
            <a:r>
              <a:rPr lang="en-US"/>
              <a:t>LLVM IR</a:t>
            </a:r>
            <a:endParaRPr/>
          </a:p>
          <a:p>
            <a:pPr indent="-342900" lvl="1" marL="914400" rtl="0" algn="l">
              <a:spcBef>
                <a:spcPts val="0"/>
              </a:spcBef>
              <a:spcAft>
                <a:spcPts val="0"/>
              </a:spcAft>
              <a:buSzPts val="1800"/>
              <a:buChar char="•"/>
            </a:pPr>
            <a:r>
              <a:rPr lang="en-US"/>
              <a:t>SPIR-V</a:t>
            </a:r>
            <a:endParaRPr/>
          </a:p>
          <a:p>
            <a:pPr indent="-342900" lvl="1" marL="914400" rtl="0" algn="l">
              <a:spcBef>
                <a:spcPts val="0"/>
              </a:spcBef>
              <a:spcAft>
                <a:spcPts val="0"/>
              </a:spcAft>
              <a:buSzPts val="1800"/>
              <a:buChar char="•"/>
            </a:pPr>
            <a:r>
              <a:rPr lang="en-US"/>
              <a:t>C++</a:t>
            </a:r>
            <a:endParaRPr/>
          </a:p>
          <a:p>
            <a:pPr indent="-342900" lvl="1" marL="914400" rtl="0" algn="l">
              <a:spcBef>
                <a:spcPts val="0"/>
              </a:spcBef>
              <a:spcAft>
                <a:spcPts val="0"/>
              </a:spcAft>
              <a:buSzPts val="1800"/>
              <a:buChar char="•"/>
            </a:pPr>
            <a:r>
              <a:rPr lang="en-US" u="sng">
                <a:solidFill>
                  <a:schemeClr val="hlink"/>
                </a:solidFill>
                <a:hlinkClick r:id="rId3"/>
              </a:rPr>
              <a:t>SMT-LIB</a:t>
            </a:r>
            <a:endParaRPr/>
          </a:p>
          <a:p>
            <a:pPr indent="-342900" lvl="0" marL="457200" rtl="0" algn="l">
              <a:spcBef>
                <a:spcPts val="0"/>
              </a:spcBef>
              <a:spcAft>
                <a:spcPts val="0"/>
              </a:spcAft>
              <a:buSzPts val="1800"/>
              <a:buChar char="•"/>
            </a:pPr>
            <a:r>
              <a:rPr lang="en-US"/>
              <a:t>Translate … to MLIR</a:t>
            </a:r>
            <a:endParaRPr/>
          </a:p>
          <a:p>
            <a:pPr indent="-342900" lvl="1" marL="914400" rtl="0" algn="l">
              <a:spcBef>
                <a:spcPts val="0"/>
              </a:spcBef>
              <a:spcAft>
                <a:spcPts val="0"/>
              </a:spcAft>
              <a:buSzPts val="1800"/>
              <a:buChar char="•"/>
            </a:pPr>
            <a:r>
              <a:rPr lang="en-US"/>
              <a:t>LLVM IR</a:t>
            </a:r>
            <a:endParaRPr/>
          </a:p>
          <a:p>
            <a:pPr indent="-342900" lvl="1" marL="914400" rtl="0" algn="l">
              <a:spcBef>
                <a:spcPts val="0"/>
              </a:spcBef>
              <a:spcAft>
                <a:spcPts val="0"/>
              </a:spcAft>
              <a:buSzPts val="1800"/>
              <a:buChar char="•"/>
            </a:pPr>
            <a:r>
              <a:rPr lang="en-US"/>
              <a:t>SPIR-V</a:t>
            </a:r>
            <a:endParaRPr/>
          </a:p>
          <a:p>
            <a:pPr indent="-342900" lvl="1" marL="914400" rtl="0" algn="l">
              <a:spcBef>
                <a:spcPts val="0"/>
              </a:spcBef>
              <a:spcAft>
                <a:spcPts val="0"/>
              </a:spcAft>
              <a:buSzPts val="1800"/>
              <a:buChar char="•"/>
            </a:pPr>
            <a:r>
              <a:rPr lang="en-US"/>
              <a:t>WebAssembly</a:t>
            </a:r>
            <a:endParaRPr/>
          </a:p>
          <a:p>
            <a:pPr indent="0" lvl="0" marL="0" rtl="0" algn="l">
              <a:spcBef>
                <a:spcPts val="1000"/>
              </a:spcBef>
              <a:spcAft>
                <a:spcPts val="0"/>
              </a:spcAft>
              <a:buNone/>
            </a:pPr>
            <a:r>
              <a:rPr lang="en-US"/>
              <a:t>MLIR &lt;-&gt; target representation</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List of targets: </a:t>
            </a:r>
            <a:r>
              <a:rPr lang="en-US" u="sng">
                <a:solidFill>
                  <a:schemeClr val="hlink"/>
                </a:solidFill>
                <a:hlinkClick r:id="rId4"/>
              </a:rPr>
              <a:t>https://github.com/llvm/llvm-project/tree/main/mlir/lib/Target</a:t>
            </a:r>
            <a:endParaRPr/>
          </a:p>
        </p:txBody>
      </p:sp>
      <p:grpSp>
        <p:nvGrpSpPr>
          <p:cNvPr id="130" name="Google Shape;130;g2cbe5b11666_0_18"/>
          <p:cNvGrpSpPr/>
          <p:nvPr/>
        </p:nvGrpSpPr>
        <p:grpSpPr>
          <a:xfrm>
            <a:off x="6437350" y="1078738"/>
            <a:ext cx="5188500" cy="445275"/>
            <a:chOff x="289925" y="5611838"/>
            <a:chExt cx="5188500" cy="445275"/>
          </a:xfrm>
        </p:grpSpPr>
        <p:sp>
          <p:nvSpPr>
            <p:cNvPr id="131" name="Google Shape;131;g2cbe5b11666_0_18"/>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132" name="Google Shape;132;g2cbe5b11666_0_18"/>
            <p:cNvPicPr preferRelativeResize="0"/>
            <p:nvPr/>
          </p:nvPicPr>
          <p:blipFill>
            <a:blip r:embed="rId5">
              <a:alphaModFix/>
            </a:blip>
            <a:stretch>
              <a:fillRect/>
            </a:stretch>
          </p:blipFill>
          <p:spPr>
            <a:xfrm>
              <a:off x="289925" y="5611838"/>
              <a:ext cx="445275" cy="445275"/>
            </a:xfrm>
            <a:prstGeom prst="rect">
              <a:avLst/>
            </a:prstGeom>
            <a:noFill/>
            <a:ln>
              <a:noFill/>
            </a:ln>
          </p:spPr>
        </p:pic>
        <p:sp>
          <p:nvSpPr>
            <p:cNvPr id="133" name="Google Shape;133;g2cbe5b11666_0_18"/>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rgbClr val="0563C1"/>
                  </a:solidFill>
                  <a:hlinkClick r:id="rId6">
                    <a:extLst>
                      <a:ext uri="{A12FA001-AC4F-418D-AE19-62706E023703}">
                        <ahyp:hlinkClr val="tx"/>
                      </a:ext>
                    </a:extLst>
                  </a:hlinkClick>
                </a:rPr>
                <a:t>https://godbolt.org/z/86YGo1o5E</a:t>
              </a:r>
              <a:r>
                <a:rPr lang="en-US" sz="2400"/>
                <a:t> </a:t>
              </a:r>
              <a:endParaRPr sz="2400"/>
            </a:p>
          </p:txBody>
        </p:sp>
      </p:grpSp>
      <p:pic>
        <p:nvPicPr>
          <p:cNvPr id="134" name="Google Shape;134;g2cbe5b11666_0_18"/>
          <p:cNvPicPr preferRelativeResize="0"/>
          <p:nvPr/>
        </p:nvPicPr>
        <p:blipFill>
          <a:blip r:embed="rId7">
            <a:alphaModFix/>
          </a:blip>
          <a:stretch>
            <a:fillRect/>
          </a:stretch>
        </p:blipFill>
        <p:spPr>
          <a:xfrm>
            <a:off x="4679675" y="1612700"/>
            <a:ext cx="7512326" cy="2066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2cbe5b11666_0_3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mlir-opt</a:t>
            </a:r>
            <a:endParaRPr/>
          </a:p>
        </p:txBody>
      </p:sp>
      <p:sp>
        <p:nvSpPr>
          <p:cNvPr id="141" name="Google Shape;141;g2cbe5b11666_0_30"/>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R</a:t>
            </a:r>
            <a:r>
              <a:rPr lang="en-US"/>
              <a:t>esponsible for optimizing MLIR code</a:t>
            </a:r>
            <a:endParaRPr/>
          </a:p>
          <a:p>
            <a:pPr indent="0" lvl="0" marL="0" rtl="0" algn="l">
              <a:spcBef>
                <a:spcPts val="1000"/>
              </a:spcBef>
              <a:spcAft>
                <a:spcPts val="0"/>
              </a:spcAft>
              <a:buNone/>
            </a:pPr>
            <a:r>
              <a:rPr lang="en-US"/>
              <a:t>Allows to run passes on MLIR</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Input: MLIR</a:t>
            </a:r>
            <a:endParaRPr/>
          </a:p>
          <a:p>
            <a:pPr indent="0" lvl="0" marL="0" rtl="0" algn="l">
              <a:spcBef>
                <a:spcPts val="1000"/>
              </a:spcBef>
              <a:spcAft>
                <a:spcPts val="0"/>
              </a:spcAft>
              <a:buNone/>
            </a:pPr>
            <a:r>
              <a:rPr lang="en-US"/>
              <a:t>Output: MLIR</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H</a:t>
            </a:r>
            <a:r>
              <a:rPr lang="en-US"/>
              <a:t>elp: </a:t>
            </a:r>
            <a:endParaRPr/>
          </a:p>
        </p:txBody>
      </p:sp>
      <p:grpSp>
        <p:nvGrpSpPr>
          <p:cNvPr id="142" name="Google Shape;142;g2cbe5b11666_0_30"/>
          <p:cNvGrpSpPr/>
          <p:nvPr/>
        </p:nvGrpSpPr>
        <p:grpSpPr>
          <a:xfrm>
            <a:off x="1754000" y="4760338"/>
            <a:ext cx="5188500" cy="445275"/>
            <a:chOff x="289925" y="5611838"/>
            <a:chExt cx="5188500" cy="445275"/>
          </a:xfrm>
        </p:grpSpPr>
        <p:sp>
          <p:nvSpPr>
            <p:cNvPr id="143" name="Google Shape;143;g2cbe5b11666_0_30"/>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144" name="Google Shape;144;g2cbe5b11666_0_30"/>
            <p:cNvPicPr preferRelativeResize="0"/>
            <p:nvPr/>
          </p:nvPicPr>
          <p:blipFill>
            <a:blip r:embed="rId3">
              <a:alphaModFix/>
            </a:blip>
            <a:stretch>
              <a:fillRect/>
            </a:stretch>
          </p:blipFill>
          <p:spPr>
            <a:xfrm>
              <a:off x="289925" y="5611838"/>
              <a:ext cx="445275" cy="445275"/>
            </a:xfrm>
            <a:prstGeom prst="rect">
              <a:avLst/>
            </a:prstGeom>
            <a:noFill/>
            <a:ln>
              <a:noFill/>
            </a:ln>
          </p:spPr>
        </p:pic>
        <p:sp>
          <p:nvSpPr>
            <p:cNvPr id="145" name="Google Shape;145;g2cbe5b11666_0_30"/>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4"/>
                </a:rPr>
                <a:t>https://godbolt.org/z/frz53j4ob</a:t>
              </a:r>
              <a:r>
                <a:rPr lang="en-US" sz="2400"/>
                <a:t> </a:t>
              </a:r>
              <a:endParaRPr sz="2400"/>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2d25b4b9e83_0_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mlir-opt + mlir-translate</a:t>
            </a:r>
            <a:endParaRPr/>
          </a:p>
        </p:txBody>
      </p:sp>
      <p:sp>
        <p:nvSpPr>
          <p:cNvPr id="152" name="Google Shape;152;g2d25b4b9e83_0_6"/>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Example:</a:t>
            </a:r>
            <a:endParaRPr/>
          </a:p>
          <a:p>
            <a:pPr indent="0" lvl="0" marL="0" rtl="0" algn="l">
              <a:spcBef>
                <a:spcPts val="1000"/>
              </a:spcBef>
              <a:spcAft>
                <a:spcPts val="0"/>
              </a:spcAft>
              <a:buNone/>
            </a:pPr>
            <a:r>
              <a:rPr lang="en-US"/>
              <a:t>Translate the following code to LLVM IR</a:t>
            </a:r>
            <a:endParaRPr/>
          </a:p>
        </p:txBody>
      </p:sp>
      <p:sp>
        <p:nvSpPr>
          <p:cNvPr id="153" name="Google Shape;153;g2d25b4b9e83_0_6"/>
          <p:cNvSpPr txBox="1"/>
          <p:nvPr/>
        </p:nvSpPr>
        <p:spPr>
          <a:xfrm>
            <a:off x="9121025" y="35421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54" name="Google Shape;154;g2d25b4b9e83_0_6"/>
          <p:cNvPicPr preferRelativeResize="0"/>
          <p:nvPr/>
        </p:nvPicPr>
        <p:blipFill>
          <a:blip r:embed="rId3">
            <a:alphaModFix/>
          </a:blip>
          <a:stretch>
            <a:fillRect/>
          </a:stretch>
        </p:blipFill>
        <p:spPr>
          <a:xfrm>
            <a:off x="665924" y="2656597"/>
            <a:ext cx="7152398" cy="2330925"/>
          </a:xfrm>
          <a:prstGeom prst="rect">
            <a:avLst/>
          </a:prstGeom>
          <a:noFill/>
          <a:ln>
            <a:noFill/>
          </a:ln>
        </p:spPr>
      </p:pic>
      <p:sp>
        <p:nvSpPr>
          <p:cNvPr id="155" name="Google Shape;155;g2d25b4b9e83_0_6"/>
          <p:cNvSpPr txBox="1"/>
          <p:nvPr/>
        </p:nvSpPr>
        <p:spPr>
          <a:xfrm>
            <a:off x="993775" y="5234525"/>
            <a:ext cx="8530800" cy="14775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optimize</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convert to LLVM dialect</a:t>
            </a:r>
            <a:endParaRPr sz="2800">
              <a:solidFill>
                <a:schemeClr val="dk1"/>
              </a:solidFill>
              <a:latin typeface="Calibri"/>
              <a:ea typeface="Calibri"/>
              <a:cs typeface="Calibri"/>
              <a:sym typeface="Calibri"/>
            </a:endParaRPr>
          </a:p>
          <a:p>
            <a:pPr indent="-406400" lvl="0" marL="457200" rtl="0" algn="l">
              <a:spcBef>
                <a:spcPts val="0"/>
              </a:spcBef>
              <a:spcAft>
                <a:spcPts val="0"/>
              </a:spcAft>
              <a:buClr>
                <a:schemeClr val="dk1"/>
              </a:buClr>
              <a:buSzPts val="2800"/>
              <a:buFont typeface="Calibri"/>
              <a:buAutoNum type="arabicPeriod"/>
            </a:pPr>
            <a:r>
              <a:rPr lang="en-US" sz="2800">
                <a:solidFill>
                  <a:schemeClr val="dk1"/>
                </a:solidFill>
                <a:latin typeface="Calibri"/>
                <a:ea typeface="Calibri"/>
                <a:cs typeface="Calibri"/>
                <a:sym typeface="Calibri"/>
              </a:rPr>
              <a:t>translate MLIR with LLVM dialect to LLVM IR</a:t>
            </a:r>
            <a:endParaRPr sz="2800">
              <a:solidFill>
                <a:schemeClr val="dk1"/>
              </a:solidFill>
              <a:latin typeface="Calibri"/>
              <a:ea typeface="Calibri"/>
              <a:cs typeface="Calibri"/>
              <a:sym typeface="Calibri"/>
            </a:endParaRPr>
          </a:p>
        </p:txBody>
      </p:sp>
      <p:grpSp>
        <p:nvGrpSpPr>
          <p:cNvPr id="156" name="Google Shape;156;g2d25b4b9e83_0_6"/>
          <p:cNvGrpSpPr/>
          <p:nvPr/>
        </p:nvGrpSpPr>
        <p:grpSpPr>
          <a:xfrm>
            <a:off x="6640300" y="989138"/>
            <a:ext cx="5188500" cy="445275"/>
            <a:chOff x="289925" y="5611838"/>
            <a:chExt cx="5188500" cy="445275"/>
          </a:xfrm>
        </p:grpSpPr>
        <p:sp>
          <p:nvSpPr>
            <p:cNvPr id="157" name="Google Shape;157;g2d25b4b9e83_0_6"/>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158" name="Google Shape;158;g2d25b4b9e83_0_6"/>
            <p:cNvPicPr preferRelativeResize="0"/>
            <p:nvPr/>
          </p:nvPicPr>
          <p:blipFill>
            <a:blip r:embed="rId4">
              <a:alphaModFix/>
            </a:blip>
            <a:stretch>
              <a:fillRect/>
            </a:stretch>
          </p:blipFill>
          <p:spPr>
            <a:xfrm>
              <a:off x="289925" y="5611838"/>
              <a:ext cx="445275" cy="445275"/>
            </a:xfrm>
            <a:prstGeom prst="rect">
              <a:avLst/>
            </a:prstGeom>
            <a:noFill/>
            <a:ln>
              <a:noFill/>
            </a:ln>
          </p:spPr>
        </p:pic>
        <p:sp>
          <p:nvSpPr>
            <p:cNvPr id="159" name="Google Shape;159;g2d25b4b9e83_0_6"/>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5"/>
                </a:rPr>
                <a:t>https://godbolt.org/z/75a8xTrGx</a:t>
              </a:r>
              <a:r>
                <a:rPr lang="en-US" sz="2400"/>
                <a:t> </a:t>
              </a:r>
              <a:endParaRPr sz="2400"/>
            </a:p>
          </p:txBody>
        </p:sp>
      </p:grpSp>
      <p:grpSp>
        <p:nvGrpSpPr>
          <p:cNvPr id="160" name="Google Shape;160;g2d25b4b9e83_0_6"/>
          <p:cNvGrpSpPr/>
          <p:nvPr/>
        </p:nvGrpSpPr>
        <p:grpSpPr>
          <a:xfrm>
            <a:off x="6640300" y="2042675"/>
            <a:ext cx="5188500" cy="445275"/>
            <a:chOff x="289925" y="5611838"/>
            <a:chExt cx="5188500" cy="445275"/>
          </a:xfrm>
        </p:grpSpPr>
        <p:sp>
          <p:nvSpPr>
            <p:cNvPr id="161" name="Google Shape;161;g2d25b4b9e83_0_6"/>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162" name="Google Shape;162;g2d25b4b9e83_0_6"/>
            <p:cNvPicPr preferRelativeResize="0"/>
            <p:nvPr/>
          </p:nvPicPr>
          <p:blipFill>
            <a:blip r:embed="rId4">
              <a:alphaModFix/>
            </a:blip>
            <a:stretch>
              <a:fillRect/>
            </a:stretch>
          </p:blipFill>
          <p:spPr>
            <a:xfrm>
              <a:off x="289925" y="5611838"/>
              <a:ext cx="445275" cy="445275"/>
            </a:xfrm>
            <a:prstGeom prst="rect">
              <a:avLst/>
            </a:prstGeom>
            <a:noFill/>
            <a:ln>
              <a:noFill/>
            </a:ln>
          </p:spPr>
        </p:pic>
        <p:sp>
          <p:nvSpPr>
            <p:cNvPr id="163" name="Google Shape;163;g2d25b4b9e83_0_6"/>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6"/>
                </a:rPr>
                <a:t>https://godbolt.org/z/z9s9q1x1P</a:t>
              </a:r>
              <a:r>
                <a:rPr lang="en-US" sz="2400"/>
                <a:t> </a:t>
              </a:r>
              <a:endParaRPr sz="2400"/>
            </a:p>
          </p:txBody>
        </p:sp>
      </p:grpSp>
      <p:sp>
        <p:nvSpPr>
          <p:cNvPr id="164" name="Google Shape;164;g2d25b4b9e83_0_6"/>
          <p:cNvSpPr txBox="1"/>
          <p:nvPr/>
        </p:nvSpPr>
        <p:spPr>
          <a:xfrm>
            <a:off x="6640300" y="372850"/>
            <a:ext cx="493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opt</a:t>
            </a:r>
            <a:endParaRPr sz="2800">
              <a:solidFill>
                <a:schemeClr val="dk1"/>
              </a:solidFill>
              <a:latin typeface="Calibri"/>
              <a:ea typeface="Calibri"/>
              <a:cs typeface="Calibri"/>
              <a:sym typeface="Calibri"/>
            </a:endParaRPr>
          </a:p>
        </p:txBody>
      </p:sp>
      <p:sp>
        <p:nvSpPr>
          <p:cNvPr id="165" name="Google Shape;165;g2d25b4b9e83_0_6"/>
          <p:cNvSpPr txBox="1"/>
          <p:nvPr/>
        </p:nvSpPr>
        <p:spPr>
          <a:xfrm>
            <a:off x="6640300" y="1435100"/>
            <a:ext cx="493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translate</a:t>
            </a:r>
            <a:endParaRPr sz="2800">
              <a:solidFill>
                <a:schemeClr val="dk1"/>
              </a:solidFill>
              <a:latin typeface="Calibri"/>
              <a:ea typeface="Calibri"/>
              <a:cs typeface="Calibri"/>
              <a:sym typeface="Calibri"/>
            </a:endParaRPr>
          </a:p>
        </p:txBody>
      </p:sp>
      <p:sp>
        <p:nvSpPr>
          <p:cNvPr id="166" name="Google Shape;166;g2d25b4b9e83_0_6"/>
          <p:cNvSpPr/>
          <p:nvPr/>
        </p:nvSpPr>
        <p:spPr>
          <a:xfrm>
            <a:off x="8075100" y="5471800"/>
            <a:ext cx="281400" cy="677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7" name="Google Shape;167;g2d25b4b9e83_0_6"/>
          <p:cNvSpPr txBox="1"/>
          <p:nvPr/>
        </p:nvSpPr>
        <p:spPr>
          <a:xfrm>
            <a:off x="8356500" y="5502700"/>
            <a:ext cx="3835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opt</a:t>
            </a:r>
            <a:endParaRPr sz="2800">
              <a:solidFill>
                <a:schemeClr val="dk1"/>
              </a:solidFill>
              <a:latin typeface="Calibri"/>
              <a:ea typeface="Calibri"/>
              <a:cs typeface="Calibri"/>
              <a:sym typeface="Calibri"/>
            </a:endParaRPr>
          </a:p>
        </p:txBody>
      </p:sp>
      <p:sp>
        <p:nvSpPr>
          <p:cNvPr id="168" name="Google Shape;168;g2d25b4b9e83_0_6"/>
          <p:cNvSpPr txBox="1"/>
          <p:nvPr/>
        </p:nvSpPr>
        <p:spPr>
          <a:xfrm>
            <a:off x="8419200" y="6118300"/>
            <a:ext cx="377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translate</a:t>
            </a:r>
            <a:endParaRPr sz="2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70158642d6_0_56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g270158642d6_0_56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76" name="Google Shape;176;g270158642d6_0_567"/>
          <p:cNvPicPr preferRelativeResize="0"/>
          <p:nvPr/>
        </p:nvPicPr>
        <p:blipFill>
          <a:blip r:embed="rId3">
            <a:alphaModFix/>
          </a:blip>
          <a:stretch>
            <a:fillRect/>
          </a:stretch>
        </p:blipFill>
        <p:spPr>
          <a:xfrm>
            <a:off x="5287" y="-76200"/>
            <a:ext cx="12181427" cy="6858001"/>
          </a:xfrm>
          <a:prstGeom prst="rect">
            <a:avLst/>
          </a:prstGeom>
          <a:noFill/>
          <a:ln>
            <a:noFill/>
          </a:ln>
        </p:spPr>
      </p:pic>
      <p:sp>
        <p:nvSpPr>
          <p:cNvPr id="177" name="Google Shape;177;g270158642d6_0_567"/>
          <p:cNvSpPr txBox="1"/>
          <p:nvPr/>
        </p:nvSpPr>
        <p:spPr>
          <a:xfrm>
            <a:off x="-19175" y="6457800"/>
            <a:ext cx="1219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u="sng">
                <a:solidFill>
                  <a:schemeClr val="hlink"/>
                </a:solidFill>
                <a:hlinkClick r:id="rId4"/>
              </a:rPr>
              <a:t>https://llvm.org/devmtg/2023-10/slides/techtalks/Zinenko-MLIRisNotAnMLCompiler.pdf</a:t>
            </a:r>
            <a:r>
              <a:rPr lang="en-US"/>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270158642d6_0_11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Content</a:t>
            </a:r>
            <a:endParaRPr/>
          </a:p>
        </p:txBody>
      </p:sp>
      <p:sp>
        <p:nvSpPr>
          <p:cNvPr id="184" name="Google Shape;184;g270158642d6_0_11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b="1" lang="en-US"/>
              <a:t>Available transformations and optimizations overview</a:t>
            </a:r>
            <a:endParaRPr b="1"/>
          </a:p>
          <a:p>
            <a:pPr indent="-342900" lvl="0" marL="457200" rtl="0" algn="l">
              <a:spcBef>
                <a:spcPts val="0"/>
              </a:spcBef>
              <a:spcAft>
                <a:spcPts val="0"/>
              </a:spcAft>
              <a:buSzPts val="1800"/>
              <a:buChar char="•"/>
            </a:pPr>
            <a:r>
              <a:rPr lang="en-US"/>
              <a:t>Custom dialects</a:t>
            </a:r>
            <a:endParaRPr/>
          </a:p>
          <a:p>
            <a:pPr indent="-342900" lvl="0" marL="457200" rtl="0" algn="l">
              <a:spcBef>
                <a:spcPts val="0"/>
              </a:spcBef>
              <a:spcAft>
                <a:spcPts val="0"/>
              </a:spcAft>
              <a:buSzPts val="1800"/>
              <a:buChar char="•"/>
            </a:pPr>
            <a:r>
              <a:rPr lang="en-US"/>
              <a:t>Writing a pass</a:t>
            </a:r>
            <a:endParaRPr/>
          </a:p>
          <a:p>
            <a:pPr indent="-342900" lvl="0" marL="457200" rtl="0" algn="l">
              <a:spcBef>
                <a:spcPts val="0"/>
              </a:spcBef>
              <a:spcAft>
                <a:spcPts val="0"/>
              </a:spcAft>
              <a:buSzPts val="1800"/>
              <a:buChar char="•"/>
            </a:pPr>
            <a:r>
              <a:rPr lang="en-US"/>
              <a:t>MLIR connections with other languages</a:t>
            </a:r>
            <a:endParaRPr/>
          </a:p>
          <a:p>
            <a:pPr indent="-342900" lvl="0" marL="457200" rtl="0" algn="l">
              <a:spcBef>
                <a:spcPts val="0"/>
              </a:spcBef>
              <a:spcAft>
                <a:spcPts val="0"/>
              </a:spcAft>
              <a:buSzPts val="1800"/>
              <a:buChar char="•"/>
            </a:pPr>
            <a:r>
              <a:rPr lang="en-US"/>
              <a:t>Python bindings overview</a:t>
            </a:r>
            <a:endParaRPr/>
          </a:p>
          <a:p>
            <a:pPr indent="-342900" lvl="0" marL="457200" rtl="0" algn="l">
              <a:spcBef>
                <a:spcPts val="0"/>
              </a:spcBef>
              <a:spcAft>
                <a:spcPts val="0"/>
              </a:spcAft>
              <a:buSzPts val="1800"/>
              <a:buChar char="•"/>
            </a:pPr>
            <a:r>
              <a:rPr lang="en-US"/>
              <a:t>Debugging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70158642d6_0_16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Rewind back to LLVM IR</a:t>
            </a:r>
            <a:endParaRPr/>
          </a:p>
        </p:txBody>
      </p:sp>
      <p:sp>
        <p:nvSpPr>
          <p:cNvPr id="191" name="Google Shape;191;g270158642d6_0_161"/>
          <p:cNvSpPr txBox="1"/>
          <p:nvPr>
            <p:ph idx="1" type="body"/>
          </p:nvPr>
        </p:nvSpPr>
        <p:spPr>
          <a:xfrm>
            <a:off x="571375" y="1673450"/>
            <a:ext cx="11010900" cy="51846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LLVM IR passes classifications</a:t>
            </a:r>
            <a:endParaRPr/>
          </a:p>
          <a:p>
            <a:pPr indent="-342900" lvl="0" marL="457200" rtl="0" algn="l">
              <a:spcBef>
                <a:spcPts val="1000"/>
              </a:spcBef>
              <a:spcAft>
                <a:spcPts val="0"/>
              </a:spcAft>
              <a:buSzPts val="1800"/>
              <a:buChar char="•"/>
            </a:pPr>
            <a:r>
              <a:rPr lang="en-US"/>
              <a:t>Types</a:t>
            </a:r>
            <a:endParaRPr/>
          </a:p>
          <a:p>
            <a:pPr indent="-342900" lvl="1" marL="914400" rtl="0" algn="l">
              <a:spcBef>
                <a:spcPts val="0"/>
              </a:spcBef>
              <a:spcAft>
                <a:spcPts val="0"/>
              </a:spcAft>
              <a:buSzPts val="1800"/>
              <a:buChar char="•"/>
            </a:pPr>
            <a:r>
              <a:rPr lang="en-US"/>
              <a:t>Analysis pass</a:t>
            </a:r>
            <a:endParaRPr/>
          </a:p>
          <a:p>
            <a:pPr indent="-342900" lvl="1" marL="914400" rtl="0" algn="l">
              <a:spcBef>
                <a:spcPts val="0"/>
              </a:spcBef>
              <a:spcAft>
                <a:spcPts val="0"/>
              </a:spcAft>
              <a:buSzPts val="1800"/>
              <a:buChar char="•"/>
            </a:pPr>
            <a:r>
              <a:rPr lang="en-US"/>
              <a:t>Transformation pass</a:t>
            </a:r>
            <a:endParaRPr/>
          </a:p>
          <a:p>
            <a:pPr indent="-342900" lvl="1" marL="914400" rtl="0" algn="l">
              <a:spcBef>
                <a:spcPts val="0"/>
              </a:spcBef>
              <a:spcAft>
                <a:spcPts val="0"/>
              </a:spcAft>
              <a:buSzPts val="1800"/>
              <a:buChar char="•"/>
            </a:pPr>
            <a:r>
              <a:rPr lang="en-US"/>
              <a:t>Utility pass</a:t>
            </a:r>
            <a:endParaRPr/>
          </a:p>
          <a:p>
            <a:pPr indent="-342900" lvl="0" marL="457200" rtl="0" algn="l">
              <a:spcBef>
                <a:spcPts val="0"/>
              </a:spcBef>
              <a:spcAft>
                <a:spcPts val="0"/>
              </a:spcAft>
              <a:buSzPts val="1800"/>
              <a:buChar char="•"/>
            </a:pPr>
            <a:r>
              <a:rPr lang="en-US"/>
              <a:t>Run scope</a:t>
            </a:r>
            <a:endParaRPr/>
          </a:p>
          <a:p>
            <a:pPr indent="-342900" lvl="1" marL="914400" rtl="0" algn="l">
              <a:spcBef>
                <a:spcPts val="0"/>
              </a:spcBef>
              <a:spcAft>
                <a:spcPts val="0"/>
              </a:spcAft>
              <a:buSzPts val="1800"/>
              <a:buChar char="•"/>
            </a:pPr>
            <a:r>
              <a:rPr lang="en-US"/>
              <a:t>Module pass</a:t>
            </a:r>
            <a:endParaRPr/>
          </a:p>
          <a:p>
            <a:pPr indent="-342900" lvl="1" marL="914400" rtl="0" algn="l">
              <a:spcBef>
                <a:spcPts val="0"/>
              </a:spcBef>
              <a:spcAft>
                <a:spcPts val="0"/>
              </a:spcAft>
              <a:buSzPts val="1800"/>
              <a:buChar char="•"/>
            </a:pPr>
            <a:r>
              <a:rPr lang="en-US"/>
              <a:t>Function pass</a:t>
            </a:r>
            <a:endParaRPr/>
          </a:p>
          <a:p>
            <a:pPr indent="-342900" lvl="1" marL="914400" rtl="0" algn="l">
              <a:spcBef>
                <a:spcPts val="0"/>
              </a:spcBef>
              <a:spcAft>
                <a:spcPts val="0"/>
              </a:spcAft>
              <a:buSzPts val="1800"/>
              <a:buChar char="•"/>
            </a:pPr>
            <a:r>
              <a:rPr lang="en-US"/>
              <a:t>Loop pass</a:t>
            </a:r>
            <a:endParaRPr/>
          </a:p>
          <a:p>
            <a:pPr indent="-342900" lvl="1" marL="914400" rtl="0" algn="l">
              <a:spcBef>
                <a:spcPts val="0"/>
              </a:spcBef>
              <a:spcAft>
                <a:spcPts val="0"/>
              </a:spcAft>
              <a:buSzPts val="1800"/>
              <a:buChar char="•"/>
            </a:pPr>
            <a:r>
              <a:rPr lang="en-US"/>
              <a:t>…</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What about MLIR classification?</a:t>
            </a:r>
            <a:endParaRPr/>
          </a:p>
          <a:p>
            <a:pPr indent="-342900" lvl="0" marL="457200" rtl="0" algn="l">
              <a:spcBef>
                <a:spcPts val="1000"/>
              </a:spcBef>
              <a:spcAft>
                <a:spcPts val="0"/>
              </a:spcAft>
              <a:buSzPts val="1800"/>
              <a:buChar char="•"/>
            </a:pPr>
            <a:r>
              <a:rPr lang="en-US" sz="1800"/>
              <a:t>It could be the same</a:t>
            </a:r>
            <a:endParaRPr sz="1800"/>
          </a:p>
          <a:p>
            <a:pPr indent="-342900" lvl="0" marL="457200" rtl="0" algn="l">
              <a:spcBef>
                <a:spcPts val="0"/>
              </a:spcBef>
              <a:spcAft>
                <a:spcPts val="0"/>
              </a:spcAft>
              <a:buSzPts val="1800"/>
              <a:buChar char="•"/>
            </a:pPr>
            <a:r>
              <a:rPr lang="en-US" sz="1800"/>
              <a:t>but in addition to that usually people outline different classification rules</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270158642d6_0_15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g270158642d6_0_15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199" name="Google Shape;199;g270158642d6_0_151"/>
          <p:cNvPicPr preferRelativeResize="0"/>
          <p:nvPr/>
        </p:nvPicPr>
        <p:blipFill>
          <a:blip r:embed="rId3">
            <a:alphaModFix/>
          </a:blip>
          <a:stretch>
            <a:fillRect/>
          </a:stretch>
        </p:blipFill>
        <p:spPr>
          <a:xfrm>
            <a:off x="15834" y="-304800"/>
            <a:ext cx="12160333" cy="6858000"/>
          </a:xfrm>
          <a:prstGeom prst="rect">
            <a:avLst/>
          </a:prstGeom>
          <a:noFill/>
          <a:ln>
            <a:noFill/>
          </a:ln>
        </p:spPr>
      </p:pic>
      <p:sp>
        <p:nvSpPr>
          <p:cNvPr id="200" name="Google Shape;200;g270158642d6_0_151"/>
          <p:cNvSpPr txBox="1"/>
          <p:nvPr/>
        </p:nvSpPr>
        <p:spPr>
          <a:xfrm>
            <a:off x="-19175" y="6457800"/>
            <a:ext cx="1219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u="sng">
                <a:solidFill>
                  <a:schemeClr val="hlink"/>
                </a:solidFill>
                <a:hlinkClick r:id="rId4"/>
              </a:rPr>
              <a:t>https://llvm.org/devmtg/2023-10/slides/techtalks/Zinenko-MLIRisNotAnMLCompiler.pdf</a:t>
            </a:r>
            <a:r>
              <a:rPr lang="en-US"/>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270158642d6_0_10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Available</a:t>
            </a:r>
            <a:r>
              <a:rPr lang="en-US"/>
              <a:t> transformations</a:t>
            </a:r>
            <a:endParaRPr/>
          </a:p>
        </p:txBody>
      </p:sp>
      <p:sp>
        <p:nvSpPr>
          <p:cNvPr id="207" name="Google Shape;207;g270158642d6_0_10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Reference page:</a:t>
            </a:r>
            <a:endParaRPr/>
          </a:p>
          <a:p>
            <a:pPr indent="-342900" lvl="0" marL="457200" rtl="0" algn="l">
              <a:spcBef>
                <a:spcPts val="1000"/>
              </a:spcBef>
              <a:spcAft>
                <a:spcPts val="0"/>
              </a:spcAft>
              <a:buSzPts val="1800"/>
              <a:buChar char="•"/>
            </a:pPr>
            <a:r>
              <a:rPr lang="en-US" u="sng">
                <a:solidFill>
                  <a:schemeClr val="hlink"/>
                </a:solidFill>
                <a:hlinkClick r:id="rId3"/>
              </a:rPr>
              <a:t>https://mlir.llvm.org/docs/Passes/</a:t>
            </a:r>
            <a:r>
              <a:rPr lang="en-US"/>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270158642d6_0_768"/>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Lowering</a:t>
            </a:r>
            <a:endParaRPr/>
          </a:p>
        </p:txBody>
      </p:sp>
      <p:sp>
        <p:nvSpPr>
          <p:cNvPr id="214" name="Google Shape;214;g270158642d6_0_768"/>
          <p:cNvSpPr txBox="1"/>
          <p:nvPr>
            <p:ph idx="1" type="body"/>
          </p:nvPr>
        </p:nvSpPr>
        <p:spPr>
          <a:xfrm>
            <a:off x="571375" y="1673450"/>
            <a:ext cx="116205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Lowering is the process of transforming a high-level representation of a program into a lower-level representation</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Lowering involves transforming this high-level representation into a more concrete, lower-level representation that is closer to the target hardware's capabilities and constraints.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One of common lowering pipelines:</a:t>
            </a:r>
            <a:endParaRPr/>
          </a:p>
          <a:p>
            <a:pPr indent="0" lvl="0" marL="0" rtl="0" algn="l">
              <a:spcBef>
                <a:spcPts val="1000"/>
              </a:spcBef>
              <a:spcAft>
                <a:spcPts val="0"/>
              </a:spcAft>
              <a:buNone/>
            </a:pPr>
            <a:r>
              <a:rPr lang="en-US">
                <a:solidFill>
                  <a:schemeClr val="accent3"/>
                </a:solidFill>
              </a:rPr>
              <a:t>ML framework/DSL -&gt;</a:t>
            </a:r>
            <a:r>
              <a:rPr lang="en-US"/>
              <a:t> (TOSA) -&gt; Linalg -&gt; Affine -&gt; SCF -&gt; CF -&gt; LLVM </a:t>
            </a:r>
            <a:r>
              <a:rPr lang="en-US">
                <a:solidFill>
                  <a:srgbClr val="0070C0"/>
                </a:solidFill>
              </a:rPr>
              <a:t>-&gt; LLVM IR</a:t>
            </a:r>
            <a:endParaRPr>
              <a:solidFill>
                <a:srgbClr val="0070C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270158642d6_0_78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Lowering</a:t>
            </a:r>
            <a:endParaRPr/>
          </a:p>
        </p:txBody>
      </p:sp>
      <p:pic>
        <p:nvPicPr>
          <p:cNvPr id="221" name="Google Shape;221;g270158642d6_0_787"/>
          <p:cNvPicPr preferRelativeResize="0"/>
          <p:nvPr/>
        </p:nvPicPr>
        <p:blipFill>
          <a:blip r:embed="rId3">
            <a:alphaModFix/>
          </a:blip>
          <a:stretch>
            <a:fillRect/>
          </a:stretch>
        </p:blipFill>
        <p:spPr>
          <a:xfrm>
            <a:off x="1312287" y="1807700"/>
            <a:ext cx="9140075" cy="3363100"/>
          </a:xfrm>
          <a:prstGeom prst="rect">
            <a:avLst/>
          </a:prstGeom>
          <a:noFill/>
          <a:ln>
            <a:noFill/>
          </a:ln>
        </p:spPr>
      </p:pic>
      <p:sp>
        <p:nvSpPr>
          <p:cNvPr id="222" name="Google Shape;222;g270158642d6_0_787"/>
          <p:cNvSpPr txBox="1"/>
          <p:nvPr/>
        </p:nvSpPr>
        <p:spPr>
          <a:xfrm>
            <a:off x="8928100" y="5510100"/>
            <a:ext cx="3000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u="sng">
                <a:solidFill>
                  <a:schemeClr val="hlink"/>
                </a:solidFill>
                <a:hlinkClick r:id="rId4"/>
              </a:rPr>
              <a:t>http://lastweek.io/notes/MLIR/</a:t>
            </a:r>
            <a:r>
              <a:rPr lang="en-US"/>
              <a:t> </a:t>
            </a:r>
            <a:endParaRPr/>
          </a:p>
        </p:txBody>
      </p:sp>
      <p:sp>
        <p:nvSpPr>
          <p:cNvPr id="223" name="Google Shape;223;g270158642d6_0_787"/>
          <p:cNvSpPr txBox="1"/>
          <p:nvPr/>
        </p:nvSpPr>
        <p:spPr>
          <a:xfrm>
            <a:off x="190275" y="5623850"/>
            <a:ext cx="11737800" cy="1088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US" sz="2800">
                <a:solidFill>
                  <a:schemeClr val="dk1"/>
                </a:solidFill>
                <a:latin typeface="Calibri"/>
                <a:ea typeface="Calibri"/>
                <a:cs typeface="Calibri"/>
                <a:sym typeface="Calibri"/>
              </a:rPr>
              <a:t>One of common lowering pipelines:</a:t>
            </a:r>
            <a:endParaRPr sz="2800">
              <a:solidFill>
                <a:schemeClr val="dk1"/>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chemeClr val="accent3"/>
                </a:solidFill>
                <a:latin typeface="Calibri"/>
                <a:ea typeface="Calibri"/>
                <a:cs typeface="Calibri"/>
                <a:sym typeface="Calibri"/>
              </a:rPr>
              <a:t>ML framework/DSL -&gt;</a:t>
            </a:r>
            <a:r>
              <a:rPr lang="en-US" sz="2800">
                <a:solidFill>
                  <a:schemeClr val="dk1"/>
                </a:solidFill>
                <a:latin typeface="Calibri"/>
                <a:ea typeface="Calibri"/>
                <a:cs typeface="Calibri"/>
                <a:sym typeface="Calibri"/>
              </a:rPr>
              <a:t> (TOSA) -&gt; Linalg -&gt; Affine -&gt; SCF -&gt; CF -&gt; LLVM </a:t>
            </a:r>
            <a:r>
              <a:rPr lang="en-US" sz="2800">
                <a:solidFill>
                  <a:srgbClr val="0070C0"/>
                </a:solidFill>
                <a:latin typeface="Calibri"/>
                <a:ea typeface="Calibri"/>
                <a:cs typeface="Calibri"/>
                <a:sym typeface="Calibri"/>
              </a:rPr>
              <a:t>-&gt; LLVM IR</a:t>
            </a:r>
            <a:endParaRPr/>
          </a:p>
        </p:txBody>
      </p:sp>
      <p:sp>
        <p:nvSpPr>
          <p:cNvPr id="224" name="Google Shape;224;g270158642d6_0_787"/>
          <p:cNvSpPr/>
          <p:nvPr/>
        </p:nvSpPr>
        <p:spPr>
          <a:xfrm>
            <a:off x="275500" y="6139500"/>
            <a:ext cx="2833800" cy="511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5" name="Google Shape;225;g270158642d6_0_787"/>
          <p:cNvSpPr/>
          <p:nvPr/>
        </p:nvSpPr>
        <p:spPr>
          <a:xfrm>
            <a:off x="3463450" y="6149575"/>
            <a:ext cx="6652200" cy="5118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6" name="Google Shape;226;g270158642d6_0_787"/>
          <p:cNvSpPr/>
          <p:nvPr/>
        </p:nvSpPr>
        <p:spPr>
          <a:xfrm>
            <a:off x="10452350" y="6149575"/>
            <a:ext cx="1313400" cy="5118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7" name="Google Shape;227;g270158642d6_0_787"/>
          <p:cNvSpPr/>
          <p:nvPr/>
        </p:nvSpPr>
        <p:spPr>
          <a:xfrm>
            <a:off x="1106825" y="1524000"/>
            <a:ext cx="2179500" cy="3986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8" name="Google Shape;228;g270158642d6_0_787"/>
          <p:cNvSpPr/>
          <p:nvPr/>
        </p:nvSpPr>
        <p:spPr>
          <a:xfrm>
            <a:off x="3335325" y="1524000"/>
            <a:ext cx="2597700" cy="39861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9" name="Google Shape;229;g270158642d6_0_787"/>
          <p:cNvSpPr/>
          <p:nvPr/>
        </p:nvSpPr>
        <p:spPr>
          <a:xfrm>
            <a:off x="5982025" y="1524000"/>
            <a:ext cx="1820700" cy="39861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d837e7ff04_0_4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TOSA to Linalg</a:t>
            </a:r>
            <a:endParaRPr/>
          </a:p>
        </p:txBody>
      </p:sp>
      <p:sp>
        <p:nvSpPr>
          <p:cNvPr id="236" name="Google Shape;236;g3d837e7ff04_0_41"/>
          <p:cNvSpPr txBox="1"/>
          <p:nvPr/>
        </p:nvSpPr>
        <p:spPr>
          <a:xfrm>
            <a:off x="0" y="0"/>
            <a:ext cx="6760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https://github.com/llvm/llvm-project/blob/b6d0e74fb7d06b7f5693b5ba4078686617c91a66/mlir/test/Conversion/TosaToLinalg/tosa-to-linalg-named.mlir#L6</a:t>
            </a:r>
            <a:r>
              <a:rPr lang="en-US"/>
              <a:t> </a:t>
            </a:r>
            <a:endParaRPr/>
          </a:p>
        </p:txBody>
      </p:sp>
      <p:sp>
        <p:nvSpPr>
          <p:cNvPr id="237" name="Google Shape;237;g3d837e7ff04_0_41"/>
          <p:cNvSpPr txBox="1"/>
          <p:nvPr/>
        </p:nvSpPr>
        <p:spPr>
          <a:xfrm>
            <a:off x="5893950" y="2248650"/>
            <a:ext cx="623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mlir-opt -pass-pipeline="builtin.module(func.func(</a:t>
            </a:r>
            <a:r>
              <a:rPr lang="en-US"/>
              <a:t>tosa-to-linalg-named</a:t>
            </a:r>
            <a:r>
              <a:rPr lang="en-US"/>
              <a:t>))"</a:t>
            </a:r>
            <a:endParaRPr/>
          </a:p>
        </p:txBody>
      </p:sp>
      <p:sp>
        <p:nvSpPr>
          <p:cNvPr id="238" name="Google Shape;238;g3d837e7ff04_0_41"/>
          <p:cNvSpPr txBox="1"/>
          <p:nvPr/>
        </p:nvSpPr>
        <p:spPr>
          <a:xfrm>
            <a:off x="119550" y="1264825"/>
            <a:ext cx="11709600" cy="1200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func.func</a:t>
            </a:r>
            <a:r>
              <a:rPr lang="en-US" sz="1100">
                <a:solidFill>
                  <a:schemeClr val="dk1"/>
                </a:solidFill>
                <a:latin typeface="Consolas"/>
                <a:ea typeface="Consolas"/>
                <a:cs typeface="Consolas"/>
                <a:sym typeface="Consolas"/>
              </a:rPr>
              <a:t> </a:t>
            </a:r>
            <a:r>
              <a:rPr lang="en-US" sz="1100">
                <a:solidFill>
                  <a:srgbClr val="795E26"/>
                </a:solidFill>
                <a:latin typeface="Consolas"/>
                <a:ea typeface="Consolas"/>
                <a:cs typeface="Consolas"/>
                <a:sym typeface="Consolas"/>
              </a:rPr>
              <a:t>@matmul</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%a_zp</a:t>
            </a:r>
            <a:r>
              <a:rPr lang="en-US" sz="1100">
                <a:solidFill>
                  <a:schemeClr val="dk1"/>
                </a:solidFill>
                <a:latin typeface="Consolas"/>
                <a:ea typeface="Consolas"/>
                <a:cs typeface="Consolas"/>
                <a:sym typeface="Consolas"/>
              </a:rPr>
              <a:t> = </a:t>
            </a:r>
            <a:r>
              <a:rPr lang="en-US" sz="1100">
                <a:solidFill>
                  <a:srgbClr val="A31515"/>
                </a:solidFill>
                <a:latin typeface="Consolas"/>
                <a:ea typeface="Consolas"/>
                <a:cs typeface="Consolas"/>
                <a:sym typeface="Consolas"/>
              </a:rPr>
              <a:t>"tosa.const"</a:t>
            </a:r>
            <a:r>
              <a:rPr lang="en-US" sz="1100">
                <a:solidFill>
                  <a:schemeClr val="dk1"/>
                </a:solidFill>
                <a:latin typeface="Consolas"/>
                <a:ea typeface="Consolas"/>
                <a:cs typeface="Consolas"/>
                <a:sym typeface="Consolas"/>
              </a:rPr>
              <a:t>() &lt;{</a:t>
            </a:r>
            <a:r>
              <a:rPr lang="en-US" sz="1100">
                <a:solidFill>
                  <a:srgbClr val="001080"/>
                </a:solidFill>
                <a:latin typeface="Consolas"/>
                <a:ea typeface="Consolas"/>
                <a:cs typeface="Consolas"/>
                <a:sym typeface="Consolas"/>
              </a:rPr>
              <a:t>values </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dense</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0.0</a:t>
            </a:r>
            <a:r>
              <a:rPr lang="en-US" sz="1100">
                <a:solidFill>
                  <a:schemeClr val="dk1"/>
                </a:solidFill>
                <a:latin typeface="Consolas"/>
                <a:ea typeface="Consolas"/>
                <a:cs typeface="Consolas"/>
                <a:sym typeface="Consolas"/>
              </a:rPr>
              <a:t>&gt;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&gt;}&gt; : ()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%b_zp</a:t>
            </a:r>
            <a:r>
              <a:rPr lang="en-US" sz="1100">
                <a:solidFill>
                  <a:schemeClr val="dk1"/>
                </a:solidFill>
                <a:latin typeface="Consolas"/>
                <a:ea typeface="Consolas"/>
                <a:cs typeface="Consolas"/>
                <a:sym typeface="Consolas"/>
              </a:rPr>
              <a:t> = </a:t>
            </a:r>
            <a:r>
              <a:rPr lang="en-US" sz="1100">
                <a:solidFill>
                  <a:srgbClr val="A31515"/>
                </a:solidFill>
                <a:latin typeface="Consolas"/>
                <a:ea typeface="Consolas"/>
                <a:cs typeface="Consolas"/>
                <a:sym typeface="Consolas"/>
              </a:rPr>
              <a:t>"tosa.const"</a:t>
            </a:r>
            <a:r>
              <a:rPr lang="en-US" sz="1100">
                <a:solidFill>
                  <a:schemeClr val="dk1"/>
                </a:solidFill>
                <a:latin typeface="Consolas"/>
                <a:ea typeface="Consolas"/>
                <a:cs typeface="Consolas"/>
                <a:sym typeface="Consolas"/>
              </a:rPr>
              <a:t>() &lt;{</a:t>
            </a:r>
            <a:r>
              <a:rPr lang="en-US" sz="1100">
                <a:solidFill>
                  <a:srgbClr val="001080"/>
                </a:solidFill>
                <a:latin typeface="Consolas"/>
                <a:ea typeface="Consolas"/>
                <a:cs typeface="Consolas"/>
                <a:sym typeface="Consolas"/>
              </a:rPr>
              <a:t>values </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dense</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0.0</a:t>
            </a:r>
            <a:r>
              <a:rPr lang="en-US" sz="1100">
                <a:solidFill>
                  <a:schemeClr val="dk1"/>
                </a:solidFill>
                <a:latin typeface="Consolas"/>
                <a:ea typeface="Consolas"/>
                <a:cs typeface="Consolas"/>
                <a:sym typeface="Consolas"/>
              </a:rPr>
              <a:t>&gt;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&gt;}&gt; : ()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%0</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tosa.matmul</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%a_zp</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%b_zp</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 return</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%0</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p:txBody>
      </p:sp>
      <p:cxnSp>
        <p:nvCxnSpPr>
          <p:cNvPr id="239" name="Google Shape;239;g3d837e7ff04_0_41"/>
          <p:cNvCxnSpPr>
            <a:endCxn id="240" idx="0"/>
          </p:cNvCxnSpPr>
          <p:nvPr/>
        </p:nvCxnSpPr>
        <p:spPr>
          <a:xfrm>
            <a:off x="5893800" y="2299050"/>
            <a:ext cx="5400" cy="349800"/>
          </a:xfrm>
          <a:prstGeom prst="straightConnector1">
            <a:avLst/>
          </a:prstGeom>
          <a:noFill/>
          <a:ln cap="flat" cmpd="sng" w="9525">
            <a:solidFill>
              <a:schemeClr val="dk2"/>
            </a:solidFill>
            <a:prstDash val="solid"/>
            <a:round/>
            <a:headEnd len="med" w="med" type="none"/>
            <a:tailEnd len="med" w="med" type="triangle"/>
          </a:ln>
        </p:spPr>
      </p:cxnSp>
      <p:sp>
        <p:nvSpPr>
          <p:cNvPr id="240" name="Google Shape;240;g3d837e7ff04_0_41"/>
          <p:cNvSpPr txBox="1"/>
          <p:nvPr/>
        </p:nvSpPr>
        <p:spPr>
          <a:xfrm>
            <a:off x="-30750" y="2648850"/>
            <a:ext cx="11859900" cy="2047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US" sz="1100">
                <a:solidFill>
                  <a:srgbClr val="0070C1"/>
                </a:solidFill>
                <a:highlight>
                  <a:srgbClr val="FFFFFF"/>
                </a:highlight>
                <a:latin typeface="Consolas"/>
                <a:ea typeface="Consolas"/>
                <a:cs typeface="Consolas"/>
                <a:sym typeface="Consolas"/>
              </a:rPr>
              <a:t>module</a:t>
            </a:r>
            <a:r>
              <a:rPr lang="en-US" sz="1100">
                <a:solidFill>
                  <a:schemeClr val="dk1"/>
                </a:solidFill>
                <a:highlight>
                  <a:srgbClr val="FFFFFF"/>
                </a:highlight>
                <a:latin typeface="Consolas"/>
                <a:ea typeface="Consolas"/>
                <a:cs typeface="Consolas"/>
                <a:sym typeface="Consolas"/>
              </a:rPr>
              <a: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rgbClr val="0070C1"/>
                </a:solidFill>
                <a:highlight>
                  <a:srgbClr val="FFFFFF"/>
                </a:highlight>
                <a:latin typeface="Consolas"/>
                <a:ea typeface="Consolas"/>
                <a:cs typeface="Consolas"/>
                <a:sym typeface="Consolas"/>
              </a:rPr>
              <a:t> func.func</a:t>
            </a:r>
            <a:r>
              <a:rPr lang="en-US" sz="1100">
                <a:solidFill>
                  <a:schemeClr val="dk1"/>
                </a:solidFill>
                <a:highlight>
                  <a:srgbClr val="FFFFFF"/>
                </a:highlight>
                <a:latin typeface="Consolas"/>
                <a:ea typeface="Consolas"/>
                <a:cs typeface="Consolas"/>
                <a:sym typeface="Consolas"/>
              </a:rPr>
              <a:t> </a:t>
            </a:r>
            <a:r>
              <a:rPr lang="en-US" sz="1100">
                <a:solidFill>
                  <a:srgbClr val="795E26"/>
                </a:solidFill>
                <a:highlight>
                  <a:srgbClr val="FFFFFF"/>
                </a:highlight>
                <a:latin typeface="Consolas"/>
                <a:ea typeface="Consolas"/>
                <a:cs typeface="Consolas"/>
                <a:sym typeface="Consolas"/>
              </a:rPr>
              <a:t>@matmul</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%arg0:</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r>
              <a:rPr lang="en-US" sz="1100">
                <a:solidFill>
                  <a:srgbClr val="001080"/>
                </a:solidFill>
                <a:highlight>
                  <a:srgbClr val="FFFFFF"/>
                </a:highlight>
                <a:latin typeface="Consolas"/>
                <a:ea typeface="Consolas"/>
                <a:cs typeface="Consolas"/>
                <a:sym typeface="Consolas"/>
              </a:rPr>
              <a:t>%arg1:</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%0</a:t>
            </a:r>
            <a:r>
              <a:rPr lang="en-US" sz="1100">
                <a:solidFill>
                  <a:schemeClr val="dk1"/>
                </a:solidFill>
                <a:highlight>
                  <a:srgbClr val="FFFFFF"/>
                </a:highlight>
                <a:latin typeface="Consolas"/>
                <a:ea typeface="Consolas"/>
                <a:cs typeface="Consolas"/>
                <a:sym typeface="Consolas"/>
              </a:rPr>
              <a:t> = </a:t>
            </a:r>
            <a:r>
              <a:rPr lang="en-US" sz="1100">
                <a:solidFill>
                  <a:srgbClr val="A31515"/>
                </a:solidFill>
                <a:highlight>
                  <a:srgbClr val="FFFFFF"/>
                </a:highlight>
                <a:latin typeface="Consolas"/>
                <a:ea typeface="Consolas"/>
                <a:cs typeface="Consolas"/>
                <a:sym typeface="Consolas"/>
              </a:rPr>
              <a:t>"tosa.const"</a:t>
            </a:r>
            <a:r>
              <a:rPr lang="en-US" sz="1100">
                <a:solidFill>
                  <a:schemeClr val="dk1"/>
                </a:solidFill>
                <a:highlight>
                  <a:srgbClr val="FFFFFF"/>
                </a:highlight>
                <a:latin typeface="Consolas"/>
                <a:ea typeface="Consolas"/>
                <a:cs typeface="Consolas"/>
                <a:sym typeface="Consolas"/>
              </a:rPr>
              <a:t>() &lt;{</a:t>
            </a:r>
            <a:r>
              <a:rPr lang="en-US" sz="1100">
                <a:solidFill>
                  <a:srgbClr val="001080"/>
                </a:solidFill>
                <a:highlight>
                  <a:srgbClr val="FFFFFF"/>
                </a:highlight>
                <a:latin typeface="Consolas"/>
                <a:ea typeface="Consolas"/>
                <a:cs typeface="Consolas"/>
                <a:sym typeface="Consolas"/>
              </a:rPr>
              <a:t>values </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dense</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0.000000e+00</a:t>
            </a:r>
            <a:r>
              <a:rPr lang="en-US" sz="1100">
                <a:solidFill>
                  <a:schemeClr val="dk1"/>
                </a:solidFill>
                <a:highlight>
                  <a:srgbClr val="FFFFFF"/>
                </a:highlight>
                <a:latin typeface="Consolas"/>
                <a:ea typeface="Consolas"/>
                <a:cs typeface="Consolas"/>
                <a:sym typeface="Consolas"/>
              </a:rPr>
              <a:t>&gt;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&gt;}&gt; : ()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 = </a:t>
            </a:r>
            <a:r>
              <a:rPr lang="en-US" sz="1100">
                <a:solidFill>
                  <a:srgbClr val="A31515"/>
                </a:solidFill>
                <a:highlight>
                  <a:srgbClr val="FFFFFF"/>
                </a:highlight>
                <a:latin typeface="Consolas"/>
                <a:ea typeface="Consolas"/>
                <a:cs typeface="Consolas"/>
                <a:sym typeface="Consolas"/>
              </a:rPr>
              <a:t>"tosa.const"</a:t>
            </a:r>
            <a:r>
              <a:rPr lang="en-US" sz="1100">
                <a:solidFill>
                  <a:schemeClr val="dk1"/>
                </a:solidFill>
                <a:highlight>
                  <a:srgbClr val="FFFFFF"/>
                </a:highlight>
                <a:latin typeface="Consolas"/>
                <a:ea typeface="Consolas"/>
                <a:cs typeface="Consolas"/>
                <a:sym typeface="Consolas"/>
              </a:rPr>
              <a:t>() &lt;{</a:t>
            </a:r>
            <a:r>
              <a:rPr lang="en-US" sz="1100">
                <a:solidFill>
                  <a:srgbClr val="001080"/>
                </a:solidFill>
                <a:highlight>
                  <a:srgbClr val="FFFFFF"/>
                </a:highlight>
                <a:latin typeface="Consolas"/>
                <a:ea typeface="Consolas"/>
                <a:cs typeface="Consolas"/>
                <a:sym typeface="Consolas"/>
              </a:rPr>
              <a:t>values </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dense</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0.000000e+00</a:t>
            </a:r>
            <a:r>
              <a:rPr lang="en-US" sz="1100">
                <a:solidFill>
                  <a:schemeClr val="dk1"/>
                </a:solidFill>
                <a:highlight>
                  <a:srgbClr val="FFFFFF"/>
                </a:highlight>
                <a:latin typeface="Consolas"/>
                <a:ea typeface="Consolas"/>
                <a:cs typeface="Consolas"/>
                <a:sym typeface="Consolas"/>
              </a:rPr>
              <a:t>&gt;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&gt;}&gt; : ()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%cst</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arith.constant</a:t>
            </a:r>
            <a:r>
              <a:rPr lang="en-US" sz="1100">
                <a:solidFill>
                  <a:srgbClr val="098658"/>
                </a:solidFill>
                <a:highlight>
                  <a:srgbClr val="FFFFFF"/>
                </a:highlight>
                <a:latin typeface="Consolas"/>
                <a:ea typeface="Consolas"/>
                <a:cs typeface="Consolas"/>
                <a:sym typeface="Consolas"/>
              </a:rPr>
              <a:t> 0.000000e+00</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endParaRPr sz="11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%2</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tensor.empty</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linalg.fill</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ins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%cst</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outs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%2</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%4</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linalg.batch_matmul</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ins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%arg0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%arg1</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r>
              <a:rPr lang="en-US" sz="1100">
                <a:solidFill>
                  <a:srgbClr val="0000FF"/>
                </a:solidFill>
                <a:highlight>
                  <a:srgbClr val="FFFFFF"/>
                </a:highlight>
                <a:latin typeface="Consolas"/>
                <a:ea typeface="Consolas"/>
                <a:cs typeface="Consolas"/>
                <a:sym typeface="Consolas"/>
              </a:rPr>
              <a:t>outs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rgbClr val="0070C1"/>
                </a:solidFill>
                <a:highlight>
                  <a:srgbClr val="FFFFFF"/>
                </a:highlight>
                <a:latin typeface="Consolas"/>
                <a:ea typeface="Consolas"/>
                <a:cs typeface="Consolas"/>
                <a:sym typeface="Consolas"/>
              </a:rPr>
              <a:t>   return</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%4</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highlight>
                  <a:srgbClr val="FFFFFF"/>
                </a:highlight>
                <a:latin typeface="Consolas"/>
                <a:ea typeface="Consolas"/>
                <a:cs typeface="Consolas"/>
                <a:sym typeface="Consolas"/>
              </a:rPr>
              <a: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a:t>
            </a:r>
            <a:endParaRPr sz="1100">
              <a:solidFill>
                <a:srgbClr val="0000FF"/>
              </a:solidFill>
              <a:highlight>
                <a:srgbClr val="FFFFFF"/>
              </a:highlight>
              <a:latin typeface="Consolas"/>
              <a:ea typeface="Consolas"/>
              <a:cs typeface="Consolas"/>
              <a:sym typeface="Consolas"/>
            </a:endParaRPr>
          </a:p>
        </p:txBody>
      </p:sp>
      <p:grpSp>
        <p:nvGrpSpPr>
          <p:cNvPr id="241" name="Google Shape;241;g3d837e7ff04_0_41"/>
          <p:cNvGrpSpPr/>
          <p:nvPr/>
        </p:nvGrpSpPr>
        <p:grpSpPr>
          <a:xfrm>
            <a:off x="6941375" y="85163"/>
            <a:ext cx="5188500" cy="445275"/>
            <a:chOff x="289925" y="5611838"/>
            <a:chExt cx="5188500" cy="445275"/>
          </a:xfrm>
        </p:grpSpPr>
        <p:sp>
          <p:nvSpPr>
            <p:cNvPr id="242" name="Google Shape;242;g3d837e7ff04_0_41"/>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243" name="Google Shape;243;g3d837e7ff04_0_41"/>
            <p:cNvPicPr preferRelativeResize="0"/>
            <p:nvPr/>
          </p:nvPicPr>
          <p:blipFill>
            <a:blip r:embed="rId4">
              <a:alphaModFix/>
            </a:blip>
            <a:stretch>
              <a:fillRect/>
            </a:stretch>
          </p:blipFill>
          <p:spPr>
            <a:xfrm>
              <a:off x="289925" y="5611838"/>
              <a:ext cx="445275" cy="445275"/>
            </a:xfrm>
            <a:prstGeom prst="rect">
              <a:avLst/>
            </a:prstGeom>
            <a:noFill/>
            <a:ln>
              <a:noFill/>
            </a:ln>
          </p:spPr>
        </p:pic>
        <p:sp>
          <p:nvSpPr>
            <p:cNvPr id="244" name="Google Shape;244;g3d837e7ff04_0_41"/>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2400"/>
                <a:buFont typeface="Arial"/>
                <a:buNone/>
              </a:pPr>
              <a:r>
                <a:rPr lang="en-US" sz="2400" u="sng">
                  <a:solidFill>
                    <a:schemeClr val="hlink"/>
                  </a:solidFill>
                  <a:hlinkClick r:id="rId5"/>
                </a:rPr>
                <a:t>https://godbolt.org/z/K5aGoxTb4</a:t>
              </a:r>
              <a:r>
                <a:rPr lang="en-US" sz="2400">
                  <a:solidFill>
                    <a:schemeClr val="dk1"/>
                  </a:solidFill>
                </a:rPr>
                <a:t> </a:t>
              </a:r>
              <a:endParaRPr sz="24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270158642d6_0_75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TOSA to Linalg</a:t>
            </a:r>
            <a:endParaRPr/>
          </a:p>
        </p:txBody>
      </p:sp>
      <p:sp>
        <p:nvSpPr>
          <p:cNvPr id="251" name="Google Shape;251;g270158642d6_0_756"/>
          <p:cNvSpPr txBox="1"/>
          <p:nvPr/>
        </p:nvSpPr>
        <p:spPr>
          <a:xfrm>
            <a:off x="0" y="0"/>
            <a:ext cx="6760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https://github.com/llvm/llvm-project/blob/b6d0e74fb7d06b7f5693b5ba4078686617c91a66/mlir/test/Conversion/TosaToLinalg/tosa-to-linalg-named.mlir#L6</a:t>
            </a:r>
            <a:r>
              <a:rPr lang="en-US"/>
              <a:t> </a:t>
            </a:r>
            <a:endParaRPr/>
          </a:p>
        </p:txBody>
      </p:sp>
      <p:grpSp>
        <p:nvGrpSpPr>
          <p:cNvPr id="252" name="Google Shape;252;g270158642d6_0_756"/>
          <p:cNvGrpSpPr/>
          <p:nvPr/>
        </p:nvGrpSpPr>
        <p:grpSpPr>
          <a:xfrm>
            <a:off x="6951750" y="85163"/>
            <a:ext cx="5188500" cy="445275"/>
            <a:chOff x="289925" y="5611838"/>
            <a:chExt cx="5188500" cy="445275"/>
          </a:xfrm>
        </p:grpSpPr>
        <p:sp>
          <p:nvSpPr>
            <p:cNvPr id="253" name="Google Shape;253;g270158642d6_0_756"/>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254" name="Google Shape;254;g270158642d6_0_756"/>
            <p:cNvPicPr preferRelativeResize="0"/>
            <p:nvPr/>
          </p:nvPicPr>
          <p:blipFill>
            <a:blip r:embed="rId4">
              <a:alphaModFix/>
            </a:blip>
            <a:stretch>
              <a:fillRect/>
            </a:stretch>
          </p:blipFill>
          <p:spPr>
            <a:xfrm>
              <a:off x="289925" y="5611838"/>
              <a:ext cx="445275" cy="445275"/>
            </a:xfrm>
            <a:prstGeom prst="rect">
              <a:avLst/>
            </a:prstGeom>
            <a:noFill/>
            <a:ln>
              <a:noFill/>
            </a:ln>
          </p:spPr>
        </p:pic>
        <p:sp>
          <p:nvSpPr>
            <p:cNvPr id="255" name="Google Shape;255;g270158642d6_0_756"/>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2400"/>
                <a:buFont typeface="Arial"/>
                <a:buNone/>
              </a:pPr>
              <a:r>
                <a:rPr lang="en-US" sz="2400" u="sng">
                  <a:solidFill>
                    <a:schemeClr val="hlink"/>
                  </a:solidFill>
                  <a:hlinkClick r:id="rId5"/>
                </a:rPr>
                <a:t>https://godbolt.org/z/5PnTbWbj8</a:t>
              </a:r>
              <a:r>
                <a:rPr lang="en-US" sz="2400">
                  <a:solidFill>
                    <a:schemeClr val="dk1"/>
                  </a:solidFill>
                </a:rPr>
                <a:t> </a:t>
              </a:r>
              <a:endParaRPr sz="2400"/>
            </a:p>
          </p:txBody>
        </p:sp>
      </p:grpSp>
      <p:sp>
        <p:nvSpPr>
          <p:cNvPr id="256" name="Google Shape;256;g270158642d6_0_756"/>
          <p:cNvSpPr txBox="1"/>
          <p:nvPr/>
        </p:nvSpPr>
        <p:spPr>
          <a:xfrm>
            <a:off x="119550" y="1264825"/>
            <a:ext cx="11709600" cy="1200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func.func</a:t>
            </a:r>
            <a:r>
              <a:rPr lang="en-US" sz="1100">
                <a:solidFill>
                  <a:schemeClr val="dk1"/>
                </a:solidFill>
                <a:latin typeface="Consolas"/>
                <a:ea typeface="Consolas"/>
                <a:cs typeface="Consolas"/>
                <a:sym typeface="Consolas"/>
              </a:rPr>
              <a:t> </a:t>
            </a:r>
            <a:r>
              <a:rPr lang="en-US" sz="1100">
                <a:solidFill>
                  <a:srgbClr val="795E26"/>
                </a:solidFill>
                <a:latin typeface="Consolas"/>
                <a:ea typeface="Consolas"/>
                <a:cs typeface="Consolas"/>
                <a:sym typeface="Consolas"/>
              </a:rPr>
              <a:t>@matmul</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%a_zp</a:t>
            </a:r>
            <a:r>
              <a:rPr lang="en-US" sz="1100">
                <a:solidFill>
                  <a:schemeClr val="dk1"/>
                </a:solidFill>
                <a:latin typeface="Consolas"/>
                <a:ea typeface="Consolas"/>
                <a:cs typeface="Consolas"/>
                <a:sym typeface="Consolas"/>
              </a:rPr>
              <a:t> = </a:t>
            </a:r>
            <a:r>
              <a:rPr lang="en-US" sz="1100">
                <a:solidFill>
                  <a:srgbClr val="A31515"/>
                </a:solidFill>
                <a:latin typeface="Consolas"/>
                <a:ea typeface="Consolas"/>
                <a:cs typeface="Consolas"/>
                <a:sym typeface="Consolas"/>
              </a:rPr>
              <a:t>"tosa.const"</a:t>
            </a:r>
            <a:r>
              <a:rPr lang="en-US" sz="1100">
                <a:solidFill>
                  <a:schemeClr val="dk1"/>
                </a:solidFill>
                <a:latin typeface="Consolas"/>
                <a:ea typeface="Consolas"/>
                <a:cs typeface="Consolas"/>
                <a:sym typeface="Consolas"/>
              </a:rPr>
              <a:t>() &lt;{</a:t>
            </a:r>
            <a:r>
              <a:rPr lang="en-US" sz="1100">
                <a:solidFill>
                  <a:srgbClr val="001080"/>
                </a:solidFill>
                <a:latin typeface="Consolas"/>
                <a:ea typeface="Consolas"/>
                <a:cs typeface="Consolas"/>
                <a:sym typeface="Consolas"/>
              </a:rPr>
              <a:t>values </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dense</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0.0</a:t>
            </a:r>
            <a:r>
              <a:rPr lang="en-US" sz="1100">
                <a:solidFill>
                  <a:schemeClr val="dk1"/>
                </a:solidFill>
                <a:latin typeface="Consolas"/>
                <a:ea typeface="Consolas"/>
                <a:cs typeface="Consolas"/>
                <a:sym typeface="Consolas"/>
              </a:rPr>
              <a:t>&gt;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&gt;}&gt; : ()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%b_zp</a:t>
            </a:r>
            <a:r>
              <a:rPr lang="en-US" sz="1100">
                <a:solidFill>
                  <a:schemeClr val="dk1"/>
                </a:solidFill>
                <a:latin typeface="Consolas"/>
                <a:ea typeface="Consolas"/>
                <a:cs typeface="Consolas"/>
                <a:sym typeface="Consolas"/>
              </a:rPr>
              <a:t> = </a:t>
            </a:r>
            <a:r>
              <a:rPr lang="en-US" sz="1100">
                <a:solidFill>
                  <a:srgbClr val="A31515"/>
                </a:solidFill>
                <a:latin typeface="Consolas"/>
                <a:ea typeface="Consolas"/>
                <a:cs typeface="Consolas"/>
                <a:sym typeface="Consolas"/>
              </a:rPr>
              <a:t>"tosa.const"</a:t>
            </a:r>
            <a:r>
              <a:rPr lang="en-US" sz="1100">
                <a:solidFill>
                  <a:schemeClr val="dk1"/>
                </a:solidFill>
                <a:latin typeface="Consolas"/>
                <a:ea typeface="Consolas"/>
                <a:cs typeface="Consolas"/>
                <a:sym typeface="Consolas"/>
              </a:rPr>
              <a:t>() &lt;{</a:t>
            </a:r>
            <a:r>
              <a:rPr lang="en-US" sz="1100">
                <a:solidFill>
                  <a:srgbClr val="001080"/>
                </a:solidFill>
                <a:latin typeface="Consolas"/>
                <a:ea typeface="Consolas"/>
                <a:cs typeface="Consolas"/>
                <a:sym typeface="Consolas"/>
              </a:rPr>
              <a:t>values </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dense</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0.0</a:t>
            </a:r>
            <a:r>
              <a:rPr lang="en-US" sz="1100">
                <a:solidFill>
                  <a:schemeClr val="dk1"/>
                </a:solidFill>
                <a:latin typeface="Consolas"/>
                <a:ea typeface="Consolas"/>
                <a:cs typeface="Consolas"/>
                <a:sym typeface="Consolas"/>
              </a:rPr>
              <a:t>&gt;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&gt;}&gt; : ()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%0</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tosa.matmul</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%a_zp</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%b_zp</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3</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  -&gt;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 return</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%0</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tensor</a:t>
            </a:r>
            <a:r>
              <a:rPr lang="en-US" sz="1100">
                <a:solidFill>
                  <a:schemeClr val="dk1"/>
                </a:solidFill>
                <a:latin typeface="Consolas"/>
                <a:ea typeface="Consolas"/>
                <a:cs typeface="Consolas"/>
                <a:sym typeface="Consolas"/>
              </a:rPr>
              <a:t>&lt;</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5</a:t>
            </a:r>
            <a:r>
              <a:rPr lang="en-US" sz="1100">
                <a:solidFill>
                  <a:schemeClr val="dk1"/>
                </a:solidFill>
                <a:latin typeface="Consolas"/>
                <a:ea typeface="Consolas"/>
                <a:cs typeface="Consolas"/>
                <a:sym typeface="Consolas"/>
              </a:rPr>
              <a:t>x</a:t>
            </a:r>
            <a:r>
              <a:rPr lang="en-US" sz="1100">
                <a:solidFill>
                  <a:srgbClr val="098658"/>
                </a:solidFill>
                <a:latin typeface="Consolas"/>
                <a:ea typeface="Consolas"/>
                <a:cs typeface="Consolas"/>
                <a:sym typeface="Consolas"/>
              </a:rPr>
              <a:t>6</a:t>
            </a:r>
            <a:r>
              <a:rPr lang="en-US" sz="1100">
                <a:solidFill>
                  <a:schemeClr val="dk1"/>
                </a:solidFill>
                <a:latin typeface="Consolas"/>
                <a:ea typeface="Consolas"/>
                <a:cs typeface="Consolas"/>
                <a:sym typeface="Consolas"/>
              </a:rPr>
              <a:t>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p:txBody>
      </p:sp>
      <p:cxnSp>
        <p:nvCxnSpPr>
          <p:cNvPr id="257" name="Google Shape;257;g270158642d6_0_756"/>
          <p:cNvCxnSpPr>
            <a:endCxn id="258" idx="0"/>
          </p:cNvCxnSpPr>
          <p:nvPr/>
        </p:nvCxnSpPr>
        <p:spPr>
          <a:xfrm>
            <a:off x="5893800" y="2299050"/>
            <a:ext cx="5400" cy="349800"/>
          </a:xfrm>
          <a:prstGeom prst="straightConnector1">
            <a:avLst/>
          </a:prstGeom>
          <a:noFill/>
          <a:ln cap="flat" cmpd="sng" w="9525">
            <a:solidFill>
              <a:schemeClr val="dk2"/>
            </a:solidFill>
            <a:prstDash val="solid"/>
            <a:round/>
            <a:headEnd len="med" w="med" type="none"/>
            <a:tailEnd len="med" w="med" type="triangle"/>
          </a:ln>
        </p:spPr>
      </p:cxnSp>
      <p:sp>
        <p:nvSpPr>
          <p:cNvPr id="258" name="Google Shape;258;g270158642d6_0_756"/>
          <p:cNvSpPr txBox="1"/>
          <p:nvPr/>
        </p:nvSpPr>
        <p:spPr>
          <a:xfrm>
            <a:off x="-30750" y="2648850"/>
            <a:ext cx="11859900" cy="4248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rgbClr val="0000FF"/>
                </a:solidFill>
                <a:highlight>
                  <a:srgbClr val="FFFFFF"/>
                </a:highlight>
                <a:latin typeface="Consolas"/>
                <a:ea typeface="Consolas"/>
                <a:cs typeface="Consolas"/>
                <a:sym typeface="Consolas"/>
              </a:rPr>
              <a:t>#map</a:t>
            </a:r>
            <a:r>
              <a:rPr lang="en-US" sz="1100">
                <a:solidFill>
                  <a:schemeClr val="dk1"/>
                </a:solidFill>
                <a:highlight>
                  <a:srgbClr val="FFFFFF"/>
                </a:highlight>
                <a:latin typeface="Consolas"/>
                <a:ea typeface="Consolas"/>
                <a:cs typeface="Consolas"/>
                <a:sym typeface="Consolas"/>
              </a:rPr>
              <a:t> = </a:t>
            </a:r>
            <a:r>
              <a:rPr lang="en-US" sz="1100">
                <a:solidFill>
                  <a:srgbClr val="0000FF"/>
                </a:solidFill>
                <a:highlight>
                  <a:srgbClr val="FFFFFF"/>
                </a:highlight>
                <a:latin typeface="Consolas"/>
                <a:ea typeface="Consolas"/>
                <a:cs typeface="Consolas"/>
                <a:sym typeface="Consolas"/>
              </a:rPr>
              <a:t>affine_map</a:t>
            </a:r>
            <a:r>
              <a:rPr lang="en-US" sz="1100">
                <a:solidFill>
                  <a:schemeClr val="dk1"/>
                </a:solidFill>
                <a:highlight>
                  <a:srgbClr val="FFFFFF"/>
                </a:highlight>
                <a:latin typeface="Consolas"/>
                <a:ea typeface="Consolas"/>
                <a:cs typeface="Consolas"/>
                <a:sym typeface="Consolas"/>
              </a:rPr>
              <a:t>&lt;(</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 -&gt; ()&gt;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00FF"/>
                </a:solidFill>
                <a:highlight>
                  <a:srgbClr val="FFFFFF"/>
                </a:highlight>
                <a:latin typeface="Consolas"/>
                <a:ea typeface="Consolas"/>
                <a:cs typeface="Consolas"/>
                <a:sym typeface="Consolas"/>
              </a:rPr>
              <a:t>#map1</a:t>
            </a:r>
            <a:r>
              <a:rPr lang="en-US" sz="1100">
                <a:solidFill>
                  <a:schemeClr val="dk1"/>
                </a:solidFill>
                <a:highlight>
                  <a:srgbClr val="FFFFFF"/>
                </a:highlight>
                <a:latin typeface="Consolas"/>
                <a:ea typeface="Consolas"/>
                <a:cs typeface="Consolas"/>
                <a:sym typeface="Consolas"/>
              </a:rPr>
              <a:t> = </a:t>
            </a:r>
            <a:r>
              <a:rPr lang="en-US" sz="1100">
                <a:solidFill>
                  <a:srgbClr val="0000FF"/>
                </a:solidFill>
                <a:highlight>
                  <a:srgbClr val="FFFFFF"/>
                </a:highlight>
                <a:latin typeface="Consolas"/>
                <a:ea typeface="Consolas"/>
                <a:cs typeface="Consolas"/>
                <a:sym typeface="Consolas"/>
              </a:rPr>
              <a:t>affine_map</a:t>
            </a:r>
            <a:r>
              <a:rPr lang="en-US" sz="1100">
                <a:solidFill>
                  <a:schemeClr val="dk1"/>
                </a:solidFill>
                <a:highlight>
                  <a:srgbClr val="FFFFFF"/>
                </a:highlight>
                <a:latin typeface="Consolas"/>
                <a:ea typeface="Consolas"/>
                <a:cs typeface="Consolas"/>
                <a:sym typeface="Consolas"/>
              </a:rPr>
              <a:t>&lt;(</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 -&gt; (</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00FF"/>
                </a:solidFill>
                <a:highlight>
                  <a:srgbClr val="FFFFFF"/>
                </a:highlight>
                <a:latin typeface="Consolas"/>
                <a:ea typeface="Consolas"/>
                <a:cs typeface="Consolas"/>
                <a:sym typeface="Consolas"/>
              </a:rPr>
              <a:t>#map2</a:t>
            </a:r>
            <a:r>
              <a:rPr lang="en-US" sz="1100">
                <a:solidFill>
                  <a:schemeClr val="dk1"/>
                </a:solidFill>
                <a:highlight>
                  <a:srgbClr val="FFFFFF"/>
                </a:highlight>
                <a:latin typeface="Consolas"/>
                <a:ea typeface="Consolas"/>
                <a:cs typeface="Consolas"/>
                <a:sym typeface="Consolas"/>
              </a:rPr>
              <a:t> = </a:t>
            </a:r>
            <a:r>
              <a:rPr lang="en-US" sz="1100">
                <a:solidFill>
                  <a:srgbClr val="0000FF"/>
                </a:solidFill>
                <a:highlight>
                  <a:srgbClr val="FFFFFF"/>
                </a:highlight>
                <a:latin typeface="Consolas"/>
                <a:ea typeface="Consolas"/>
                <a:cs typeface="Consolas"/>
                <a:sym typeface="Consolas"/>
              </a:rPr>
              <a:t>affine_map</a:t>
            </a:r>
            <a:r>
              <a:rPr lang="en-US" sz="1100">
                <a:solidFill>
                  <a:schemeClr val="dk1"/>
                </a:solidFill>
                <a:highlight>
                  <a:srgbClr val="FFFFFF"/>
                </a:highlight>
                <a:latin typeface="Consolas"/>
                <a:ea typeface="Consolas"/>
                <a:cs typeface="Consolas"/>
                <a:sym typeface="Consolas"/>
              </a:rPr>
              <a:t>&lt;(</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d3</a:t>
            </a:r>
            <a:r>
              <a:rPr lang="en-US" sz="1100">
                <a:solidFill>
                  <a:schemeClr val="dk1"/>
                </a:solidFill>
                <a:highlight>
                  <a:srgbClr val="FFFFFF"/>
                </a:highlight>
                <a:latin typeface="Consolas"/>
                <a:ea typeface="Consolas"/>
                <a:cs typeface="Consolas"/>
                <a:sym typeface="Consolas"/>
              </a:rPr>
              <a:t>) -&gt; (</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d3</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00FF"/>
                </a:solidFill>
                <a:highlight>
                  <a:srgbClr val="FFFFFF"/>
                </a:highlight>
                <a:latin typeface="Consolas"/>
                <a:ea typeface="Consolas"/>
                <a:cs typeface="Consolas"/>
                <a:sym typeface="Consolas"/>
              </a:rPr>
              <a:t>#map3</a:t>
            </a:r>
            <a:r>
              <a:rPr lang="en-US" sz="1100">
                <a:solidFill>
                  <a:schemeClr val="dk1"/>
                </a:solidFill>
                <a:highlight>
                  <a:srgbClr val="FFFFFF"/>
                </a:highlight>
                <a:latin typeface="Consolas"/>
                <a:ea typeface="Consolas"/>
                <a:cs typeface="Consolas"/>
                <a:sym typeface="Consolas"/>
              </a:rPr>
              <a:t> = </a:t>
            </a:r>
            <a:r>
              <a:rPr lang="en-US" sz="1100">
                <a:solidFill>
                  <a:srgbClr val="0000FF"/>
                </a:solidFill>
                <a:highlight>
                  <a:srgbClr val="FFFFFF"/>
                </a:highlight>
                <a:latin typeface="Consolas"/>
                <a:ea typeface="Consolas"/>
                <a:cs typeface="Consolas"/>
                <a:sym typeface="Consolas"/>
              </a:rPr>
              <a:t>affine_map</a:t>
            </a:r>
            <a:r>
              <a:rPr lang="en-US" sz="1100">
                <a:solidFill>
                  <a:schemeClr val="dk1"/>
                </a:solidFill>
                <a:highlight>
                  <a:srgbClr val="FFFFFF"/>
                </a:highlight>
                <a:latin typeface="Consolas"/>
                <a:ea typeface="Consolas"/>
                <a:cs typeface="Consolas"/>
                <a:sym typeface="Consolas"/>
              </a:rPr>
              <a:t>&lt;(</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d3</a:t>
            </a:r>
            <a:r>
              <a:rPr lang="en-US" sz="1100">
                <a:solidFill>
                  <a:schemeClr val="dk1"/>
                </a:solidFill>
                <a:highlight>
                  <a:srgbClr val="FFFFFF"/>
                </a:highlight>
                <a:latin typeface="Consolas"/>
                <a:ea typeface="Consolas"/>
                <a:cs typeface="Consolas"/>
                <a:sym typeface="Consolas"/>
              </a:rPr>
              <a:t>) -&gt; (</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d3</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00FF"/>
                </a:solidFill>
                <a:highlight>
                  <a:srgbClr val="FFFFFF"/>
                </a:highlight>
                <a:latin typeface="Consolas"/>
                <a:ea typeface="Consolas"/>
                <a:cs typeface="Consolas"/>
                <a:sym typeface="Consolas"/>
              </a:rPr>
              <a:t>#map4</a:t>
            </a:r>
            <a:r>
              <a:rPr lang="en-US" sz="1100">
                <a:solidFill>
                  <a:schemeClr val="dk1"/>
                </a:solidFill>
                <a:highlight>
                  <a:srgbClr val="FFFFFF"/>
                </a:highlight>
                <a:latin typeface="Consolas"/>
                <a:ea typeface="Consolas"/>
                <a:cs typeface="Consolas"/>
                <a:sym typeface="Consolas"/>
              </a:rPr>
              <a:t> = </a:t>
            </a:r>
            <a:r>
              <a:rPr lang="en-US" sz="1100">
                <a:solidFill>
                  <a:srgbClr val="0000FF"/>
                </a:solidFill>
                <a:highlight>
                  <a:srgbClr val="FFFFFF"/>
                </a:highlight>
                <a:latin typeface="Consolas"/>
                <a:ea typeface="Consolas"/>
                <a:cs typeface="Consolas"/>
                <a:sym typeface="Consolas"/>
              </a:rPr>
              <a:t>affine_map</a:t>
            </a:r>
            <a:r>
              <a:rPr lang="en-US" sz="1100">
                <a:solidFill>
                  <a:schemeClr val="dk1"/>
                </a:solidFill>
                <a:highlight>
                  <a:srgbClr val="FFFFFF"/>
                </a:highlight>
                <a:latin typeface="Consolas"/>
                <a:ea typeface="Consolas"/>
                <a:cs typeface="Consolas"/>
                <a:sym typeface="Consolas"/>
              </a:rPr>
              <a:t>&lt;(</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d3</a:t>
            </a:r>
            <a:r>
              <a:rPr lang="en-US" sz="1100">
                <a:solidFill>
                  <a:schemeClr val="dk1"/>
                </a:solidFill>
                <a:highlight>
                  <a:srgbClr val="FFFFFF"/>
                </a:highlight>
                <a:latin typeface="Consolas"/>
                <a:ea typeface="Consolas"/>
                <a:cs typeface="Consolas"/>
                <a:sym typeface="Consolas"/>
              </a:rPr>
              <a:t>) -&gt; (</a:t>
            </a:r>
            <a:r>
              <a:rPr lang="en-US" sz="1100">
                <a:solidFill>
                  <a:srgbClr val="001080"/>
                </a:solidFill>
                <a:highlight>
                  <a:srgbClr val="FFFFFF"/>
                </a:highlight>
                <a:latin typeface="Consolas"/>
                <a:ea typeface="Consolas"/>
                <a:cs typeface="Consolas"/>
                <a:sym typeface="Consolas"/>
              </a:rPr>
              <a:t>d0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d2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highlight>
                  <a:srgbClr val="FFFFFF"/>
                </a:highlight>
                <a:latin typeface="Consolas"/>
                <a:ea typeface="Consolas"/>
                <a:cs typeface="Consolas"/>
                <a:sym typeface="Consolas"/>
              </a:rPr>
              <a:t>module</a:t>
            </a:r>
            <a:r>
              <a:rPr lang="en-US" sz="1100">
                <a:solidFill>
                  <a:schemeClr val="dk1"/>
                </a:solidFill>
                <a:highlight>
                  <a:srgbClr val="FFFFFF"/>
                </a:highlight>
                <a:latin typeface="Consolas"/>
                <a:ea typeface="Consolas"/>
                <a:cs typeface="Consolas"/>
                <a:sym typeface="Consolas"/>
              </a:rPr>
              <a: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highlight>
                  <a:srgbClr val="FFFFFF"/>
                </a:highlight>
                <a:latin typeface="Consolas"/>
                <a:ea typeface="Consolas"/>
                <a:cs typeface="Consolas"/>
                <a:sym typeface="Consolas"/>
              </a:rPr>
              <a:t> func.func</a:t>
            </a:r>
            <a:r>
              <a:rPr lang="en-US" sz="1100">
                <a:solidFill>
                  <a:schemeClr val="dk1"/>
                </a:solidFill>
                <a:highlight>
                  <a:srgbClr val="FFFFFF"/>
                </a:highlight>
                <a:latin typeface="Consolas"/>
                <a:ea typeface="Consolas"/>
                <a:cs typeface="Consolas"/>
                <a:sym typeface="Consolas"/>
              </a:rPr>
              <a:t> </a:t>
            </a:r>
            <a:r>
              <a:rPr lang="en-US" sz="1100">
                <a:solidFill>
                  <a:srgbClr val="795E26"/>
                </a:solidFill>
                <a:highlight>
                  <a:srgbClr val="FFFFFF"/>
                </a:highlight>
                <a:latin typeface="Consolas"/>
                <a:ea typeface="Consolas"/>
                <a:cs typeface="Consolas"/>
                <a:sym typeface="Consolas"/>
              </a:rPr>
              <a:t>@matmul</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%arg0:</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r>
              <a:rPr lang="en-US" sz="1100">
                <a:solidFill>
                  <a:srgbClr val="001080"/>
                </a:solidFill>
                <a:highlight>
                  <a:srgbClr val="FFFFFF"/>
                </a:highlight>
                <a:latin typeface="Consolas"/>
                <a:ea typeface="Consolas"/>
                <a:cs typeface="Consolas"/>
                <a:sym typeface="Consolas"/>
              </a:rPr>
              <a:t>%arg1:</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%cst</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arith.constant</a:t>
            </a:r>
            <a:r>
              <a:rPr lang="en-US" sz="1100">
                <a:solidFill>
                  <a:srgbClr val="098658"/>
                </a:solidFill>
                <a:highlight>
                  <a:srgbClr val="FFFFFF"/>
                </a:highlight>
                <a:latin typeface="Consolas"/>
                <a:ea typeface="Consolas"/>
                <a:cs typeface="Consolas"/>
                <a:sym typeface="Consolas"/>
              </a:rPr>
              <a:t> 0.000000e+00</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endParaRPr sz="11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%0</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tensor.empty</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linalg.generic</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index</a:t>
            </a:r>
            <a:r>
              <a:rPr lang="en-US" sz="1100">
                <a:solidFill>
                  <a:schemeClr val="dk1"/>
                </a:solidFill>
                <a:highlight>
                  <a:srgbClr val="FFFFFF"/>
                </a:highlight>
                <a:latin typeface="Consolas"/>
                <a:ea typeface="Consolas"/>
                <a:cs typeface="Consolas"/>
                <a:sym typeface="Consolas"/>
              </a:rPr>
              <a:t>ing_maps = [</a:t>
            </a:r>
            <a:r>
              <a:rPr lang="en-US" sz="1100">
                <a:solidFill>
                  <a:srgbClr val="0000FF"/>
                </a:solidFill>
                <a:highlight>
                  <a:srgbClr val="FFFFFF"/>
                </a:highlight>
                <a:latin typeface="Consolas"/>
                <a:ea typeface="Consolas"/>
                <a:cs typeface="Consolas"/>
                <a:sym typeface="Consolas"/>
              </a:rPr>
              <a:t>#map</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#map1</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iterator_types </a:t>
            </a:r>
            <a:r>
              <a:rPr lang="en-US" sz="1100">
                <a:solidFill>
                  <a:schemeClr val="dk1"/>
                </a:solidFill>
                <a:highlight>
                  <a:srgbClr val="FFFFFF"/>
                </a:highlight>
                <a:latin typeface="Consolas"/>
                <a:ea typeface="Consolas"/>
                <a:cs typeface="Consolas"/>
                <a:sym typeface="Consolas"/>
              </a:rPr>
              <a:t>= [</a:t>
            </a:r>
            <a:r>
              <a:rPr lang="en-US" sz="1100">
                <a:solidFill>
                  <a:srgbClr val="A31515"/>
                </a:solidFill>
                <a:highlight>
                  <a:srgbClr val="FFFFFF"/>
                </a:highlight>
                <a:latin typeface="Consolas"/>
                <a:ea typeface="Consolas"/>
                <a:cs typeface="Consolas"/>
                <a:sym typeface="Consolas"/>
              </a:rPr>
              <a:t>"parallel"</a:t>
            </a:r>
            <a:r>
              <a:rPr lang="en-US" sz="1100">
                <a:solidFill>
                  <a:schemeClr val="dk1"/>
                </a:solidFill>
                <a:highlight>
                  <a:srgbClr val="FFFFFF"/>
                </a:highlight>
                <a:latin typeface="Consolas"/>
                <a:ea typeface="Consolas"/>
                <a:cs typeface="Consolas"/>
                <a:sym typeface="Consolas"/>
              </a:rPr>
              <a:t>, </a:t>
            </a:r>
            <a:r>
              <a:rPr lang="en-US" sz="1100">
                <a:solidFill>
                  <a:srgbClr val="A31515"/>
                </a:solidFill>
                <a:highlight>
                  <a:srgbClr val="FFFFFF"/>
                </a:highlight>
                <a:latin typeface="Consolas"/>
                <a:ea typeface="Consolas"/>
                <a:cs typeface="Consolas"/>
                <a:sym typeface="Consolas"/>
              </a:rPr>
              <a:t>"parallel"</a:t>
            </a:r>
            <a:r>
              <a:rPr lang="en-US" sz="1100">
                <a:solidFill>
                  <a:schemeClr val="dk1"/>
                </a:solidFill>
                <a:highlight>
                  <a:srgbClr val="FFFFFF"/>
                </a:highlight>
                <a:latin typeface="Consolas"/>
                <a:ea typeface="Consolas"/>
                <a:cs typeface="Consolas"/>
                <a:sym typeface="Consolas"/>
              </a:rPr>
              <a:t>, </a:t>
            </a:r>
            <a:r>
              <a:rPr lang="en-US" sz="1100">
                <a:solidFill>
                  <a:srgbClr val="A31515"/>
                </a:solidFill>
                <a:highlight>
                  <a:srgbClr val="FFFFFF"/>
                </a:highlight>
                <a:latin typeface="Consolas"/>
                <a:ea typeface="Consolas"/>
                <a:cs typeface="Consolas"/>
                <a:sym typeface="Consolas"/>
              </a:rPr>
              <a:t>"parallel"</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ins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%cst</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outs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%0</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AF00DB"/>
                </a:solidFill>
                <a:highlight>
                  <a:srgbClr val="FFFFFF"/>
                </a:highlight>
                <a:latin typeface="Consolas"/>
                <a:ea typeface="Consolas"/>
                <a:cs typeface="Consolas"/>
                <a:sym typeface="Consolas"/>
              </a:rPr>
              <a:t>^bb0</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%in:</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%out:</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highlight>
                  <a:srgbClr val="FFFFFF"/>
                </a:highlight>
                <a:latin typeface="Consolas"/>
                <a:ea typeface="Consolas"/>
                <a:cs typeface="Consolas"/>
                <a:sym typeface="Consolas"/>
              </a:rPr>
              <a:t>     linalg.yield</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%in</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endParaRPr sz="11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%2</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linalg.generic</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index</a:t>
            </a:r>
            <a:r>
              <a:rPr lang="en-US" sz="1100">
                <a:solidFill>
                  <a:schemeClr val="dk1"/>
                </a:solidFill>
                <a:highlight>
                  <a:srgbClr val="FFFFFF"/>
                </a:highlight>
                <a:latin typeface="Consolas"/>
                <a:ea typeface="Consolas"/>
                <a:cs typeface="Consolas"/>
                <a:sym typeface="Consolas"/>
              </a:rPr>
              <a:t>ing_maps = [</a:t>
            </a:r>
            <a:r>
              <a:rPr lang="en-US" sz="1100">
                <a:solidFill>
                  <a:srgbClr val="0000FF"/>
                </a:solidFill>
                <a:highlight>
                  <a:srgbClr val="FFFFFF"/>
                </a:highlight>
                <a:latin typeface="Consolas"/>
                <a:ea typeface="Consolas"/>
                <a:cs typeface="Consolas"/>
                <a:sym typeface="Consolas"/>
              </a:rPr>
              <a:t>#map2</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#map3</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#map4</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iterator_types </a:t>
            </a:r>
            <a:r>
              <a:rPr lang="en-US" sz="1100">
                <a:solidFill>
                  <a:schemeClr val="dk1"/>
                </a:solidFill>
                <a:highlight>
                  <a:srgbClr val="FFFFFF"/>
                </a:highlight>
                <a:latin typeface="Consolas"/>
                <a:ea typeface="Consolas"/>
                <a:cs typeface="Consolas"/>
                <a:sym typeface="Consolas"/>
              </a:rPr>
              <a:t>= [</a:t>
            </a:r>
            <a:r>
              <a:rPr lang="en-US" sz="1100">
                <a:solidFill>
                  <a:srgbClr val="A31515"/>
                </a:solidFill>
                <a:highlight>
                  <a:srgbClr val="FFFFFF"/>
                </a:highlight>
                <a:latin typeface="Consolas"/>
                <a:ea typeface="Consolas"/>
                <a:cs typeface="Consolas"/>
                <a:sym typeface="Consolas"/>
              </a:rPr>
              <a:t>"parallel"</a:t>
            </a:r>
            <a:r>
              <a:rPr lang="en-US" sz="1100">
                <a:solidFill>
                  <a:schemeClr val="dk1"/>
                </a:solidFill>
                <a:highlight>
                  <a:srgbClr val="FFFFFF"/>
                </a:highlight>
                <a:latin typeface="Consolas"/>
                <a:ea typeface="Consolas"/>
                <a:cs typeface="Consolas"/>
                <a:sym typeface="Consolas"/>
              </a:rPr>
              <a:t>, </a:t>
            </a:r>
            <a:r>
              <a:rPr lang="en-US" sz="1100">
                <a:solidFill>
                  <a:srgbClr val="A31515"/>
                </a:solidFill>
                <a:highlight>
                  <a:srgbClr val="FFFFFF"/>
                </a:highlight>
                <a:latin typeface="Consolas"/>
                <a:ea typeface="Consolas"/>
                <a:cs typeface="Consolas"/>
                <a:sym typeface="Consolas"/>
              </a:rPr>
              <a:t>"parallel"</a:t>
            </a:r>
            <a:r>
              <a:rPr lang="en-US" sz="1100">
                <a:solidFill>
                  <a:schemeClr val="dk1"/>
                </a:solidFill>
                <a:highlight>
                  <a:srgbClr val="FFFFFF"/>
                </a:highlight>
                <a:latin typeface="Consolas"/>
                <a:ea typeface="Consolas"/>
                <a:cs typeface="Consolas"/>
                <a:sym typeface="Consolas"/>
              </a:rPr>
              <a:t>, </a:t>
            </a:r>
            <a:r>
              <a:rPr lang="en-US" sz="1100">
                <a:solidFill>
                  <a:srgbClr val="A31515"/>
                </a:solidFill>
                <a:highlight>
                  <a:srgbClr val="FFFFFF"/>
                </a:highlight>
                <a:latin typeface="Consolas"/>
                <a:ea typeface="Consolas"/>
                <a:cs typeface="Consolas"/>
                <a:sym typeface="Consolas"/>
              </a:rPr>
              <a:t>"parallel"</a:t>
            </a:r>
            <a:r>
              <a:rPr lang="en-US" sz="1100">
                <a:solidFill>
                  <a:schemeClr val="dk1"/>
                </a:solidFill>
                <a:highlight>
                  <a:srgbClr val="FFFFFF"/>
                </a:highlight>
                <a:latin typeface="Consolas"/>
                <a:ea typeface="Consolas"/>
                <a:cs typeface="Consolas"/>
                <a:sym typeface="Consolas"/>
              </a:rPr>
              <a:t>, </a:t>
            </a:r>
            <a:r>
              <a:rPr lang="en-US" sz="1100">
                <a:solidFill>
                  <a:srgbClr val="A31515"/>
                </a:solidFill>
                <a:highlight>
                  <a:srgbClr val="FFFFFF"/>
                </a:highlight>
                <a:latin typeface="Consolas"/>
                <a:ea typeface="Consolas"/>
                <a:cs typeface="Consolas"/>
                <a:sym typeface="Consolas"/>
              </a:rPr>
              <a:t>"reduction"</a:t>
            </a:r>
            <a:r>
              <a:rPr lang="en-US" sz="1100">
                <a:solidFill>
                  <a:schemeClr val="dk1"/>
                </a:solidFill>
                <a:highlight>
                  <a:srgbClr val="FFFFFF"/>
                </a:highlight>
                <a:latin typeface="Consolas"/>
                <a:ea typeface="Consolas"/>
                <a:cs typeface="Consolas"/>
                <a:sym typeface="Consolas"/>
              </a:rPr>
              <a:t>]} </a:t>
            </a:r>
            <a:r>
              <a:rPr lang="en-US" sz="1100">
                <a:solidFill>
                  <a:srgbClr val="0000FF"/>
                </a:solidFill>
                <a:highlight>
                  <a:srgbClr val="FFFFFF"/>
                </a:highlight>
                <a:latin typeface="Consolas"/>
                <a:ea typeface="Consolas"/>
                <a:cs typeface="Consolas"/>
                <a:sym typeface="Consolas"/>
              </a:rPr>
              <a:t>ins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%arg0</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%arg1</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r>
              <a:rPr lang="en-US" sz="1100">
                <a:solidFill>
                  <a:srgbClr val="0000FF"/>
                </a:solidFill>
                <a:highlight>
                  <a:srgbClr val="FFFFFF"/>
                </a:highlight>
                <a:latin typeface="Consolas"/>
                <a:ea typeface="Consolas"/>
                <a:cs typeface="Consolas"/>
                <a:sym typeface="Consolas"/>
              </a:rPr>
              <a:t>outs</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AF00DB"/>
                </a:solidFill>
                <a:highlight>
                  <a:srgbClr val="FFFFFF"/>
                </a:highlight>
                <a:latin typeface="Consolas"/>
                <a:ea typeface="Consolas"/>
                <a:cs typeface="Consolas"/>
                <a:sym typeface="Consolas"/>
              </a:rPr>
              <a:t>^bb0</a:t>
            </a:r>
            <a:r>
              <a:rPr lang="en-US" sz="1100">
                <a:solidFill>
                  <a:schemeClr val="dk1"/>
                </a:solidFill>
                <a:highlight>
                  <a:srgbClr val="FFFFFF"/>
                </a:highlight>
                <a:latin typeface="Consolas"/>
                <a:ea typeface="Consolas"/>
                <a:cs typeface="Consolas"/>
                <a:sym typeface="Consolas"/>
              </a:rPr>
              <a:t>(</a:t>
            </a:r>
            <a:r>
              <a:rPr lang="en-US" sz="1100">
                <a:solidFill>
                  <a:srgbClr val="001080"/>
                </a:solidFill>
                <a:highlight>
                  <a:srgbClr val="FFFFFF"/>
                </a:highlight>
                <a:latin typeface="Consolas"/>
                <a:ea typeface="Consolas"/>
                <a:cs typeface="Consolas"/>
                <a:sym typeface="Consolas"/>
              </a:rPr>
              <a:t>%in:</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%in_0:</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%out:</a:t>
            </a:r>
            <a:r>
              <a:rPr lang="en-US" sz="1100">
                <a:solidFill>
                  <a:schemeClr val="dk1"/>
                </a:solidFill>
                <a:highlight>
                  <a:srgbClr val="FFFFFF"/>
                </a:highlight>
                <a:latin typeface="Consolas"/>
                <a:ea typeface="Consolas"/>
                <a:cs typeface="Consolas"/>
                <a:sym typeface="Consolas"/>
              </a:rPr>
              <a:t> </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arith.mulf</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%in</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%in_0</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endParaRPr sz="11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%4</a:t>
            </a:r>
            <a:r>
              <a:rPr lang="en-US" sz="1100">
                <a:solidFill>
                  <a:schemeClr val="dk1"/>
                </a:solidFill>
                <a:highlight>
                  <a:srgbClr val="FFFFFF"/>
                </a:highlight>
                <a:latin typeface="Consolas"/>
                <a:ea typeface="Consolas"/>
                <a:cs typeface="Consolas"/>
                <a:sym typeface="Consolas"/>
              </a:rPr>
              <a:t> = </a:t>
            </a:r>
            <a:r>
              <a:rPr lang="en-US" sz="1100">
                <a:solidFill>
                  <a:srgbClr val="0070C1"/>
                </a:solidFill>
                <a:highlight>
                  <a:srgbClr val="FFFFFF"/>
                </a:highlight>
                <a:latin typeface="Consolas"/>
                <a:ea typeface="Consolas"/>
                <a:cs typeface="Consolas"/>
                <a:sym typeface="Consolas"/>
              </a:rPr>
              <a:t>arith.addf</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%out</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%3</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endParaRPr sz="11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highlight>
                  <a:srgbClr val="FFFFFF"/>
                </a:highlight>
                <a:latin typeface="Consolas"/>
                <a:ea typeface="Consolas"/>
                <a:cs typeface="Consolas"/>
                <a:sym typeface="Consolas"/>
              </a:rPr>
              <a:t>     linalg.yield</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%4</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f32</a:t>
            </a:r>
            <a:endParaRPr sz="1100">
              <a:solidFill>
                <a:srgbClr val="267F99"/>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 -&gt;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highlight>
                  <a:srgbClr val="FFFFFF"/>
                </a:highlight>
                <a:latin typeface="Consolas"/>
                <a:ea typeface="Consolas"/>
                <a:cs typeface="Consolas"/>
                <a:sym typeface="Consolas"/>
              </a:rPr>
              <a:t>   return</a:t>
            </a:r>
            <a:r>
              <a:rPr lang="en-US" sz="1100">
                <a:solidFill>
                  <a:schemeClr val="dk1"/>
                </a:solidFill>
                <a:highlight>
                  <a:srgbClr val="FFFFFF"/>
                </a:highlight>
                <a:latin typeface="Consolas"/>
                <a:ea typeface="Consolas"/>
                <a:cs typeface="Consolas"/>
                <a:sym typeface="Consolas"/>
              </a:rPr>
              <a:t> </a:t>
            </a:r>
            <a:r>
              <a:rPr lang="en-US" sz="1100">
                <a:solidFill>
                  <a:srgbClr val="001080"/>
                </a:solidFill>
                <a:highlight>
                  <a:srgbClr val="FFFFFF"/>
                </a:highlight>
                <a:latin typeface="Consolas"/>
                <a:ea typeface="Consolas"/>
                <a:cs typeface="Consolas"/>
                <a:sym typeface="Consolas"/>
              </a:rPr>
              <a:t>%2</a:t>
            </a:r>
            <a:r>
              <a:rPr lang="en-US" sz="1100">
                <a:solidFill>
                  <a:schemeClr val="dk1"/>
                </a:solidFill>
                <a:highlight>
                  <a:srgbClr val="FFFFFF"/>
                </a:highlight>
                <a:latin typeface="Consolas"/>
                <a:ea typeface="Consolas"/>
                <a:cs typeface="Consolas"/>
                <a:sym typeface="Consolas"/>
              </a:rPr>
              <a:t> : </a:t>
            </a:r>
            <a:r>
              <a:rPr lang="en-US" sz="1100">
                <a:solidFill>
                  <a:srgbClr val="267F99"/>
                </a:solidFill>
                <a:highlight>
                  <a:srgbClr val="FFFFFF"/>
                </a:highlight>
                <a:latin typeface="Consolas"/>
                <a:ea typeface="Consolas"/>
                <a:cs typeface="Consolas"/>
                <a:sym typeface="Consolas"/>
              </a:rPr>
              <a:t>tensor</a:t>
            </a:r>
            <a:r>
              <a:rPr lang="en-US" sz="1100">
                <a:solidFill>
                  <a:schemeClr val="dk1"/>
                </a:solidFill>
                <a:highlight>
                  <a:srgbClr val="FFFFFF"/>
                </a:highlight>
                <a:latin typeface="Consolas"/>
                <a:ea typeface="Consolas"/>
                <a:cs typeface="Consolas"/>
                <a:sym typeface="Consolas"/>
              </a:rPr>
              <a:t>&lt;</a:t>
            </a:r>
            <a:r>
              <a:rPr lang="en-US" sz="1100">
                <a:solidFill>
                  <a:srgbClr val="098658"/>
                </a:solidFill>
                <a:highlight>
                  <a:srgbClr val="FFFFFF"/>
                </a:highlight>
                <a:latin typeface="Consolas"/>
                <a:ea typeface="Consolas"/>
                <a:cs typeface="Consolas"/>
                <a:sym typeface="Consolas"/>
              </a:rPr>
              <a:t>1</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5</a:t>
            </a:r>
            <a:r>
              <a:rPr lang="en-US" sz="1100">
                <a:solidFill>
                  <a:schemeClr val="dk1"/>
                </a:solidFill>
                <a:highlight>
                  <a:srgbClr val="FFFFFF"/>
                </a:highlight>
                <a:latin typeface="Consolas"/>
                <a:ea typeface="Consolas"/>
                <a:cs typeface="Consolas"/>
                <a:sym typeface="Consolas"/>
              </a:rPr>
              <a:t>x</a:t>
            </a:r>
            <a:r>
              <a:rPr lang="en-US" sz="1100">
                <a:solidFill>
                  <a:srgbClr val="098658"/>
                </a:solidFill>
                <a:highlight>
                  <a:srgbClr val="FFFFFF"/>
                </a:highlight>
                <a:latin typeface="Consolas"/>
                <a:ea typeface="Consolas"/>
                <a:cs typeface="Consolas"/>
                <a:sym typeface="Consolas"/>
              </a:rPr>
              <a:t>6</a:t>
            </a:r>
            <a:r>
              <a:rPr lang="en-US" sz="1100">
                <a:solidFill>
                  <a:schemeClr val="dk1"/>
                </a:solidFill>
                <a:highlight>
                  <a:srgbClr val="FFFFFF"/>
                </a:highlight>
                <a:latin typeface="Consolas"/>
                <a:ea typeface="Consolas"/>
                <a:cs typeface="Consolas"/>
                <a:sym typeface="Consolas"/>
              </a:rPr>
              <a:t>x</a:t>
            </a:r>
            <a:r>
              <a:rPr lang="en-US" sz="1100">
                <a:solidFill>
                  <a:srgbClr val="267F99"/>
                </a:solidFill>
                <a:highlight>
                  <a:srgbClr val="FFFFFF"/>
                </a:highlight>
                <a:latin typeface="Consolas"/>
                <a:ea typeface="Consolas"/>
                <a:cs typeface="Consolas"/>
                <a:sym typeface="Consolas"/>
              </a:rPr>
              <a:t>f32</a:t>
            </a:r>
            <a:r>
              <a:rPr lang="en-US" sz="1100">
                <a:solidFill>
                  <a:schemeClr val="dk1"/>
                </a:solidFill>
                <a:highlight>
                  <a:srgbClr val="FFFFFF"/>
                </a:highlight>
                <a:latin typeface="Consolas"/>
                <a:ea typeface="Consolas"/>
                <a:cs typeface="Consolas"/>
                <a:sym typeface="Consolas"/>
              </a:rPr>
              <a:t>&gt;</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 }</a:t>
            </a:r>
            <a:endParaRPr sz="1100">
              <a:solidFill>
                <a:schemeClr val="dk1"/>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highlight>
                  <a:srgbClr val="FFFFFF"/>
                </a:highlight>
                <a:latin typeface="Consolas"/>
                <a:ea typeface="Consolas"/>
                <a:cs typeface="Consolas"/>
                <a:sym typeface="Consolas"/>
              </a:rPr>
              <a:t>}</a:t>
            </a:r>
            <a:endParaRPr sz="1100">
              <a:solidFill>
                <a:schemeClr val="dk1"/>
              </a:solidFill>
              <a:highlight>
                <a:srgbClr val="FFFFFF"/>
              </a:highlight>
              <a:latin typeface="Consolas"/>
              <a:ea typeface="Consolas"/>
              <a:cs typeface="Consolas"/>
              <a:sym typeface="Consolas"/>
            </a:endParaRPr>
          </a:p>
        </p:txBody>
      </p:sp>
      <p:sp>
        <p:nvSpPr>
          <p:cNvPr id="259" name="Google Shape;259;g270158642d6_0_756"/>
          <p:cNvSpPr txBox="1"/>
          <p:nvPr/>
        </p:nvSpPr>
        <p:spPr>
          <a:xfrm>
            <a:off x="5893950" y="2248650"/>
            <a:ext cx="623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mlir-opt -pass-pipeline="builtin.module(func.func(tosa-to-linalg-named, linalg-generalize-named-ops))"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d837e7ff04_0_6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Linalg dialect</a:t>
            </a:r>
            <a:endParaRPr/>
          </a:p>
        </p:txBody>
      </p:sp>
      <p:sp>
        <p:nvSpPr>
          <p:cNvPr id="266" name="Google Shape;266;g3d837e7ff04_0_66"/>
          <p:cNvSpPr txBox="1"/>
          <p:nvPr>
            <p:ph idx="1" type="body"/>
          </p:nvPr>
        </p:nvSpPr>
        <p:spPr>
          <a:xfrm>
            <a:off x="571374" y="1673450"/>
            <a:ext cx="9636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Linalg started as a pragmatic dialect to bootstrap code generation in MLIR, by defining away complex code generation problems like precise dependence analysis or polyhedral code generation and by introducing the ability to call into fast library implementations when available. Linalg defines ops and transformations declaratively and was originally restricted to ops with linear-algebra like semantics (pointwise, matmul, conv…).</a:t>
            </a:r>
            <a:endParaRPr/>
          </a:p>
          <a:p>
            <a:pPr indent="0" lvl="0" marL="0" rtl="0" algn="l">
              <a:spcBef>
                <a:spcPts val="1000"/>
              </a:spcBef>
              <a:spcAft>
                <a:spcPts val="0"/>
              </a:spcAft>
              <a:buNone/>
            </a:pPr>
            <a:r>
              <a:t/>
            </a:r>
            <a:endParaRPr/>
          </a:p>
        </p:txBody>
      </p:sp>
      <p:sp>
        <p:nvSpPr>
          <p:cNvPr id="267" name="Google Shape;267;g3d837e7ff04_0_66"/>
          <p:cNvSpPr txBox="1"/>
          <p:nvPr/>
        </p:nvSpPr>
        <p:spPr>
          <a:xfrm>
            <a:off x="0" y="6248450"/>
            <a:ext cx="5425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https://mlir.llvm.org/docs/Dialects/Linalg/</a:t>
            </a:r>
            <a:r>
              <a:rPr lang="en-US"/>
              <a:t> </a:t>
            </a:r>
            <a:r>
              <a:rPr lang="en-US" u="sng">
                <a:solidFill>
                  <a:schemeClr val="hlink"/>
                </a:solidFill>
                <a:hlinkClick r:id="rId4"/>
              </a:rPr>
              <a:t>https://mlir.llvm.org/docs/Rationale/RationaleLinalgDialect/</a:t>
            </a:r>
            <a:r>
              <a:rPr lang="en-U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70158642d6_0_812"/>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Linalg conversion</a:t>
            </a:r>
            <a:r>
              <a:rPr lang="en-US"/>
              <a:t> to parallel loops</a:t>
            </a:r>
            <a:endParaRPr/>
          </a:p>
        </p:txBody>
      </p:sp>
      <p:sp>
        <p:nvSpPr>
          <p:cNvPr id="274" name="Google Shape;274;g270158642d6_0_812"/>
          <p:cNvSpPr txBox="1"/>
          <p:nvPr/>
        </p:nvSpPr>
        <p:spPr>
          <a:xfrm>
            <a:off x="5892375" y="108225"/>
            <a:ext cx="616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https://github.com/llvm/llvm-project/blob/76aa042dde6ba9ba57c680950f5818259ee02690/mlir/test/Dialect/Linalg/affine.mlir#L6</a:t>
            </a:r>
            <a:r>
              <a:rPr lang="en-US"/>
              <a:t> </a:t>
            </a:r>
            <a:endParaRPr/>
          </a:p>
        </p:txBody>
      </p:sp>
      <p:sp>
        <p:nvSpPr>
          <p:cNvPr id="275" name="Google Shape;275;g270158642d6_0_812"/>
          <p:cNvSpPr txBox="1"/>
          <p:nvPr/>
        </p:nvSpPr>
        <p:spPr>
          <a:xfrm>
            <a:off x="0" y="2928975"/>
            <a:ext cx="616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mlir-opt </a:t>
            </a:r>
            <a:r>
              <a:rPr lang="en-US"/>
              <a:t>-pass-pipeline="builtin.module(func.func(convert-linalg-to-parallel-loops))"</a:t>
            </a:r>
            <a:endParaRPr/>
          </a:p>
        </p:txBody>
      </p:sp>
      <p:cxnSp>
        <p:nvCxnSpPr>
          <p:cNvPr id="276" name="Google Shape;276;g270158642d6_0_812"/>
          <p:cNvCxnSpPr>
            <a:stCxn id="277" idx="2"/>
            <a:endCxn id="278" idx="0"/>
          </p:cNvCxnSpPr>
          <p:nvPr/>
        </p:nvCxnSpPr>
        <p:spPr>
          <a:xfrm>
            <a:off x="6027125" y="3170251"/>
            <a:ext cx="0" cy="381600"/>
          </a:xfrm>
          <a:prstGeom prst="straightConnector1">
            <a:avLst/>
          </a:prstGeom>
          <a:noFill/>
          <a:ln cap="flat" cmpd="sng" w="9525">
            <a:solidFill>
              <a:schemeClr val="dk2"/>
            </a:solidFill>
            <a:prstDash val="solid"/>
            <a:round/>
            <a:headEnd len="med" w="med" type="none"/>
            <a:tailEnd len="med" w="med" type="triangle"/>
          </a:ln>
        </p:spPr>
      </p:cxnSp>
      <p:grpSp>
        <p:nvGrpSpPr>
          <p:cNvPr id="279" name="Google Shape;279;g270158642d6_0_812"/>
          <p:cNvGrpSpPr/>
          <p:nvPr/>
        </p:nvGrpSpPr>
        <p:grpSpPr>
          <a:xfrm>
            <a:off x="7003500" y="3099313"/>
            <a:ext cx="5188500" cy="445275"/>
            <a:chOff x="289925" y="5611838"/>
            <a:chExt cx="5188500" cy="445275"/>
          </a:xfrm>
        </p:grpSpPr>
        <p:sp>
          <p:nvSpPr>
            <p:cNvPr id="280" name="Google Shape;280;g270158642d6_0_812"/>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281" name="Google Shape;281;g270158642d6_0_812"/>
            <p:cNvPicPr preferRelativeResize="0"/>
            <p:nvPr/>
          </p:nvPicPr>
          <p:blipFill>
            <a:blip r:embed="rId4">
              <a:alphaModFix/>
            </a:blip>
            <a:stretch>
              <a:fillRect/>
            </a:stretch>
          </p:blipFill>
          <p:spPr>
            <a:xfrm>
              <a:off x="289925" y="5611838"/>
              <a:ext cx="445275" cy="445275"/>
            </a:xfrm>
            <a:prstGeom prst="rect">
              <a:avLst/>
            </a:prstGeom>
            <a:noFill/>
            <a:ln>
              <a:noFill/>
            </a:ln>
          </p:spPr>
        </p:pic>
        <p:sp>
          <p:nvSpPr>
            <p:cNvPr id="282" name="Google Shape;282;g270158642d6_0_812"/>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5"/>
                </a:rPr>
                <a:t>https://godbolt.org/z/b3jjfhx6j</a:t>
              </a:r>
              <a:r>
                <a:rPr lang="en-US" sz="2400"/>
                <a:t> </a:t>
              </a:r>
              <a:endParaRPr sz="2400"/>
            </a:p>
          </p:txBody>
        </p:sp>
      </p:grpSp>
      <p:sp>
        <p:nvSpPr>
          <p:cNvPr id="283" name="Google Shape;283;g270158642d6_0_812"/>
          <p:cNvSpPr txBox="1"/>
          <p:nvPr/>
        </p:nvSpPr>
        <p:spPr>
          <a:xfrm>
            <a:off x="2828650" y="1200975"/>
            <a:ext cx="6740100" cy="2031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func.func</a:t>
            </a:r>
            <a:r>
              <a:rPr lang="en-US" sz="1200">
                <a:solidFill>
                  <a:schemeClr val="dk1"/>
                </a:solidFill>
                <a:latin typeface="Consolas"/>
                <a:ea typeface="Consolas"/>
                <a:cs typeface="Consolas"/>
                <a:sym typeface="Consolas"/>
              </a:rPr>
              <a:t> </a:t>
            </a:r>
            <a:r>
              <a:rPr lang="en-US" sz="1200">
                <a:solidFill>
                  <a:srgbClr val="795E26"/>
                </a:solidFill>
                <a:latin typeface="Consolas"/>
                <a:ea typeface="Consolas"/>
                <a:cs typeface="Consolas"/>
                <a:sym typeface="Consolas"/>
              </a:rPr>
              <a:t>@matmul</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a:t>
            </a:r>
            <a:r>
              <a:rPr lang="en-US" sz="1200">
                <a:solidFill>
                  <a:srgbClr val="267F99"/>
                </a:solidFill>
                <a:latin typeface="Consolas"/>
                <a:ea typeface="Consolas"/>
                <a:cs typeface="Consolas"/>
                <a:sym typeface="Consolas"/>
              </a:rPr>
              <a:t>i8</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%M:</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index</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%N:</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index</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%K:</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index</a:t>
            </a: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%c1</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1</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memref.view</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%M</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%K</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a:t>
            </a:r>
            <a:r>
              <a:rPr lang="en-US" sz="1200">
                <a:solidFill>
                  <a:srgbClr val="267F99"/>
                </a:solidFill>
                <a:latin typeface="Consolas"/>
                <a:ea typeface="Consolas"/>
                <a:cs typeface="Consolas"/>
                <a:sym typeface="Consolas"/>
              </a:rPr>
              <a:t>i8</a:t>
            </a:r>
            <a:r>
              <a:rPr lang="en-US" sz="1200">
                <a:solidFill>
                  <a:schemeClr val="dk1"/>
                </a:solidFill>
                <a:latin typeface="Consolas"/>
                <a:ea typeface="Consolas"/>
                <a:cs typeface="Consolas"/>
                <a:sym typeface="Consolas"/>
              </a:rPr>
              <a:t>&gt; </a:t>
            </a:r>
            <a:r>
              <a:rPr lang="en-US" sz="1200">
                <a:solidFill>
                  <a:srgbClr val="0000FF"/>
                </a:solidFill>
                <a:latin typeface="Consolas"/>
                <a:ea typeface="Consolas"/>
                <a:cs typeface="Consolas"/>
                <a:sym typeface="Consolas"/>
              </a:rPr>
              <a:t>to</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memref.view</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%K</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%N</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a:t>
            </a:r>
            <a:r>
              <a:rPr lang="en-US" sz="1200">
                <a:solidFill>
                  <a:srgbClr val="267F99"/>
                </a:solidFill>
                <a:latin typeface="Consolas"/>
                <a:ea typeface="Consolas"/>
                <a:cs typeface="Consolas"/>
                <a:sym typeface="Consolas"/>
              </a:rPr>
              <a:t>i8</a:t>
            </a:r>
            <a:r>
              <a:rPr lang="en-US" sz="1200">
                <a:solidFill>
                  <a:schemeClr val="dk1"/>
                </a:solidFill>
                <a:latin typeface="Consolas"/>
                <a:ea typeface="Consolas"/>
                <a:cs typeface="Consolas"/>
                <a:sym typeface="Consolas"/>
              </a:rPr>
              <a:t>&gt; </a:t>
            </a:r>
            <a:r>
              <a:rPr lang="en-US" sz="1200">
                <a:solidFill>
                  <a:srgbClr val="0000FF"/>
                </a:solidFill>
                <a:latin typeface="Consolas"/>
                <a:ea typeface="Consolas"/>
                <a:cs typeface="Consolas"/>
                <a:sym typeface="Consolas"/>
              </a:rPr>
              <a:t>to</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memref.view</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%M</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%N</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a:t>
            </a:r>
            <a:r>
              <a:rPr lang="en-US" sz="1200">
                <a:solidFill>
                  <a:srgbClr val="267F99"/>
                </a:solidFill>
                <a:latin typeface="Consolas"/>
                <a:ea typeface="Consolas"/>
                <a:cs typeface="Consolas"/>
                <a:sym typeface="Consolas"/>
              </a:rPr>
              <a:t>i8</a:t>
            </a:r>
            <a:r>
              <a:rPr lang="en-US" sz="1200">
                <a:solidFill>
                  <a:schemeClr val="dk1"/>
                </a:solidFill>
                <a:latin typeface="Consolas"/>
                <a:ea typeface="Consolas"/>
                <a:cs typeface="Consolas"/>
                <a:sym typeface="Consolas"/>
              </a:rPr>
              <a:t>&gt; </a:t>
            </a:r>
            <a:r>
              <a:rPr lang="en-US" sz="1200">
                <a:solidFill>
                  <a:srgbClr val="0000FF"/>
                </a:solidFill>
                <a:latin typeface="Consolas"/>
                <a:ea typeface="Consolas"/>
                <a:cs typeface="Consolas"/>
                <a:sym typeface="Consolas"/>
              </a:rPr>
              <a:t>to</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linalg.matmul</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ins</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outs</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%C:</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&lt;?x?x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return</a:t>
            </a:r>
            <a:endParaRPr sz="12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284" name="Google Shape;284;g270158642d6_0_812"/>
          <p:cNvSpPr txBox="1"/>
          <p:nvPr/>
        </p:nvSpPr>
        <p:spPr>
          <a:xfrm>
            <a:off x="1118150" y="3456288"/>
            <a:ext cx="9462900" cy="340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func.func</a:t>
            </a:r>
            <a:r>
              <a:rPr lang="en-US" sz="1100">
                <a:solidFill>
                  <a:schemeClr val="dk1"/>
                </a:solidFill>
                <a:latin typeface="Consolas"/>
                <a:ea typeface="Consolas"/>
                <a:cs typeface="Consolas"/>
                <a:sym typeface="Consolas"/>
              </a:rPr>
              <a:t> </a:t>
            </a:r>
            <a:r>
              <a:rPr lang="en-US" sz="1100">
                <a:solidFill>
                  <a:srgbClr val="795E26"/>
                </a:solidFill>
                <a:latin typeface="Consolas"/>
                <a:ea typeface="Consolas"/>
                <a:cs typeface="Consolas"/>
                <a:sym typeface="Consolas"/>
              </a:rPr>
              <a:t>@matmul</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a:t>
            </a:r>
            <a:r>
              <a:rPr lang="en-US" sz="1100">
                <a:solidFill>
                  <a:srgbClr val="267F99"/>
                </a:solidFill>
                <a:latin typeface="Consolas"/>
                <a:ea typeface="Consolas"/>
                <a:cs typeface="Consolas"/>
                <a:sym typeface="Consolas"/>
              </a:rPr>
              <a:t>i8</a:t>
            </a:r>
            <a:r>
              <a:rPr lang="en-US" sz="1100">
                <a:solidFill>
                  <a:schemeClr val="dk1"/>
                </a:solidFill>
                <a:latin typeface="Consolas"/>
                <a:ea typeface="Consolas"/>
                <a:cs typeface="Consolas"/>
                <a:sym typeface="Consolas"/>
              </a:rPr>
              <a:t>&gt;, </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index</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%arg2:</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index</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%arg3:</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index</a:t>
            </a:r>
            <a:r>
              <a:rPr lang="en-US"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%c1</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arith.constant</a:t>
            </a:r>
            <a:r>
              <a:rPr lang="en-US" sz="1100">
                <a:solidFill>
                  <a:schemeClr val="dk1"/>
                </a:solidFill>
                <a:latin typeface="Consolas"/>
                <a:ea typeface="Consolas"/>
                <a:cs typeface="Consolas"/>
                <a:sym typeface="Consolas"/>
              </a:rPr>
              <a:t> </a:t>
            </a:r>
            <a:r>
              <a:rPr lang="en-US" sz="1100">
                <a:solidFill>
                  <a:srgbClr val="098658"/>
                </a:solidFill>
                <a:latin typeface="Consolas"/>
                <a:ea typeface="Consolas"/>
                <a:cs typeface="Consolas"/>
                <a:sym typeface="Consolas"/>
              </a:rPr>
              <a:t>1</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index</a:t>
            </a:r>
            <a:endParaRPr sz="11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%c0</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arith.constant</a:t>
            </a:r>
            <a:r>
              <a:rPr lang="en-US" sz="1100">
                <a:solidFill>
                  <a:schemeClr val="dk1"/>
                </a:solidFill>
                <a:latin typeface="Consolas"/>
                <a:ea typeface="Consolas"/>
                <a:cs typeface="Consolas"/>
                <a:sym typeface="Consolas"/>
              </a:rPr>
              <a:t> </a:t>
            </a:r>
            <a:r>
              <a:rPr lang="en-US" sz="1100">
                <a:solidFill>
                  <a:srgbClr val="098658"/>
                </a:solidFill>
                <a:latin typeface="Consolas"/>
                <a:ea typeface="Consolas"/>
                <a:cs typeface="Consolas"/>
                <a:sym typeface="Consolas"/>
              </a:rPr>
              <a:t>0</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index</a:t>
            </a:r>
            <a:endParaRPr sz="11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%view</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memref.view</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%c0</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%arg3</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a:t>
            </a:r>
            <a:r>
              <a:rPr lang="en-US" sz="1100">
                <a:solidFill>
                  <a:srgbClr val="267F99"/>
                </a:solidFill>
                <a:latin typeface="Consolas"/>
                <a:ea typeface="Consolas"/>
                <a:cs typeface="Consolas"/>
                <a:sym typeface="Consolas"/>
              </a:rPr>
              <a:t>i8</a:t>
            </a:r>
            <a:r>
              <a:rPr lang="en-US" sz="1100">
                <a:solidFill>
                  <a:schemeClr val="dk1"/>
                </a:solidFill>
                <a:latin typeface="Consolas"/>
                <a:ea typeface="Consolas"/>
                <a:cs typeface="Consolas"/>
                <a:sym typeface="Consolas"/>
              </a:rPr>
              <a:t>&gt; </a:t>
            </a:r>
            <a:r>
              <a:rPr lang="en-US" sz="1100">
                <a:solidFill>
                  <a:srgbClr val="0000FF"/>
                </a:solidFill>
                <a:latin typeface="Consolas"/>
                <a:ea typeface="Consolas"/>
                <a:cs typeface="Consolas"/>
                <a:sym typeface="Consolas"/>
              </a:rPr>
              <a:t>to</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%view_0</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memref.view</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%c0</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%arg3</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%arg2</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a:t>
            </a:r>
            <a:r>
              <a:rPr lang="en-US" sz="1100">
                <a:solidFill>
                  <a:srgbClr val="267F99"/>
                </a:solidFill>
                <a:latin typeface="Consolas"/>
                <a:ea typeface="Consolas"/>
                <a:cs typeface="Consolas"/>
                <a:sym typeface="Consolas"/>
              </a:rPr>
              <a:t>i8</a:t>
            </a:r>
            <a:r>
              <a:rPr lang="en-US" sz="1100">
                <a:solidFill>
                  <a:schemeClr val="dk1"/>
                </a:solidFill>
                <a:latin typeface="Consolas"/>
                <a:ea typeface="Consolas"/>
                <a:cs typeface="Consolas"/>
                <a:sym typeface="Consolas"/>
              </a:rPr>
              <a:t>&gt; </a:t>
            </a:r>
            <a:r>
              <a:rPr lang="en-US" sz="1100">
                <a:solidFill>
                  <a:srgbClr val="0000FF"/>
                </a:solidFill>
                <a:latin typeface="Consolas"/>
                <a:ea typeface="Consolas"/>
                <a:cs typeface="Consolas"/>
                <a:sym typeface="Consolas"/>
              </a:rPr>
              <a:t>to</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%view_1</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memref.view</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%arg0</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%c0</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%arg2</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a:t>
            </a:r>
            <a:r>
              <a:rPr lang="en-US" sz="1100">
                <a:solidFill>
                  <a:srgbClr val="267F99"/>
                </a:solidFill>
                <a:latin typeface="Consolas"/>
                <a:ea typeface="Consolas"/>
                <a:cs typeface="Consolas"/>
                <a:sym typeface="Consolas"/>
              </a:rPr>
              <a:t>i8</a:t>
            </a:r>
            <a:r>
              <a:rPr lang="en-US" sz="1100">
                <a:solidFill>
                  <a:schemeClr val="dk1"/>
                </a:solidFill>
                <a:latin typeface="Consolas"/>
                <a:ea typeface="Consolas"/>
                <a:cs typeface="Consolas"/>
                <a:sym typeface="Consolas"/>
              </a:rPr>
              <a:t>&gt; </a:t>
            </a:r>
            <a:r>
              <a:rPr lang="en-US" sz="1100">
                <a:solidFill>
                  <a:srgbClr val="0000FF"/>
                </a:solidFill>
                <a:latin typeface="Consolas"/>
                <a:ea typeface="Consolas"/>
                <a:cs typeface="Consolas"/>
                <a:sym typeface="Consolas"/>
              </a:rPr>
              <a:t>to</a:t>
            </a:r>
            <a:r>
              <a:rPr lang="en-US" sz="1100">
                <a:solidFill>
                  <a:schemeClr val="dk1"/>
                </a:solidFill>
                <a:latin typeface="Consolas"/>
                <a:ea typeface="Consolas"/>
                <a:cs typeface="Consolas"/>
                <a:sym typeface="Consolas"/>
              </a:rPr>
              <a:t>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 scf.parallel</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%arg4</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%arg5</a:t>
            </a:r>
            <a:r>
              <a:rPr lang="en-US" sz="1100">
                <a:solidFill>
                  <a:schemeClr val="dk1"/>
                </a:solidFill>
                <a:latin typeface="Consolas"/>
                <a:ea typeface="Consolas"/>
                <a:cs typeface="Consolas"/>
                <a:sym typeface="Consolas"/>
              </a:rPr>
              <a:t>) = (</a:t>
            </a:r>
            <a:r>
              <a:rPr lang="en-US" sz="1100">
                <a:solidFill>
                  <a:srgbClr val="001080"/>
                </a:solidFill>
                <a:latin typeface="Consolas"/>
                <a:ea typeface="Consolas"/>
                <a:cs typeface="Consolas"/>
                <a:sym typeface="Consolas"/>
              </a:rPr>
              <a:t>%c0</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%c0</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to</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%arg1</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%arg2</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step</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%c1</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%c1</a:t>
            </a:r>
            <a:r>
              <a:rPr lang="en-US"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   scf.for</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%arg6</a:t>
            </a:r>
            <a:r>
              <a:rPr lang="en-US" sz="1100">
                <a:solidFill>
                  <a:schemeClr val="dk1"/>
                </a:solidFill>
                <a:latin typeface="Consolas"/>
                <a:ea typeface="Consolas"/>
                <a:cs typeface="Consolas"/>
                <a:sym typeface="Consolas"/>
              </a:rPr>
              <a:t> = </a:t>
            </a:r>
            <a:r>
              <a:rPr lang="en-US" sz="1100">
                <a:solidFill>
                  <a:srgbClr val="001080"/>
                </a:solidFill>
                <a:latin typeface="Consolas"/>
                <a:ea typeface="Consolas"/>
                <a:cs typeface="Consolas"/>
                <a:sym typeface="Consolas"/>
              </a:rPr>
              <a:t>%c0</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to</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%arg3</a:t>
            </a:r>
            <a:r>
              <a:rPr lang="en-US" sz="1100">
                <a:solidFill>
                  <a:schemeClr val="dk1"/>
                </a:solidFill>
                <a:latin typeface="Consolas"/>
                <a:ea typeface="Consolas"/>
                <a:cs typeface="Consolas"/>
                <a:sym typeface="Consolas"/>
              </a:rPr>
              <a:t> </a:t>
            </a:r>
            <a:r>
              <a:rPr lang="en-US" sz="1100">
                <a:solidFill>
                  <a:srgbClr val="0000FF"/>
                </a:solidFill>
                <a:latin typeface="Consolas"/>
                <a:ea typeface="Consolas"/>
                <a:cs typeface="Consolas"/>
                <a:sym typeface="Consolas"/>
              </a:rPr>
              <a:t>step</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%c1</a:t>
            </a:r>
            <a:r>
              <a:rPr lang="en-US"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%0</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memref.load</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%view</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%arg4</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%arg6</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%1</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memref.load</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%view_0</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%arg6</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%arg5</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%2</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memref.load</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%view_1</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%arg4</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%arg5</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%3</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arith.mulf</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%0</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%1</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f32</a:t>
            </a:r>
            <a:endParaRPr sz="11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%4</a:t>
            </a:r>
            <a:r>
              <a:rPr lang="en-US" sz="1100">
                <a:solidFill>
                  <a:schemeClr val="dk1"/>
                </a:solidFill>
                <a:latin typeface="Consolas"/>
                <a:ea typeface="Consolas"/>
                <a:cs typeface="Consolas"/>
                <a:sym typeface="Consolas"/>
              </a:rPr>
              <a:t> = </a:t>
            </a:r>
            <a:r>
              <a:rPr lang="en-US" sz="1100">
                <a:solidFill>
                  <a:srgbClr val="0070C1"/>
                </a:solidFill>
                <a:latin typeface="Consolas"/>
                <a:ea typeface="Consolas"/>
                <a:cs typeface="Consolas"/>
                <a:sym typeface="Consolas"/>
              </a:rPr>
              <a:t>arith.addf</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%2</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%3</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f32</a:t>
            </a:r>
            <a:endParaRPr sz="11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     memref.store</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%4</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%view_1</a:t>
            </a:r>
            <a:r>
              <a:rPr lang="en-US" sz="1100">
                <a:solidFill>
                  <a:schemeClr val="dk1"/>
                </a:solidFill>
                <a:latin typeface="Consolas"/>
                <a:ea typeface="Consolas"/>
                <a:cs typeface="Consolas"/>
                <a:sym typeface="Consolas"/>
              </a:rPr>
              <a:t>[</a:t>
            </a:r>
            <a:r>
              <a:rPr lang="en-US" sz="1100">
                <a:solidFill>
                  <a:srgbClr val="001080"/>
                </a:solidFill>
                <a:latin typeface="Consolas"/>
                <a:ea typeface="Consolas"/>
                <a:cs typeface="Consolas"/>
                <a:sym typeface="Consolas"/>
              </a:rPr>
              <a:t>%arg4</a:t>
            </a:r>
            <a:r>
              <a:rPr lang="en-US" sz="1100">
                <a:solidFill>
                  <a:schemeClr val="dk1"/>
                </a:solidFill>
                <a:latin typeface="Consolas"/>
                <a:ea typeface="Consolas"/>
                <a:cs typeface="Consolas"/>
                <a:sym typeface="Consolas"/>
              </a:rPr>
              <a:t>, </a:t>
            </a:r>
            <a:r>
              <a:rPr lang="en-US" sz="1100">
                <a:solidFill>
                  <a:srgbClr val="001080"/>
                </a:solidFill>
                <a:latin typeface="Consolas"/>
                <a:ea typeface="Consolas"/>
                <a:cs typeface="Consolas"/>
                <a:sym typeface="Consolas"/>
              </a:rPr>
              <a:t>%arg5</a:t>
            </a:r>
            <a:r>
              <a:rPr lang="en-US" sz="1100">
                <a:solidFill>
                  <a:schemeClr val="dk1"/>
                </a:solidFill>
                <a:latin typeface="Consolas"/>
                <a:ea typeface="Consolas"/>
                <a:cs typeface="Consolas"/>
                <a:sym typeface="Consolas"/>
              </a:rPr>
              <a:t>] : </a:t>
            </a:r>
            <a:r>
              <a:rPr lang="en-US" sz="1100">
                <a:solidFill>
                  <a:srgbClr val="267F99"/>
                </a:solidFill>
                <a:latin typeface="Consolas"/>
                <a:ea typeface="Consolas"/>
                <a:cs typeface="Consolas"/>
                <a:sym typeface="Consolas"/>
              </a:rPr>
              <a:t>memref</a:t>
            </a:r>
            <a:r>
              <a:rPr lang="en-US" sz="1100">
                <a:solidFill>
                  <a:schemeClr val="dk1"/>
                </a:solidFill>
                <a:latin typeface="Consolas"/>
                <a:ea typeface="Consolas"/>
                <a:cs typeface="Consolas"/>
                <a:sym typeface="Consolas"/>
              </a:rPr>
              <a:t>&lt;?x?x</a:t>
            </a:r>
            <a:r>
              <a:rPr lang="en-US" sz="1100">
                <a:solidFill>
                  <a:srgbClr val="267F99"/>
                </a:solidFill>
                <a:latin typeface="Consolas"/>
                <a:ea typeface="Consolas"/>
                <a:cs typeface="Consolas"/>
                <a:sym typeface="Consolas"/>
              </a:rPr>
              <a:t>f32</a:t>
            </a:r>
            <a:r>
              <a:rPr lang="en-US" sz="1100">
                <a:solidFill>
                  <a:schemeClr val="dk1"/>
                </a:solidFill>
                <a:latin typeface="Consolas"/>
                <a:ea typeface="Consolas"/>
                <a:cs typeface="Consolas"/>
                <a:sym typeface="Consolas"/>
              </a:rPr>
              <a:t>&gt;</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   scf.reduce</a:t>
            </a:r>
            <a:endParaRPr sz="11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rgbClr val="0070C1"/>
                </a:solidFill>
                <a:latin typeface="Consolas"/>
                <a:ea typeface="Consolas"/>
                <a:cs typeface="Consolas"/>
                <a:sym typeface="Consolas"/>
              </a:rPr>
              <a:t> return</a:t>
            </a:r>
            <a:endParaRPr sz="11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US" sz="1100">
                <a:solidFill>
                  <a:schemeClr val="dk1"/>
                </a:solidFill>
                <a:latin typeface="Consolas"/>
                <a:ea typeface="Consolas"/>
                <a:cs typeface="Consolas"/>
                <a:sym typeface="Consolas"/>
              </a:rPr>
              <a:t>}</a:t>
            </a:r>
            <a:endParaRPr sz="1100">
              <a:solidFill>
                <a:srgbClr val="0070C1"/>
              </a:solidFill>
              <a:latin typeface="Consolas"/>
              <a:ea typeface="Consolas"/>
              <a:cs typeface="Consolas"/>
              <a:sym typeface="Consolas"/>
            </a:endParaRPr>
          </a:p>
        </p:txBody>
      </p:sp>
      <p:sp>
        <p:nvSpPr>
          <p:cNvPr id="285" name="Google Shape;285;g270158642d6_0_812"/>
          <p:cNvSpPr/>
          <p:nvPr/>
        </p:nvSpPr>
        <p:spPr>
          <a:xfrm>
            <a:off x="2987550" y="2391750"/>
            <a:ext cx="5056800" cy="38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6" name="Google Shape;286;g270158642d6_0_812"/>
          <p:cNvSpPr/>
          <p:nvPr/>
        </p:nvSpPr>
        <p:spPr>
          <a:xfrm>
            <a:off x="1255675" y="4563050"/>
            <a:ext cx="6457500" cy="1876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270158642d6_0_736"/>
          <p:cNvSpPr txBox="1"/>
          <p:nvPr/>
        </p:nvSpPr>
        <p:spPr>
          <a:xfrm>
            <a:off x="1273450" y="4514625"/>
            <a:ext cx="10094400" cy="221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func.func</a:t>
            </a:r>
            <a:r>
              <a:rPr lang="en-US" sz="1200">
                <a:solidFill>
                  <a:schemeClr val="dk1"/>
                </a:solidFill>
                <a:latin typeface="Consolas"/>
                <a:ea typeface="Consolas"/>
                <a:cs typeface="Consolas"/>
                <a:sym typeface="Consolas"/>
              </a:rPr>
              <a:t> </a:t>
            </a:r>
            <a:r>
              <a:rPr lang="en-US" sz="1200">
                <a:solidFill>
                  <a:srgbClr val="795E26"/>
                </a:solidFill>
                <a:latin typeface="Consolas"/>
                <a:ea typeface="Consolas"/>
                <a:cs typeface="Consolas"/>
                <a:sym typeface="Consolas"/>
              </a:rPr>
              <a:t>@vector_add</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%arg1:</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%arg2:</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affine.for</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 </a:t>
            </a:r>
            <a:r>
              <a:rPr lang="en-US" sz="1200">
                <a:solidFill>
                  <a:srgbClr val="098658"/>
                </a:solidFill>
                <a:latin typeface="Consolas"/>
                <a:ea typeface="Consolas"/>
                <a:cs typeface="Consolas"/>
                <a:sym typeface="Consolas"/>
              </a:rPr>
              <a:t>0</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to</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step</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%cst</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rgbClr val="098658"/>
                </a:solidFill>
                <a:latin typeface="Consolas"/>
                <a:ea typeface="Consolas"/>
                <a:cs typeface="Consolas"/>
                <a:sym typeface="Consolas"/>
              </a:rPr>
              <a:t> 0.000000e+00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f32</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vector.transfer_read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%cst</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267F99"/>
                </a:solidFill>
                <a:latin typeface="Consolas"/>
                <a:ea typeface="Consolas"/>
                <a:cs typeface="Consolas"/>
                <a:sym typeface="Consolas"/>
              </a:rPr>
              <a:t>vector</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%cst_0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rgbClr val="098658"/>
                </a:solidFill>
                <a:latin typeface="Consolas"/>
                <a:ea typeface="Consolas"/>
                <a:cs typeface="Consolas"/>
                <a:sym typeface="Consolas"/>
              </a:rPr>
              <a:t> 0.000000e+00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f32</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%1</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vector.transfer_read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%arg1</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%cst_0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267F99"/>
                </a:solidFill>
                <a:latin typeface="Consolas"/>
                <a:ea typeface="Consolas"/>
                <a:cs typeface="Consolas"/>
                <a:sym typeface="Consolas"/>
              </a:rPr>
              <a:t>vector</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%2</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arith.addf</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%0</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%1</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vector</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vector.transfer_write</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%2</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%arg2</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vector</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return</a:t>
            </a:r>
            <a:endParaRPr sz="12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293" name="Google Shape;293;g270158642d6_0_73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Affine loops vectorization</a:t>
            </a:r>
            <a:endParaRPr/>
          </a:p>
        </p:txBody>
      </p:sp>
      <p:cxnSp>
        <p:nvCxnSpPr>
          <p:cNvPr id="294" name="Google Shape;294;g270158642d6_0_736"/>
          <p:cNvCxnSpPr>
            <a:stCxn id="295" idx="2"/>
            <a:endCxn id="296" idx="0"/>
          </p:cNvCxnSpPr>
          <p:nvPr/>
        </p:nvCxnSpPr>
        <p:spPr>
          <a:xfrm>
            <a:off x="6076825" y="3578566"/>
            <a:ext cx="0" cy="936000"/>
          </a:xfrm>
          <a:prstGeom prst="straightConnector1">
            <a:avLst/>
          </a:prstGeom>
          <a:noFill/>
          <a:ln cap="flat" cmpd="sng" w="9525">
            <a:solidFill>
              <a:schemeClr val="dk2"/>
            </a:solidFill>
            <a:prstDash val="solid"/>
            <a:round/>
            <a:headEnd len="med" w="med" type="none"/>
            <a:tailEnd len="med" w="med" type="triangle"/>
          </a:ln>
        </p:spPr>
      </p:cxnSp>
      <p:sp>
        <p:nvSpPr>
          <p:cNvPr id="297" name="Google Shape;297;g270158642d6_0_736"/>
          <p:cNvSpPr txBox="1"/>
          <p:nvPr/>
        </p:nvSpPr>
        <p:spPr>
          <a:xfrm>
            <a:off x="737950" y="3760850"/>
            <a:ext cx="459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mlir-opt </a:t>
            </a:r>
            <a:r>
              <a:rPr lang="en-US"/>
              <a:t>-affine-super-vectorize=virtual-vector-size=128</a:t>
            </a:r>
            <a:endParaRPr/>
          </a:p>
        </p:txBody>
      </p:sp>
      <p:sp>
        <p:nvSpPr>
          <p:cNvPr id="298" name="Google Shape;298;g270158642d6_0_736"/>
          <p:cNvSpPr/>
          <p:nvPr/>
        </p:nvSpPr>
        <p:spPr>
          <a:xfrm>
            <a:off x="1555600" y="5693350"/>
            <a:ext cx="3444900" cy="196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9" name="Google Shape;299;g270158642d6_0_736"/>
          <p:cNvSpPr/>
          <p:nvPr/>
        </p:nvSpPr>
        <p:spPr>
          <a:xfrm>
            <a:off x="1393150" y="4787625"/>
            <a:ext cx="3286500" cy="196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300" name="Google Shape;300;g270158642d6_0_736"/>
          <p:cNvGrpSpPr/>
          <p:nvPr/>
        </p:nvGrpSpPr>
        <p:grpSpPr>
          <a:xfrm>
            <a:off x="6640300" y="629963"/>
            <a:ext cx="5188500" cy="445275"/>
            <a:chOff x="289925" y="5611838"/>
            <a:chExt cx="5188500" cy="445275"/>
          </a:xfrm>
        </p:grpSpPr>
        <p:sp>
          <p:nvSpPr>
            <p:cNvPr id="301" name="Google Shape;301;g270158642d6_0_736"/>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302" name="Google Shape;302;g270158642d6_0_736"/>
            <p:cNvPicPr preferRelativeResize="0"/>
            <p:nvPr/>
          </p:nvPicPr>
          <p:blipFill>
            <a:blip r:embed="rId3">
              <a:alphaModFix/>
            </a:blip>
            <a:stretch>
              <a:fillRect/>
            </a:stretch>
          </p:blipFill>
          <p:spPr>
            <a:xfrm>
              <a:off x="289925" y="5611838"/>
              <a:ext cx="445275" cy="445275"/>
            </a:xfrm>
            <a:prstGeom prst="rect">
              <a:avLst/>
            </a:prstGeom>
            <a:noFill/>
            <a:ln>
              <a:noFill/>
            </a:ln>
          </p:spPr>
        </p:pic>
        <p:sp>
          <p:nvSpPr>
            <p:cNvPr id="303" name="Google Shape;303;g270158642d6_0_736"/>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4"/>
                </a:rPr>
                <a:t>https://godbolt.org/z/T3q1qzxqc</a:t>
              </a:r>
              <a:r>
                <a:rPr lang="en-US" sz="2400"/>
                <a:t> </a:t>
              </a:r>
              <a:endParaRPr sz="2400"/>
            </a:p>
          </p:txBody>
        </p:sp>
      </p:grpSp>
      <p:sp>
        <p:nvSpPr>
          <p:cNvPr id="304" name="Google Shape;304;g270158642d6_0_736"/>
          <p:cNvSpPr txBox="1"/>
          <p:nvPr/>
        </p:nvSpPr>
        <p:spPr>
          <a:xfrm>
            <a:off x="2332050" y="1560175"/>
            <a:ext cx="7527900" cy="184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func.func</a:t>
            </a:r>
            <a:r>
              <a:rPr lang="en-US" sz="1200">
                <a:solidFill>
                  <a:schemeClr val="dk1"/>
                </a:solidFill>
                <a:latin typeface="Consolas"/>
                <a:ea typeface="Consolas"/>
                <a:cs typeface="Consolas"/>
                <a:sym typeface="Consolas"/>
              </a:rPr>
              <a:t> </a:t>
            </a:r>
            <a:r>
              <a:rPr lang="en-US" sz="1200">
                <a:solidFill>
                  <a:srgbClr val="795E26"/>
                </a:solidFill>
                <a:latin typeface="Consolas"/>
                <a:ea typeface="Consolas"/>
                <a:cs typeface="Consolas"/>
                <a:sym typeface="Consolas"/>
              </a:rPr>
              <a:t>@vector_add</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%C:</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affine.for</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098658"/>
                </a:solidFill>
                <a:latin typeface="Consolas"/>
                <a:ea typeface="Consolas"/>
                <a:cs typeface="Consolas"/>
                <a:sym typeface="Consolas"/>
              </a:rPr>
              <a:t>0</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to</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affine.load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affine.load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%sum</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arith.addf</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f32</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affine.store</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%sum</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128</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return</a:t>
            </a:r>
            <a:endParaRPr sz="12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2d25b4b9e83_0_73"/>
          <p:cNvSpPr txBox="1"/>
          <p:nvPr/>
        </p:nvSpPr>
        <p:spPr>
          <a:xfrm>
            <a:off x="0" y="2515825"/>
            <a:ext cx="7982400" cy="2770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func.func</a:t>
            </a:r>
            <a:r>
              <a:rPr lang="en-US" sz="1200">
                <a:solidFill>
                  <a:schemeClr val="dk1"/>
                </a:solidFill>
                <a:latin typeface="Consolas"/>
                <a:ea typeface="Consolas"/>
                <a:cs typeface="Consolas"/>
                <a:sym typeface="Consolas"/>
              </a:rPr>
              <a:t> </a:t>
            </a:r>
            <a:r>
              <a:rPr lang="en-US" sz="1200">
                <a:solidFill>
                  <a:srgbClr val="795E26"/>
                </a:solidFill>
                <a:latin typeface="Consolas"/>
                <a:ea typeface="Consolas"/>
                <a:cs typeface="Consolas"/>
                <a:sym typeface="Consolas"/>
              </a:rPr>
              <a:t>@vector_add</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%C:</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%c50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50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%c1</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1</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%constant100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arith.addi</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%c50</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%c50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scf.for</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to</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%constant100</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step</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%c1</a:t>
            </a: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memref.load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memref.load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%sum</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arith.addf</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%b</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f32</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memref.store</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%sum</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%i</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return</a:t>
            </a:r>
            <a:endParaRPr sz="12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p:txBody>
      </p:sp>
      <p:sp>
        <p:nvSpPr>
          <p:cNvPr id="311" name="Google Shape;311;g2d25b4b9e83_0_73"/>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Canonicalizer</a:t>
            </a:r>
            <a:endParaRPr/>
          </a:p>
        </p:txBody>
      </p:sp>
      <p:sp>
        <p:nvSpPr>
          <p:cNvPr id="312" name="Google Shape;312;g2d25b4b9e83_0_73"/>
          <p:cNvSpPr txBox="1"/>
          <p:nvPr>
            <p:ph idx="1" type="body"/>
          </p:nvPr>
        </p:nvSpPr>
        <p:spPr>
          <a:xfrm>
            <a:off x="571375" y="1359300"/>
            <a:ext cx="11010900" cy="48891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The p</a:t>
            </a:r>
            <a:r>
              <a:rPr lang="en-US"/>
              <a:t>urpose of the canonicalizer - transform MLIR code into a canonical form (to a standardized, simplified representation of code that allows for easier analysis and optimization)</a:t>
            </a:r>
            <a:endParaRPr/>
          </a:p>
        </p:txBody>
      </p:sp>
      <p:grpSp>
        <p:nvGrpSpPr>
          <p:cNvPr id="313" name="Google Shape;313;g2d25b4b9e83_0_73"/>
          <p:cNvGrpSpPr/>
          <p:nvPr/>
        </p:nvGrpSpPr>
        <p:grpSpPr>
          <a:xfrm>
            <a:off x="6640300" y="629963"/>
            <a:ext cx="5188500" cy="445275"/>
            <a:chOff x="289925" y="5611838"/>
            <a:chExt cx="5188500" cy="445275"/>
          </a:xfrm>
        </p:grpSpPr>
        <p:sp>
          <p:nvSpPr>
            <p:cNvPr id="314" name="Google Shape;314;g2d25b4b9e83_0_73"/>
            <p:cNvSpPr/>
            <p:nvPr/>
          </p:nvSpPr>
          <p:spPr>
            <a:xfrm>
              <a:off x="289925" y="5611850"/>
              <a:ext cx="51885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solidFill>
                  <a:srgbClr val="000000"/>
                </a:solidFill>
              </a:endParaRPr>
            </a:p>
          </p:txBody>
        </p:sp>
        <p:pic>
          <p:nvPicPr>
            <p:cNvPr id="315" name="Google Shape;315;g2d25b4b9e83_0_73"/>
            <p:cNvPicPr preferRelativeResize="0"/>
            <p:nvPr/>
          </p:nvPicPr>
          <p:blipFill>
            <a:blip r:embed="rId3">
              <a:alphaModFix/>
            </a:blip>
            <a:stretch>
              <a:fillRect/>
            </a:stretch>
          </p:blipFill>
          <p:spPr>
            <a:xfrm>
              <a:off x="289925" y="5611838"/>
              <a:ext cx="445275" cy="445275"/>
            </a:xfrm>
            <a:prstGeom prst="rect">
              <a:avLst/>
            </a:prstGeom>
            <a:noFill/>
            <a:ln>
              <a:noFill/>
            </a:ln>
          </p:spPr>
        </p:pic>
        <p:sp>
          <p:nvSpPr>
            <p:cNvPr id="316" name="Google Shape;316;g2d25b4b9e83_0_73"/>
            <p:cNvSpPr/>
            <p:nvPr/>
          </p:nvSpPr>
          <p:spPr>
            <a:xfrm>
              <a:off x="777375" y="5611850"/>
              <a:ext cx="4701000" cy="445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rgbClr val="000000"/>
                </a:buClr>
                <a:buSzPts val="2400"/>
                <a:buFont typeface="Arial"/>
                <a:buNone/>
              </a:pPr>
              <a:r>
                <a:rPr lang="en-US" sz="2400" u="sng">
                  <a:solidFill>
                    <a:schemeClr val="hlink"/>
                  </a:solidFill>
                  <a:hlinkClick r:id="rId4"/>
                </a:rPr>
                <a:t>https://godbolt.org/z/Yd47xj6df</a:t>
              </a:r>
              <a:r>
                <a:rPr lang="en-US" sz="2400"/>
                <a:t> </a:t>
              </a:r>
              <a:endParaRPr sz="2400"/>
            </a:p>
          </p:txBody>
        </p:sp>
      </p:grpSp>
      <p:sp>
        <p:nvSpPr>
          <p:cNvPr id="317" name="Google Shape;317;g2d25b4b9e83_0_73"/>
          <p:cNvSpPr txBox="1"/>
          <p:nvPr/>
        </p:nvSpPr>
        <p:spPr>
          <a:xfrm>
            <a:off x="7547525" y="2113800"/>
            <a:ext cx="46446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solidFill>
                  <a:schemeClr val="dk1"/>
                </a:solidFill>
                <a:latin typeface="Calibri"/>
                <a:ea typeface="Calibri"/>
                <a:cs typeface="Calibri"/>
                <a:sym typeface="Calibri"/>
              </a:rPr>
              <a:t>Canonicalization is an important part of compiler IR design: it makes it easier to implement reliable compiler transformations and to reason about what is better or worse in the code, and it forces interesting discussions about the goals of a particular level of IR. Dan Gohman wrote </a:t>
            </a:r>
            <a:r>
              <a:rPr lang="en-US" u="sng">
                <a:solidFill>
                  <a:srgbClr val="2E7EB3"/>
                </a:solidFill>
                <a:latin typeface="Calibri"/>
                <a:ea typeface="Calibri"/>
                <a:cs typeface="Calibri"/>
                <a:sym typeface="Calibri"/>
                <a:hlinkClick r:id="rId5">
                  <a:extLst>
                    <a:ext uri="{A12FA001-AC4F-418D-AE19-62706E023703}">
                      <ahyp:hlinkClr val="tx"/>
                    </a:ext>
                  </a:extLst>
                </a:hlinkClick>
              </a:rPr>
              <a:t>an article</a:t>
            </a:r>
            <a:r>
              <a:rPr lang="en-US">
                <a:solidFill>
                  <a:schemeClr val="dk1"/>
                </a:solidFill>
                <a:latin typeface="Calibri"/>
                <a:ea typeface="Calibri"/>
                <a:cs typeface="Calibri"/>
                <a:sym typeface="Calibri"/>
              </a:rPr>
              <a:t> exploring these issues; it is worth reading if you’re not familiar with these concepts.</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a:solidFill>
                  <a:schemeClr val="dk1"/>
                </a:solidFill>
                <a:latin typeface="Calibri"/>
                <a:ea typeface="Calibri"/>
                <a:cs typeface="Calibri"/>
                <a:sym typeface="Calibri"/>
              </a:rPr>
              <a:t>From </a:t>
            </a:r>
            <a:r>
              <a:rPr lang="en-US" u="sng">
                <a:solidFill>
                  <a:schemeClr val="hlink"/>
                </a:solidFill>
                <a:latin typeface="Calibri"/>
                <a:ea typeface="Calibri"/>
                <a:cs typeface="Calibri"/>
                <a:sym typeface="Calibri"/>
                <a:hlinkClick r:id="rId6"/>
              </a:rPr>
              <a:t>https://mlir.llvm.org/docs/Canonicalization/</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p:txBody>
      </p:sp>
      <p:sp>
        <p:nvSpPr>
          <p:cNvPr id="318" name="Google Shape;318;g2d25b4b9e83_0_73"/>
          <p:cNvSpPr txBox="1"/>
          <p:nvPr/>
        </p:nvSpPr>
        <p:spPr>
          <a:xfrm>
            <a:off x="3861775" y="4456800"/>
            <a:ext cx="8251500" cy="2401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func.func</a:t>
            </a:r>
            <a:r>
              <a:rPr lang="en-US" sz="1200">
                <a:solidFill>
                  <a:schemeClr val="dk1"/>
                </a:solidFill>
                <a:latin typeface="Consolas"/>
                <a:ea typeface="Consolas"/>
                <a:cs typeface="Consolas"/>
                <a:sym typeface="Consolas"/>
              </a:rPr>
              <a:t> </a:t>
            </a:r>
            <a:r>
              <a:rPr lang="en-US" sz="1200">
                <a:solidFill>
                  <a:srgbClr val="795E26"/>
                </a:solidFill>
                <a:latin typeface="Consolas"/>
                <a:ea typeface="Consolas"/>
                <a:cs typeface="Consolas"/>
                <a:sym typeface="Consolas"/>
              </a:rPr>
              <a:t>@vector_add</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%arg1:</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r>
              <a:rPr lang="en-US" sz="1200">
                <a:solidFill>
                  <a:srgbClr val="001080"/>
                </a:solidFill>
                <a:latin typeface="Consolas"/>
                <a:ea typeface="Consolas"/>
                <a:cs typeface="Consolas"/>
                <a:sym typeface="Consolas"/>
              </a:rPr>
              <a:t>%arg2:</a:t>
            </a:r>
            <a:r>
              <a:rPr lang="en-US" sz="1200">
                <a:solidFill>
                  <a:schemeClr val="dk1"/>
                </a:solidFill>
                <a:latin typeface="Consolas"/>
                <a:ea typeface="Consolas"/>
                <a:cs typeface="Consolas"/>
                <a:sym typeface="Consolas"/>
              </a:rPr>
              <a:t>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%c1</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1</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%c100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arith.constant</a:t>
            </a:r>
            <a:r>
              <a:rPr lang="en-US" sz="1200">
                <a:solidFill>
                  <a:schemeClr val="dk1"/>
                </a:solidFill>
                <a:latin typeface="Consolas"/>
                <a:ea typeface="Consolas"/>
                <a:cs typeface="Consolas"/>
                <a:sym typeface="Consolas"/>
              </a:rPr>
              <a:t> </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index</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scf.for</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 </a:t>
            </a:r>
            <a:r>
              <a:rPr lang="en-US" sz="1200">
                <a:solidFill>
                  <a:srgbClr val="001080"/>
                </a:solidFill>
                <a:latin typeface="Consolas"/>
                <a:ea typeface="Consolas"/>
                <a:cs typeface="Consolas"/>
                <a:sym typeface="Consolas"/>
              </a:rPr>
              <a:t>%c0</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to</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%c100</a:t>
            </a:r>
            <a:r>
              <a:rPr lang="en-US" sz="1200">
                <a:solidFill>
                  <a:schemeClr val="dk1"/>
                </a:solidFill>
                <a:latin typeface="Consolas"/>
                <a:ea typeface="Consolas"/>
                <a:cs typeface="Consolas"/>
                <a:sym typeface="Consolas"/>
              </a:rPr>
              <a:t> </a:t>
            </a:r>
            <a:r>
              <a:rPr lang="en-US" sz="1200">
                <a:solidFill>
                  <a:srgbClr val="0000FF"/>
                </a:solidFill>
                <a:latin typeface="Consolas"/>
                <a:ea typeface="Consolas"/>
                <a:cs typeface="Consolas"/>
                <a:sym typeface="Consolas"/>
              </a:rPr>
              <a:t>step</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%c1</a:t>
            </a: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%0</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memref.load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%arg0</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%1</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memref.load</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%arg1</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%2</a:t>
            </a:r>
            <a:r>
              <a:rPr lang="en-US" sz="1200">
                <a:solidFill>
                  <a:schemeClr val="dk1"/>
                </a:solidFill>
                <a:latin typeface="Consolas"/>
                <a:ea typeface="Consolas"/>
                <a:cs typeface="Consolas"/>
                <a:sym typeface="Consolas"/>
              </a:rPr>
              <a:t> = </a:t>
            </a:r>
            <a:r>
              <a:rPr lang="en-US" sz="1200">
                <a:solidFill>
                  <a:srgbClr val="0070C1"/>
                </a:solidFill>
                <a:latin typeface="Consolas"/>
                <a:ea typeface="Consolas"/>
                <a:cs typeface="Consolas"/>
                <a:sym typeface="Consolas"/>
              </a:rPr>
              <a:t>arith.addf</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%0</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%1</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f32</a:t>
            </a:r>
            <a:endParaRPr sz="120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memref.store</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%2</a:t>
            </a:r>
            <a:r>
              <a:rPr lang="en-US" sz="1200">
                <a:solidFill>
                  <a:schemeClr val="dk1"/>
                </a:solidFill>
                <a:latin typeface="Consolas"/>
                <a:ea typeface="Consolas"/>
                <a:cs typeface="Consolas"/>
                <a:sym typeface="Consolas"/>
              </a:rPr>
              <a:t>, </a:t>
            </a:r>
            <a:r>
              <a:rPr lang="en-US" sz="1200">
                <a:solidFill>
                  <a:srgbClr val="001080"/>
                </a:solidFill>
                <a:latin typeface="Consolas"/>
                <a:ea typeface="Consolas"/>
                <a:cs typeface="Consolas"/>
                <a:sym typeface="Consolas"/>
              </a:rPr>
              <a:t>%arg2</a:t>
            </a:r>
            <a:r>
              <a:rPr lang="en-US" sz="1200">
                <a:solidFill>
                  <a:schemeClr val="dk1"/>
                </a:solidFill>
                <a:latin typeface="Consolas"/>
                <a:ea typeface="Consolas"/>
                <a:cs typeface="Consolas"/>
                <a:sym typeface="Consolas"/>
              </a:rPr>
              <a:t>[</a:t>
            </a:r>
            <a:r>
              <a:rPr lang="en-US" sz="1200">
                <a:solidFill>
                  <a:srgbClr val="001080"/>
                </a:solidFill>
                <a:latin typeface="Consolas"/>
                <a:ea typeface="Consolas"/>
                <a:cs typeface="Consolas"/>
                <a:sym typeface="Consolas"/>
              </a:rPr>
              <a:t>%arg3</a:t>
            </a:r>
            <a:r>
              <a:rPr lang="en-US" sz="1200">
                <a:solidFill>
                  <a:schemeClr val="dk1"/>
                </a:solidFill>
                <a:latin typeface="Consolas"/>
                <a:ea typeface="Consolas"/>
                <a:cs typeface="Consolas"/>
                <a:sym typeface="Consolas"/>
              </a:rPr>
              <a:t>] : </a:t>
            </a:r>
            <a:r>
              <a:rPr lang="en-US" sz="1200">
                <a:solidFill>
                  <a:srgbClr val="267F99"/>
                </a:solidFill>
                <a:latin typeface="Consolas"/>
                <a:ea typeface="Consolas"/>
                <a:cs typeface="Consolas"/>
                <a:sym typeface="Consolas"/>
              </a:rPr>
              <a:t>memref</a:t>
            </a:r>
            <a:r>
              <a:rPr lang="en-US" sz="1200">
                <a:solidFill>
                  <a:schemeClr val="dk1"/>
                </a:solidFill>
                <a:latin typeface="Consolas"/>
                <a:ea typeface="Consolas"/>
                <a:cs typeface="Consolas"/>
                <a:sym typeface="Consolas"/>
              </a:rPr>
              <a:t>&lt;</a:t>
            </a:r>
            <a:r>
              <a:rPr lang="en-US" sz="1200">
                <a:solidFill>
                  <a:srgbClr val="098658"/>
                </a:solidFill>
                <a:latin typeface="Consolas"/>
                <a:ea typeface="Consolas"/>
                <a:cs typeface="Consolas"/>
                <a:sym typeface="Consolas"/>
              </a:rPr>
              <a:t>100</a:t>
            </a:r>
            <a:r>
              <a:rPr lang="en-US" sz="1200">
                <a:solidFill>
                  <a:schemeClr val="dk1"/>
                </a:solidFill>
                <a:latin typeface="Consolas"/>
                <a:ea typeface="Consolas"/>
                <a:cs typeface="Consolas"/>
                <a:sym typeface="Consolas"/>
              </a:rPr>
              <a:t>x</a:t>
            </a:r>
            <a:r>
              <a:rPr lang="en-US" sz="1200">
                <a:solidFill>
                  <a:srgbClr val="267F99"/>
                </a:solidFill>
                <a:latin typeface="Consolas"/>
                <a:ea typeface="Consolas"/>
                <a:cs typeface="Consolas"/>
                <a:sym typeface="Consolas"/>
              </a:rPr>
              <a:t>f32</a:t>
            </a:r>
            <a:r>
              <a:rPr lang="en-US" sz="1200">
                <a:solidFill>
                  <a:schemeClr val="dk1"/>
                </a:solidFill>
                <a:latin typeface="Consolas"/>
                <a:ea typeface="Consolas"/>
                <a:cs typeface="Consolas"/>
                <a:sym typeface="Consolas"/>
              </a:rPr>
              <a:t>&gt;</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rgbClr val="0070C1"/>
                </a:solidFill>
                <a:latin typeface="Consolas"/>
                <a:ea typeface="Consolas"/>
                <a:cs typeface="Consolas"/>
                <a:sym typeface="Consolas"/>
              </a:rPr>
              <a:t> return</a:t>
            </a:r>
            <a:endParaRPr sz="120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US"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cxnSp>
        <p:nvCxnSpPr>
          <p:cNvPr id="319" name="Google Shape;319;g2d25b4b9e83_0_73"/>
          <p:cNvCxnSpPr/>
          <p:nvPr/>
        </p:nvCxnSpPr>
        <p:spPr>
          <a:xfrm>
            <a:off x="4814275" y="3478700"/>
            <a:ext cx="1045800" cy="963000"/>
          </a:xfrm>
          <a:prstGeom prst="straightConnector1">
            <a:avLst/>
          </a:prstGeom>
          <a:noFill/>
          <a:ln cap="flat" cmpd="sng" w="9525">
            <a:solidFill>
              <a:schemeClr val="dk2"/>
            </a:solidFill>
            <a:prstDash val="solid"/>
            <a:round/>
            <a:headEnd len="med" w="med" type="none"/>
            <a:tailEnd len="med" w="med" type="triangle"/>
          </a:ln>
        </p:spPr>
      </p:cxnSp>
      <p:sp>
        <p:nvSpPr>
          <p:cNvPr id="320" name="Google Shape;320;g2d25b4b9e83_0_73"/>
          <p:cNvSpPr/>
          <p:nvPr/>
        </p:nvSpPr>
        <p:spPr>
          <a:xfrm>
            <a:off x="140400" y="3330600"/>
            <a:ext cx="3773100" cy="196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21" name="Google Shape;321;g2d25b4b9e83_0_73"/>
          <p:cNvSpPr/>
          <p:nvPr/>
        </p:nvSpPr>
        <p:spPr>
          <a:xfrm>
            <a:off x="3978550" y="5086200"/>
            <a:ext cx="2968500" cy="196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2d25b4b9e83_0_9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Canonicalization patterns</a:t>
            </a:r>
            <a:endParaRPr/>
          </a:p>
        </p:txBody>
      </p:sp>
      <p:sp>
        <p:nvSpPr>
          <p:cNvPr id="328" name="Google Shape;328;g2d25b4b9e83_0_91"/>
          <p:cNvSpPr txBox="1"/>
          <p:nvPr>
            <p:ph idx="1" type="body"/>
          </p:nvPr>
        </p:nvSpPr>
        <p:spPr>
          <a:xfrm>
            <a:off x="571375" y="1673450"/>
            <a:ext cx="6185400" cy="8454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How canonicalizer understands what to optimize?</a:t>
            </a:r>
            <a:endParaRPr/>
          </a:p>
        </p:txBody>
      </p:sp>
      <p:pic>
        <p:nvPicPr>
          <p:cNvPr id="329" name="Google Shape;329;g2d25b4b9e83_0_91"/>
          <p:cNvPicPr preferRelativeResize="0"/>
          <p:nvPr/>
        </p:nvPicPr>
        <p:blipFill>
          <a:blip r:embed="rId3">
            <a:alphaModFix/>
          </a:blip>
          <a:stretch>
            <a:fillRect/>
          </a:stretch>
        </p:blipFill>
        <p:spPr>
          <a:xfrm>
            <a:off x="6625475" y="1299775"/>
            <a:ext cx="5566525" cy="5558226"/>
          </a:xfrm>
          <a:prstGeom prst="rect">
            <a:avLst/>
          </a:prstGeom>
          <a:noFill/>
          <a:ln>
            <a:noFill/>
          </a:ln>
        </p:spPr>
      </p:pic>
      <p:pic>
        <p:nvPicPr>
          <p:cNvPr id="330" name="Google Shape;330;g2d25b4b9e83_0_91"/>
          <p:cNvPicPr preferRelativeResize="0"/>
          <p:nvPr/>
        </p:nvPicPr>
        <p:blipFill>
          <a:blip r:embed="rId4">
            <a:alphaModFix/>
          </a:blip>
          <a:stretch>
            <a:fillRect/>
          </a:stretch>
        </p:blipFill>
        <p:spPr>
          <a:xfrm>
            <a:off x="339725" y="2686875"/>
            <a:ext cx="6109499" cy="1054475"/>
          </a:xfrm>
          <a:prstGeom prst="rect">
            <a:avLst/>
          </a:prstGeom>
          <a:noFill/>
          <a:ln>
            <a:noFill/>
          </a:ln>
        </p:spPr>
      </p:pic>
      <p:sp>
        <p:nvSpPr>
          <p:cNvPr id="331" name="Google Shape;331;g2d25b4b9e83_0_91"/>
          <p:cNvSpPr txBox="1"/>
          <p:nvPr/>
        </p:nvSpPr>
        <p:spPr>
          <a:xfrm>
            <a:off x="6709938" y="776575"/>
            <a:ext cx="5397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u="sng">
                <a:solidFill>
                  <a:schemeClr val="hlink"/>
                </a:solidFill>
                <a:hlinkClick r:id="rId5"/>
              </a:rPr>
              <a:t>https://github.com/llvm/llvm-project/blob/7a484d3a1f630ba9ce7b22e744818be974971470/mlir/include/mlir/Dialect/Arith/IR/ArithOps.td#L244</a:t>
            </a:r>
            <a:r>
              <a:rPr lang="en-US" sz="1100"/>
              <a:t> </a:t>
            </a:r>
            <a:endParaRPr sz="1100"/>
          </a:p>
        </p:txBody>
      </p:sp>
      <p:sp>
        <p:nvSpPr>
          <p:cNvPr id="332" name="Google Shape;332;g2d25b4b9e83_0_91"/>
          <p:cNvSpPr txBox="1"/>
          <p:nvPr/>
        </p:nvSpPr>
        <p:spPr>
          <a:xfrm>
            <a:off x="674700" y="3741350"/>
            <a:ext cx="5566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u="sng">
                <a:solidFill>
                  <a:schemeClr val="hlink"/>
                </a:solidFill>
                <a:hlinkClick r:id="rId6"/>
              </a:rPr>
              <a:t>https://github.com/llvm/llvm-project/blob/02dfbbff1937b3e2c1ee1cd4a5ad0a9f03ee23ea/mlir/lib/Dialect/Arith/IR/ArithOps.cpp#L319-L323</a:t>
            </a:r>
            <a:r>
              <a:rPr lang="en-US" sz="1100"/>
              <a:t> </a:t>
            </a:r>
            <a:endParaRPr sz="1100"/>
          </a:p>
        </p:txBody>
      </p:sp>
      <p:pic>
        <p:nvPicPr>
          <p:cNvPr id="333" name="Google Shape;333;g2d25b4b9e83_0_91"/>
          <p:cNvPicPr preferRelativeResize="0"/>
          <p:nvPr/>
        </p:nvPicPr>
        <p:blipFill>
          <a:blip r:embed="rId7">
            <a:alphaModFix/>
          </a:blip>
          <a:stretch>
            <a:fillRect/>
          </a:stretch>
        </p:blipFill>
        <p:spPr>
          <a:xfrm>
            <a:off x="571373" y="4904225"/>
            <a:ext cx="5302375" cy="1272175"/>
          </a:xfrm>
          <a:prstGeom prst="rect">
            <a:avLst/>
          </a:prstGeom>
          <a:noFill/>
          <a:ln>
            <a:noFill/>
          </a:ln>
        </p:spPr>
      </p:pic>
      <p:sp>
        <p:nvSpPr>
          <p:cNvPr id="334" name="Google Shape;334;g2d25b4b9e83_0_91"/>
          <p:cNvSpPr txBox="1"/>
          <p:nvPr/>
        </p:nvSpPr>
        <p:spPr>
          <a:xfrm>
            <a:off x="571313" y="6268450"/>
            <a:ext cx="5302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u="sng">
                <a:solidFill>
                  <a:schemeClr val="hlink"/>
                </a:solidFill>
                <a:hlinkClick r:id="rId8"/>
              </a:rPr>
              <a:t>https://github.com/llvm/llvm-project/blob/9baf14f77a632e6863c599228213620e0362c321/mlir/lib/Dialect/Arith/IR/ArithCanonicalization.td#L73-L78</a:t>
            </a:r>
            <a:r>
              <a:rPr lang="en-US" sz="1100"/>
              <a:t> </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2d25b4b9e83_0_11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Ways to define canonicalization patterns</a:t>
            </a:r>
            <a:endParaRPr/>
          </a:p>
        </p:txBody>
      </p:sp>
      <p:sp>
        <p:nvSpPr>
          <p:cNvPr id="341" name="Google Shape;341;g2d25b4b9e83_0_114"/>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1. TableGen</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2. Implement &lt;OpClass&gt;::canonicalize in C++ code (for more sophisticated cases)</a:t>
            </a:r>
            <a:endParaRPr/>
          </a:p>
        </p:txBody>
      </p:sp>
      <p:pic>
        <p:nvPicPr>
          <p:cNvPr id="342" name="Google Shape;342;g2d25b4b9e83_0_114"/>
          <p:cNvPicPr preferRelativeResize="0"/>
          <p:nvPr/>
        </p:nvPicPr>
        <p:blipFill>
          <a:blip r:embed="rId3">
            <a:alphaModFix/>
          </a:blip>
          <a:stretch>
            <a:fillRect/>
          </a:stretch>
        </p:blipFill>
        <p:spPr>
          <a:xfrm>
            <a:off x="571375" y="2181225"/>
            <a:ext cx="6623275" cy="1589100"/>
          </a:xfrm>
          <a:prstGeom prst="rect">
            <a:avLst/>
          </a:prstGeom>
          <a:noFill/>
          <a:ln>
            <a:noFill/>
          </a:ln>
        </p:spPr>
      </p:pic>
      <p:sp>
        <p:nvSpPr>
          <p:cNvPr id="343" name="Google Shape;343;g2d25b4b9e83_0_114"/>
          <p:cNvSpPr txBox="1"/>
          <p:nvPr/>
        </p:nvSpPr>
        <p:spPr>
          <a:xfrm>
            <a:off x="7570400" y="2560125"/>
            <a:ext cx="4306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https://github.com/llvm/llvm-project/blob/02dfbbff1937b3e2c1ee1cd4a5ad0a9f03ee23ea/mlir/lib/Dialect/Arith/IR/ArithCanonicalization.td#L35-L93</a:t>
            </a:r>
            <a:r>
              <a:rPr lang="en-US"/>
              <a:t> </a:t>
            </a:r>
            <a:endParaRPr/>
          </a:p>
        </p:txBody>
      </p:sp>
      <p:pic>
        <p:nvPicPr>
          <p:cNvPr id="344" name="Google Shape;344;g2d25b4b9e83_0_114"/>
          <p:cNvPicPr preferRelativeResize="0"/>
          <p:nvPr/>
        </p:nvPicPr>
        <p:blipFill>
          <a:blip r:embed="rId5">
            <a:alphaModFix/>
          </a:blip>
          <a:stretch>
            <a:fillRect/>
          </a:stretch>
        </p:blipFill>
        <p:spPr>
          <a:xfrm>
            <a:off x="571375" y="4618975"/>
            <a:ext cx="6932100" cy="2178325"/>
          </a:xfrm>
          <a:prstGeom prst="rect">
            <a:avLst/>
          </a:prstGeom>
          <a:noFill/>
          <a:ln>
            <a:noFill/>
          </a:ln>
        </p:spPr>
      </p:pic>
      <p:sp>
        <p:nvSpPr>
          <p:cNvPr id="345" name="Google Shape;345;g2d25b4b9e83_0_114"/>
          <p:cNvSpPr txBox="1"/>
          <p:nvPr/>
        </p:nvSpPr>
        <p:spPr>
          <a:xfrm>
            <a:off x="7570400" y="5199075"/>
            <a:ext cx="4306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6"/>
              </a:rPr>
              <a:t>https://github.com/llvm/llvm-project/blob/02dfbbff1937b3e2c1ee1cd4a5ad0a9f03ee23ea/mlir/lib/Dialect/Tosa/IR/TosaCanonicalizations.cpp#L67C15-L76</a:t>
            </a:r>
            <a:r>
              <a:rPr lang="en-US"/>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2d25b4b9e83_0_9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Patterns</a:t>
            </a:r>
            <a:endParaRPr/>
          </a:p>
        </p:txBody>
      </p:sp>
      <p:sp>
        <p:nvSpPr>
          <p:cNvPr id="352" name="Google Shape;352;g2d25b4b9e83_0_97"/>
          <p:cNvSpPr txBox="1"/>
          <p:nvPr>
            <p:ph idx="1" type="body"/>
          </p:nvPr>
        </p:nvSpPr>
        <p:spPr>
          <a:xfrm>
            <a:off x="571375" y="1673450"/>
            <a:ext cx="11010900" cy="49941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Common structure in MLIR.</a:t>
            </a:r>
            <a:endParaRPr/>
          </a:p>
          <a:p>
            <a:pPr indent="0" lvl="0" marL="0" rtl="0" algn="l">
              <a:spcBef>
                <a:spcPts val="1000"/>
              </a:spcBef>
              <a:spcAft>
                <a:spcPts val="0"/>
              </a:spcAft>
              <a:buNone/>
            </a:pPr>
            <a:r>
              <a:rPr lang="en-US"/>
              <a:t>There are the following patterns present in pass infrastructure:</a:t>
            </a:r>
            <a:endParaRPr/>
          </a:p>
          <a:p>
            <a:pPr indent="-342900" lvl="0" marL="457200" rtl="0" algn="l">
              <a:spcBef>
                <a:spcPts val="1000"/>
              </a:spcBef>
              <a:spcAft>
                <a:spcPts val="0"/>
              </a:spcAft>
              <a:buSzPts val="1800"/>
              <a:buChar char="•"/>
            </a:pPr>
            <a:r>
              <a:rPr lang="en-US"/>
              <a:t>fold and canonicalization (for canonicalizer pass)</a:t>
            </a:r>
            <a:endParaRPr/>
          </a:p>
          <a:p>
            <a:pPr indent="-342900" lvl="0" marL="457200" rtl="0" algn="l">
              <a:spcBef>
                <a:spcPts val="0"/>
              </a:spcBef>
              <a:spcAft>
                <a:spcPts val="0"/>
              </a:spcAft>
              <a:buSzPts val="1800"/>
              <a:buChar char="•"/>
            </a:pPr>
            <a:r>
              <a:rPr lang="en-US"/>
              <a:t>rewrite (operation rewriting/replacement)</a:t>
            </a:r>
            <a:endParaRPr/>
          </a:p>
          <a:p>
            <a:pPr indent="-342900" lvl="0" marL="457200" rtl="0" algn="l">
              <a:spcBef>
                <a:spcPts val="0"/>
              </a:spcBef>
              <a:spcAft>
                <a:spcPts val="0"/>
              </a:spcAft>
              <a:buSzPts val="1800"/>
              <a:buChar char="•"/>
            </a:pPr>
            <a:r>
              <a:rPr lang="en-US"/>
              <a:t>conversion (for conversion passes)</a:t>
            </a:r>
            <a:endParaRPr/>
          </a:p>
          <a:p>
            <a:pPr indent="0" lvl="0" marL="0" rtl="0" algn="l">
              <a:spcBef>
                <a:spcPts val="1000"/>
              </a:spcBef>
              <a:spcAft>
                <a:spcPts val="0"/>
              </a:spcAft>
              <a:buNone/>
            </a:pPr>
            <a:r>
              <a:rPr lang="en-US"/>
              <a:t>They are applied in random order and multiple times to make sure that IR is canonicalized/rewritten/converted.</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More here:</a:t>
            </a:r>
            <a:endParaRPr/>
          </a:p>
          <a:p>
            <a:pPr indent="0" lvl="0" marL="0" rtl="0" algn="l">
              <a:spcBef>
                <a:spcPts val="1000"/>
              </a:spcBef>
              <a:spcAft>
                <a:spcPts val="0"/>
              </a:spcAft>
              <a:buNone/>
            </a:pPr>
            <a:r>
              <a:rPr lang="en-US"/>
              <a:t>Pattern Rewriting : Generic DAG-to-DAG Rewriting</a:t>
            </a:r>
            <a:endParaRPr/>
          </a:p>
          <a:p>
            <a:pPr indent="0" lvl="0" marL="0" rtl="0" algn="l">
              <a:spcBef>
                <a:spcPts val="1000"/>
              </a:spcBef>
              <a:spcAft>
                <a:spcPts val="0"/>
              </a:spcAft>
              <a:buNone/>
            </a:pPr>
            <a:r>
              <a:rPr lang="en-US" u="sng">
                <a:solidFill>
                  <a:schemeClr val="hlink"/>
                </a:solidFill>
                <a:hlinkClick r:id="rId3"/>
              </a:rPr>
              <a:t>https://mlir.llvm.org/docs/PatternRewriter/</a:t>
            </a:r>
            <a:r>
              <a:rPr lang="en-US"/>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270158642d6_0_123"/>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Content</a:t>
            </a:r>
            <a:endParaRPr/>
          </a:p>
        </p:txBody>
      </p:sp>
      <p:sp>
        <p:nvSpPr>
          <p:cNvPr id="359" name="Google Shape;359;g270158642d6_0_123"/>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Available transformations and optimizations overview</a:t>
            </a:r>
            <a:endParaRPr/>
          </a:p>
          <a:p>
            <a:pPr indent="-342900" lvl="0" marL="457200" rtl="0" algn="l">
              <a:spcBef>
                <a:spcPts val="0"/>
              </a:spcBef>
              <a:spcAft>
                <a:spcPts val="0"/>
              </a:spcAft>
              <a:buSzPts val="1800"/>
              <a:buChar char="•"/>
            </a:pPr>
            <a:r>
              <a:rPr b="1" lang="en-US"/>
              <a:t>Custom dialects</a:t>
            </a:r>
            <a:endParaRPr b="1"/>
          </a:p>
          <a:p>
            <a:pPr indent="-342900" lvl="0" marL="457200" rtl="0" algn="l">
              <a:spcBef>
                <a:spcPts val="0"/>
              </a:spcBef>
              <a:spcAft>
                <a:spcPts val="0"/>
              </a:spcAft>
              <a:buSzPts val="1800"/>
              <a:buChar char="•"/>
            </a:pPr>
            <a:r>
              <a:rPr lang="en-US"/>
              <a:t>Writing a pass</a:t>
            </a:r>
            <a:endParaRPr/>
          </a:p>
          <a:p>
            <a:pPr indent="-342900" lvl="0" marL="457200" rtl="0" algn="l">
              <a:spcBef>
                <a:spcPts val="0"/>
              </a:spcBef>
              <a:spcAft>
                <a:spcPts val="0"/>
              </a:spcAft>
              <a:buSzPts val="1800"/>
              <a:buChar char="•"/>
            </a:pPr>
            <a:r>
              <a:rPr lang="en-US"/>
              <a:t>MLIR connections with other languages</a:t>
            </a:r>
            <a:endParaRPr/>
          </a:p>
          <a:p>
            <a:pPr indent="-342900" lvl="0" marL="457200" rtl="0" algn="l">
              <a:spcBef>
                <a:spcPts val="0"/>
              </a:spcBef>
              <a:spcAft>
                <a:spcPts val="0"/>
              </a:spcAft>
              <a:buSzPts val="1800"/>
              <a:buChar char="•"/>
            </a:pPr>
            <a:r>
              <a:rPr lang="en-US"/>
              <a:t>Python bindings overview</a:t>
            </a:r>
            <a:endParaRPr/>
          </a:p>
          <a:p>
            <a:pPr indent="-342900" lvl="0" marL="457200" rtl="0" algn="l">
              <a:spcBef>
                <a:spcPts val="0"/>
              </a:spcBef>
              <a:spcAft>
                <a:spcPts val="0"/>
              </a:spcAft>
              <a:buSzPts val="1800"/>
              <a:buChar char="•"/>
            </a:pPr>
            <a:r>
              <a:rPr lang="en-US"/>
              <a:t>Debugging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270158642d6_0_57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Dialects</a:t>
            </a:r>
            <a:endParaRPr/>
          </a:p>
        </p:txBody>
      </p:sp>
      <p:sp>
        <p:nvSpPr>
          <p:cNvPr id="366" name="Google Shape;366;g270158642d6_0_575"/>
          <p:cNvSpPr txBox="1"/>
          <p:nvPr>
            <p:ph idx="1" type="body"/>
          </p:nvPr>
        </p:nvSpPr>
        <p:spPr>
          <a:xfrm>
            <a:off x="571372" y="1673450"/>
            <a:ext cx="33108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One of possible ways to illustrate dialects in structured way</a:t>
            </a:r>
            <a:endParaRPr/>
          </a:p>
        </p:txBody>
      </p:sp>
      <p:pic>
        <p:nvPicPr>
          <p:cNvPr id="367" name="Google Shape;367;g270158642d6_0_575"/>
          <p:cNvPicPr preferRelativeResize="0"/>
          <p:nvPr/>
        </p:nvPicPr>
        <p:blipFill>
          <a:blip r:embed="rId3">
            <a:alphaModFix/>
          </a:blip>
          <a:stretch>
            <a:fillRect/>
          </a:stretch>
        </p:blipFill>
        <p:spPr>
          <a:xfrm>
            <a:off x="3814228" y="91950"/>
            <a:ext cx="8295177" cy="6766050"/>
          </a:xfrm>
          <a:prstGeom prst="rect">
            <a:avLst/>
          </a:prstGeom>
          <a:noFill/>
          <a:ln>
            <a:noFill/>
          </a:ln>
        </p:spPr>
      </p:pic>
      <p:sp>
        <p:nvSpPr>
          <p:cNvPr id="368" name="Google Shape;368;g270158642d6_0_575"/>
          <p:cNvSpPr txBox="1"/>
          <p:nvPr/>
        </p:nvSpPr>
        <p:spPr>
          <a:xfrm>
            <a:off x="0" y="6248450"/>
            <a:ext cx="505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https://medium.com/sniper-ai/mlir-tutorial-create-your-custom-dialect-lowering-to-llvm-ir-dialect-system-1-1f125a6a3008</a:t>
            </a:r>
            <a:r>
              <a:rPr lang="en-US"/>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270158642d6_0_9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Creating a custom dialect</a:t>
            </a:r>
            <a:endParaRPr/>
          </a:p>
        </p:txBody>
      </p:sp>
      <p:sp>
        <p:nvSpPr>
          <p:cNvPr id="375" name="Google Shape;375;g270158642d6_0_95"/>
          <p:cNvSpPr txBox="1"/>
          <p:nvPr>
            <p:ph idx="1" type="body"/>
          </p:nvPr>
        </p:nvSpPr>
        <p:spPr>
          <a:xfrm>
            <a:off x="571375" y="1673450"/>
            <a:ext cx="114327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Dialect definition files are separated:</a:t>
            </a:r>
            <a:endParaRPr/>
          </a:p>
          <a:p>
            <a:pPr indent="-368300" lvl="0" marL="457200" rtl="0" algn="l">
              <a:spcBef>
                <a:spcPts val="1000"/>
              </a:spcBef>
              <a:spcAft>
                <a:spcPts val="0"/>
              </a:spcAft>
              <a:buSzPts val="2200"/>
              <a:buChar char="•"/>
            </a:pPr>
            <a:r>
              <a:rPr lang="en-US" sz="2200">
                <a:latin typeface="Consolas"/>
                <a:ea typeface="Consolas"/>
                <a:cs typeface="Consolas"/>
                <a:sym typeface="Consolas"/>
              </a:rPr>
              <a:t>mlir/include/mlir/Dialect/&lt;dialect_name&gt;</a:t>
            </a:r>
            <a:r>
              <a:rPr lang="en-US" sz="2200"/>
              <a:t> (include files)</a:t>
            </a:r>
            <a:endParaRPr sz="2200"/>
          </a:p>
          <a:p>
            <a:pPr indent="-368300" lvl="0" marL="457200" rtl="0" algn="l">
              <a:spcBef>
                <a:spcPts val="0"/>
              </a:spcBef>
              <a:spcAft>
                <a:spcPts val="0"/>
              </a:spcAft>
              <a:buSzPts val="2200"/>
              <a:buChar char="•"/>
            </a:pPr>
            <a:r>
              <a:rPr lang="en-US" sz="2200">
                <a:latin typeface="Consolas"/>
                <a:ea typeface="Consolas"/>
                <a:cs typeface="Consolas"/>
                <a:sym typeface="Consolas"/>
              </a:rPr>
              <a:t>mlir/include/mlir/Dialect/&lt;dialect_name&gt;/IR</a:t>
            </a:r>
            <a:r>
              <a:rPr lang="en-US" sz="2200"/>
              <a:t> (operations include files)</a:t>
            </a:r>
            <a:endParaRPr sz="2200"/>
          </a:p>
          <a:p>
            <a:pPr indent="-368300" lvl="0" marL="457200" rtl="0" algn="l">
              <a:spcBef>
                <a:spcPts val="0"/>
              </a:spcBef>
              <a:spcAft>
                <a:spcPts val="0"/>
              </a:spcAft>
              <a:buSzPts val="2200"/>
              <a:buChar char="•"/>
            </a:pPr>
            <a:r>
              <a:rPr lang="en-US" sz="2200">
                <a:latin typeface="Consolas"/>
                <a:ea typeface="Consolas"/>
                <a:cs typeface="Consolas"/>
                <a:sym typeface="Consolas"/>
              </a:rPr>
              <a:t>mlir/include/mlir/Dialect/&lt;dialect_name&gt;/Transforms</a:t>
            </a:r>
            <a:r>
              <a:rPr lang="en-US" sz="2200"/>
              <a:t> (transforms include files)</a:t>
            </a:r>
            <a:endParaRPr sz="2200"/>
          </a:p>
          <a:p>
            <a:pPr indent="-368300" lvl="0" marL="457200" rtl="0" algn="l">
              <a:spcBef>
                <a:spcPts val="0"/>
              </a:spcBef>
              <a:spcAft>
                <a:spcPts val="0"/>
              </a:spcAft>
              <a:buSzPts val="2200"/>
              <a:buChar char="•"/>
            </a:pPr>
            <a:r>
              <a:rPr lang="en-US" sz="2200">
                <a:latin typeface="Consolas"/>
                <a:ea typeface="Consolas"/>
                <a:cs typeface="Consolas"/>
                <a:sym typeface="Consolas"/>
              </a:rPr>
              <a:t>mlir/lib/Dialect/</a:t>
            </a:r>
            <a:r>
              <a:rPr lang="en-US" sz="2200">
                <a:latin typeface="Consolas"/>
                <a:ea typeface="Consolas"/>
                <a:cs typeface="Consolas"/>
                <a:sym typeface="Consolas"/>
              </a:rPr>
              <a:t>&lt;dialect_name&gt;</a:t>
            </a:r>
            <a:r>
              <a:rPr lang="en-US" sz="2200"/>
              <a:t> (sources)</a:t>
            </a:r>
            <a:endParaRPr sz="2200"/>
          </a:p>
          <a:p>
            <a:pPr indent="-368300" lvl="0" marL="457200" rtl="0" algn="l">
              <a:spcBef>
                <a:spcPts val="0"/>
              </a:spcBef>
              <a:spcAft>
                <a:spcPts val="0"/>
              </a:spcAft>
              <a:buSzPts val="2200"/>
              <a:buChar char="•"/>
            </a:pPr>
            <a:r>
              <a:rPr lang="en-US" sz="2200">
                <a:latin typeface="Consolas"/>
                <a:ea typeface="Consolas"/>
                <a:cs typeface="Consolas"/>
                <a:sym typeface="Consolas"/>
              </a:rPr>
              <a:t>mlir/lib/Dialect/</a:t>
            </a:r>
            <a:r>
              <a:rPr lang="en-US" sz="2200">
                <a:latin typeface="Consolas"/>
                <a:ea typeface="Consolas"/>
                <a:cs typeface="Consolas"/>
                <a:sym typeface="Consolas"/>
              </a:rPr>
              <a:t>&lt;dialect_name&gt;</a:t>
            </a:r>
            <a:r>
              <a:rPr lang="en-US" sz="2200">
                <a:latin typeface="Consolas"/>
                <a:ea typeface="Consolas"/>
                <a:cs typeface="Consolas"/>
                <a:sym typeface="Consolas"/>
              </a:rPr>
              <a:t>/IR</a:t>
            </a:r>
            <a:r>
              <a:rPr lang="en-US" sz="2200"/>
              <a:t> (operations </a:t>
            </a:r>
            <a:r>
              <a:rPr lang="en-US" sz="2200"/>
              <a:t>sources</a:t>
            </a:r>
            <a:r>
              <a:rPr lang="en-US" sz="2200"/>
              <a:t>)</a:t>
            </a:r>
            <a:endParaRPr sz="2200"/>
          </a:p>
          <a:p>
            <a:pPr indent="-368300" lvl="0" marL="457200" rtl="0" algn="l">
              <a:spcBef>
                <a:spcPts val="0"/>
              </a:spcBef>
              <a:spcAft>
                <a:spcPts val="0"/>
              </a:spcAft>
              <a:buSzPts val="2200"/>
              <a:buChar char="•"/>
            </a:pPr>
            <a:r>
              <a:rPr lang="en-US" sz="2200">
                <a:latin typeface="Consolas"/>
                <a:ea typeface="Consolas"/>
                <a:cs typeface="Consolas"/>
                <a:sym typeface="Consolas"/>
              </a:rPr>
              <a:t>mlir/lib/Dialect/</a:t>
            </a:r>
            <a:r>
              <a:rPr lang="en-US" sz="2200">
                <a:latin typeface="Consolas"/>
                <a:ea typeface="Consolas"/>
                <a:cs typeface="Consolas"/>
                <a:sym typeface="Consolas"/>
              </a:rPr>
              <a:t>&lt;dialect_name&gt;</a:t>
            </a:r>
            <a:r>
              <a:rPr lang="en-US" sz="2200">
                <a:latin typeface="Consolas"/>
                <a:ea typeface="Consolas"/>
                <a:cs typeface="Consolas"/>
                <a:sym typeface="Consolas"/>
              </a:rPr>
              <a:t>/Transforms</a:t>
            </a:r>
            <a:r>
              <a:rPr lang="en-US" sz="2200"/>
              <a:t> (transforms </a:t>
            </a:r>
            <a:r>
              <a:rPr lang="en-US" sz="2200"/>
              <a:t>sources</a:t>
            </a:r>
            <a:r>
              <a:rPr lang="en-US" sz="2200"/>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270158642d6_0_68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Learn by example: Math dialect</a:t>
            </a:r>
            <a:endParaRPr/>
          </a:p>
        </p:txBody>
      </p:sp>
      <p:sp>
        <p:nvSpPr>
          <p:cNvPr id="382" name="Google Shape;382;g270158642d6_0_685"/>
          <p:cNvSpPr txBox="1"/>
          <p:nvPr>
            <p:ph idx="1" type="body"/>
          </p:nvPr>
        </p:nvSpPr>
        <p:spPr>
          <a:xfrm>
            <a:off x="571375" y="1673450"/>
            <a:ext cx="11010900" cy="4987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400" u="sng">
                <a:solidFill>
                  <a:schemeClr val="hlink"/>
                </a:solidFill>
                <a:hlinkClick r:id="rId3"/>
              </a:rPr>
              <a:t>https://github.com/llvm/llvm-project/tree/main/mlir/include/mlir/Dialect/Math</a:t>
            </a:r>
            <a:r>
              <a:rPr lang="en-US" sz="2400"/>
              <a:t> </a:t>
            </a:r>
            <a:endParaRPr sz="2400"/>
          </a:p>
          <a:p>
            <a:pPr indent="0" lvl="0" marL="0" rtl="0" algn="l">
              <a:spcBef>
                <a:spcPts val="1000"/>
              </a:spcBef>
              <a:spcAft>
                <a:spcPts val="0"/>
              </a:spcAft>
              <a:buNone/>
            </a:pPr>
            <a:r>
              <a:t/>
            </a:r>
            <a:endParaRPr sz="2400"/>
          </a:p>
          <a:p>
            <a:pPr indent="0" lvl="0" marL="0" rtl="0" algn="l">
              <a:spcBef>
                <a:spcPts val="1000"/>
              </a:spcBef>
              <a:spcAft>
                <a:spcPts val="0"/>
              </a:spcAft>
              <a:buNone/>
            </a:pPr>
            <a:r>
              <a:rPr lang="en-US" sz="2400"/>
              <a:t>IR:</a:t>
            </a:r>
            <a:endParaRPr sz="2400"/>
          </a:p>
          <a:p>
            <a:pPr indent="-381000" lvl="0" marL="457200" rtl="0" algn="l">
              <a:spcBef>
                <a:spcPts val="1000"/>
              </a:spcBef>
              <a:spcAft>
                <a:spcPts val="0"/>
              </a:spcAft>
              <a:buSzPts val="2400"/>
              <a:buChar char="•"/>
            </a:pPr>
            <a:r>
              <a:rPr lang="en-US" sz="2400"/>
              <a:t>Dialect description</a:t>
            </a:r>
            <a:endParaRPr sz="2400"/>
          </a:p>
          <a:p>
            <a:pPr indent="-381000" lvl="0" marL="457200" rtl="0" algn="l">
              <a:spcBef>
                <a:spcPts val="0"/>
              </a:spcBef>
              <a:spcAft>
                <a:spcPts val="0"/>
              </a:spcAft>
              <a:buSzPts val="2400"/>
              <a:buChar char="•"/>
            </a:pPr>
            <a:r>
              <a:rPr lang="en-US" sz="2400"/>
              <a:t>Dialect attributes and types</a:t>
            </a:r>
            <a:endParaRPr sz="2400"/>
          </a:p>
          <a:p>
            <a:pPr indent="-381000" lvl="0" marL="457200" rtl="0" algn="l">
              <a:spcBef>
                <a:spcPts val="0"/>
              </a:spcBef>
              <a:spcAft>
                <a:spcPts val="0"/>
              </a:spcAft>
              <a:buSzPts val="2400"/>
              <a:buChar char="•"/>
            </a:pPr>
            <a:r>
              <a:rPr lang="en-US" sz="2400"/>
              <a:t>Operations description</a:t>
            </a:r>
            <a:endParaRPr sz="2400"/>
          </a:p>
          <a:p>
            <a:pPr indent="0" lvl="0" marL="0" rtl="0" algn="l">
              <a:spcBef>
                <a:spcPts val="1000"/>
              </a:spcBef>
              <a:spcAft>
                <a:spcPts val="0"/>
              </a:spcAft>
              <a:buNone/>
            </a:pPr>
            <a:r>
              <a:rPr lang="en-US" sz="2400"/>
              <a:t>Transforms:</a:t>
            </a:r>
            <a:endParaRPr sz="2400"/>
          </a:p>
          <a:p>
            <a:pPr indent="-381000" lvl="0" marL="457200" rtl="0" algn="l">
              <a:spcBef>
                <a:spcPts val="1000"/>
              </a:spcBef>
              <a:spcAft>
                <a:spcPts val="0"/>
              </a:spcAft>
              <a:buSzPts val="2400"/>
              <a:buChar char="•"/>
            </a:pPr>
            <a:r>
              <a:rPr lang="en-US" sz="2400"/>
              <a:t>Dialect specific passes</a:t>
            </a:r>
            <a:endParaRPr sz="2400"/>
          </a:p>
          <a:p>
            <a:pPr indent="0" lvl="0" marL="0" rtl="0" algn="l">
              <a:spcBef>
                <a:spcPts val="1000"/>
              </a:spcBef>
              <a:spcAft>
                <a:spcPts val="0"/>
              </a:spcAft>
              <a:buNone/>
            </a:pPr>
            <a:r>
              <a:t/>
            </a:r>
            <a:endParaRPr sz="2400"/>
          </a:p>
          <a:p>
            <a:pPr indent="0" lvl="0" marL="0" rtl="0" algn="l">
              <a:spcBef>
                <a:spcPts val="1000"/>
              </a:spcBef>
              <a:spcAft>
                <a:spcPts val="0"/>
              </a:spcAft>
              <a:buNone/>
            </a:pPr>
            <a:r>
              <a:rPr lang="en-US" sz="2400"/>
              <a:t>other directories depend on dialect specifics</a:t>
            </a:r>
            <a:endParaRPr sz="2400"/>
          </a:p>
        </p:txBody>
      </p:sp>
      <p:pic>
        <p:nvPicPr>
          <p:cNvPr id="383" name="Google Shape;383;g270158642d6_0_685"/>
          <p:cNvPicPr preferRelativeResize="0"/>
          <p:nvPr/>
        </p:nvPicPr>
        <p:blipFill>
          <a:blip r:embed="rId4">
            <a:alphaModFix/>
          </a:blip>
          <a:stretch>
            <a:fillRect/>
          </a:stretch>
        </p:blipFill>
        <p:spPr>
          <a:xfrm>
            <a:off x="7999303" y="2105625"/>
            <a:ext cx="3919051" cy="46736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270158642d6_0_70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Dialect description</a:t>
            </a:r>
            <a:endParaRPr/>
          </a:p>
        </p:txBody>
      </p:sp>
      <p:sp>
        <p:nvSpPr>
          <p:cNvPr id="390" name="Google Shape;390;g270158642d6_0_705"/>
          <p:cNvSpPr txBox="1"/>
          <p:nvPr>
            <p:ph idx="1" type="body"/>
          </p:nvPr>
        </p:nvSpPr>
        <p:spPr>
          <a:xfrm>
            <a:off x="157425" y="1673450"/>
            <a:ext cx="6720300" cy="25299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900"/>
              <a:t>Docs: </a:t>
            </a:r>
            <a:r>
              <a:rPr lang="en-US" sz="1900" u="sng">
                <a:solidFill>
                  <a:schemeClr val="hlink"/>
                </a:solidFill>
                <a:hlinkClick r:id="rId3"/>
              </a:rPr>
              <a:t>https://mlir.llvm.org/docs/DefiningDialects/AttributesAndTypes/</a:t>
            </a:r>
            <a:endParaRPr sz="1900"/>
          </a:p>
          <a:p>
            <a:pPr indent="0" lvl="0" marL="0" rtl="0" algn="l">
              <a:spcBef>
                <a:spcPts val="1000"/>
              </a:spcBef>
              <a:spcAft>
                <a:spcPts val="0"/>
              </a:spcAft>
              <a:buNone/>
            </a:pPr>
            <a:r>
              <a:rPr lang="en-US" sz="1900"/>
              <a:t>Example:</a:t>
            </a:r>
            <a:endParaRPr sz="1900"/>
          </a:p>
          <a:p>
            <a:pPr indent="-349250" lvl="0" marL="457200" rtl="0" algn="l">
              <a:spcBef>
                <a:spcPts val="1000"/>
              </a:spcBef>
              <a:spcAft>
                <a:spcPts val="0"/>
              </a:spcAft>
              <a:buSzPts val="1900"/>
              <a:buChar char="•"/>
            </a:pPr>
            <a:r>
              <a:rPr lang="en-US" sz="1900"/>
              <a:t>arith dialect definition in TableGen: </a:t>
            </a:r>
            <a:r>
              <a:rPr lang="en-US" sz="1900" u="sng">
                <a:solidFill>
                  <a:schemeClr val="hlink"/>
                </a:solidFill>
                <a:hlinkClick r:id="rId4"/>
              </a:rPr>
              <a:t>https://github.com/llvm/llvm-project/blob/main/mlir/include/mlir/Dialect/Arith/IR/ArithBase.td</a:t>
            </a:r>
            <a:r>
              <a:rPr lang="en-US" sz="1900"/>
              <a:t> </a:t>
            </a:r>
            <a:endParaRPr sz="1900"/>
          </a:p>
          <a:p>
            <a:pPr indent="-349250" lvl="0" marL="457200" rtl="0" algn="l">
              <a:spcBef>
                <a:spcPts val="0"/>
              </a:spcBef>
              <a:spcAft>
                <a:spcPts val="0"/>
              </a:spcAft>
              <a:buSzPts val="1900"/>
              <a:buChar char="•"/>
            </a:pPr>
            <a:r>
              <a:rPr lang="en-US" sz="1900"/>
              <a:t>autogenerated docs: </a:t>
            </a:r>
            <a:r>
              <a:rPr lang="en-US" sz="1900" u="sng">
                <a:solidFill>
                  <a:schemeClr val="hlink"/>
                </a:solidFill>
                <a:hlinkClick r:id="rId5"/>
              </a:rPr>
              <a:t>https://mlir.llvm.org/docs/Dialects/ArithOps/</a:t>
            </a:r>
            <a:r>
              <a:rPr lang="en-US" sz="1900"/>
              <a:t> </a:t>
            </a:r>
            <a:endParaRPr sz="1900"/>
          </a:p>
        </p:txBody>
      </p:sp>
      <p:pic>
        <p:nvPicPr>
          <p:cNvPr id="391" name="Google Shape;391;g270158642d6_0_705"/>
          <p:cNvPicPr preferRelativeResize="0"/>
          <p:nvPr/>
        </p:nvPicPr>
        <p:blipFill>
          <a:blip r:embed="rId6">
            <a:alphaModFix/>
          </a:blip>
          <a:stretch>
            <a:fillRect/>
          </a:stretch>
        </p:blipFill>
        <p:spPr>
          <a:xfrm>
            <a:off x="571375" y="4245899"/>
            <a:ext cx="6355275" cy="865625"/>
          </a:xfrm>
          <a:prstGeom prst="rect">
            <a:avLst/>
          </a:prstGeom>
          <a:noFill/>
          <a:ln>
            <a:noFill/>
          </a:ln>
        </p:spPr>
      </p:pic>
      <p:pic>
        <p:nvPicPr>
          <p:cNvPr id="392" name="Google Shape;392;g270158642d6_0_705"/>
          <p:cNvPicPr preferRelativeResize="0"/>
          <p:nvPr/>
        </p:nvPicPr>
        <p:blipFill>
          <a:blip r:embed="rId7">
            <a:alphaModFix/>
          </a:blip>
          <a:stretch>
            <a:fillRect/>
          </a:stretch>
        </p:blipFill>
        <p:spPr>
          <a:xfrm>
            <a:off x="6973790" y="0"/>
            <a:ext cx="5218220" cy="68580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270158642d6_0_69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Operations definition</a:t>
            </a:r>
            <a:endParaRPr/>
          </a:p>
        </p:txBody>
      </p:sp>
      <p:sp>
        <p:nvSpPr>
          <p:cNvPr id="399" name="Google Shape;399;g270158642d6_0_694"/>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400"/>
              <a:t>Operation Definition Specification (ODS)</a:t>
            </a:r>
            <a:endParaRPr sz="2400"/>
          </a:p>
          <a:p>
            <a:pPr indent="0" lvl="0" marL="0" rtl="0" algn="l">
              <a:spcBef>
                <a:spcPts val="1000"/>
              </a:spcBef>
              <a:spcAft>
                <a:spcPts val="0"/>
              </a:spcAft>
              <a:buNone/>
            </a:pPr>
            <a:r>
              <a:rPr lang="en-US" sz="2400"/>
              <a:t>Docs: </a:t>
            </a:r>
            <a:r>
              <a:rPr lang="en-US" sz="2400" u="sng">
                <a:solidFill>
                  <a:schemeClr val="hlink"/>
                </a:solidFill>
                <a:hlinkClick r:id="rId3"/>
              </a:rPr>
              <a:t>https://mlir.llvm.org/docs/DefiningDialects/Operations/</a:t>
            </a:r>
            <a:r>
              <a:rPr lang="en-US" sz="2400"/>
              <a:t> </a:t>
            </a:r>
            <a:endParaRPr sz="2400"/>
          </a:p>
        </p:txBody>
      </p:sp>
      <p:pic>
        <p:nvPicPr>
          <p:cNvPr id="400" name="Google Shape;400;g270158642d6_0_694"/>
          <p:cNvPicPr preferRelativeResize="0"/>
          <p:nvPr/>
        </p:nvPicPr>
        <p:blipFill>
          <a:blip r:embed="rId4">
            <a:alphaModFix/>
          </a:blip>
          <a:stretch>
            <a:fillRect/>
          </a:stretch>
        </p:blipFill>
        <p:spPr>
          <a:xfrm>
            <a:off x="260450" y="3197000"/>
            <a:ext cx="3980300" cy="2251600"/>
          </a:xfrm>
          <a:prstGeom prst="rect">
            <a:avLst/>
          </a:prstGeom>
          <a:noFill/>
          <a:ln>
            <a:noFill/>
          </a:ln>
        </p:spPr>
      </p:pic>
      <p:pic>
        <p:nvPicPr>
          <p:cNvPr id="401" name="Google Shape;401;g270158642d6_0_694"/>
          <p:cNvPicPr preferRelativeResize="0"/>
          <p:nvPr/>
        </p:nvPicPr>
        <p:blipFill>
          <a:blip r:embed="rId5">
            <a:alphaModFix/>
          </a:blip>
          <a:stretch>
            <a:fillRect/>
          </a:stretch>
        </p:blipFill>
        <p:spPr>
          <a:xfrm>
            <a:off x="4927975" y="3639749"/>
            <a:ext cx="7121250" cy="1366100"/>
          </a:xfrm>
          <a:prstGeom prst="rect">
            <a:avLst/>
          </a:prstGeom>
          <a:noFill/>
          <a:ln>
            <a:noFill/>
          </a:ln>
        </p:spPr>
      </p:pic>
      <p:sp>
        <p:nvSpPr>
          <p:cNvPr id="402" name="Google Shape;402;g270158642d6_0_694"/>
          <p:cNvSpPr txBox="1"/>
          <p:nvPr/>
        </p:nvSpPr>
        <p:spPr>
          <a:xfrm>
            <a:off x="630400" y="5642700"/>
            <a:ext cx="3099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TableGen definition</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*Ops.td</a:t>
            </a:r>
            <a:endParaRPr sz="2800">
              <a:solidFill>
                <a:schemeClr val="dk1"/>
              </a:solidFill>
              <a:latin typeface="Calibri"/>
              <a:ea typeface="Calibri"/>
              <a:cs typeface="Calibri"/>
              <a:sym typeface="Calibri"/>
            </a:endParaRPr>
          </a:p>
        </p:txBody>
      </p:sp>
      <p:sp>
        <p:nvSpPr>
          <p:cNvPr id="403" name="Google Shape;403;g270158642d6_0_694"/>
          <p:cNvSpPr txBox="1"/>
          <p:nvPr/>
        </p:nvSpPr>
        <p:spPr>
          <a:xfrm>
            <a:off x="5893750" y="5558950"/>
            <a:ext cx="4693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Auto-generated code</a:t>
            </a:r>
            <a:endParaRPr sz="2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800">
                <a:solidFill>
                  <a:schemeClr val="dk1"/>
                </a:solidFill>
                <a:latin typeface="Calibri"/>
                <a:ea typeface="Calibri"/>
                <a:cs typeface="Calibri"/>
                <a:sym typeface="Calibri"/>
              </a:rPr>
              <a:t>*Ops.h.inc and *Ops.cpp.inc</a:t>
            </a:r>
            <a:endParaRPr sz="2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270158642d6_0_719"/>
          <p:cNvSpPr txBox="1"/>
          <p:nvPr>
            <p:ph type="title"/>
          </p:nvPr>
        </p:nvSpPr>
        <p:spPr>
          <a:xfrm>
            <a:off x="266570" y="1143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Arith AddI operation example</a:t>
            </a:r>
            <a:endParaRPr/>
          </a:p>
        </p:txBody>
      </p:sp>
      <p:sp>
        <p:nvSpPr>
          <p:cNvPr id="410" name="Google Shape;410;g270158642d6_0_719"/>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411" name="Google Shape;411;g270158642d6_0_719"/>
          <p:cNvPicPr preferRelativeResize="0"/>
          <p:nvPr/>
        </p:nvPicPr>
        <p:blipFill>
          <a:blip r:embed="rId3">
            <a:alphaModFix/>
          </a:blip>
          <a:stretch>
            <a:fillRect/>
          </a:stretch>
        </p:blipFill>
        <p:spPr>
          <a:xfrm>
            <a:off x="6178576" y="826500"/>
            <a:ext cx="6013424" cy="6031499"/>
          </a:xfrm>
          <a:prstGeom prst="rect">
            <a:avLst/>
          </a:prstGeom>
          <a:noFill/>
          <a:ln>
            <a:noFill/>
          </a:ln>
        </p:spPr>
      </p:pic>
      <p:pic>
        <p:nvPicPr>
          <p:cNvPr id="412" name="Google Shape;412;g270158642d6_0_719"/>
          <p:cNvPicPr preferRelativeResize="0"/>
          <p:nvPr/>
        </p:nvPicPr>
        <p:blipFill>
          <a:blip r:embed="rId4">
            <a:alphaModFix/>
          </a:blip>
          <a:stretch>
            <a:fillRect/>
          </a:stretch>
        </p:blipFill>
        <p:spPr>
          <a:xfrm>
            <a:off x="0" y="4690915"/>
            <a:ext cx="6084199" cy="2167085"/>
          </a:xfrm>
          <a:prstGeom prst="rect">
            <a:avLst/>
          </a:prstGeom>
          <a:noFill/>
          <a:ln>
            <a:noFill/>
          </a:ln>
        </p:spPr>
      </p:pic>
      <p:pic>
        <p:nvPicPr>
          <p:cNvPr id="413" name="Google Shape;413;g270158642d6_0_719"/>
          <p:cNvPicPr preferRelativeResize="0"/>
          <p:nvPr/>
        </p:nvPicPr>
        <p:blipFill>
          <a:blip r:embed="rId5">
            <a:alphaModFix/>
          </a:blip>
          <a:stretch>
            <a:fillRect/>
          </a:stretch>
        </p:blipFill>
        <p:spPr>
          <a:xfrm>
            <a:off x="234625" y="3569150"/>
            <a:ext cx="5678426" cy="1026725"/>
          </a:xfrm>
          <a:prstGeom prst="rect">
            <a:avLst/>
          </a:prstGeom>
          <a:noFill/>
          <a:ln>
            <a:noFill/>
          </a:ln>
        </p:spPr>
      </p:pic>
      <p:pic>
        <p:nvPicPr>
          <p:cNvPr id="414" name="Google Shape;414;g270158642d6_0_719"/>
          <p:cNvPicPr preferRelativeResize="0"/>
          <p:nvPr/>
        </p:nvPicPr>
        <p:blipFill>
          <a:blip r:embed="rId6">
            <a:alphaModFix/>
          </a:blip>
          <a:stretch>
            <a:fillRect/>
          </a:stretch>
        </p:blipFill>
        <p:spPr>
          <a:xfrm>
            <a:off x="70775" y="1227527"/>
            <a:ext cx="6013425" cy="2276648"/>
          </a:xfrm>
          <a:prstGeom prst="rect">
            <a:avLst/>
          </a:prstGeom>
          <a:noFill/>
          <a:ln>
            <a:noFill/>
          </a:ln>
        </p:spPr>
      </p:pic>
      <p:sp>
        <p:nvSpPr>
          <p:cNvPr id="415" name="Google Shape;415;g270158642d6_0_719"/>
          <p:cNvSpPr txBox="1"/>
          <p:nvPr/>
        </p:nvSpPr>
        <p:spPr>
          <a:xfrm>
            <a:off x="0" y="0"/>
            <a:ext cx="1184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7"/>
              </a:rPr>
              <a:t>https://github.com/llvm/llvm-project/blob/76aa042dde6ba9ba57c680950f5818259ee02690/mlir/include/mlir/Dialect/Arith/IR/ArithOps.td#L209</a:t>
            </a:r>
            <a:r>
              <a:rPr lang="en-US"/>
              <a: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270158642d6_0_12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Content</a:t>
            </a:r>
            <a:endParaRPr/>
          </a:p>
        </p:txBody>
      </p:sp>
      <p:sp>
        <p:nvSpPr>
          <p:cNvPr id="422" name="Google Shape;422;g270158642d6_0_129"/>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Available transformations and optimizations overview</a:t>
            </a:r>
            <a:endParaRPr/>
          </a:p>
          <a:p>
            <a:pPr indent="-342900" lvl="0" marL="457200" rtl="0" algn="l">
              <a:spcBef>
                <a:spcPts val="0"/>
              </a:spcBef>
              <a:spcAft>
                <a:spcPts val="0"/>
              </a:spcAft>
              <a:buSzPts val="1800"/>
              <a:buChar char="•"/>
            </a:pPr>
            <a:r>
              <a:rPr lang="en-US"/>
              <a:t>Custom dialects</a:t>
            </a:r>
            <a:endParaRPr/>
          </a:p>
          <a:p>
            <a:pPr indent="-342900" lvl="0" marL="457200" rtl="0" algn="l">
              <a:spcBef>
                <a:spcPts val="0"/>
              </a:spcBef>
              <a:spcAft>
                <a:spcPts val="0"/>
              </a:spcAft>
              <a:buSzPts val="1800"/>
              <a:buChar char="•"/>
            </a:pPr>
            <a:r>
              <a:rPr b="1" lang="en-US"/>
              <a:t>Writing a pass</a:t>
            </a:r>
            <a:endParaRPr/>
          </a:p>
          <a:p>
            <a:pPr indent="-342900" lvl="0" marL="457200" rtl="0" algn="l">
              <a:spcBef>
                <a:spcPts val="0"/>
              </a:spcBef>
              <a:spcAft>
                <a:spcPts val="0"/>
              </a:spcAft>
              <a:buSzPts val="1800"/>
              <a:buChar char="•"/>
            </a:pPr>
            <a:r>
              <a:rPr lang="en-US"/>
              <a:t>MLIR connections with other languages</a:t>
            </a:r>
            <a:endParaRPr/>
          </a:p>
          <a:p>
            <a:pPr indent="-342900" lvl="0" marL="457200" rtl="0" algn="l">
              <a:spcBef>
                <a:spcPts val="0"/>
              </a:spcBef>
              <a:spcAft>
                <a:spcPts val="0"/>
              </a:spcAft>
              <a:buSzPts val="1800"/>
              <a:buChar char="•"/>
            </a:pPr>
            <a:r>
              <a:rPr lang="en-US"/>
              <a:t>Python bindings overview</a:t>
            </a:r>
            <a:endParaRPr/>
          </a:p>
          <a:p>
            <a:pPr indent="-342900" lvl="0" marL="457200" rtl="0" algn="l">
              <a:spcBef>
                <a:spcPts val="0"/>
              </a:spcBef>
              <a:spcAft>
                <a:spcPts val="0"/>
              </a:spcAft>
              <a:buSzPts val="1800"/>
              <a:buChar char="•"/>
            </a:pPr>
            <a:r>
              <a:rPr lang="en-US"/>
              <a:t>Debugging</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270158642d6_0_8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Writing a pass</a:t>
            </a:r>
            <a:endParaRPr/>
          </a:p>
        </p:txBody>
      </p:sp>
      <p:sp>
        <p:nvSpPr>
          <p:cNvPr id="429" name="Google Shape;429;g270158642d6_0_89"/>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Pass manager</a:t>
            </a:r>
            <a:endParaRPr/>
          </a:p>
          <a:p>
            <a:pPr indent="0" lvl="0" marL="0" rtl="0" algn="l">
              <a:spcBef>
                <a:spcPts val="1000"/>
              </a:spcBef>
              <a:spcAft>
                <a:spcPts val="0"/>
              </a:spcAft>
              <a:buNone/>
            </a:pPr>
            <a:r>
              <a:rPr lang="en-US"/>
              <a:t>Docs: </a:t>
            </a:r>
            <a:r>
              <a:rPr lang="en-US" u="sng">
                <a:solidFill>
                  <a:schemeClr val="hlink"/>
                </a:solidFill>
                <a:hlinkClick r:id="rId3"/>
              </a:rPr>
              <a:t>https://mlir.llvm.org/docs/PassManagement/</a:t>
            </a:r>
            <a:r>
              <a:rPr lang="en-US"/>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270400c0d60_0_1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Pass writing by example: LICM</a:t>
            </a:r>
            <a:endParaRPr/>
          </a:p>
        </p:txBody>
      </p:sp>
      <p:sp>
        <p:nvSpPr>
          <p:cNvPr id="436" name="Google Shape;436;g270400c0d60_0_1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Loop Invariant Code Motion</a:t>
            </a:r>
            <a:endParaRPr/>
          </a:p>
          <a:p>
            <a:pPr indent="0" lvl="0" marL="0" rtl="0" algn="l">
              <a:spcBef>
                <a:spcPts val="1000"/>
              </a:spcBef>
              <a:spcAft>
                <a:spcPts val="0"/>
              </a:spcAft>
              <a:buNone/>
            </a:pPr>
            <a:r>
              <a:t/>
            </a:r>
            <a:endParaRPr/>
          </a:p>
        </p:txBody>
      </p:sp>
      <p:pic>
        <p:nvPicPr>
          <p:cNvPr id="437" name="Google Shape;437;g270400c0d60_0_11"/>
          <p:cNvPicPr preferRelativeResize="0"/>
          <p:nvPr/>
        </p:nvPicPr>
        <p:blipFill>
          <a:blip r:embed="rId3">
            <a:alphaModFix/>
          </a:blip>
          <a:stretch>
            <a:fillRect/>
          </a:stretch>
        </p:blipFill>
        <p:spPr>
          <a:xfrm>
            <a:off x="631750" y="2423525"/>
            <a:ext cx="7543800" cy="1676400"/>
          </a:xfrm>
          <a:prstGeom prst="rect">
            <a:avLst/>
          </a:prstGeom>
          <a:noFill/>
          <a:ln>
            <a:noFill/>
          </a:ln>
        </p:spPr>
      </p:pic>
      <p:sp>
        <p:nvSpPr>
          <p:cNvPr id="438" name="Google Shape;438;g270400c0d60_0_11"/>
          <p:cNvSpPr txBox="1"/>
          <p:nvPr/>
        </p:nvSpPr>
        <p:spPr>
          <a:xfrm>
            <a:off x="1111825" y="3903700"/>
            <a:ext cx="514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https://mlir.llvm.org/docs/Passes/#-loop-invariant-code-motion</a:t>
            </a:r>
            <a:r>
              <a:rPr lang="en-US"/>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270400c0d60_0_2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Pass writing by example: LICM definition in headers</a:t>
            </a:r>
            <a:endParaRPr/>
          </a:p>
        </p:txBody>
      </p:sp>
      <p:pic>
        <p:nvPicPr>
          <p:cNvPr id="445" name="Google Shape;445;g270400c0d60_0_26"/>
          <p:cNvPicPr preferRelativeResize="0"/>
          <p:nvPr/>
        </p:nvPicPr>
        <p:blipFill>
          <a:blip r:embed="rId3">
            <a:alphaModFix/>
          </a:blip>
          <a:stretch>
            <a:fillRect/>
          </a:stretch>
        </p:blipFill>
        <p:spPr>
          <a:xfrm>
            <a:off x="419100" y="1631250"/>
            <a:ext cx="7294924" cy="1260700"/>
          </a:xfrm>
          <a:prstGeom prst="rect">
            <a:avLst/>
          </a:prstGeom>
          <a:noFill/>
          <a:ln>
            <a:noFill/>
          </a:ln>
        </p:spPr>
      </p:pic>
      <p:sp>
        <p:nvSpPr>
          <p:cNvPr id="446" name="Google Shape;446;g270400c0d60_0_26"/>
          <p:cNvSpPr txBox="1"/>
          <p:nvPr/>
        </p:nvSpPr>
        <p:spPr>
          <a:xfrm>
            <a:off x="7758200" y="1445050"/>
            <a:ext cx="566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TableGen Definition</a:t>
            </a:r>
            <a:endParaRPr sz="2800">
              <a:solidFill>
                <a:schemeClr val="dk1"/>
              </a:solidFill>
              <a:latin typeface="Calibri"/>
              <a:ea typeface="Calibri"/>
              <a:cs typeface="Calibri"/>
              <a:sym typeface="Calibri"/>
            </a:endParaRPr>
          </a:p>
        </p:txBody>
      </p:sp>
      <p:sp>
        <p:nvSpPr>
          <p:cNvPr id="447" name="Google Shape;447;g270400c0d60_0_26"/>
          <p:cNvSpPr txBox="1"/>
          <p:nvPr/>
        </p:nvSpPr>
        <p:spPr>
          <a:xfrm>
            <a:off x="7714025" y="2136850"/>
            <a:ext cx="4417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https://github.com/llvm/llvm-project/blob/76aa042dde6ba9ba57c680950f5818259ee02690/mlir/include/mlir/Transforms/Passes.td#L336-L339</a:t>
            </a:r>
            <a:r>
              <a:rPr lang="en-US"/>
              <a:t> </a:t>
            </a:r>
            <a:endParaRPr/>
          </a:p>
        </p:txBody>
      </p:sp>
      <p:sp>
        <p:nvSpPr>
          <p:cNvPr id="448" name="Google Shape;448;g270400c0d60_0_26"/>
          <p:cNvSpPr txBox="1"/>
          <p:nvPr/>
        </p:nvSpPr>
        <p:spPr>
          <a:xfrm>
            <a:off x="7758200" y="4535950"/>
            <a:ext cx="4417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https://github.com/llvm/llvm-project/blob/76aa042dde6ba9ba57c680950f5818259ee02690/mlir/include/mlir/Transforms/Passes.h#L78-L80</a:t>
            </a:r>
            <a:r>
              <a:rPr lang="en-US"/>
              <a:t> </a:t>
            </a:r>
            <a:endParaRPr/>
          </a:p>
        </p:txBody>
      </p:sp>
      <p:sp>
        <p:nvSpPr>
          <p:cNvPr id="449" name="Google Shape;449;g270400c0d60_0_26"/>
          <p:cNvSpPr txBox="1"/>
          <p:nvPr/>
        </p:nvSpPr>
        <p:spPr>
          <a:xfrm>
            <a:off x="7812200" y="3920350"/>
            <a:ext cx="566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Header</a:t>
            </a:r>
            <a:r>
              <a:rPr lang="en-US" sz="2800">
                <a:solidFill>
                  <a:schemeClr val="dk1"/>
                </a:solidFill>
                <a:latin typeface="Calibri"/>
                <a:ea typeface="Calibri"/>
                <a:cs typeface="Calibri"/>
                <a:sym typeface="Calibri"/>
              </a:rPr>
              <a:t> Definition</a:t>
            </a:r>
            <a:endParaRPr sz="2800">
              <a:solidFill>
                <a:schemeClr val="dk1"/>
              </a:solidFill>
              <a:latin typeface="Calibri"/>
              <a:ea typeface="Calibri"/>
              <a:cs typeface="Calibri"/>
              <a:sym typeface="Calibri"/>
            </a:endParaRPr>
          </a:p>
        </p:txBody>
      </p:sp>
      <p:pic>
        <p:nvPicPr>
          <p:cNvPr id="450" name="Google Shape;450;g270400c0d60_0_26"/>
          <p:cNvPicPr preferRelativeResize="0"/>
          <p:nvPr/>
        </p:nvPicPr>
        <p:blipFill>
          <a:blip r:embed="rId6">
            <a:alphaModFix/>
          </a:blip>
          <a:stretch>
            <a:fillRect/>
          </a:stretch>
        </p:blipFill>
        <p:spPr>
          <a:xfrm>
            <a:off x="59325" y="4214150"/>
            <a:ext cx="7654701" cy="75357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270400c0d60_0_3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Pass writing by example: LICM usage</a:t>
            </a:r>
            <a:endParaRPr/>
          </a:p>
        </p:txBody>
      </p:sp>
      <p:pic>
        <p:nvPicPr>
          <p:cNvPr id="457" name="Google Shape;457;g270400c0d60_0_36"/>
          <p:cNvPicPr preferRelativeResize="0"/>
          <p:nvPr/>
        </p:nvPicPr>
        <p:blipFill>
          <a:blip r:embed="rId3">
            <a:alphaModFix/>
          </a:blip>
          <a:stretch>
            <a:fillRect/>
          </a:stretch>
        </p:blipFill>
        <p:spPr>
          <a:xfrm>
            <a:off x="669075" y="1879088"/>
            <a:ext cx="7912450" cy="4163726"/>
          </a:xfrm>
          <a:prstGeom prst="rect">
            <a:avLst/>
          </a:prstGeom>
          <a:noFill/>
          <a:ln>
            <a:noFill/>
          </a:ln>
        </p:spPr>
      </p:pic>
      <p:sp>
        <p:nvSpPr>
          <p:cNvPr id="458" name="Google Shape;458;g270400c0d60_0_36"/>
          <p:cNvSpPr/>
          <p:nvPr/>
        </p:nvSpPr>
        <p:spPr>
          <a:xfrm>
            <a:off x="1702200" y="3571675"/>
            <a:ext cx="5018100" cy="501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9" name="Google Shape;459;g270400c0d60_0_36"/>
          <p:cNvSpPr txBox="1"/>
          <p:nvPr/>
        </p:nvSpPr>
        <p:spPr>
          <a:xfrm>
            <a:off x="8688100" y="2558225"/>
            <a:ext cx="3504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https://github.com/llvm/llvm-project/blob/76aa042dde6ba9ba57c680950f5818259ee02690/mlir/test/lib/Dialect/Linalg/TestLinalgFusionTransforms.cpp#L91C22-L91C28</a:t>
            </a:r>
            <a:r>
              <a:rPr lang="en-US"/>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270400c0d60_0_4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Pass writing by example: LICM implementation</a:t>
            </a:r>
            <a:endParaRPr/>
          </a:p>
        </p:txBody>
      </p:sp>
      <p:pic>
        <p:nvPicPr>
          <p:cNvPr id="466" name="Google Shape;466;g270400c0d60_0_45"/>
          <p:cNvPicPr preferRelativeResize="0"/>
          <p:nvPr/>
        </p:nvPicPr>
        <p:blipFill>
          <a:blip r:embed="rId3">
            <a:alphaModFix/>
          </a:blip>
          <a:stretch>
            <a:fillRect/>
          </a:stretch>
        </p:blipFill>
        <p:spPr>
          <a:xfrm>
            <a:off x="571376" y="1406525"/>
            <a:ext cx="5303699" cy="5451477"/>
          </a:xfrm>
          <a:prstGeom prst="rect">
            <a:avLst/>
          </a:prstGeom>
          <a:noFill/>
          <a:ln>
            <a:noFill/>
          </a:ln>
        </p:spPr>
      </p:pic>
      <p:sp>
        <p:nvSpPr>
          <p:cNvPr id="467" name="Google Shape;467;g270400c0d60_0_45"/>
          <p:cNvSpPr/>
          <p:nvPr/>
        </p:nvSpPr>
        <p:spPr>
          <a:xfrm>
            <a:off x="1003600" y="6247975"/>
            <a:ext cx="4407900" cy="609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68" name="Google Shape;468;g270400c0d60_0_45"/>
          <p:cNvPicPr preferRelativeResize="0"/>
          <p:nvPr/>
        </p:nvPicPr>
        <p:blipFill>
          <a:blip r:embed="rId4">
            <a:alphaModFix/>
          </a:blip>
          <a:stretch>
            <a:fillRect/>
          </a:stretch>
        </p:blipFill>
        <p:spPr>
          <a:xfrm>
            <a:off x="6278575" y="2067825"/>
            <a:ext cx="5303701" cy="1134666"/>
          </a:xfrm>
          <a:prstGeom prst="rect">
            <a:avLst/>
          </a:prstGeom>
          <a:noFill/>
          <a:ln>
            <a:noFill/>
          </a:ln>
        </p:spPr>
      </p:pic>
      <p:pic>
        <p:nvPicPr>
          <p:cNvPr id="469" name="Google Shape;469;g270400c0d60_0_45"/>
          <p:cNvPicPr preferRelativeResize="0"/>
          <p:nvPr/>
        </p:nvPicPr>
        <p:blipFill>
          <a:blip r:embed="rId5">
            <a:alphaModFix/>
          </a:blip>
          <a:stretch>
            <a:fillRect/>
          </a:stretch>
        </p:blipFill>
        <p:spPr>
          <a:xfrm>
            <a:off x="6278574" y="3827323"/>
            <a:ext cx="5303701" cy="492785"/>
          </a:xfrm>
          <a:prstGeom prst="rect">
            <a:avLst/>
          </a:prstGeom>
          <a:noFill/>
          <a:ln>
            <a:noFill/>
          </a:ln>
        </p:spPr>
      </p:pic>
      <p:sp>
        <p:nvSpPr>
          <p:cNvPr id="470" name="Google Shape;470;g270400c0d60_0_45"/>
          <p:cNvSpPr/>
          <p:nvPr/>
        </p:nvSpPr>
        <p:spPr>
          <a:xfrm>
            <a:off x="1013450" y="4673675"/>
            <a:ext cx="2696100" cy="167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1" name="Google Shape;471;g270400c0d60_0_45"/>
          <p:cNvSpPr/>
          <p:nvPr/>
        </p:nvSpPr>
        <p:spPr>
          <a:xfrm>
            <a:off x="1023300" y="4978700"/>
            <a:ext cx="2391000" cy="167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2" name="Google Shape;472;g270400c0d60_0_45"/>
          <p:cNvSpPr txBox="1"/>
          <p:nvPr/>
        </p:nvSpPr>
        <p:spPr>
          <a:xfrm>
            <a:off x="6188950" y="4841075"/>
            <a:ext cx="5667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onsolas"/>
                <a:ea typeface="Consolas"/>
                <a:cs typeface="Consolas"/>
                <a:sym typeface="Consolas"/>
              </a:rPr>
              <a:t>runOnOperation</a:t>
            </a:r>
            <a:r>
              <a:rPr lang="en-US" sz="2800">
                <a:solidFill>
                  <a:schemeClr val="dk1"/>
                </a:solidFill>
                <a:latin typeface="Calibri"/>
                <a:ea typeface="Calibri"/>
                <a:cs typeface="Calibri"/>
                <a:sym typeface="Calibri"/>
              </a:rPr>
              <a:t> is the main function to be implemented by pass developer</a:t>
            </a:r>
            <a:endParaRPr sz="2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270400c0d60_0_7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Operation walker</a:t>
            </a:r>
            <a:endParaRPr/>
          </a:p>
        </p:txBody>
      </p:sp>
      <p:sp>
        <p:nvSpPr>
          <p:cNvPr id="479" name="Google Shape;479;g270400c0d60_0_75"/>
          <p:cNvSpPr txBox="1"/>
          <p:nvPr>
            <p:ph idx="1" type="body"/>
          </p:nvPr>
        </p:nvSpPr>
        <p:spPr>
          <a:xfrm>
            <a:off x="571375" y="1407025"/>
            <a:ext cx="11010900" cy="412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300"/>
              <a:t>Walk through all operation within this operation</a:t>
            </a:r>
            <a:endParaRPr sz="2300"/>
          </a:p>
        </p:txBody>
      </p:sp>
      <p:sp>
        <p:nvSpPr>
          <p:cNvPr id="480" name="Google Shape;480;g270400c0d60_0_75"/>
          <p:cNvSpPr txBox="1"/>
          <p:nvPr/>
        </p:nvSpPr>
        <p:spPr>
          <a:xfrm>
            <a:off x="7822250" y="3783863"/>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3"/>
              </a:rPr>
              <a:t>https://github.com/llvm/llvm-project/blob/ffc9a30938ae5c42c03f9c563db1465876b4def6/mlir/lib/Transforms/TopologicalSort.cpp#L26</a:t>
            </a:r>
            <a:r>
              <a:rPr lang="en-US"/>
              <a:t> </a:t>
            </a:r>
            <a:endParaRPr/>
          </a:p>
        </p:txBody>
      </p:sp>
      <p:pic>
        <p:nvPicPr>
          <p:cNvPr id="481" name="Google Shape;481;g270400c0d60_0_75"/>
          <p:cNvPicPr preferRelativeResize="0"/>
          <p:nvPr/>
        </p:nvPicPr>
        <p:blipFill>
          <a:blip r:embed="rId4">
            <a:alphaModFix/>
          </a:blip>
          <a:stretch>
            <a:fillRect/>
          </a:stretch>
        </p:blipFill>
        <p:spPr>
          <a:xfrm>
            <a:off x="695425" y="3335125"/>
            <a:ext cx="5332201" cy="1927425"/>
          </a:xfrm>
          <a:prstGeom prst="rect">
            <a:avLst/>
          </a:prstGeom>
          <a:noFill/>
          <a:ln>
            <a:noFill/>
          </a:ln>
        </p:spPr>
      </p:pic>
      <p:pic>
        <p:nvPicPr>
          <p:cNvPr id="482" name="Google Shape;482;g270400c0d60_0_75"/>
          <p:cNvPicPr preferRelativeResize="0"/>
          <p:nvPr/>
        </p:nvPicPr>
        <p:blipFill>
          <a:blip r:embed="rId5">
            <a:alphaModFix/>
          </a:blip>
          <a:stretch>
            <a:fillRect/>
          </a:stretch>
        </p:blipFill>
        <p:spPr>
          <a:xfrm>
            <a:off x="695425" y="1771300"/>
            <a:ext cx="3171425" cy="1142950"/>
          </a:xfrm>
          <a:prstGeom prst="rect">
            <a:avLst/>
          </a:prstGeom>
          <a:noFill/>
          <a:ln>
            <a:noFill/>
          </a:ln>
        </p:spPr>
      </p:pic>
      <p:sp>
        <p:nvSpPr>
          <p:cNvPr id="483" name="Google Shape;483;g270400c0d60_0_75"/>
          <p:cNvSpPr txBox="1"/>
          <p:nvPr/>
        </p:nvSpPr>
        <p:spPr>
          <a:xfrm>
            <a:off x="7822250" y="1819425"/>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6"/>
              </a:rPr>
              <a:t>https://github.com/llvm/llvm-project/blob/ffc9a30938ae5c42c03f9c563db1465876b4def6/mlir/lib/Analysis/Liveness.cpp#L70</a:t>
            </a:r>
            <a:r>
              <a:rPr lang="en-US"/>
              <a:t> </a:t>
            </a:r>
            <a:endParaRPr/>
          </a:p>
        </p:txBody>
      </p:sp>
      <p:sp>
        <p:nvSpPr>
          <p:cNvPr id="484" name="Google Shape;484;g270400c0d60_0_75"/>
          <p:cNvSpPr txBox="1"/>
          <p:nvPr>
            <p:ph idx="1" type="body"/>
          </p:nvPr>
        </p:nvSpPr>
        <p:spPr>
          <a:xfrm>
            <a:off x="695425" y="2898575"/>
            <a:ext cx="11010900" cy="412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300"/>
              <a:t>Walk through all operations implementing specific interface</a:t>
            </a:r>
            <a:endParaRPr sz="2300"/>
          </a:p>
        </p:txBody>
      </p:sp>
      <p:sp>
        <p:nvSpPr>
          <p:cNvPr id="485" name="Google Shape;485;g270400c0d60_0_75"/>
          <p:cNvSpPr txBox="1"/>
          <p:nvPr>
            <p:ph idx="1" type="body"/>
          </p:nvPr>
        </p:nvSpPr>
        <p:spPr>
          <a:xfrm>
            <a:off x="695425" y="5270925"/>
            <a:ext cx="11010900" cy="412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300"/>
              <a:t>Walk through all operations of specific type (e.g. </a:t>
            </a:r>
            <a:r>
              <a:rPr lang="en-US" sz="2300">
                <a:latin typeface="Consolas"/>
                <a:ea typeface="Consolas"/>
                <a:cs typeface="Consolas"/>
                <a:sym typeface="Consolas"/>
              </a:rPr>
              <a:t>scf.for</a:t>
            </a:r>
            <a:r>
              <a:rPr lang="en-US" sz="2300"/>
              <a:t>)</a:t>
            </a:r>
            <a:endParaRPr sz="2300"/>
          </a:p>
        </p:txBody>
      </p:sp>
      <p:pic>
        <p:nvPicPr>
          <p:cNvPr id="486" name="Google Shape;486;g270400c0d60_0_75"/>
          <p:cNvPicPr preferRelativeResize="0"/>
          <p:nvPr/>
        </p:nvPicPr>
        <p:blipFill>
          <a:blip r:embed="rId7">
            <a:alphaModFix/>
          </a:blip>
          <a:stretch>
            <a:fillRect/>
          </a:stretch>
        </p:blipFill>
        <p:spPr>
          <a:xfrm>
            <a:off x="695424" y="5596625"/>
            <a:ext cx="3944674" cy="1261375"/>
          </a:xfrm>
          <a:prstGeom prst="rect">
            <a:avLst/>
          </a:prstGeom>
          <a:noFill/>
          <a:ln>
            <a:noFill/>
          </a:ln>
        </p:spPr>
      </p:pic>
      <p:sp>
        <p:nvSpPr>
          <p:cNvPr id="487" name="Google Shape;487;g270400c0d60_0_75"/>
          <p:cNvSpPr txBox="1"/>
          <p:nvPr/>
        </p:nvSpPr>
        <p:spPr>
          <a:xfrm>
            <a:off x="7871450" y="5703963"/>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8"/>
              </a:rPr>
              <a:t>https://github.com/llvm/llvm-project/blob/ffc9a30938ae5c42c03f9c563db1465876b4def6/mlir/test/lib/Dialect/SCF/TestLoopUnrolling.cpp#L57</a:t>
            </a:r>
            <a:r>
              <a:rPr lang="en-US"/>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2d25b4b9e83_0_64"/>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solidFill>
                  <a:schemeClr val="lt2"/>
                </a:solidFill>
              </a:rPr>
              <a:t>Rewind back to LLVM IR</a:t>
            </a:r>
            <a:endParaRPr>
              <a:solidFill>
                <a:schemeClr val="lt2"/>
              </a:solidFill>
            </a:endParaRPr>
          </a:p>
        </p:txBody>
      </p:sp>
      <p:sp>
        <p:nvSpPr>
          <p:cNvPr id="494" name="Google Shape;494;g2d25b4b9e83_0_64"/>
          <p:cNvSpPr txBox="1"/>
          <p:nvPr>
            <p:ph idx="1" type="body"/>
          </p:nvPr>
        </p:nvSpPr>
        <p:spPr>
          <a:xfrm>
            <a:off x="571375" y="1673450"/>
            <a:ext cx="11010900" cy="51846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solidFill>
                  <a:schemeClr val="lt2"/>
                </a:solidFill>
              </a:rPr>
              <a:t>LLVM IR passes classifications</a:t>
            </a:r>
            <a:endParaRPr>
              <a:solidFill>
                <a:schemeClr val="lt2"/>
              </a:solidFill>
            </a:endParaRPr>
          </a:p>
          <a:p>
            <a:pPr indent="-342900" lvl="0" marL="457200" rtl="0" algn="l">
              <a:spcBef>
                <a:spcPts val="1000"/>
              </a:spcBef>
              <a:spcAft>
                <a:spcPts val="0"/>
              </a:spcAft>
              <a:buClr>
                <a:schemeClr val="lt2"/>
              </a:buClr>
              <a:buSzPts val="1800"/>
              <a:buChar char="•"/>
            </a:pPr>
            <a:r>
              <a:rPr lang="en-US">
                <a:solidFill>
                  <a:schemeClr val="lt2"/>
                </a:solidFill>
              </a:rPr>
              <a:t>Types</a:t>
            </a:r>
            <a:endParaRPr>
              <a:solidFill>
                <a:schemeClr val="lt2"/>
              </a:solidFill>
            </a:endParaRPr>
          </a:p>
          <a:p>
            <a:pPr indent="-342900" lvl="1" marL="914400" rtl="0" algn="l">
              <a:spcBef>
                <a:spcPts val="0"/>
              </a:spcBef>
              <a:spcAft>
                <a:spcPts val="0"/>
              </a:spcAft>
              <a:buClr>
                <a:schemeClr val="lt2"/>
              </a:buClr>
              <a:buSzPts val="1800"/>
              <a:buChar char="•"/>
            </a:pPr>
            <a:r>
              <a:rPr lang="en-US">
                <a:solidFill>
                  <a:schemeClr val="lt2"/>
                </a:solidFill>
              </a:rPr>
              <a:t>Analysis pass</a:t>
            </a:r>
            <a:endParaRPr>
              <a:solidFill>
                <a:schemeClr val="lt2"/>
              </a:solidFill>
            </a:endParaRPr>
          </a:p>
          <a:p>
            <a:pPr indent="-342900" lvl="1" marL="914400" rtl="0" algn="l">
              <a:spcBef>
                <a:spcPts val="0"/>
              </a:spcBef>
              <a:spcAft>
                <a:spcPts val="0"/>
              </a:spcAft>
              <a:buClr>
                <a:schemeClr val="lt2"/>
              </a:buClr>
              <a:buSzPts val="1800"/>
              <a:buChar char="•"/>
            </a:pPr>
            <a:r>
              <a:rPr lang="en-US">
                <a:solidFill>
                  <a:schemeClr val="lt2"/>
                </a:solidFill>
              </a:rPr>
              <a:t>Transformation pass</a:t>
            </a:r>
            <a:endParaRPr>
              <a:solidFill>
                <a:schemeClr val="lt2"/>
              </a:solidFill>
            </a:endParaRPr>
          </a:p>
          <a:p>
            <a:pPr indent="-342900" lvl="1" marL="914400" rtl="0" algn="l">
              <a:spcBef>
                <a:spcPts val="0"/>
              </a:spcBef>
              <a:spcAft>
                <a:spcPts val="0"/>
              </a:spcAft>
              <a:buClr>
                <a:schemeClr val="lt2"/>
              </a:buClr>
              <a:buSzPts val="1800"/>
              <a:buChar char="•"/>
            </a:pPr>
            <a:r>
              <a:rPr lang="en-US">
                <a:solidFill>
                  <a:schemeClr val="lt2"/>
                </a:solidFill>
              </a:rPr>
              <a:t>Utility pass</a:t>
            </a:r>
            <a:endParaRPr>
              <a:solidFill>
                <a:schemeClr val="lt2"/>
              </a:solidFill>
            </a:endParaRPr>
          </a:p>
          <a:p>
            <a:pPr indent="-342900" lvl="0" marL="457200" rtl="0" algn="l">
              <a:spcBef>
                <a:spcPts val="0"/>
              </a:spcBef>
              <a:spcAft>
                <a:spcPts val="0"/>
              </a:spcAft>
              <a:buSzPts val="1800"/>
              <a:buChar char="•"/>
            </a:pPr>
            <a:r>
              <a:rPr lang="en-US"/>
              <a:t>Run scope</a:t>
            </a:r>
            <a:endParaRPr/>
          </a:p>
          <a:p>
            <a:pPr indent="-342900" lvl="1" marL="914400" rtl="0" algn="l">
              <a:spcBef>
                <a:spcPts val="0"/>
              </a:spcBef>
              <a:spcAft>
                <a:spcPts val="0"/>
              </a:spcAft>
              <a:buSzPts val="1800"/>
              <a:buChar char="•"/>
            </a:pPr>
            <a:r>
              <a:rPr lang="en-US"/>
              <a:t>Module pass</a:t>
            </a:r>
            <a:endParaRPr/>
          </a:p>
          <a:p>
            <a:pPr indent="-342900" lvl="1" marL="914400" rtl="0" algn="l">
              <a:spcBef>
                <a:spcPts val="0"/>
              </a:spcBef>
              <a:spcAft>
                <a:spcPts val="0"/>
              </a:spcAft>
              <a:buSzPts val="1800"/>
              <a:buChar char="•"/>
            </a:pPr>
            <a:r>
              <a:rPr lang="en-US"/>
              <a:t>Function pass</a:t>
            </a:r>
            <a:endParaRPr/>
          </a:p>
          <a:p>
            <a:pPr indent="-342900" lvl="1" marL="914400" rtl="0" algn="l">
              <a:spcBef>
                <a:spcPts val="0"/>
              </a:spcBef>
              <a:spcAft>
                <a:spcPts val="0"/>
              </a:spcAft>
              <a:buSzPts val="1800"/>
              <a:buChar char="•"/>
            </a:pPr>
            <a:r>
              <a:rPr lang="en-US"/>
              <a:t>Loop pass</a:t>
            </a:r>
            <a:endParaRPr/>
          </a:p>
          <a:p>
            <a:pPr indent="-342900" lvl="1" marL="914400" rtl="0" algn="l">
              <a:spcBef>
                <a:spcPts val="0"/>
              </a:spcBef>
              <a:spcAft>
                <a:spcPts val="0"/>
              </a:spcAft>
              <a:buSzPts val="1800"/>
              <a:buChar char="•"/>
            </a:pPr>
            <a:r>
              <a:rPr lang="en-US"/>
              <a:t>…</a:t>
            </a:r>
            <a:endParaRPr/>
          </a:p>
          <a:p>
            <a:pPr indent="0" lvl="0" marL="0" rtl="0" algn="l">
              <a:spcBef>
                <a:spcPts val="1000"/>
              </a:spcBef>
              <a:spcAft>
                <a:spcPts val="0"/>
              </a:spcAft>
              <a:buNone/>
            </a:pPr>
            <a:r>
              <a:t/>
            </a:r>
            <a:endParaRPr>
              <a:solidFill>
                <a:schemeClr val="lt2"/>
              </a:solidFill>
            </a:endParaRPr>
          </a:p>
          <a:p>
            <a:pPr indent="0" lvl="0" marL="0" rtl="0" algn="l">
              <a:spcBef>
                <a:spcPts val="1000"/>
              </a:spcBef>
              <a:spcAft>
                <a:spcPts val="0"/>
              </a:spcAft>
              <a:buNone/>
            </a:pPr>
            <a:r>
              <a:rPr lang="en-US">
                <a:solidFill>
                  <a:schemeClr val="lt2"/>
                </a:solidFill>
              </a:rPr>
              <a:t>What about MLIR classification?</a:t>
            </a:r>
            <a:endParaRPr>
              <a:solidFill>
                <a:schemeClr val="lt2"/>
              </a:solidFill>
            </a:endParaRPr>
          </a:p>
          <a:p>
            <a:pPr indent="-342900" lvl="0" marL="457200" rtl="0" algn="l">
              <a:spcBef>
                <a:spcPts val="1000"/>
              </a:spcBef>
              <a:spcAft>
                <a:spcPts val="0"/>
              </a:spcAft>
              <a:buClr>
                <a:schemeClr val="lt2"/>
              </a:buClr>
              <a:buSzPts val="1800"/>
              <a:buChar char="•"/>
            </a:pPr>
            <a:r>
              <a:rPr lang="en-US" sz="1800">
                <a:solidFill>
                  <a:schemeClr val="lt2"/>
                </a:solidFill>
              </a:rPr>
              <a:t>It could be the same</a:t>
            </a:r>
            <a:endParaRPr sz="1800">
              <a:solidFill>
                <a:schemeClr val="lt2"/>
              </a:solidFill>
            </a:endParaRPr>
          </a:p>
          <a:p>
            <a:pPr indent="-342900" lvl="0" marL="457200" rtl="0" algn="l">
              <a:spcBef>
                <a:spcPts val="0"/>
              </a:spcBef>
              <a:spcAft>
                <a:spcPts val="0"/>
              </a:spcAft>
              <a:buClr>
                <a:schemeClr val="lt2"/>
              </a:buClr>
              <a:buSzPts val="1800"/>
              <a:buChar char="•"/>
            </a:pPr>
            <a:r>
              <a:rPr lang="en-US" sz="1800">
                <a:solidFill>
                  <a:schemeClr val="lt2"/>
                </a:solidFill>
              </a:rPr>
              <a:t>but in addition to that usually people outline different classification rules</a:t>
            </a:r>
            <a:endParaRPr sz="1800">
              <a:solidFill>
                <a:schemeClr val="lt2"/>
              </a:solidFill>
            </a:endParaRPr>
          </a:p>
        </p:txBody>
      </p:sp>
      <p:sp>
        <p:nvSpPr>
          <p:cNvPr id="495" name="Google Shape;495;g2d25b4b9e83_0_64"/>
          <p:cNvSpPr txBox="1"/>
          <p:nvPr/>
        </p:nvSpPr>
        <p:spPr>
          <a:xfrm>
            <a:off x="6041325" y="3527000"/>
            <a:ext cx="5667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Operation walker gives an opportunity to run the pass on any </a:t>
            </a:r>
            <a:r>
              <a:rPr lang="en-US" sz="2800">
                <a:solidFill>
                  <a:schemeClr val="dk1"/>
                </a:solidFill>
                <a:latin typeface="Calibri"/>
                <a:ea typeface="Calibri"/>
                <a:cs typeface="Calibri"/>
                <a:sym typeface="Calibri"/>
              </a:rPr>
              <a:t>operations</a:t>
            </a:r>
            <a:endParaRPr sz="2800">
              <a:solidFill>
                <a:schemeClr val="dk1"/>
              </a:solidFill>
              <a:latin typeface="Calibri"/>
              <a:ea typeface="Calibri"/>
              <a:cs typeface="Calibri"/>
              <a:sym typeface="Calibri"/>
            </a:endParaRPr>
          </a:p>
        </p:txBody>
      </p:sp>
      <p:sp>
        <p:nvSpPr>
          <p:cNvPr id="496" name="Google Shape;496;g2d25b4b9e83_0_64"/>
          <p:cNvSpPr/>
          <p:nvPr/>
        </p:nvSpPr>
        <p:spPr>
          <a:xfrm>
            <a:off x="718275" y="3433925"/>
            <a:ext cx="2607300" cy="1477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2d25b4b9e83_0_2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Content</a:t>
            </a:r>
            <a:endParaRPr/>
          </a:p>
        </p:txBody>
      </p:sp>
      <p:sp>
        <p:nvSpPr>
          <p:cNvPr id="503" name="Google Shape;503;g2d25b4b9e83_0_25"/>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Available transformations and optimizations overview</a:t>
            </a:r>
            <a:endParaRPr/>
          </a:p>
          <a:p>
            <a:pPr indent="-342900" lvl="0" marL="457200" rtl="0" algn="l">
              <a:spcBef>
                <a:spcPts val="0"/>
              </a:spcBef>
              <a:spcAft>
                <a:spcPts val="0"/>
              </a:spcAft>
              <a:buSzPts val="1800"/>
              <a:buChar char="•"/>
            </a:pPr>
            <a:r>
              <a:rPr lang="en-US"/>
              <a:t>Custom dialects</a:t>
            </a:r>
            <a:endParaRPr/>
          </a:p>
          <a:p>
            <a:pPr indent="-342900" lvl="0" marL="457200" rtl="0" algn="l">
              <a:spcBef>
                <a:spcPts val="0"/>
              </a:spcBef>
              <a:spcAft>
                <a:spcPts val="0"/>
              </a:spcAft>
              <a:buSzPts val="1800"/>
              <a:buChar char="•"/>
            </a:pPr>
            <a:r>
              <a:rPr lang="en-US"/>
              <a:t>Writing a pass</a:t>
            </a:r>
            <a:endParaRPr/>
          </a:p>
          <a:p>
            <a:pPr indent="-342900" lvl="0" marL="457200" rtl="0" algn="l">
              <a:spcBef>
                <a:spcPts val="0"/>
              </a:spcBef>
              <a:spcAft>
                <a:spcPts val="0"/>
              </a:spcAft>
              <a:buSzPts val="1800"/>
              <a:buChar char="•"/>
            </a:pPr>
            <a:r>
              <a:rPr b="1" lang="en-US"/>
              <a:t>MLIR connections with other languages</a:t>
            </a:r>
            <a:endParaRPr/>
          </a:p>
          <a:p>
            <a:pPr indent="-342900" lvl="0" marL="457200" rtl="0" algn="l">
              <a:spcBef>
                <a:spcPts val="0"/>
              </a:spcBef>
              <a:spcAft>
                <a:spcPts val="0"/>
              </a:spcAft>
              <a:buSzPts val="1800"/>
              <a:buChar char="•"/>
            </a:pPr>
            <a:r>
              <a:rPr lang="en-US"/>
              <a:t>Python bindings overview</a:t>
            </a:r>
            <a:endParaRPr b="1"/>
          </a:p>
          <a:p>
            <a:pPr indent="-342900" lvl="0" marL="457200" rtl="0" algn="l">
              <a:spcBef>
                <a:spcPts val="0"/>
              </a:spcBef>
              <a:spcAft>
                <a:spcPts val="0"/>
              </a:spcAft>
              <a:buSzPts val="1800"/>
              <a:buChar char="•"/>
            </a:pPr>
            <a:r>
              <a:rPr lang="en-US"/>
              <a:t>Debugging</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270158642d6_0_13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 </a:t>
            </a:r>
            <a:r>
              <a:rPr lang="en-US"/>
              <a:t>interoperability via API</a:t>
            </a:r>
            <a:endParaRPr/>
          </a:p>
        </p:txBody>
      </p:sp>
      <p:sp>
        <p:nvSpPr>
          <p:cNvPr id="510" name="Google Shape;510;g270158642d6_0_135"/>
          <p:cNvSpPr txBox="1"/>
          <p:nvPr>
            <p:ph idx="1" type="body"/>
          </p:nvPr>
        </p:nvSpPr>
        <p:spPr>
          <a:xfrm>
            <a:off x="571375" y="1673449"/>
            <a:ext cx="11010900" cy="5184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600"/>
              <a:t>Adds interoperability with </a:t>
            </a:r>
            <a:r>
              <a:rPr lang="en-US" sz="2600"/>
              <a:t>many</a:t>
            </a:r>
            <a:r>
              <a:rPr lang="en-US" sz="2600"/>
              <a:t> other programming languages</a:t>
            </a:r>
            <a:endParaRPr sz="2600"/>
          </a:p>
          <a:p>
            <a:pPr indent="-330200" lvl="0" marL="457200" rtl="0" algn="l">
              <a:spcBef>
                <a:spcPts val="1000"/>
              </a:spcBef>
              <a:spcAft>
                <a:spcPts val="0"/>
              </a:spcAft>
              <a:buSzPts val="1600"/>
              <a:buChar char="•"/>
            </a:pPr>
            <a:r>
              <a:rPr lang="en-US" sz="2600"/>
              <a:t>C (first of all), C++</a:t>
            </a:r>
            <a:endParaRPr sz="2600"/>
          </a:p>
          <a:p>
            <a:pPr indent="-330200" lvl="1" marL="914400" rtl="0" algn="l">
              <a:spcBef>
                <a:spcPts val="0"/>
              </a:spcBef>
              <a:spcAft>
                <a:spcPts val="0"/>
              </a:spcAft>
              <a:buSzPts val="1600"/>
              <a:buChar char="•"/>
            </a:pPr>
            <a:r>
              <a:rPr lang="en-US" sz="2200"/>
              <a:t>C API: </a:t>
            </a:r>
            <a:r>
              <a:rPr lang="en-US" sz="2200" u="sng">
                <a:solidFill>
                  <a:schemeClr val="hlink"/>
                </a:solidFill>
                <a:hlinkClick r:id="rId3"/>
              </a:rPr>
              <a:t>https://mlir.llvm.org/docs/CAPI/</a:t>
            </a:r>
            <a:r>
              <a:rPr lang="en-US" sz="2200"/>
              <a:t> </a:t>
            </a:r>
            <a:endParaRPr sz="2200"/>
          </a:p>
          <a:p>
            <a:pPr indent="-330200" lvl="0" marL="457200" rtl="0" algn="l">
              <a:spcBef>
                <a:spcPts val="0"/>
              </a:spcBef>
              <a:spcAft>
                <a:spcPts val="0"/>
              </a:spcAft>
              <a:buSzPts val="1600"/>
              <a:buChar char="•"/>
            </a:pPr>
            <a:r>
              <a:rPr lang="en-US" sz="2600"/>
              <a:t>Python</a:t>
            </a:r>
            <a:endParaRPr sz="2600"/>
          </a:p>
          <a:p>
            <a:pPr indent="-330200" lvl="1" marL="914400" rtl="0" algn="l">
              <a:spcBef>
                <a:spcPts val="0"/>
              </a:spcBef>
              <a:spcAft>
                <a:spcPts val="0"/>
              </a:spcAft>
              <a:buSzPts val="1600"/>
              <a:buChar char="•"/>
            </a:pPr>
            <a:r>
              <a:rPr lang="en-US" sz="2200"/>
              <a:t>Built-in project: </a:t>
            </a:r>
            <a:r>
              <a:rPr lang="en-US" sz="2200" u="sng">
                <a:solidFill>
                  <a:schemeClr val="hlink"/>
                </a:solidFill>
                <a:hlinkClick r:id="rId4"/>
              </a:rPr>
              <a:t>https://mlir.llvm.org/docs/Bindings/Python/</a:t>
            </a:r>
            <a:r>
              <a:rPr lang="en-US" sz="2200"/>
              <a:t> </a:t>
            </a:r>
            <a:endParaRPr sz="2200"/>
          </a:p>
          <a:p>
            <a:pPr indent="-330200" lvl="0" marL="457200" rtl="0" algn="l">
              <a:spcBef>
                <a:spcPts val="0"/>
              </a:spcBef>
              <a:spcAft>
                <a:spcPts val="0"/>
              </a:spcAft>
              <a:buSzPts val="1600"/>
              <a:buChar char="•"/>
            </a:pPr>
            <a:r>
              <a:rPr lang="en-US" sz="2600"/>
              <a:t>Rust</a:t>
            </a:r>
            <a:endParaRPr sz="2600"/>
          </a:p>
          <a:p>
            <a:pPr indent="-330200" lvl="1" marL="914400" rtl="0" algn="l">
              <a:spcBef>
                <a:spcPts val="0"/>
              </a:spcBef>
              <a:spcAft>
                <a:spcPts val="0"/>
              </a:spcAft>
              <a:buSzPts val="1600"/>
              <a:buChar char="•"/>
            </a:pPr>
            <a:r>
              <a:rPr lang="en-US" sz="2200" u="sng">
                <a:solidFill>
                  <a:schemeClr val="hlink"/>
                </a:solidFill>
                <a:hlinkClick r:id="rId5"/>
              </a:rPr>
              <a:t>https://github.com/raviqqe/melior</a:t>
            </a:r>
            <a:r>
              <a:rPr lang="en-US" sz="2200"/>
              <a:t> </a:t>
            </a:r>
            <a:endParaRPr sz="2200"/>
          </a:p>
          <a:p>
            <a:pPr indent="-330200" lvl="0" marL="457200" rtl="0" algn="l">
              <a:spcBef>
                <a:spcPts val="0"/>
              </a:spcBef>
              <a:spcAft>
                <a:spcPts val="0"/>
              </a:spcAft>
              <a:buSzPts val="1600"/>
              <a:buChar char="•"/>
            </a:pPr>
            <a:r>
              <a:rPr lang="en-US" sz="2600"/>
              <a:t>others…</a:t>
            </a:r>
            <a:endParaRPr sz="2600"/>
          </a:p>
          <a:p>
            <a:pPr indent="0" lvl="0" marL="0" rtl="0" algn="l">
              <a:spcBef>
                <a:spcPts val="1000"/>
              </a:spcBef>
              <a:spcAft>
                <a:spcPts val="0"/>
              </a:spcAft>
              <a:buNone/>
            </a:pPr>
            <a:r>
              <a:t/>
            </a:r>
            <a:endParaRPr sz="2600"/>
          </a:p>
          <a:p>
            <a:pPr indent="0" lvl="0" marL="0" rtl="0" algn="l">
              <a:spcBef>
                <a:spcPts val="1000"/>
              </a:spcBef>
              <a:spcAft>
                <a:spcPts val="0"/>
              </a:spcAft>
              <a:buClr>
                <a:schemeClr val="dk1"/>
              </a:buClr>
              <a:buSzPts val="1100"/>
              <a:buFont typeface="Arial"/>
              <a:buNone/>
            </a:pPr>
            <a:r>
              <a:rPr lang="en-US" sz="2600"/>
              <a:t>LLVM is written in C++. Why not C++? Why libraries usually choose C for interoperability?</a:t>
            </a:r>
            <a:endParaRPr sz="2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270158642d6_0_14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 for interoperability</a:t>
            </a:r>
            <a:endParaRPr/>
          </a:p>
        </p:txBody>
      </p:sp>
      <p:sp>
        <p:nvSpPr>
          <p:cNvPr id="517" name="Google Shape;517;g270158642d6_0_14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a:t>Why C over C++?</a:t>
            </a:r>
            <a:endParaRPr/>
          </a:p>
          <a:p>
            <a:pPr indent="-342900" lvl="0" marL="457200" rtl="0" algn="l">
              <a:spcBef>
                <a:spcPts val="1000"/>
              </a:spcBef>
              <a:spcAft>
                <a:spcPts val="0"/>
              </a:spcAft>
              <a:buSzPts val="1800"/>
              <a:buChar char="•"/>
            </a:pPr>
            <a:r>
              <a:rPr lang="en-US"/>
              <a:t>Mangled names in C++</a:t>
            </a:r>
            <a:endParaRPr/>
          </a:p>
          <a:p>
            <a:pPr indent="-342900" lvl="1" marL="914400" rtl="0" algn="l">
              <a:spcBef>
                <a:spcPts val="0"/>
              </a:spcBef>
              <a:spcAft>
                <a:spcPts val="0"/>
              </a:spcAft>
              <a:buSzPts val="1800"/>
              <a:buChar char="•"/>
            </a:pPr>
            <a:r>
              <a:rPr lang="en-US"/>
              <a:t>OOP</a:t>
            </a:r>
            <a:endParaRPr/>
          </a:p>
          <a:p>
            <a:pPr indent="-342900" lvl="1" marL="914400" rtl="0" algn="l">
              <a:spcBef>
                <a:spcPts val="0"/>
              </a:spcBef>
              <a:spcAft>
                <a:spcPts val="0"/>
              </a:spcAft>
              <a:buSzPts val="1800"/>
              <a:buChar char="•"/>
            </a:pPr>
            <a:r>
              <a:rPr lang="en-US"/>
              <a:t>Templates</a:t>
            </a:r>
            <a:endParaRPr/>
          </a:p>
          <a:p>
            <a:pPr indent="-342900" lvl="0" marL="457200" rtl="0" algn="l">
              <a:spcBef>
                <a:spcPts val="0"/>
              </a:spcBef>
              <a:spcAft>
                <a:spcPts val="0"/>
              </a:spcAft>
              <a:buSzPts val="1800"/>
              <a:buChar char="•"/>
            </a:pPr>
            <a:r>
              <a:rPr lang="en-US"/>
              <a:t>Memory model differences</a:t>
            </a:r>
            <a:endParaRPr/>
          </a:p>
          <a:p>
            <a:pPr indent="-342900" lvl="1" marL="914400" rtl="0" algn="l">
              <a:spcBef>
                <a:spcPts val="0"/>
              </a:spcBef>
              <a:spcAft>
                <a:spcPts val="0"/>
              </a:spcAft>
              <a:buSzPts val="1800"/>
              <a:buChar char="•"/>
            </a:pPr>
            <a:r>
              <a:rPr lang="en-US"/>
              <a:t>Pointers and references</a:t>
            </a:r>
            <a:endParaRPr/>
          </a:p>
          <a:p>
            <a:pPr indent="-342900" lvl="1" marL="914400" rtl="0" algn="l">
              <a:spcBef>
                <a:spcPts val="0"/>
              </a:spcBef>
              <a:spcAft>
                <a:spcPts val="0"/>
              </a:spcAft>
              <a:buSzPts val="1800"/>
              <a:buChar char="•"/>
            </a:pPr>
            <a:r>
              <a:rPr lang="en-US"/>
              <a:t>Different allocation techniques</a:t>
            </a:r>
            <a:endParaRPr/>
          </a:p>
          <a:p>
            <a:pPr indent="-342900" lvl="0" marL="457200" rtl="0" algn="l">
              <a:spcBef>
                <a:spcPts val="0"/>
              </a:spcBef>
              <a:spcAft>
                <a:spcPts val="0"/>
              </a:spcAft>
              <a:buSzPts val="1800"/>
              <a:buChar char="•"/>
            </a:pPr>
            <a:r>
              <a:rPr lang="en-US"/>
              <a:t>C is more common</a:t>
            </a:r>
            <a:endParaRPr/>
          </a:p>
          <a:p>
            <a:pPr indent="0" lvl="0" marL="0" rtl="0" algn="l">
              <a:spcBef>
                <a:spcPts val="100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2d25b4b9e83_0_4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 Python bindings</a:t>
            </a:r>
            <a:endParaRPr/>
          </a:p>
        </p:txBody>
      </p:sp>
      <p:pic>
        <p:nvPicPr>
          <p:cNvPr id="524" name="Google Shape;524;g2d25b4b9e83_0_47"/>
          <p:cNvPicPr preferRelativeResize="0"/>
          <p:nvPr/>
        </p:nvPicPr>
        <p:blipFill>
          <a:blip r:embed="rId3">
            <a:alphaModFix/>
          </a:blip>
          <a:stretch>
            <a:fillRect/>
          </a:stretch>
        </p:blipFill>
        <p:spPr>
          <a:xfrm>
            <a:off x="107029" y="1524000"/>
            <a:ext cx="5256099" cy="4073474"/>
          </a:xfrm>
          <a:prstGeom prst="rect">
            <a:avLst/>
          </a:prstGeom>
          <a:noFill/>
          <a:ln>
            <a:noFill/>
          </a:ln>
        </p:spPr>
      </p:pic>
      <p:pic>
        <p:nvPicPr>
          <p:cNvPr id="525" name="Google Shape;525;g2d25b4b9e83_0_47"/>
          <p:cNvPicPr preferRelativeResize="0"/>
          <p:nvPr/>
        </p:nvPicPr>
        <p:blipFill>
          <a:blip r:embed="rId4">
            <a:alphaModFix/>
          </a:blip>
          <a:stretch>
            <a:fillRect/>
          </a:stretch>
        </p:blipFill>
        <p:spPr>
          <a:xfrm>
            <a:off x="5722100" y="1709383"/>
            <a:ext cx="6238576" cy="3439224"/>
          </a:xfrm>
          <a:prstGeom prst="rect">
            <a:avLst/>
          </a:prstGeom>
          <a:noFill/>
          <a:ln>
            <a:noFill/>
          </a:ln>
        </p:spPr>
      </p:pic>
      <p:sp>
        <p:nvSpPr>
          <p:cNvPr id="526" name="Google Shape;526;g2d25b4b9e83_0_47"/>
          <p:cNvSpPr txBox="1"/>
          <p:nvPr/>
        </p:nvSpPr>
        <p:spPr>
          <a:xfrm>
            <a:off x="3679900" y="6326675"/>
            <a:ext cx="500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https://mlir.llvm.org/docs/Bindings/Python/</a:t>
            </a:r>
            <a:r>
              <a:rPr lang="en-US"/>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2d25b4b9e83_0_37"/>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 Python bindings</a:t>
            </a:r>
            <a:endParaRPr/>
          </a:p>
        </p:txBody>
      </p:sp>
      <p:sp>
        <p:nvSpPr>
          <p:cNvPr id="533" name="Google Shape;533;g2d25b4b9e83_0_37"/>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Projects who use:</a:t>
            </a:r>
            <a:endParaRPr/>
          </a:p>
          <a:p>
            <a:pPr indent="-342900" lvl="0" marL="457200" rtl="0" algn="l">
              <a:spcBef>
                <a:spcPts val="1000"/>
              </a:spcBef>
              <a:spcAft>
                <a:spcPts val="0"/>
              </a:spcAft>
              <a:buSzPts val="1800"/>
              <a:buChar char="•"/>
            </a:pPr>
            <a:r>
              <a:rPr lang="en-US"/>
              <a:t>mlir-aie</a:t>
            </a:r>
            <a:endParaRPr/>
          </a:p>
          <a:p>
            <a:pPr indent="-342900" lvl="1" marL="914400" rtl="0" algn="l">
              <a:spcBef>
                <a:spcPts val="0"/>
              </a:spcBef>
              <a:spcAft>
                <a:spcPts val="0"/>
              </a:spcAft>
              <a:buSzPts val="1800"/>
              <a:buChar char="•"/>
            </a:pPr>
            <a:r>
              <a:rPr lang="en-US" u="sng">
                <a:solidFill>
                  <a:schemeClr val="hlink"/>
                </a:solidFill>
                <a:hlinkClick r:id="rId3"/>
              </a:rPr>
              <a:t>https://github.com/Xilinx/mlir-aie/blob/b8d512fa4368f5f9c77b76835323990e73cc099c/python/compiler/util.py#L414</a:t>
            </a:r>
            <a:r>
              <a:rPr lang="en-US"/>
              <a:t> </a:t>
            </a:r>
            <a:endParaRPr/>
          </a:p>
          <a:p>
            <a:pPr indent="-342900" lvl="0" marL="457200" rtl="0" algn="l">
              <a:spcBef>
                <a:spcPts val="0"/>
              </a:spcBef>
              <a:spcAft>
                <a:spcPts val="0"/>
              </a:spcAft>
              <a:buSzPts val="1800"/>
              <a:buChar char="•"/>
            </a:pPr>
            <a:r>
              <a:rPr lang="en-US"/>
              <a:t>xDSL</a:t>
            </a:r>
            <a:endParaRPr/>
          </a:p>
          <a:p>
            <a:pPr indent="-342900" lvl="1" marL="914400" rtl="0" algn="l">
              <a:spcBef>
                <a:spcPts val="0"/>
              </a:spcBef>
              <a:spcAft>
                <a:spcPts val="0"/>
              </a:spcAft>
              <a:buSzPts val="1800"/>
              <a:buChar char="•"/>
            </a:pPr>
            <a:r>
              <a:rPr lang="en-US" u="sng">
                <a:solidFill>
                  <a:schemeClr val="hlink"/>
                </a:solidFill>
                <a:hlinkClick r:id="rId4"/>
              </a:rPr>
              <a:t>https://github.com/ingomueller-net/xdsl/blob/e67c2e00351cb7073dfa91a7e0e8e6e65bc60632/src/xdsl/mlir_converter.py#L129</a:t>
            </a:r>
            <a:r>
              <a:rPr lang="en-US"/>
              <a:t> </a:t>
            </a:r>
            <a:endParaRPr sz="2800"/>
          </a:p>
          <a:p>
            <a:pPr indent="-342900" lvl="0" marL="457200" rtl="0" algn="l">
              <a:spcBef>
                <a:spcPts val="0"/>
              </a:spcBef>
              <a:spcAft>
                <a:spcPts val="0"/>
              </a:spcAft>
              <a:buSzPts val="1800"/>
              <a:buChar char="•"/>
            </a:pPr>
            <a:r>
              <a:rPr lang="en-US" sz="2800"/>
              <a:t>Similar interface is exposed by languages that use MLIR (e.g. Triton)</a:t>
            </a:r>
            <a:endParaRPr sz="2800"/>
          </a:p>
          <a:p>
            <a:pPr indent="-342900" lvl="1" marL="914400" rtl="0" algn="l">
              <a:spcBef>
                <a:spcPts val="0"/>
              </a:spcBef>
              <a:spcAft>
                <a:spcPts val="0"/>
              </a:spcAft>
              <a:buSzPts val="1800"/>
              <a:buChar char="•"/>
            </a:pPr>
            <a:r>
              <a:rPr lang="en-US" sz="2400" u="sng">
                <a:solidFill>
                  <a:schemeClr val="hlink"/>
                </a:solidFill>
                <a:hlinkClick r:id="rId5"/>
              </a:rPr>
              <a:t>https://github.com/microsoft/triton-shared/blob/e771c1e604c9c8883e50ed8f0e13c647156aa7c3/backend/compiler.py#L172</a:t>
            </a:r>
            <a:r>
              <a:rPr lang="en-US" sz="2400"/>
              <a:t> </a:t>
            </a:r>
            <a:endParaRPr sz="2400"/>
          </a:p>
          <a:p>
            <a:pPr indent="0" lvl="0" marL="0" rtl="0" algn="l">
              <a:spcBef>
                <a:spcPts val="1000"/>
              </a:spcBef>
              <a:spcAft>
                <a:spcPts val="0"/>
              </a:spcAft>
              <a:buNone/>
            </a:pPr>
            <a:r>
              <a:rPr lang="en-US"/>
              <a:t>and others…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3f6387deeec_1_1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Content</a:t>
            </a:r>
            <a:endParaRPr/>
          </a:p>
        </p:txBody>
      </p:sp>
      <p:sp>
        <p:nvSpPr>
          <p:cNvPr id="540" name="Google Shape;540;g3f6387deeec_1_19"/>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Available transformations and optimizations overview</a:t>
            </a:r>
            <a:endParaRPr/>
          </a:p>
          <a:p>
            <a:pPr indent="-342900" lvl="0" marL="457200" rtl="0" algn="l">
              <a:spcBef>
                <a:spcPts val="0"/>
              </a:spcBef>
              <a:spcAft>
                <a:spcPts val="0"/>
              </a:spcAft>
              <a:buSzPts val="1800"/>
              <a:buChar char="•"/>
            </a:pPr>
            <a:r>
              <a:rPr lang="en-US"/>
              <a:t>Custom dialects</a:t>
            </a:r>
            <a:endParaRPr/>
          </a:p>
          <a:p>
            <a:pPr indent="-342900" lvl="0" marL="457200" rtl="0" algn="l">
              <a:spcBef>
                <a:spcPts val="0"/>
              </a:spcBef>
              <a:spcAft>
                <a:spcPts val="0"/>
              </a:spcAft>
              <a:buSzPts val="1800"/>
              <a:buChar char="•"/>
            </a:pPr>
            <a:r>
              <a:rPr lang="en-US"/>
              <a:t>Writing a pass</a:t>
            </a:r>
            <a:endParaRPr/>
          </a:p>
          <a:p>
            <a:pPr indent="-342900" lvl="0" marL="457200" rtl="0" algn="l">
              <a:spcBef>
                <a:spcPts val="0"/>
              </a:spcBef>
              <a:spcAft>
                <a:spcPts val="0"/>
              </a:spcAft>
              <a:buSzPts val="1800"/>
              <a:buChar char="•"/>
            </a:pPr>
            <a:r>
              <a:rPr lang="en-US"/>
              <a:t>MLIR connections with other languages</a:t>
            </a:r>
            <a:endParaRPr/>
          </a:p>
          <a:p>
            <a:pPr indent="-342900" lvl="0" marL="457200" rtl="0" algn="l">
              <a:spcBef>
                <a:spcPts val="0"/>
              </a:spcBef>
              <a:spcAft>
                <a:spcPts val="0"/>
              </a:spcAft>
              <a:buSzPts val="1800"/>
              <a:buChar char="•"/>
            </a:pPr>
            <a:r>
              <a:rPr b="1" lang="en-US"/>
              <a:t>Python bindings overview</a:t>
            </a:r>
            <a:endParaRPr b="1"/>
          </a:p>
          <a:p>
            <a:pPr indent="-342900" lvl="0" marL="457200" rtl="0" algn="l">
              <a:spcBef>
                <a:spcPts val="0"/>
              </a:spcBef>
              <a:spcAft>
                <a:spcPts val="0"/>
              </a:spcAft>
              <a:buSzPts val="1800"/>
              <a:buChar char="•"/>
            </a:pPr>
            <a:r>
              <a:rPr lang="en-US"/>
              <a:t>Debugging</a:t>
            </a:r>
            <a:endParaRPr b="1"/>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f6387deeec_1_9"/>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What are bindings?</a:t>
            </a:r>
            <a:endParaRPr/>
          </a:p>
        </p:txBody>
      </p:sp>
      <p:sp>
        <p:nvSpPr>
          <p:cNvPr id="547" name="Google Shape;547;g3f6387deeec_1_9"/>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1200"/>
              </a:spcAft>
              <a:buNone/>
            </a:pPr>
            <a:r>
              <a:rPr lang="en-US"/>
              <a:t>Python bindings for C are an interface layer that lets Python code call functions, use data structures, and interact with libraries written in C (or C-compatible APIs).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6387deeec_0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Python bindings for C programs</a:t>
            </a:r>
            <a:endParaRPr/>
          </a:p>
        </p:txBody>
      </p:sp>
      <p:sp>
        <p:nvSpPr>
          <p:cNvPr id="554" name="Google Shape;554;g3f6387deeec_0_0"/>
          <p:cNvSpPr txBox="1"/>
          <p:nvPr>
            <p:ph idx="1" type="body"/>
          </p:nvPr>
        </p:nvSpPr>
        <p:spPr>
          <a:xfrm>
            <a:off x="571375" y="1673450"/>
            <a:ext cx="60621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The C API forms the interoperability boundary</a:t>
            </a:r>
            <a:endParaRPr/>
          </a:p>
          <a:p>
            <a:pPr indent="-342900" lvl="0" marL="457200" rtl="0" algn="l">
              <a:spcBef>
                <a:spcPts val="0"/>
              </a:spcBef>
              <a:spcAft>
                <a:spcPts val="0"/>
              </a:spcAft>
              <a:buSzPts val="1800"/>
              <a:buChar char="•"/>
            </a:pPr>
            <a:r>
              <a:rPr lang="en-US"/>
              <a:t>Python wrappers convert Python objects to C-compatible values</a:t>
            </a:r>
            <a:endParaRPr/>
          </a:p>
          <a:p>
            <a:pPr indent="-342900" lvl="0" marL="457200" rtl="0" algn="l">
              <a:spcBef>
                <a:spcPts val="0"/>
              </a:spcBef>
              <a:spcAft>
                <a:spcPts val="0"/>
              </a:spcAft>
              <a:buSzPts val="1800"/>
              <a:buChar char="•"/>
            </a:pPr>
            <a:r>
              <a:rPr lang="en-US"/>
              <a:t>Native library performs the actual work</a:t>
            </a:r>
            <a:endParaRPr/>
          </a:p>
          <a:p>
            <a:pPr indent="-342900" lvl="0" marL="457200" rtl="0" algn="l">
              <a:spcBef>
                <a:spcPts val="0"/>
              </a:spcBef>
              <a:spcAft>
                <a:spcPts val="0"/>
              </a:spcAft>
              <a:buSzPts val="1800"/>
              <a:buChar char="•"/>
            </a:pPr>
            <a:r>
              <a:rPr lang="en-US"/>
              <a:t>Python layer provides usability, validation and exceptions</a:t>
            </a:r>
            <a:endParaRPr/>
          </a:p>
          <a:p>
            <a:pPr indent="-342900" lvl="0" marL="457200" rtl="0" algn="l">
              <a:spcBef>
                <a:spcPts val="0"/>
              </a:spcBef>
              <a:spcAft>
                <a:spcPts val="0"/>
              </a:spcAft>
              <a:buSzPts val="1800"/>
              <a:buChar char="•"/>
            </a:pPr>
            <a:r>
              <a:rPr lang="en-US"/>
              <a:t>Keep the binding layer thin: program logic should remain in the native library</a:t>
            </a:r>
            <a:endParaRPr/>
          </a:p>
        </p:txBody>
      </p:sp>
      <p:sp>
        <p:nvSpPr>
          <p:cNvPr id="555" name="Google Shape;555;g3f6387deeec_0_0"/>
          <p:cNvSpPr/>
          <p:nvPr/>
        </p:nvSpPr>
        <p:spPr>
          <a:xfrm>
            <a:off x="7249375" y="1666738"/>
            <a:ext cx="4332900" cy="6723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Calibri"/>
                <a:ea typeface="Calibri"/>
                <a:cs typeface="Calibri"/>
                <a:sym typeface="Calibri"/>
              </a:rPr>
              <a:t>Python user API</a:t>
            </a:r>
            <a:endParaRPr sz="2400">
              <a:latin typeface="Calibri"/>
              <a:ea typeface="Calibri"/>
              <a:cs typeface="Calibri"/>
              <a:sym typeface="Calibri"/>
            </a:endParaRPr>
          </a:p>
        </p:txBody>
      </p:sp>
      <p:sp>
        <p:nvSpPr>
          <p:cNvPr id="556" name="Google Shape;556;g3f6387deeec_0_0"/>
          <p:cNvSpPr/>
          <p:nvPr/>
        </p:nvSpPr>
        <p:spPr>
          <a:xfrm>
            <a:off x="7249375" y="2872513"/>
            <a:ext cx="4332900" cy="6723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Calibri"/>
                <a:ea typeface="Calibri"/>
                <a:cs typeface="Calibri"/>
                <a:sym typeface="Calibri"/>
              </a:rPr>
              <a:t>Python extension module</a:t>
            </a:r>
            <a:endParaRPr sz="2400">
              <a:latin typeface="Calibri"/>
              <a:ea typeface="Calibri"/>
              <a:cs typeface="Calibri"/>
              <a:sym typeface="Calibri"/>
            </a:endParaRPr>
          </a:p>
        </p:txBody>
      </p:sp>
      <p:sp>
        <p:nvSpPr>
          <p:cNvPr id="557" name="Google Shape;557;g3f6387deeec_0_0"/>
          <p:cNvSpPr/>
          <p:nvPr/>
        </p:nvSpPr>
        <p:spPr>
          <a:xfrm>
            <a:off x="7249375" y="4227675"/>
            <a:ext cx="4332900" cy="6723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Calibri"/>
                <a:ea typeface="Calibri"/>
                <a:cs typeface="Calibri"/>
                <a:sym typeface="Calibri"/>
              </a:rPr>
              <a:t>Stable C API</a:t>
            </a:r>
            <a:endParaRPr sz="2400">
              <a:latin typeface="Calibri"/>
              <a:ea typeface="Calibri"/>
              <a:cs typeface="Calibri"/>
              <a:sym typeface="Calibri"/>
            </a:endParaRPr>
          </a:p>
        </p:txBody>
      </p:sp>
      <p:sp>
        <p:nvSpPr>
          <p:cNvPr id="558" name="Google Shape;558;g3f6387deeec_0_0"/>
          <p:cNvSpPr/>
          <p:nvPr/>
        </p:nvSpPr>
        <p:spPr>
          <a:xfrm>
            <a:off x="7249375" y="5582863"/>
            <a:ext cx="4332900" cy="672300"/>
          </a:xfrm>
          <a:prstGeom prst="roundRect">
            <a:avLst>
              <a:gd fmla="val 16667" name="adj"/>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latin typeface="Calibri"/>
                <a:ea typeface="Calibri"/>
                <a:cs typeface="Calibri"/>
                <a:sym typeface="Calibri"/>
              </a:rPr>
              <a:t>C / C++ implementation</a:t>
            </a:r>
            <a:endParaRPr sz="2400">
              <a:latin typeface="Calibri"/>
              <a:ea typeface="Calibri"/>
              <a:cs typeface="Calibri"/>
              <a:sym typeface="Calibri"/>
            </a:endParaRPr>
          </a:p>
        </p:txBody>
      </p:sp>
      <p:cxnSp>
        <p:nvCxnSpPr>
          <p:cNvPr id="559" name="Google Shape;559;g3f6387deeec_0_0"/>
          <p:cNvCxnSpPr>
            <a:stCxn id="555" idx="2"/>
            <a:endCxn id="556" idx="0"/>
          </p:cNvCxnSpPr>
          <p:nvPr/>
        </p:nvCxnSpPr>
        <p:spPr>
          <a:xfrm>
            <a:off x="9415825" y="2339038"/>
            <a:ext cx="0" cy="533400"/>
          </a:xfrm>
          <a:prstGeom prst="straightConnector1">
            <a:avLst/>
          </a:prstGeom>
          <a:noFill/>
          <a:ln cap="flat" cmpd="sng" w="28575">
            <a:solidFill>
              <a:schemeClr val="dk2"/>
            </a:solidFill>
            <a:prstDash val="solid"/>
            <a:round/>
            <a:headEnd len="med" w="med" type="none"/>
            <a:tailEnd len="med" w="med" type="triangle"/>
          </a:ln>
        </p:spPr>
      </p:cxnSp>
      <p:cxnSp>
        <p:nvCxnSpPr>
          <p:cNvPr id="560" name="Google Shape;560;g3f6387deeec_0_0"/>
          <p:cNvCxnSpPr>
            <a:stCxn id="556" idx="2"/>
            <a:endCxn id="557" idx="0"/>
          </p:cNvCxnSpPr>
          <p:nvPr/>
        </p:nvCxnSpPr>
        <p:spPr>
          <a:xfrm>
            <a:off x="9415825" y="3544813"/>
            <a:ext cx="0" cy="682800"/>
          </a:xfrm>
          <a:prstGeom prst="straightConnector1">
            <a:avLst/>
          </a:prstGeom>
          <a:noFill/>
          <a:ln cap="flat" cmpd="sng" w="28575">
            <a:solidFill>
              <a:schemeClr val="dk2"/>
            </a:solidFill>
            <a:prstDash val="solid"/>
            <a:round/>
            <a:headEnd len="med" w="med" type="none"/>
            <a:tailEnd len="med" w="med" type="triangle"/>
          </a:ln>
        </p:spPr>
      </p:cxnSp>
      <p:cxnSp>
        <p:nvCxnSpPr>
          <p:cNvPr id="561" name="Google Shape;561;g3f6387deeec_0_0"/>
          <p:cNvCxnSpPr>
            <a:stCxn id="557" idx="2"/>
            <a:endCxn id="558" idx="0"/>
          </p:cNvCxnSpPr>
          <p:nvPr/>
        </p:nvCxnSpPr>
        <p:spPr>
          <a:xfrm>
            <a:off x="9415825" y="4899975"/>
            <a:ext cx="0" cy="6828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f6387deeec_1_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Practical ways on adding Python bindings</a:t>
            </a:r>
            <a:endParaRPr/>
          </a:p>
        </p:txBody>
      </p:sp>
      <p:sp>
        <p:nvSpPr>
          <p:cNvPr id="568" name="Google Shape;568;g3f6387deeec_1_0"/>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Extending Python with C or C++:</a:t>
            </a:r>
            <a:endParaRPr/>
          </a:p>
          <a:p>
            <a:pPr indent="457200" lvl="0" marL="0" rtl="0" algn="l">
              <a:spcBef>
                <a:spcPts val="1000"/>
              </a:spcBef>
              <a:spcAft>
                <a:spcPts val="0"/>
              </a:spcAft>
              <a:buNone/>
            </a:pPr>
            <a:r>
              <a:rPr lang="en-US" u="sng">
                <a:solidFill>
                  <a:schemeClr val="hlink"/>
                </a:solidFill>
                <a:hlinkClick r:id="rId3"/>
              </a:rPr>
              <a:t>https://docs.python.org/3/extending/extending.html</a:t>
            </a:r>
            <a:r>
              <a:rPr lang="en-US"/>
              <a:t> </a:t>
            </a:r>
            <a:endParaRPr/>
          </a:p>
          <a:p>
            <a:pPr indent="0" lvl="0" marL="0" rtl="0" algn="l">
              <a:spcBef>
                <a:spcPts val="1000"/>
              </a:spcBef>
              <a:spcAft>
                <a:spcPts val="0"/>
              </a:spcAft>
              <a:buNone/>
            </a:pPr>
            <a:r>
              <a:rPr lang="en-US"/>
              <a:t>pybind11:</a:t>
            </a:r>
            <a:endParaRPr/>
          </a:p>
          <a:p>
            <a:pPr indent="0" lvl="0" marL="0" rtl="0" algn="l">
              <a:spcBef>
                <a:spcPts val="1000"/>
              </a:spcBef>
              <a:spcAft>
                <a:spcPts val="0"/>
              </a:spcAft>
              <a:buNone/>
            </a:pPr>
            <a:r>
              <a:rPr lang="en-US"/>
              <a:t>	</a:t>
            </a:r>
            <a:r>
              <a:rPr lang="en-US" u="sng">
                <a:solidFill>
                  <a:schemeClr val="hlink"/>
                </a:solidFill>
                <a:hlinkClick r:id="rId4"/>
              </a:rPr>
              <a:t>https://pybind11.readthedocs.io/en/stable/basics.html</a:t>
            </a:r>
            <a:r>
              <a:rPr lang="en-US"/>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2d25b4b9e83_0_3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Content</a:t>
            </a:r>
            <a:endParaRPr/>
          </a:p>
        </p:txBody>
      </p:sp>
      <p:sp>
        <p:nvSpPr>
          <p:cNvPr id="575" name="Google Shape;575;g2d25b4b9e83_0_3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Available transformations and optimizations overview</a:t>
            </a:r>
            <a:endParaRPr/>
          </a:p>
          <a:p>
            <a:pPr indent="-342900" lvl="0" marL="457200" rtl="0" algn="l">
              <a:spcBef>
                <a:spcPts val="0"/>
              </a:spcBef>
              <a:spcAft>
                <a:spcPts val="0"/>
              </a:spcAft>
              <a:buSzPts val="1800"/>
              <a:buChar char="•"/>
            </a:pPr>
            <a:r>
              <a:rPr lang="en-US"/>
              <a:t>Custom dialects</a:t>
            </a:r>
            <a:endParaRPr/>
          </a:p>
          <a:p>
            <a:pPr indent="-342900" lvl="0" marL="457200" rtl="0" algn="l">
              <a:spcBef>
                <a:spcPts val="0"/>
              </a:spcBef>
              <a:spcAft>
                <a:spcPts val="0"/>
              </a:spcAft>
              <a:buSzPts val="1800"/>
              <a:buChar char="•"/>
            </a:pPr>
            <a:r>
              <a:rPr lang="en-US"/>
              <a:t>Writing a pass</a:t>
            </a:r>
            <a:endParaRPr/>
          </a:p>
          <a:p>
            <a:pPr indent="-342900" lvl="0" marL="457200" rtl="0" algn="l">
              <a:spcBef>
                <a:spcPts val="0"/>
              </a:spcBef>
              <a:spcAft>
                <a:spcPts val="0"/>
              </a:spcAft>
              <a:buSzPts val="1800"/>
              <a:buChar char="•"/>
            </a:pPr>
            <a:r>
              <a:rPr lang="en-US"/>
              <a:t>MLIR connections with other languages</a:t>
            </a:r>
            <a:endParaRPr/>
          </a:p>
          <a:p>
            <a:pPr indent="-342900" lvl="0" marL="457200" rtl="0" algn="l">
              <a:spcBef>
                <a:spcPts val="0"/>
              </a:spcBef>
              <a:spcAft>
                <a:spcPts val="0"/>
              </a:spcAft>
              <a:buSzPts val="1800"/>
              <a:buChar char="•"/>
            </a:pPr>
            <a:r>
              <a:rPr b="1" lang="en-US"/>
              <a:t>Debugging</a:t>
            </a:r>
            <a:endParaRPr b="1"/>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270400c0d60_0_9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MLIR debugging</a:t>
            </a:r>
            <a:endParaRPr/>
          </a:p>
        </p:txBody>
      </p:sp>
      <p:sp>
        <p:nvSpPr>
          <p:cNvPr id="582" name="Google Shape;582;g270400c0d60_0_96"/>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Debug sequence of passes</a:t>
            </a:r>
            <a:endParaRPr/>
          </a:p>
          <a:p>
            <a:pPr indent="-342900" lvl="1" marL="914400" rtl="0" algn="l">
              <a:spcBef>
                <a:spcPts val="0"/>
              </a:spcBef>
              <a:spcAft>
                <a:spcPts val="0"/>
              </a:spcAft>
              <a:buSzPts val="1800"/>
              <a:buChar char="•"/>
            </a:pPr>
            <a:r>
              <a:rPr lang="en-US"/>
              <a:t>-mlir-print-ir-after-failure</a:t>
            </a:r>
            <a:endParaRPr/>
          </a:p>
          <a:p>
            <a:pPr indent="-342900" lvl="1" marL="914400" rtl="0" algn="l">
              <a:spcBef>
                <a:spcPts val="0"/>
              </a:spcBef>
              <a:spcAft>
                <a:spcPts val="0"/>
              </a:spcAft>
              <a:buSzPts val="1800"/>
              <a:buChar char="•"/>
            </a:pPr>
            <a:r>
              <a:rPr lang="en-US"/>
              <a:t>-mlir-print-ir-before-all / -mlir-print-ir-after-all</a:t>
            </a:r>
            <a:endParaRPr/>
          </a:p>
          <a:p>
            <a:pPr indent="-342900" lvl="0" marL="457200" rtl="0" algn="l">
              <a:spcBef>
                <a:spcPts val="0"/>
              </a:spcBef>
              <a:spcAft>
                <a:spcPts val="0"/>
              </a:spcAft>
              <a:buSzPts val="1800"/>
              <a:buChar char="•"/>
            </a:pPr>
            <a:r>
              <a:rPr lang="en-US"/>
              <a:t>Disable multithreading</a:t>
            </a:r>
            <a:endParaRPr/>
          </a:p>
          <a:p>
            <a:pPr indent="-342900" lvl="1" marL="914400" rtl="0" algn="l">
              <a:spcBef>
                <a:spcPts val="0"/>
              </a:spcBef>
              <a:spcAft>
                <a:spcPts val="0"/>
              </a:spcAft>
              <a:buSzPts val="1800"/>
              <a:buChar char="•"/>
            </a:pPr>
            <a:r>
              <a:rPr lang="en-US"/>
              <a:t>-mlir-disable-threading</a:t>
            </a:r>
            <a:endParaRPr/>
          </a:p>
          <a:p>
            <a:pPr indent="-342900" lvl="0" marL="457200" rtl="0" algn="l">
              <a:spcBef>
                <a:spcPts val="0"/>
              </a:spcBef>
              <a:spcAft>
                <a:spcPts val="0"/>
              </a:spcAft>
              <a:buSzPts val="1800"/>
              <a:buChar char="•"/>
            </a:pPr>
            <a:r>
              <a:rPr lang="en-US"/>
              <a:t>Print generic ops to </a:t>
            </a:r>
            <a:r>
              <a:rPr lang="en-US"/>
              <a:t>pinpoint</a:t>
            </a:r>
            <a:r>
              <a:rPr lang="en-US"/>
              <a:t> error in </a:t>
            </a:r>
            <a:r>
              <a:rPr lang="en-US"/>
              <a:t>operation arguments</a:t>
            </a:r>
            <a:endParaRPr/>
          </a:p>
          <a:p>
            <a:pPr indent="-342900" lvl="1" marL="914400" rtl="0" algn="l">
              <a:spcBef>
                <a:spcPts val="0"/>
              </a:spcBef>
              <a:spcAft>
                <a:spcPts val="0"/>
              </a:spcAft>
              <a:buSzPts val="1800"/>
              <a:buChar char="•"/>
            </a:pPr>
            <a:r>
              <a:rPr lang="en-US"/>
              <a:t>-mlir-print-op-generic</a:t>
            </a:r>
            <a:endParaRPr/>
          </a:p>
          <a:p>
            <a:pPr indent="-342900" lvl="0" marL="457200" rtl="0" algn="l">
              <a:spcBef>
                <a:spcPts val="0"/>
              </a:spcBef>
              <a:spcAft>
                <a:spcPts val="0"/>
              </a:spcAft>
              <a:buSzPts val="1800"/>
              <a:buChar char="•"/>
            </a:pPr>
            <a:r>
              <a:rPr lang="en-US"/>
              <a:t>Use tools to find culprit operations in IR (e.g. mlir-reduce)</a:t>
            </a:r>
            <a:endParaRPr/>
          </a:p>
          <a:p>
            <a:pPr indent="-342900" lvl="1" marL="914400" rtl="0" algn="l">
              <a:spcBef>
                <a:spcPts val="0"/>
              </a:spcBef>
              <a:spcAft>
                <a:spcPts val="0"/>
              </a:spcAft>
              <a:buSzPts val="1800"/>
              <a:buChar char="•"/>
            </a:pPr>
            <a:r>
              <a:rPr lang="en-US" sz="2400"/>
              <a:t>Reduce buggy IR to minimal one where the issue is still reproducible</a:t>
            </a:r>
            <a:endParaRPr sz="2400"/>
          </a:p>
          <a:p>
            <a:pPr indent="-342900" lvl="2" marL="1371600" rtl="0" algn="l">
              <a:spcBef>
                <a:spcPts val="0"/>
              </a:spcBef>
              <a:spcAft>
                <a:spcPts val="0"/>
              </a:spcAft>
              <a:buSzPts val="1800"/>
              <a:buChar char="•"/>
            </a:pPr>
            <a:r>
              <a:rPr lang="en-US" sz="2000" u="sng">
                <a:solidFill>
                  <a:schemeClr val="hlink"/>
                </a:solidFill>
                <a:hlinkClick r:id="rId3"/>
              </a:rPr>
              <a:t>https://mlir.llvm.org/docs/Tools/mlir-reduce/</a:t>
            </a:r>
            <a:endParaRPr/>
          </a:p>
          <a:p>
            <a:pPr indent="-342900" lvl="0" marL="457200" rtl="0" algn="l">
              <a:spcBef>
                <a:spcPts val="0"/>
              </a:spcBef>
              <a:spcAft>
                <a:spcPts val="0"/>
              </a:spcAft>
              <a:buSzPts val="1800"/>
              <a:buChar char="•"/>
            </a:pPr>
            <a:r>
              <a:rPr lang="en-US"/>
              <a:t> other useful tips can be found here: </a:t>
            </a:r>
            <a:r>
              <a:rPr lang="en-US" u="sng">
                <a:solidFill>
                  <a:schemeClr val="hlink"/>
                </a:solidFill>
                <a:hlinkClick r:id="rId4"/>
              </a:rPr>
              <a:t>https://mlir.llvm.org/getting_started/Debugging/</a:t>
            </a:r>
            <a:r>
              <a:rPr lang="en-US"/>
              <a:t>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270400c0d60_0_8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Core materials on MLIR</a:t>
            </a:r>
            <a:endParaRPr/>
          </a:p>
        </p:txBody>
      </p:sp>
      <p:sp>
        <p:nvSpPr>
          <p:cNvPr id="589" name="Google Shape;589;g270400c0d60_0_81"/>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Official MLIR documentation: </a:t>
            </a:r>
            <a:r>
              <a:rPr lang="en-US" u="sng">
                <a:solidFill>
                  <a:schemeClr val="hlink"/>
                </a:solidFill>
                <a:hlinkClick r:id="rId3"/>
              </a:rPr>
              <a:t>https://mlir.llvm.org/</a:t>
            </a:r>
            <a:r>
              <a:rPr lang="en-US"/>
              <a:t>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2d25b4b9e83_0_130"/>
          <p:cNvSpPr txBox="1"/>
          <p:nvPr>
            <p:ph type="title"/>
          </p:nvPr>
        </p:nvSpPr>
        <p:spPr>
          <a:xfrm>
            <a:off x="571370" y="571500"/>
            <a:ext cx="11010900" cy="952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525252"/>
              </a:buClr>
              <a:buSzPts val="4000"/>
              <a:buFont typeface="Calibri"/>
              <a:buNone/>
            </a:pPr>
            <a:r>
              <a:rPr lang="en-US"/>
              <a:t>Lab assignment #4</a:t>
            </a:r>
            <a:endParaRPr/>
          </a:p>
        </p:txBody>
      </p:sp>
      <p:sp>
        <p:nvSpPr>
          <p:cNvPr id="595" name="Google Shape;595;g2d25b4b9e83_0_130"/>
          <p:cNvSpPr txBox="1"/>
          <p:nvPr>
            <p:ph idx="1" type="body"/>
          </p:nvPr>
        </p:nvSpPr>
        <p:spPr>
          <a:xfrm>
            <a:off x="571375" y="1673450"/>
            <a:ext cx="11010900" cy="5033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Write a pass in MLIR infrastructure</a:t>
            </a:r>
            <a:endParaRPr/>
          </a:p>
          <a:p>
            <a:pPr indent="-228600" lvl="0" marL="228600" rtl="0" algn="l">
              <a:lnSpc>
                <a:spcPct val="90000"/>
              </a:lnSpc>
              <a:spcBef>
                <a:spcPts val="1000"/>
              </a:spcBef>
              <a:spcAft>
                <a:spcPts val="0"/>
              </a:spcAft>
              <a:buClr>
                <a:schemeClr val="dk1"/>
              </a:buClr>
              <a:buSzPts val="2800"/>
              <a:buChar char="•"/>
            </a:pPr>
            <a:r>
              <a:rPr lang="en-US"/>
              <a:t>Deadline: May, 15</a:t>
            </a:r>
            <a:endParaRPr/>
          </a:p>
          <a:p>
            <a:pPr indent="-228600" lvl="0" marL="228600" rtl="0" algn="l">
              <a:lnSpc>
                <a:spcPct val="90000"/>
              </a:lnSpc>
              <a:spcBef>
                <a:spcPts val="1000"/>
              </a:spcBef>
              <a:spcAft>
                <a:spcPts val="0"/>
              </a:spcAft>
              <a:buClr>
                <a:schemeClr val="dk1"/>
              </a:buClr>
              <a:buSzPts val="2800"/>
              <a:buChar char="•"/>
            </a:pPr>
            <a:r>
              <a:rPr lang="en-US"/>
              <a:t>Where to seek help</a:t>
            </a:r>
            <a:endParaRPr/>
          </a:p>
          <a:p>
            <a:pPr indent="-228600" lvl="1" marL="685800" rtl="0" algn="l">
              <a:lnSpc>
                <a:spcPct val="90000"/>
              </a:lnSpc>
              <a:spcBef>
                <a:spcPts val="500"/>
              </a:spcBef>
              <a:spcAft>
                <a:spcPts val="0"/>
              </a:spcAft>
              <a:buClr>
                <a:schemeClr val="dk1"/>
              </a:buClr>
              <a:buSzPts val="2400"/>
              <a:buChar char="•"/>
            </a:pPr>
            <a:r>
              <a:rPr lang="en-US" u="sng">
                <a:solidFill>
                  <a:schemeClr val="hlink"/>
                </a:solidFill>
                <a:hlinkClick r:id="rId3"/>
              </a:rPr>
              <a:t>https://mlir.llvm.org/docs/PassManagement/</a:t>
            </a:r>
            <a:r>
              <a:rPr lang="en-US"/>
              <a:t> </a:t>
            </a:r>
            <a:endParaRPr/>
          </a:p>
          <a:p>
            <a:pPr indent="-228600" lvl="1" marL="685800" rtl="0" algn="l">
              <a:lnSpc>
                <a:spcPct val="90000"/>
              </a:lnSpc>
              <a:spcBef>
                <a:spcPts val="500"/>
              </a:spcBef>
              <a:spcAft>
                <a:spcPts val="0"/>
              </a:spcAft>
              <a:buClr>
                <a:schemeClr val="dk1"/>
              </a:buClr>
              <a:buSzPts val="2400"/>
              <a:buChar char="•"/>
            </a:pPr>
            <a:r>
              <a:rPr lang="en-US"/>
              <a:t>Contact teachers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270158642d6_0_585"/>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Next time</a:t>
            </a:r>
            <a:endParaRPr/>
          </a:p>
        </p:txBody>
      </p:sp>
      <p:sp>
        <p:nvSpPr>
          <p:cNvPr id="602" name="Google Shape;602;g270158642d6_0_585"/>
          <p:cNvSpPr txBox="1"/>
          <p:nvPr>
            <p:ph idx="1" type="body"/>
          </p:nvPr>
        </p:nvSpPr>
        <p:spPr>
          <a:xfrm>
            <a:off x="571370" y="1673454"/>
            <a:ext cx="11010900" cy="4575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Debugging and debuggers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7" name="Shape 607"/>
        <p:cNvGrpSpPr/>
        <p:nvPr/>
      </p:nvGrpSpPr>
      <p:grpSpPr>
        <a:xfrm>
          <a:off x="0" y="0"/>
          <a:ext cx="0" cy="0"/>
          <a:chOff x="0" y="0"/>
          <a:chExt cx="0" cy="0"/>
        </a:xfrm>
      </p:grpSpPr>
      <p:sp>
        <p:nvSpPr>
          <p:cNvPr id="608" name="Google Shape;608;g270158642d6_0_591"/>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Test</a:t>
            </a:r>
            <a:endParaRPr/>
          </a:p>
        </p:txBody>
      </p:sp>
      <p:sp>
        <p:nvSpPr>
          <p:cNvPr id="609" name="Google Shape;609;g270158642d6_0_591"/>
          <p:cNvSpPr txBox="1"/>
          <p:nvPr/>
        </p:nvSpPr>
        <p:spPr>
          <a:xfrm>
            <a:off x="571375" y="1673451"/>
            <a:ext cx="11010900" cy="291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sz="2800" u="sng">
                <a:solidFill>
                  <a:schemeClr val="hlink"/>
                </a:solidFill>
                <a:latin typeface="Calibri"/>
                <a:ea typeface="Calibri"/>
                <a:cs typeface="Calibri"/>
                <a:sym typeface="Calibri"/>
                <a:hlinkClick r:id="rId3"/>
              </a:rPr>
              <a:t>https://forms.gle/1W5MqDQNfpvq35sUA</a:t>
            </a:r>
            <a:r>
              <a:rPr lang="en-US" sz="2800">
                <a:latin typeface="Calibri"/>
                <a:ea typeface="Calibri"/>
                <a:cs typeface="Calibri"/>
                <a:sym typeface="Calibri"/>
              </a:rPr>
              <a:t> </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Submission time: </a:t>
            </a:r>
            <a:r>
              <a:rPr b="1" lang="en-US" sz="2800">
                <a:solidFill>
                  <a:srgbClr val="000000"/>
                </a:solidFill>
                <a:latin typeface="Calibri"/>
                <a:ea typeface="Calibri"/>
                <a:cs typeface="Calibri"/>
                <a:sym typeface="Calibri"/>
              </a:rPr>
              <a:t>10 minutes</a:t>
            </a:r>
            <a:r>
              <a:rPr lang="en-US"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sp>
        <p:nvSpPr>
          <p:cNvPr id="610" name="Google Shape;610;g270158642d6_0_591"/>
          <p:cNvSpPr txBox="1"/>
          <p:nvPr/>
        </p:nvSpPr>
        <p:spPr>
          <a:xfrm>
            <a:off x="8510750" y="6397900"/>
            <a:ext cx="3356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25252"/>
                </a:solidFill>
              </a:rPr>
              <a:t>Backup: </a:t>
            </a:r>
            <a:r>
              <a:rPr lang="en-US" sz="2000" u="sng">
                <a:solidFill>
                  <a:srgbClr val="0068B5"/>
                </a:solidFill>
                <a:hlinkClick r:id="rId4">
                  <a:extLst>
                    <a:ext uri="{A12FA001-AC4F-418D-AE19-62706E023703}">
                      <ahyp:hlinkClr val="tx"/>
                    </a:ext>
                  </a:extLst>
                </a:hlinkClick>
              </a:rPr>
              <a:t>me@gooddoog.ru</a:t>
            </a:r>
            <a:r>
              <a:rPr lang="en-US" sz="2000">
                <a:solidFill>
                  <a:srgbClr val="525252"/>
                </a:solidFill>
              </a:rPr>
              <a:t> </a:t>
            </a:r>
            <a:endParaRPr sz="2000">
              <a:solidFill>
                <a:srgbClr val="525252"/>
              </a:solidFill>
            </a:endParaRPr>
          </a:p>
        </p:txBody>
      </p:sp>
      <p:pic>
        <p:nvPicPr>
          <p:cNvPr id="611" name="Google Shape;611;g270158642d6_0_591"/>
          <p:cNvPicPr preferRelativeResize="0"/>
          <p:nvPr/>
        </p:nvPicPr>
        <p:blipFill>
          <a:blip r:embed="rId5">
            <a:alphaModFix/>
          </a:blip>
          <a:stretch>
            <a:fillRect/>
          </a:stretch>
        </p:blipFill>
        <p:spPr>
          <a:xfrm>
            <a:off x="8446925" y="718375"/>
            <a:ext cx="2656450" cy="2622175"/>
          </a:xfrm>
          <a:prstGeom prst="rect">
            <a:avLst/>
          </a:prstGeom>
          <a:noFill/>
          <a:ln>
            <a:noFill/>
          </a:ln>
        </p:spPr>
      </p:pic>
      <p:pic>
        <p:nvPicPr>
          <p:cNvPr id="612" name="Google Shape;612;g270158642d6_0_591"/>
          <p:cNvPicPr preferRelativeResize="0"/>
          <p:nvPr/>
        </p:nvPicPr>
        <p:blipFill>
          <a:blip r:embed="rId6">
            <a:alphaModFix/>
          </a:blip>
          <a:stretch>
            <a:fillRect/>
          </a:stretch>
        </p:blipFill>
        <p:spPr>
          <a:xfrm>
            <a:off x="231775" y="2838498"/>
            <a:ext cx="8215150" cy="309320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7" name="Shape 617"/>
        <p:cNvGrpSpPr/>
        <p:nvPr/>
      </p:nvGrpSpPr>
      <p:grpSpPr>
        <a:xfrm>
          <a:off x="0" y="0"/>
          <a:ext cx="0" cy="0"/>
          <a:chOff x="0" y="0"/>
          <a:chExt cx="0" cy="0"/>
        </a:xfrm>
      </p:grpSpPr>
      <p:sp>
        <p:nvSpPr>
          <p:cNvPr id="618" name="Google Shape;618;g34e787fa399_0_30"/>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Test</a:t>
            </a:r>
            <a:endParaRPr/>
          </a:p>
        </p:txBody>
      </p:sp>
      <p:sp>
        <p:nvSpPr>
          <p:cNvPr id="619" name="Google Shape;619;g34e787fa399_0_30"/>
          <p:cNvSpPr txBox="1"/>
          <p:nvPr/>
        </p:nvSpPr>
        <p:spPr>
          <a:xfrm>
            <a:off x="571375" y="1673451"/>
            <a:ext cx="11010900" cy="291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sz="2800" u="sng">
                <a:solidFill>
                  <a:schemeClr val="hlink"/>
                </a:solidFill>
                <a:latin typeface="Calibri"/>
                <a:ea typeface="Calibri"/>
                <a:cs typeface="Calibri"/>
                <a:sym typeface="Calibri"/>
                <a:hlinkClick r:id="rId3"/>
              </a:rPr>
              <a:t>https://forms.gle/HbN5qJU1sViVkSSP6</a:t>
            </a:r>
            <a:r>
              <a:rPr lang="en-US" sz="2800">
                <a:latin typeface="Calibri"/>
                <a:ea typeface="Calibri"/>
                <a:cs typeface="Calibri"/>
                <a:sym typeface="Calibri"/>
              </a:rPr>
              <a:t> </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Submission time: </a:t>
            </a:r>
            <a:r>
              <a:rPr b="1" lang="en-US" sz="2800">
                <a:solidFill>
                  <a:srgbClr val="000000"/>
                </a:solidFill>
                <a:latin typeface="Calibri"/>
                <a:ea typeface="Calibri"/>
                <a:cs typeface="Calibri"/>
                <a:sym typeface="Calibri"/>
              </a:rPr>
              <a:t>10 minutes</a:t>
            </a:r>
            <a:r>
              <a:rPr lang="en-US"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sp>
        <p:nvSpPr>
          <p:cNvPr id="620" name="Google Shape;620;g34e787fa399_0_30"/>
          <p:cNvSpPr txBox="1"/>
          <p:nvPr/>
        </p:nvSpPr>
        <p:spPr>
          <a:xfrm>
            <a:off x="8510750" y="6397900"/>
            <a:ext cx="3356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25252"/>
                </a:solidFill>
              </a:rPr>
              <a:t>Backup: </a:t>
            </a:r>
            <a:r>
              <a:rPr lang="en-US" sz="2000" u="sng">
                <a:solidFill>
                  <a:srgbClr val="0068B5"/>
                </a:solidFill>
                <a:hlinkClick r:id="rId4">
                  <a:extLst>
                    <a:ext uri="{A12FA001-AC4F-418D-AE19-62706E023703}">
                      <ahyp:hlinkClr val="tx"/>
                    </a:ext>
                  </a:extLst>
                </a:hlinkClick>
              </a:rPr>
              <a:t>me@gooddoog.ru</a:t>
            </a:r>
            <a:r>
              <a:rPr lang="en-US" sz="2000">
                <a:solidFill>
                  <a:srgbClr val="525252"/>
                </a:solidFill>
              </a:rPr>
              <a:t> </a:t>
            </a:r>
            <a:endParaRPr sz="2000">
              <a:solidFill>
                <a:srgbClr val="525252"/>
              </a:solidFill>
            </a:endParaRPr>
          </a:p>
        </p:txBody>
      </p:sp>
      <p:pic>
        <p:nvPicPr>
          <p:cNvPr id="621" name="Google Shape;621;g34e787fa399_0_30"/>
          <p:cNvPicPr preferRelativeResize="0"/>
          <p:nvPr/>
        </p:nvPicPr>
        <p:blipFill>
          <a:blip r:embed="rId5">
            <a:alphaModFix/>
          </a:blip>
          <a:stretch>
            <a:fillRect/>
          </a:stretch>
        </p:blipFill>
        <p:spPr>
          <a:xfrm>
            <a:off x="8645776" y="1038525"/>
            <a:ext cx="2269375" cy="2254550"/>
          </a:xfrm>
          <a:prstGeom prst="rect">
            <a:avLst/>
          </a:prstGeom>
          <a:noFill/>
          <a:ln>
            <a:noFill/>
          </a:ln>
        </p:spPr>
      </p:pic>
      <p:pic>
        <p:nvPicPr>
          <p:cNvPr id="622" name="Google Shape;622;g34e787fa399_0_30"/>
          <p:cNvPicPr preferRelativeResize="0"/>
          <p:nvPr/>
        </p:nvPicPr>
        <p:blipFill>
          <a:blip r:embed="rId6">
            <a:alphaModFix/>
          </a:blip>
          <a:stretch>
            <a:fillRect/>
          </a:stretch>
        </p:blipFill>
        <p:spPr>
          <a:xfrm>
            <a:off x="246600" y="2805150"/>
            <a:ext cx="8011775" cy="36597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d837e7ff04_0_6"/>
          <p:cNvSpPr txBox="1"/>
          <p:nvPr>
            <p:ph type="title"/>
          </p:nvPr>
        </p:nvSpPr>
        <p:spPr>
          <a:xfrm>
            <a:off x="571370" y="571500"/>
            <a:ext cx="11010900" cy="952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Test</a:t>
            </a:r>
            <a:endParaRPr/>
          </a:p>
        </p:txBody>
      </p:sp>
      <p:sp>
        <p:nvSpPr>
          <p:cNvPr id="629" name="Google Shape;629;g3d837e7ff04_0_6"/>
          <p:cNvSpPr txBox="1"/>
          <p:nvPr/>
        </p:nvSpPr>
        <p:spPr>
          <a:xfrm>
            <a:off x="571375" y="1673451"/>
            <a:ext cx="11010900" cy="291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sz="2800" u="sng">
                <a:solidFill>
                  <a:schemeClr val="hlink"/>
                </a:solidFill>
                <a:latin typeface="Calibri"/>
                <a:ea typeface="Calibri"/>
                <a:cs typeface="Calibri"/>
                <a:sym typeface="Calibri"/>
                <a:hlinkClick r:id="rId3"/>
              </a:rPr>
              <a:t>https://forms.gle/HBhDfT4prS4o5yicA</a:t>
            </a:r>
            <a:r>
              <a:rPr lang="en-US" sz="2800">
                <a:latin typeface="Calibri"/>
                <a:ea typeface="Calibri"/>
                <a:cs typeface="Calibri"/>
                <a:sym typeface="Calibri"/>
              </a:rPr>
              <a:t> </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Submission time: </a:t>
            </a:r>
            <a:r>
              <a:rPr b="1" lang="en-US" sz="2800">
                <a:solidFill>
                  <a:srgbClr val="000000"/>
                </a:solidFill>
                <a:latin typeface="Calibri"/>
                <a:ea typeface="Calibri"/>
                <a:cs typeface="Calibri"/>
                <a:sym typeface="Calibri"/>
              </a:rPr>
              <a:t>10 minutes</a:t>
            </a:r>
            <a:r>
              <a:rPr lang="en-US"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sp>
        <p:nvSpPr>
          <p:cNvPr id="630" name="Google Shape;630;g3d837e7ff04_0_6"/>
          <p:cNvSpPr txBox="1"/>
          <p:nvPr/>
        </p:nvSpPr>
        <p:spPr>
          <a:xfrm>
            <a:off x="8510750" y="6397900"/>
            <a:ext cx="3356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rgbClr val="525252"/>
                </a:solidFill>
              </a:rPr>
              <a:t>Backup: </a:t>
            </a:r>
            <a:r>
              <a:rPr lang="en-US" sz="2000" u="sng">
                <a:solidFill>
                  <a:srgbClr val="0068B5"/>
                </a:solidFill>
                <a:hlinkClick r:id="rId4">
                  <a:extLst>
                    <a:ext uri="{A12FA001-AC4F-418D-AE19-62706E023703}">
                      <ahyp:hlinkClr val="tx"/>
                    </a:ext>
                  </a:extLst>
                </a:hlinkClick>
              </a:rPr>
              <a:t>me@gooddoog.ru</a:t>
            </a:r>
            <a:r>
              <a:rPr lang="en-US" sz="2000">
                <a:solidFill>
                  <a:srgbClr val="525252"/>
                </a:solidFill>
              </a:rPr>
              <a:t> </a:t>
            </a:r>
            <a:endParaRPr sz="2000">
              <a:solidFill>
                <a:srgbClr val="525252"/>
              </a:solidFill>
            </a:endParaRPr>
          </a:p>
        </p:txBody>
      </p:sp>
      <p:pic>
        <p:nvPicPr>
          <p:cNvPr id="631" name="Google Shape;631;g3d837e7ff04_0_6"/>
          <p:cNvPicPr preferRelativeResize="0"/>
          <p:nvPr/>
        </p:nvPicPr>
        <p:blipFill>
          <a:blip r:embed="rId5">
            <a:alphaModFix/>
          </a:blip>
          <a:stretch>
            <a:fillRect/>
          </a:stretch>
        </p:blipFill>
        <p:spPr>
          <a:xfrm>
            <a:off x="8969400" y="933025"/>
            <a:ext cx="2438800" cy="2411075"/>
          </a:xfrm>
          <a:prstGeom prst="rect">
            <a:avLst/>
          </a:prstGeom>
          <a:noFill/>
          <a:ln>
            <a:noFill/>
          </a:ln>
        </p:spPr>
      </p:pic>
      <p:pic>
        <p:nvPicPr>
          <p:cNvPr id="632" name="Google Shape;632;g3d837e7ff04_0_6"/>
          <p:cNvPicPr preferRelativeResize="0"/>
          <p:nvPr/>
        </p:nvPicPr>
        <p:blipFill>
          <a:blip r:embed="rId6">
            <a:alphaModFix/>
          </a:blip>
          <a:stretch>
            <a:fillRect/>
          </a:stretch>
        </p:blipFill>
        <p:spPr>
          <a:xfrm>
            <a:off x="152400" y="2785025"/>
            <a:ext cx="8014299" cy="39205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3"/>
          <p:cNvSpPr txBox="1"/>
          <p:nvPr>
            <p:ph type="title"/>
          </p:nvPr>
        </p:nvSpPr>
        <p:spPr>
          <a:xfrm>
            <a:off x="571500" y="571501"/>
            <a:ext cx="11010901" cy="952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525252"/>
              </a:buClr>
              <a:buSzPts val="4000"/>
              <a:buFont typeface="Calibri"/>
              <a:buNone/>
            </a:pPr>
            <a:r>
              <a:rPr lang="en-US"/>
              <a:t>Extra materials</a:t>
            </a:r>
            <a:endParaRPr/>
          </a:p>
        </p:txBody>
      </p:sp>
      <p:sp>
        <p:nvSpPr>
          <p:cNvPr id="638" name="Google Shape;638;p13"/>
          <p:cNvSpPr txBox="1"/>
          <p:nvPr>
            <p:ph idx="1" type="body"/>
          </p:nvPr>
        </p:nvSpPr>
        <p:spPr>
          <a:xfrm>
            <a:off x="571500" y="1673402"/>
            <a:ext cx="10837852" cy="458483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latin typeface="Roboto"/>
                <a:ea typeface="Roboto"/>
                <a:cs typeface="Roboto"/>
                <a:sym typeface="Roboto"/>
              </a:rPr>
              <a:t>How to build a compiler with LLVM and MLIR: </a:t>
            </a:r>
            <a:r>
              <a:rPr lang="en-US" sz="1600" u="sng">
                <a:solidFill>
                  <a:schemeClr val="hlink"/>
                </a:solidFill>
                <a:latin typeface="Roboto"/>
                <a:ea typeface="Roboto"/>
                <a:cs typeface="Roboto"/>
                <a:sym typeface="Roboto"/>
                <a:hlinkClick r:id="rId3"/>
              </a:rPr>
              <a:t>https://www.youtube.com/playlist?list=PLlONLmJCfHTo9WYfsoQvwjsa5ZB6hjOG5</a:t>
            </a:r>
            <a:r>
              <a:rPr lang="en-US" sz="1600">
                <a:latin typeface="Roboto"/>
                <a:ea typeface="Roboto"/>
                <a:cs typeface="Roboto"/>
                <a:sym typeface="Roboto"/>
              </a:rPr>
              <a:t> </a:t>
            </a:r>
            <a:endParaRPr sz="1600">
              <a:latin typeface="Roboto"/>
              <a:ea typeface="Roboto"/>
              <a:cs typeface="Roboto"/>
              <a:sym typeface="Roboto"/>
            </a:endParaRPr>
          </a:p>
          <a:p>
            <a:pPr indent="-228600" lvl="0" marL="228600" rtl="0" algn="l">
              <a:lnSpc>
                <a:spcPct val="90000"/>
              </a:lnSpc>
              <a:spcBef>
                <a:spcPts val="0"/>
              </a:spcBef>
              <a:spcAft>
                <a:spcPts val="0"/>
              </a:spcAft>
              <a:buSzPts val="1600"/>
              <a:buFont typeface="Roboto"/>
              <a:buChar char="•"/>
            </a:pPr>
            <a:r>
              <a:rPr lang="en-US" sz="1600">
                <a:latin typeface="Roboto"/>
                <a:ea typeface="Roboto"/>
                <a:cs typeface="Roboto"/>
                <a:sym typeface="Roboto"/>
              </a:rPr>
              <a:t>2019 EuroLLVM Developers’ Meeting: T. Shpeisman &amp; C. Lattner “MLIR: Multi-Level Intermediate Representation for Compiler Infrastructure” </a:t>
            </a:r>
            <a:r>
              <a:rPr lang="en-US" sz="1600" u="sng">
                <a:solidFill>
                  <a:schemeClr val="hlink"/>
                </a:solidFill>
                <a:latin typeface="Roboto"/>
                <a:ea typeface="Roboto"/>
                <a:cs typeface="Roboto"/>
                <a:sym typeface="Roboto"/>
                <a:hlinkClick r:id="rId4"/>
              </a:rPr>
              <a:t>https://www.youtube.com/watch?v=qzljG6DKgic</a:t>
            </a:r>
            <a:r>
              <a:rPr lang="en-US" sz="1600">
                <a:latin typeface="Roboto"/>
                <a:ea typeface="Roboto"/>
                <a:cs typeface="Roboto"/>
                <a:sym typeface="Roboto"/>
              </a:rPr>
              <a:t> </a:t>
            </a:r>
            <a:endParaRPr sz="1600">
              <a:latin typeface="Roboto"/>
              <a:ea typeface="Roboto"/>
              <a:cs typeface="Roboto"/>
              <a:sym typeface="Roboto"/>
            </a:endParaRPr>
          </a:p>
          <a:p>
            <a:pPr indent="-228600" lvl="0" marL="228600" rtl="0" algn="l">
              <a:lnSpc>
                <a:spcPct val="90000"/>
              </a:lnSpc>
              <a:spcBef>
                <a:spcPts val="0"/>
              </a:spcBef>
              <a:spcAft>
                <a:spcPts val="0"/>
              </a:spcAft>
              <a:buSzPts val="1600"/>
              <a:buFont typeface="Roboto"/>
              <a:buChar char="•"/>
            </a:pPr>
            <a:r>
              <a:rPr lang="en-US" sz="1600">
                <a:latin typeface="Roboto"/>
                <a:ea typeface="Roboto"/>
                <a:cs typeface="Roboto"/>
                <a:sym typeface="Roboto"/>
              </a:rPr>
              <a:t>2023 LLVM Dev Mtg - MLIR Is Not an ML Compiler, and Other Common Misconceptions: </a:t>
            </a:r>
            <a:r>
              <a:rPr lang="en-US" sz="1600" u="sng">
                <a:solidFill>
                  <a:schemeClr val="hlink"/>
                </a:solidFill>
                <a:latin typeface="Roboto"/>
                <a:ea typeface="Roboto"/>
                <a:cs typeface="Roboto"/>
                <a:sym typeface="Roboto"/>
                <a:hlinkClick r:id="rId5"/>
              </a:rPr>
              <a:t>https://www.youtube.com/watch?v=lXAp6ZAWyBY</a:t>
            </a:r>
            <a:r>
              <a:rPr lang="en-US" sz="1600">
                <a:latin typeface="Roboto"/>
                <a:ea typeface="Roboto"/>
                <a:cs typeface="Roboto"/>
                <a:sym typeface="Roboto"/>
              </a:rPr>
              <a:t> </a:t>
            </a:r>
            <a:endParaRPr sz="1600">
              <a:latin typeface="Roboto"/>
              <a:ea typeface="Roboto"/>
              <a:cs typeface="Roboto"/>
              <a:sym typeface="Roboto"/>
            </a:endParaRPr>
          </a:p>
          <a:p>
            <a:pPr indent="-228600" lvl="0" marL="228600" rtl="0" algn="l">
              <a:lnSpc>
                <a:spcPct val="90000"/>
              </a:lnSpc>
              <a:spcBef>
                <a:spcPts val="0"/>
              </a:spcBef>
              <a:spcAft>
                <a:spcPts val="0"/>
              </a:spcAft>
              <a:buSzPts val="1600"/>
              <a:buFont typeface="Roboto"/>
              <a:buChar char="•"/>
            </a:pPr>
            <a:r>
              <a:rPr lang="en-US" sz="1600">
                <a:latin typeface="Roboto"/>
                <a:ea typeface="Roboto"/>
                <a:cs typeface="Roboto"/>
                <a:sym typeface="Roboto"/>
              </a:rPr>
              <a:t>2025 US LLVM Developers' Meeting: Normal forms for MLIR: </a:t>
            </a:r>
            <a:r>
              <a:rPr lang="en-US" sz="1600" u="sng">
                <a:solidFill>
                  <a:schemeClr val="hlink"/>
                </a:solidFill>
                <a:latin typeface="Roboto"/>
                <a:ea typeface="Roboto"/>
                <a:cs typeface="Roboto"/>
                <a:sym typeface="Roboto"/>
                <a:hlinkClick r:id="rId6"/>
              </a:rPr>
              <a:t>https://www.youtube.com/watch?v=Esw84hH1Ed0</a:t>
            </a:r>
            <a:endParaRPr sz="1600">
              <a:latin typeface="Roboto"/>
              <a:ea typeface="Roboto"/>
              <a:cs typeface="Roboto"/>
              <a:sym typeface="Roboto"/>
            </a:endParaRPr>
          </a:p>
          <a:p>
            <a:pPr indent="-228600" lvl="0" marL="228600" rtl="0" algn="l">
              <a:lnSpc>
                <a:spcPct val="90000"/>
              </a:lnSpc>
              <a:spcBef>
                <a:spcPts val="0"/>
              </a:spcBef>
              <a:spcAft>
                <a:spcPts val="0"/>
              </a:spcAft>
              <a:buSzPts val="1600"/>
              <a:buFont typeface="Roboto"/>
              <a:buChar char="•"/>
            </a:pPr>
            <a:r>
              <a:rPr lang="en-US" sz="1600">
                <a:latin typeface="Roboto"/>
                <a:ea typeface="Roboto"/>
                <a:cs typeface="Roboto"/>
                <a:sym typeface="Roboto"/>
              </a:rPr>
              <a:t>MLIR CodeGen Dialects for Machine Learning Compilers: </a:t>
            </a:r>
            <a:r>
              <a:rPr lang="en-US" sz="1600" u="sng">
                <a:solidFill>
                  <a:schemeClr val="hlink"/>
                </a:solidFill>
                <a:latin typeface="Roboto"/>
                <a:ea typeface="Roboto"/>
                <a:cs typeface="Roboto"/>
                <a:sym typeface="Roboto"/>
                <a:hlinkClick r:id="rId7"/>
              </a:rPr>
              <a:t>https://www.lei.chat/posts/mlir-codegen-dialects-for-machine-learning-compilers/</a:t>
            </a:r>
            <a:r>
              <a:rPr lang="en-US" sz="1600">
                <a:latin typeface="Roboto"/>
                <a:ea typeface="Roboto"/>
                <a:cs typeface="Roboto"/>
                <a:sym typeface="Roboto"/>
              </a:rPr>
              <a:t> </a:t>
            </a:r>
            <a:endParaRPr sz="1600">
              <a:latin typeface="Roboto"/>
              <a:ea typeface="Roboto"/>
              <a:cs typeface="Roboto"/>
              <a:sym typeface="Roboto"/>
            </a:endParaRPr>
          </a:p>
          <a:p>
            <a:pPr indent="-228600" lvl="0" marL="228600" rtl="0" algn="l">
              <a:lnSpc>
                <a:spcPct val="90000"/>
              </a:lnSpc>
              <a:spcBef>
                <a:spcPts val="0"/>
              </a:spcBef>
              <a:spcAft>
                <a:spcPts val="0"/>
              </a:spcAft>
              <a:buSzPts val="1600"/>
              <a:buFont typeface="Roboto"/>
              <a:buChar char="•"/>
            </a:pPr>
            <a:r>
              <a:rPr lang="en-US" sz="1600">
                <a:latin typeface="Roboto"/>
                <a:ea typeface="Roboto"/>
                <a:cs typeface="Roboto"/>
                <a:sym typeface="Roboto"/>
              </a:rPr>
              <a:t>MLIR: Scaling Compiler Infrastructure for Domain Specific Computation: </a:t>
            </a:r>
            <a:r>
              <a:rPr lang="en-US" sz="1600" u="sng">
                <a:solidFill>
                  <a:schemeClr val="hlink"/>
                </a:solidFill>
                <a:latin typeface="Roboto"/>
                <a:ea typeface="Roboto"/>
                <a:cs typeface="Roboto"/>
                <a:sym typeface="Roboto"/>
                <a:hlinkClick r:id="rId8"/>
              </a:rPr>
              <a:t>https://rcs.uwaterloo.ca/~ali/cs842-s23/papers/mlir.pdf</a:t>
            </a:r>
            <a:endParaRPr sz="1600">
              <a:latin typeface="Roboto"/>
              <a:ea typeface="Roboto"/>
              <a:cs typeface="Roboto"/>
              <a:sym typeface="Roboto"/>
            </a:endParaRPr>
          </a:p>
          <a:p>
            <a:pPr indent="-228600" lvl="0" marL="228600" rtl="0" algn="l">
              <a:lnSpc>
                <a:spcPct val="90000"/>
              </a:lnSpc>
              <a:spcBef>
                <a:spcPts val="0"/>
              </a:spcBef>
              <a:spcAft>
                <a:spcPts val="0"/>
              </a:spcAft>
              <a:buSzPts val="1600"/>
              <a:buFont typeface="Roboto"/>
              <a:buChar char="•"/>
            </a:pPr>
            <a:r>
              <a:rPr lang="en-US" sz="1600">
                <a:latin typeface="Roboto"/>
                <a:ea typeface="Roboto"/>
                <a:cs typeface="Roboto"/>
                <a:sym typeface="Roboto"/>
              </a:rPr>
              <a:t>MLIR: A Compiler Infrastructure for the End of Moore’s Law: </a:t>
            </a:r>
            <a:r>
              <a:rPr lang="en-US" sz="1600" u="sng">
                <a:solidFill>
                  <a:schemeClr val="hlink"/>
                </a:solidFill>
                <a:latin typeface="Roboto"/>
                <a:ea typeface="Roboto"/>
                <a:cs typeface="Roboto"/>
                <a:sym typeface="Roboto"/>
                <a:hlinkClick r:id="rId9"/>
              </a:rPr>
              <a:t>https://arxiv.org/pdf/2002.11054</a:t>
            </a:r>
            <a:r>
              <a:rPr lang="en-US" sz="1600">
                <a:latin typeface="Roboto"/>
                <a:ea typeface="Roboto"/>
                <a:cs typeface="Roboto"/>
                <a:sym typeface="Roboto"/>
              </a:rPr>
              <a:t> </a:t>
            </a:r>
            <a:endParaRPr sz="1600">
              <a:latin typeface="Roboto"/>
              <a:ea typeface="Roboto"/>
              <a:cs typeface="Roboto"/>
              <a:sym typeface="Roboto"/>
            </a:endParaRPr>
          </a:p>
          <a:p>
            <a:pPr indent="-228600" lvl="0" marL="228600" rtl="0" algn="l">
              <a:lnSpc>
                <a:spcPct val="90000"/>
              </a:lnSpc>
              <a:spcBef>
                <a:spcPts val="0"/>
              </a:spcBef>
              <a:spcAft>
                <a:spcPts val="0"/>
              </a:spcAft>
              <a:buSzPts val="1600"/>
              <a:buFont typeface="Roboto"/>
              <a:buChar char="•"/>
            </a:pPr>
            <a:r>
              <a:rPr lang="en-US" sz="1600">
                <a:latin typeface="Roboto"/>
                <a:ea typeface="Roboto"/>
                <a:cs typeface="Roboto"/>
                <a:sym typeface="Roboto"/>
              </a:rPr>
              <a:t>Triton: An Intermediate Language and Compiler for Tiled Neural Network Computations: </a:t>
            </a:r>
            <a:r>
              <a:rPr lang="en-US" sz="1600" u="sng">
                <a:solidFill>
                  <a:schemeClr val="hlink"/>
                </a:solidFill>
                <a:latin typeface="Roboto"/>
                <a:ea typeface="Roboto"/>
                <a:cs typeface="Roboto"/>
                <a:sym typeface="Roboto"/>
                <a:hlinkClick r:id="rId10"/>
              </a:rPr>
              <a:t>https://www.eecs.harvard.edu/~htk/publication/2019-mapl-tillet-kung-cox.pdf</a:t>
            </a:r>
            <a:endParaRPr sz="1600">
              <a:latin typeface="Roboto"/>
              <a:ea typeface="Roboto"/>
              <a:cs typeface="Roboto"/>
              <a:sym typeface="Roboto"/>
            </a:endParaRPr>
          </a:p>
          <a:p>
            <a:pPr indent="0" lvl="0" marL="0" rtl="0" algn="l">
              <a:lnSpc>
                <a:spcPct val="90000"/>
              </a:lnSpc>
              <a:spcBef>
                <a:spcPts val="0"/>
              </a:spcBef>
              <a:spcAft>
                <a:spcPts val="0"/>
              </a:spcAft>
              <a:buNone/>
            </a:pPr>
            <a:r>
              <a:t/>
            </a:r>
            <a:endParaRPr sz="1600">
              <a:latin typeface="Roboto"/>
              <a:ea typeface="Roboto"/>
              <a:cs typeface="Roboto"/>
              <a:sym typeface="Roboto"/>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2022-04-12T07:39:01Z</dcterms:created>
  <dc:creator>Александр Баташев</dc:creator>
</cp:coreProperties>
</file>