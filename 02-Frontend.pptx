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y="6858000" cx="12192000"/>
  <p:notesSz cx="6858000" cy="9144000"/>
  <p:embeddedFontLst>
    <p:embeddedFont>
      <p:font typeface="Helvetica Neue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32">
          <p15:clr>
            <a:srgbClr val="A4A3A4"/>
          </p15:clr>
        </p15:guide>
        <p15:guide id="2" pos="7392">
          <p15:clr>
            <a:srgbClr val="A4A3A4"/>
          </p15:clr>
        </p15:guide>
      </p15:sldGuideLst>
    </p:ext>
    <p:ext uri="GoogleSlidesCustomDataVersion2">
      <go:slidesCustomData xmlns:go="http://customooxmlschemas.google.com/" r:id="rId71" roundtripDataSignature="AMtx7mjtCZnyc3H00Zvt/EL20KpwGgBu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F996C5-1326-4335-8891-9B9C0A948D07}">
  <a:tblStyle styleId="{78F996C5-1326-4335-8891-9B9C0A948D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2" orient="horz"/>
        <p:guide pos="73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customschemas.google.com/relationships/presentationmetadata" Target="metadata"/><Relationship Id="rId70" Type="http://schemas.openxmlformats.org/officeDocument/2006/relationships/font" Target="fonts/HelveticaNeue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HelveticaNeue-bold.fntdata"/><Relationship Id="rId23" Type="http://schemas.openxmlformats.org/officeDocument/2006/relationships/slide" Target="slides/slide17.xml"/><Relationship Id="rId67" Type="http://schemas.openxmlformats.org/officeDocument/2006/relationships/font" Target="fonts/HelveticaNeue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HelveticaNeue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RU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ac018967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ac018967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6971b05c12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6971b05c12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6971b05c12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6971b05c12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6971b05c12_0_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26971b05c12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6971b05c12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6971b05c12_0_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861c19ea1_1_4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c861c19ea1_1_4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861c19ea1_1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c861c19ea1_1_1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8227e1633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c8227e1633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6971b05c12_0_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26971b05c12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34888d8bce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34888d8bce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c861c19ea1_1_3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c861c19ea1_1_3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c8227e1633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c8227e1633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c8227e1633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c8227e1633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c8227e1633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c8227e1633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6971b05c12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6971b05c12_0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6971b05c12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6971b05c12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6971b05c12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6971b05c12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2fa9fa7a23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2fa9fa7a23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c8227e1633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c8227e1633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5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Calibri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5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45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">
  <p:cSld name="Title, Sub &amp;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7"/>
          <p:cNvSpPr txBox="1"/>
          <p:nvPr>
            <p:ph idx="1" type="body"/>
          </p:nvPr>
        </p:nvSpPr>
        <p:spPr>
          <a:xfrm>
            <a:off x="571370" y="2139953"/>
            <a:ext cx="11010900" cy="4108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7"/>
          <p:cNvSpPr txBox="1"/>
          <p:nvPr>
            <p:ph idx="2" type="body"/>
          </p:nvPr>
        </p:nvSpPr>
        <p:spPr>
          <a:xfrm>
            <a:off x="57137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hite">
  <p:cSld name="Section Break Whit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Calibri"/>
              <a:buNone/>
              <a:defRPr sz="48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" type="body"/>
          </p:nvPr>
        </p:nvSpPr>
        <p:spPr>
          <a:xfrm>
            <a:off x="571500" y="393975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9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9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9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0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5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5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5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5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5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Blue B" showMasterSp="0">
  <p:cSld name="1_Title Blue B">
    <p:bg>
      <p:bgPr>
        <a:solidFill>
          <a:srgbClr val="184A86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2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62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Calibri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2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hite" showMasterSp="0">
  <p:cSld name="Title Whit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3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500"/>
              <a:buFont typeface="Calibri"/>
              <a:buNone/>
              <a:defRPr sz="75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3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i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63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2 Content Columns">
  <p:cSld name="Title, Sub &amp; 2 Content Column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5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5"/>
          <p:cNvSpPr txBox="1"/>
          <p:nvPr>
            <p:ph idx="1" type="body"/>
          </p:nvPr>
        </p:nvSpPr>
        <p:spPr>
          <a:xfrm>
            <a:off x="571500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65"/>
          <p:cNvSpPr txBox="1"/>
          <p:nvPr>
            <p:ph idx="2" type="body"/>
          </p:nvPr>
        </p:nvSpPr>
        <p:spPr>
          <a:xfrm>
            <a:off x="6289113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65"/>
          <p:cNvSpPr txBox="1"/>
          <p:nvPr>
            <p:ph idx="3" type="body"/>
          </p:nvPr>
        </p:nvSpPr>
        <p:spPr>
          <a:xfrm>
            <a:off x="57150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2 Pictures">
  <p:cSld name="Title, Sub, Content &amp; 2 Picture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6"/>
          <p:cNvSpPr txBox="1"/>
          <p:nvPr>
            <p:ph type="title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6"/>
          <p:cNvSpPr txBox="1"/>
          <p:nvPr>
            <p:ph idx="1" type="body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66"/>
          <p:cNvSpPr txBox="1"/>
          <p:nvPr>
            <p:ph idx="2" type="body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66"/>
          <p:cNvSpPr/>
          <p:nvPr>
            <p:ph idx="3" type="pic"/>
          </p:nvPr>
        </p:nvSpPr>
        <p:spPr>
          <a:xfrm>
            <a:off x="6609331" y="571500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66"/>
          <p:cNvSpPr/>
          <p:nvPr>
            <p:ph idx="4" type="pic"/>
          </p:nvPr>
        </p:nvSpPr>
        <p:spPr>
          <a:xfrm>
            <a:off x="6609331" y="3537061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66"/>
          <p:cNvSpPr txBox="1"/>
          <p:nvPr>
            <p:ph idx="5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66"/>
          <p:cNvSpPr txBox="1"/>
          <p:nvPr>
            <p:ph idx="6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Picture">
  <p:cSld name="Title, Sub, Content &amp; Pictur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7"/>
          <p:cNvSpPr/>
          <p:nvPr>
            <p:ph idx="2" type="pic"/>
          </p:nvPr>
        </p:nvSpPr>
        <p:spPr>
          <a:xfrm>
            <a:off x="6615046" y="0"/>
            <a:ext cx="5129422" cy="6416167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67"/>
          <p:cNvSpPr txBox="1"/>
          <p:nvPr>
            <p:ph type="title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7"/>
          <p:cNvSpPr txBox="1"/>
          <p:nvPr>
            <p:ph idx="1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67"/>
          <p:cNvSpPr txBox="1"/>
          <p:nvPr>
            <p:ph idx="3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Full Page Picture">
  <p:cSld name="Title &amp; Full Page Pictur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8"/>
          <p:cNvSpPr/>
          <p:nvPr>
            <p:ph idx="2" type="pic"/>
          </p:nvPr>
        </p:nvSpPr>
        <p:spPr>
          <a:xfrm>
            <a:off x="-11286" y="0"/>
            <a:ext cx="11744325" cy="6401797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68"/>
          <p:cNvSpPr txBox="1"/>
          <p:nvPr>
            <p:ph type="title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Quote">
  <p:cSld name="Title &amp; Quot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9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9"/>
          <p:cNvSpPr txBox="1"/>
          <p:nvPr>
            <p:ph idx="1" type="body"/>
          </p:nvPr>
        </p:nvSpPr>
        <p:spPr>
          <a:xfrm>
            <a:off x="571500" y="1592529"/>
            <a:ext cx="11010900" cy="3727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69"/>
          <p:cNvSpPr txBox="1"/>
          <p:nvPr>
            <p:ph idx="2" type="body"/>
          </p:nvPr>
        </p:nvSpPr>
        <p:spPr>
          <a:xfrm>
            <a:off x="571500" y="5461818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hart Example" showMasterSp="0">
  <p:cSld name="3_Chart Example">
    <p:bg>
      <p:bgPr>
        <a:solidFill>
          <a:schemeClr val="accen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0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70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0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0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0"/>
          <p:cNvSpPr txBox="1"/>
          <p:nvPr>
            <p:ph idx="1" type="body"/>
          </p:nvPr>
        </p:nvSpPr>
        <p:spPr>
          <a:xfrm>
            <a:off x="571500" y="1599816"/>
            <a:ext cx="11010900" cy="3719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mage" id="142" name="Google Shape;1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0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 Confidential</a:t>
            </a:r>
            <a:endParaRPr/>
          </a:p>
        </p:txBody>
      </p:sp>
      <p:sp>
        <p:nvSpPr>
          <p:cNvPr id="144" name="Google Shape;144;p70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or Event Name</a:t>
            </a:r>
            <a:endParaRPr/>
          </a:p>
        </p:txBody>
      </p:sp>
      <p:sp>
        <p:nvSpPr>
          <p:cNvPr id="145" name="Google Shape;145;p70"/>
          <p:cNvSpPr txBox="1"/>
          <p:nvPr>
            <p:ph idx="2" type="body"/>
          </p:nvPr>
        </p:nvSpPr>
        <p:spPr>
          <a:xfrm>
            <a:off x="571500" y="5476099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70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Blue" showMasterSp="0">
  <p:cSld name="Section Break Blue">
    <p:bg>
      <p:bgPr>
        <a:solidFill>
          <a:schemeClr val="accen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1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149" name="Google Shape;149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1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1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 Confidential</a:t>
            </a:r>
            <a:endParaRPr/>
          </a:p>
        </p:txBody>
      </p:sp>
      <p:sp>
        <p:nvSpPr>
          <p:cNvPr id="152" name="Google Shape;152;p71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or Event Name</a:t>
            </a:r>
            <a:endParaRPr/>
          </a:p>
        </p:txBody>
      </p:sp>
      <p:sp>
        <p:nvSpPr>
          <p:cNvPr id="153" name="Google Shape;153;p71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71"/>
          <p:cNvSpPr txBox="1"/>
          <p:nvPr>
            <p:ph idx="1" type="body"/>
          </p:nvPr>
        </p:nvSpPr>
        <p:spPr>
          <a:xfrm>
            <a:off x="571500" y="3948942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71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ight Blue" showMasterSp="0">
  <p:cSld name="Section Break Light Blue">
    <p:bg>
      <p:bgPr>
        <a:solidFill>
          <a:srgbClr val="C55A1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2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72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159" name="Google Shape;159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2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2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2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 Confidential</a:t>
            </a:r>
            <a:endParaRPr/>
          </a:p>
        </p:txBody>
      </p:sp>
      <p:sp>
        <p:nvSpPr>
          <p:cNvPr id="163" name="Google Shape;163;p72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or Event Name</a:t>
            </a:r>
            <a:endParaRPr/>
          </a:p>
        </p:txBody>
      </p:sp>
      <p:sp>
        <p:nvSpPr>
          <p:cNvPr id="164" name="Google Shape;164;p72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72"/>
          <p:cNvSpPr txBox="1"/>
          <p:nvPr>
            <p:ph idx="1" type="body"/>
          </p:nvPr>
        </p:nvSpPr>
        <p:spPr>
          <a:xfrm>
            <a:off x="571500" y="396442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" showMasterSp="0">
  <p:cSld name="Title, Sub &amp; Content Blue"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3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3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3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3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3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" id="172" name="Google Shape;172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3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3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73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 Confidential</a:t>
            </a:r>
            <a:endParaRPr/>
          </a:p>
        </p:txBody>
      </p:sp>
      <p:sp>
        <p:nvSpPr>
          <p:cNvPr id="176" name="Google Shape;176;p73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or Event Name</a:t>
            </a:r>
            <a:endParaRPr/>
          </a:p>
        </p:txBody>
      </p:sp>
      <p:sp>
        <p:nvSpPr>
          <p:cNvPr id="177" name="Google Shape;177;p73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73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2" showMasterSp="0">
  <p:cSld name="Title, Sub &amp; Content Blue 2">
    <p:bg>
      <p:bgPr>
        <a:solidFill>
          <a:schemeClr val="dk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4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4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4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4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4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" id="185" name="Google Shape;185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4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4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74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 Confidential</a:t>
            </a:r>
            <a:endParaRPr/>
          </a:p>
        </p:txBody>
      </p:sp>
      <p:sp>
        <p:nvSpPr>
          <p:cNvPr id="189" name="Google Shape;189;p74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or Event Name</a:t>
            </a:r>
            <a:endParaRPr/>
          </a:p>
        </p:txBody>
      </p:sp>
      <p:sp>
        <p:nvSpPr>
          <p:cNvPr id="190" name="Google Shape;190;p74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74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" showMasterSp="0">
  <p:cSld name="Title, Sub &amp; Content Light Blue">
    <p:bg>
      <p:bgPr>
        <a:solidFill>
          <a:schemeClr val="accent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5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5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" id="195" name="Google Shape;195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5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5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5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5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5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5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75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 Confidential</a:t>
            </a:r>
            <a:endParaRPr/>
          </a:p>
        </p:txBody>
      </p:sp>
      <p:sp>
        <p:nvSpPr>
          <p:cNvPr id="203" name="Google Shape;203;p75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or Event Name</a:t>
            </a:r>
            <a:endParaRPr/>
          </a:p>
        </p:txBody>
      </p:sp>
      <p:sp>
        <p:nvSpPr>
          <p:cNvPr id="204" name="Google Shape;204;p75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75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Gray">
  <p:cSld name="Title, Sub, Content Gray">
    <p:bg>
      <p:bgPr>
        <a:solidFill>
          <a:srgbClr val="F2F2F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6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6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6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6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76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sz="4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76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76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3" showMasterSp="0">
  <p:cSld name="Title, Sub &amp; Content Blue 3">
    <p:bg>
      <p:bgPr>
        <a:solidFill>
          <a:schemeClr val="accen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7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77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77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77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77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7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221" name="Google Shape;221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7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 Confidential</a:t>
            </a:r>
            <a:endParaRPr/>
          </a:p>
        </p:txBody>
      </p:sp>
      <p:sp>
        <p:nvSpPr>
          <p:cNvPr id="223" name="Google Shape;223;p77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or Event Name</a:t>
            </a:r>
            <a:endParaRPr/>
          </a:p>
        </p:txBody>
      </p:sp>
      <p:sp>
        <p:nvSpPr>
          <p:cNvPr id="224" name="Google Shape;224;p77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 2" showMasterSp="0">
  <p:cSld name="Title, Sub &amp; Content Light Blue 2">
    <p:bg>
      <p:bgPr>
        <a:solidFill>
          <a:srgbClr val="C55A1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8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78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78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78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78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231" name="Google Shape;231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8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 Confidential</a:t>
            </a:r>
            <a:endParaRPr/>
          </a:p>
        </p:txBody>
      </p:sp>
      <p:sp>
        <p:nvSpPr>
          <p:cNvPr id="233" name="Google Shape;233;p78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or Event Name</a:t>
            </a:r>
            <a:endParaRPr/>
          </a:p>
        </p:txBody>
      </p:sp>
      <p:sp>
        <p:nvSpPr>
          <p:cNvPr id="234" name="Google Shape;234;p78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White">
  <p:cSld name="Title &amp; Sub White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" name="Google Shape;236;p79"/>
          <p:cNvGraphicFramePr/>
          <p:nvPr/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237" name="Google Shape;237;p79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79"/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79"/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Blue" showMasterSp="0">
  <p:cSld name="Title &amp; Sub Blue">
    <p:bg>
      <p:bgPr>
        <a:solidFill>
          <a:schemeClr val="dk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0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0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" id="243" name="Google Shape;243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0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0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0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 Confidential</a:t>
            </a:r>
            <a:endParaRPr/>
          </a:p>
        </p:txBody>
      </p:sp>
      <p:sp>
        <p:nvSpPr>
          <p:cNvPr id="247" name="Google Shape;247;p80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or Event Name</a:t>
            </a:r>
            <a:endParaRPr/>
          </a:p>
        </p:txBody>
      </p:sp>
      <p:sp>
        <p:nvSpPr>
          <p:cNvPr id="248" name="Google Shape;248;p80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Light Blue" showMasterSp="0">
  <p:cSld name="Title &amp; Sub Light Blue">
    <p:bg>
      <p:bgPr>
        <a:solidFill>
          <a:srgbClr val="00C7FD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1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1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" id="252" name="Google Shape;252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1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1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1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 Confidential</a:t>
            </a:r>
            <a:endParaRPr/>
          </a:p>
        </p:txBody>
      </p:sp>
      <p:sp>
        <p:nvSpPr>
          <p:cNvPr id="256" name="Google Shape;256;p81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or Event Name</a:t>
            </a:r>
            <a:endParaRPr/>
          </a:p>
        </p:txBody>
      </p:sp>
      <p:sp>
        <p:nvSpPr>
          <p:cNvPr id="257" name="Google Shape;257;p81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44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Calibri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hyperlink" Target="https://godbolt.org/z/zaacW8oGb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hyperlink" Target="https://godbolt.org/z/fffK9vf8G" TargetMode="External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hyperlink" Target="https://en.wikipedia.org/wiki/Finite-state_machin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hyperlink" Target="https://devopedia.org/chomsky-hierarchy" TargetMode="External"/><Relationship Id="rId5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ocs.python.org/3/reference/grammar.html" TargetMode="External"/><Relationship Id="rId4" Type="http://schemas.openxmlformats.org/officeDocument/2006/relationships/hyperlink" Target="https://docs.python.org/3/reference/grammar.html" TargetMode="External"/><Relationship Id="rId5" Type="http://schemas.openxmlformats.org/officeDocument/2006/relationships/hyperlink" Target="https://yaml.org/spec/1.2.2/" TargetMode="External"/><Relationship Id="rId6" Type="http://schemas.openxmlformats.org/officeDocument/2006/relationships/hyperlink" Target="https://github.com/JetBrains/Grammar-Kit/blob/master/testData/livePreview/Json.bnf" TargetMode="External"/><Relationship Id="rId7" Type="http://schemas.openxmlformats.org/officeDocument/2006/relationships/hyperlink" Target="https://www.json.org/json-en.html" TargetMode="External"/><Relationship Id="rId8" Type="http://schemas.openxmlformats.org/officeDocument/2006/relationships/hyperlink" Target="https://github.com/mingodad/plgh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hyperlink" Target="https://www.geeksforgeeks.org/compiler-design/types-of-parsers-in-compiler-design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hyperlink" Target="https://www.slideserve.com/hera/abstract-syntax" TargetMode="External"/><Relationship Id="rId5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hyperlink" Target="https://datafireball.com/2021/06/19/python-cst-and-ast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jpg"/><Relationship Id="rId4" Type="http://schemas.openxmlformats.org/officeDocument/2006/relationships/hyperlink" Target="https://www.ictworks.org/2015/07/10/stop-reinventing-the-flat-tire-with-custom-software-development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en.cppreference.com/w/cpp/language/overload_resolution.html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llvm.org/doxygen/classllvm_1_1ScopedHashTable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Relationship Id="rId4" Type="http://schemas.openxmlformats.org/officeDocument/2006/relationships/hyperlink" Target="https://www.enjoyalgorithms.com/blog/inheritance-in-java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Relationship Id="rId4" Type="http://schemas.openxmlformats.org/officeDocument/2006/relationships/hyperlink" Target="https://www.enjoyalgorithms.com/blog/inheritance-in-java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5" Type="http://schemas.openxmlformats.org/officeDocument/2006/relationships/hyperlink" Target="https://godbolt.org/z/rWhqnzhT7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hyperlink" Target="https://godbolt.org/z/5nzzbE15T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hyperlink" Target="https://godbolt.org/z/7bPxao3Pz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github.com/llvm/llvm-project/blob/main/clang/include/clang/Basic/TokenKinds.def" TargetMode="External"/><Relationship Id="rId4" Type="http://schemas.openxmlformats.org/officeDocument/2006/relationships/hyperlink" Target="https://github.com/llvm/llvm-project/blob/main/clang/include/clang/Parse/Parser.h" TargetMode="External"/><Relationship Id="rId5" Type="http://schemas.openxmlformats.org/officeDocument/2006/relationships/image" Target="../media/image1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1.png"/><Relationship Id="rId4" Type="http://schemas.openxmlformats.org/officeDocument/2006/relationships/hyperlink" Target="https://llvm.org/devmtg/2019-10/slides/ClangTutorial-Stulova-vanHaastregt.pdf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godbolt.org/z/6Wq38MbPj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llvm.org/docs/TableGen/ProgRef.html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github.com/NN-complr-tech/compiler-course-2026" TargetMode="External"/><Relationship Id="rId4" Type="http://schemas.openxmlformats.org/officeDocument/2006/relationships/hyperlink" Target="https://llvm.org/docs/CMake.html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forms.gle/sA5VYne7p9UyHdbH9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25.png"/><Relationship Id="rId6" Type="http://schemas.openxmlformats.org/officeDocument/2006/relationships/image" Target="../media/image2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forms.gle/LtXauXwLTZP6DM3K9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2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www.youtube.com/watch?v=5kkMpJpIGYU" TargetMode="External"/><Relationship Id="rId4" Type="http://schemas.openxmlformats.org/officeDocument/2006/relationships/hyperlink" Target="https://www.youtube.com/watch?v=LJh5QCV4wDg" TargetMode="External"/><Relationship Id="rId5" Type="http://schemas.openxmlformats.org/officeDocument/2006/relationships/hyperlink" Target="https://clang.llvm.org/hacking.html" TargetMode="External"/><Relationship Id="rId6" Type="http://schemas.openxmlformats.org/officeDocument/2006/relationships/hyperlink" Target="https://www.youtube.com/watch?v=45gmF77JFBY" TargetMode="External"/><Relationship Id="rId7" Type="http://schemas.openxmlformats.org/officeDocument/2006/relationships/hyperlink" Target="https://www.youtube.com/watch?v=VqCkCDFLSsc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Calibri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263" name="Google Shape;263;p1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Compiler frontend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Previously…</a:t>
            </a:r>
            <a:endParaRPr/>
          </a:p>
        </p:txBody>
      </p:sp>
      <p:sp>
        <p:nvSpPr>
          <p:cNvPr id="269" name="Google Shape;269;p2"/>
          <p:cNvSpPr/>
          <p:nvPr/>
        </p:nvSpPr>
        <p:spPr>
          <a:xfrm>
            <a:off x="855405" y="1544658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2"/>
          <p:cNvSpPr/>
          <p:nvPr/>
        </p:nvSpPr>
        <p:spPr>
          <a:xfrm>
            <a:off x="855404" y="2098214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2"/>
          <p:cNvSpPr/>
          <p:nvPr/>
        </p:nvSpPr>
        <p:spPr>
          <a:xfrm>
            <a:off x="855403" y="2651770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p2"/>
          <p:cNvSpPr/>
          <p:nvPr/>
        </p:nvSpPr>
        <p:spPr>
          <a:xfrm>
            <a:off x="855405" y="3213202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p2"/>
          <p:cNvSpPr/>
          <p:nvPr/>
        </p:nvSpPr>
        <p:spPr>
          <a:xfrm>
            <a:off x="855402" y="3774634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p2"/>
          <p:cNvSpPr/>
          <p:nvPr/>
        </p:nvSpPr>
        <p:spPr>
          <a:xfrm>
            <a:off x="855401" y="4382232"/>
            <a:ext cx="2861187" cy="379591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2"/>
          <p:cNvSpPr/>
          <p:nvPr/>
        </p:nvSpPr>
        <p:spPr>
          <a:xfrm>
            <a:off x="855400" y="5505072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855411" y="4897503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7" name="Google Shape;277;p2"/>
          <p:cNvSpPr/>
          <p:nvPr/>
        </p:nvSpPr>
        <p:spPr>
          <a:xfrm>
            <a:off x="6707568" y="2474368"/>
            <a:ext cx="1828800" cy="595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278" name="Google Shape;278;p2"/>
          <p:cNvSpPr/>
          <p:nvPr/>
        </p:nvSpPr>
        <p:spPr>
          <a:xfrm>
            <a:off x="6478475" y="4241871"/>
            <a:ext cx="2286983" cy="595035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/>
          </a:p>
        </p:txBody>
      </p:sp>
      <p:sp>
        <p:nvSpPr>
          <p:cNvPr id="279" name="Google Shape;279;p2"/>
          <p:cNvSpPr/>
          <p:nvPr/>
        </p:nvSpPr>
        <p:spPr>
          <a:xfrm>
            <a:off x="6478476" y="5064028"/>
            <a:ext cx="2286983" cy="59503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ac018967a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85" name="Google Shape;285;g3aac018967a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Overview compiler frontend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Lexer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Syntax &amp; semantic analyses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Overview clang (C/C++)</a:t>
            </a:r>
            <a:r>
              <a:rPr lang="en-US"/>
              <a:t> frontend as an example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6971b05c12_0_4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Preprocessor</a:t>
            </a:r>
            <a:endParaRPr/>
          </a:p>
        </p:txBody>
      </p:sp>
      <p:sp>
        <p:nvSpPr>
          <p:cNvPr id="291" name="Google Shape;291;g26971b05c12_0_41"/>
          <p:cNvSpPr/>
          <p:nvPr/>
        </p:nvSpPr>
        <p:spPr>
          <a:xfrm>
            <a:off x="855405" y="1544658"/>
            <a:ext cx="2861100" cy="471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2" name="Google Shape;292;g26971b05c12_0_41"/>
          <p:cNvSpPr/>
          <p:nvPr/>
        </p:nvSpPr>
        <p:spPr>
          <a:xfrm>
            <a:off x="855404" y="2098214"/>
            <a:ext cx="2861100" cy="47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g26971b05c12_0_41"/>
          <p:cNvSpPr/>
          <p:nvPr/>
        </p:nvSpPr>
        <p:spPr>
          <a:xfrm>
            <a:off x="855403" y="2651770"/>
            <a:ext cx="2861100" cy="47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g26971b05c12_0_41"/>
          <p:cNvSpPr/>
          <p:nvPr/>
        </p:nvSpPr>
        <p:spPr>
          <a:xfrm>
            <a:off x="855405" y="3213202"/>
            <a:ext cx="2861100" cy="47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g26971b05c12_0_41"/>
          <p:cNvSpPr/>
          <p:nvPr/>
        </p:nvSpPr>
        <p:spPr>
          <a:xfrm>
            <a:off x="855402" y="3774634"/>
            <a:ext cx="2861100" cy="47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g26971b05c12_0_41"/>
          <p:cNvSpPr/>
          <p:nvPr/>
        </p:nvSpPr>
        <p:spPr>
          <a:xfrm>
            <a:off x="855401" y="4382232"/>
            <a:ext cx="2861100" cy="3795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7" name="Google Shape;297;g26971b05c12_0_41"/>
          <p:cNvSpPr/>
          <p:nvPr/>
        </p:nvSpPr>
        <p:spPr>
          <a:xfrm>
            <a:off x="6707568" y="2474368"/>
            <a:ext cx="1828800" cy="5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298" name="Google Shape;298;g26971b05c12_0_41"/>
          <p:cNvSpPr/>
          <p:nvPr/>
        </p:nvSpPr>
        <p:spPr>
          <a:xfrm>
            <a:off x="6478475" y="4241871"/>
            <a:ext cx="2286900" cy="5949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/>
          </a:p>
        </p:txBody>
      </p:sp>
      <p:sp>
        <p:nvSpPr>
          <p:cNvPr id="299" name="Google Shape;299;g26971b05c12_0_41"/>
          <p:cNvSpPr/>
          <p:nvPr/>
        </p:nvSpPr>
        <p:spPr>
          <a:xfrm>
            <a:off x="6478476" y="5064028"/>
            <a:ext cx="2286900" cy="594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  <p:sp>
        <p:nvSpPr>
          <p:cNvPr id="300" name="Google Shape;300;g26971b05c12_0_41"/>
          <p:cNvSpPr/>
          <p:nvPr/>
        </p:nvSpPr>
        <p:spPr>
          <a:xfrm>
            <a:off x="855400" y="5505072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g26971b05c12_0_41"/>
          <p:cNvSpPr/>
          <p:nvPr/>
        </p:nvSpPr>
        <p:spPr>
          <a:xfrm>
            <a:off x="855411" y="4897503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6971b05c12_0_6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Preprocessor</a:t>
            </a:r>
            <a:endParaRPr/>
          </a:p>
        </p:txBody>
      </p:sp>
      <p:sp>
        <p:nvSpPr>
          <p:cNvPr id="307" name="Google Shape;307;g26971b05c12_0_66"/>
          <p:cNvSpPr txBox="1"/>
          <p:nvPr>
            <p:ph idx="1" type="body"/>
          </p:nvPr>
        </p:nvSpPr>
        <p:spPr>
          <a:xfrm>
            <a:off x="571375" y="1426225"/>
            <a:ext cx="11010900" cy="543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preprocessor is a tool that processes your source code before compilation. It handles directives for preprocessing, such as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/>
              <a:t>,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-US"/>
              <a:t>, and conditional compilation.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Key Features:</a:t>
            </a:r>
            <a:endParaRPr/>
          </a:p>
          <a:p>
            <a:pPr indent="-309879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58049"/>
              <a:buChar char="•"/>
            </a:pPr>
            <a:r>
              <a:rPr lang="en-US" sz="2383"/>
              <a:t>File Inclusion </a:t>
            </a:r>
            <a:r>
              <a:rPr lang="en-US" sz="2383"/>
              <a:t>(</a:t>
            </a:r>
            <a:r>
              <a:rPr lang="en-US" sz="2383"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 sz="2383"/>
              <a:t>): Incorporates the contents of a file into the source code, typically used for header files.</a:t>
            </a:r>
            <a:endParaRPr sz="2383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8049"/>
              <a:buChar char="•"/>
            </a:pPr>
            <a:r>
              <a:rPr lang="en-US" sz="2383"/>
              <a:t>Macro Definition (</a:t>
            </a:r>
            <a:r>
              <a:rPr lang="en-US" sz="2383"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-US" sz="2383"/>
              <a:t>): Defines macros, which are snippets of code that are given a name. Whenever the name is used, it is replaced by the content of the macro.</a:t>
            </a:r>
            <a:endParaRPr sz="2383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8049"/>
              <a:buChar char="•"/>
            </a:pPr>
            <a:r>
              <a:rPr lang="en-US" sz="2383"/>
              <a:t>Conditional Compilation: Allows compiling code selectively based on conditions evaluated by the preprocessor (</a:t>
            </a:r>
            <a:r>
              <a:rPr lang="en-US" sz="2383">
                <a:latin typeface="Consolas"/>
                <a:ea typeface="Consolas"/>
                <a:cs typeface="Consolas"/>
                <a:sym typeface="Consolas"/>
              </a:rPr>
              <a:t>#ifdef</a:t>
            </a:r>
            <a:r>
              <a:rPr lang="en-US" sz="2383"/>
              <a:t>, </a:t>
            </a:r>
            <a:r>
              <a:rPr lang="en-US" sz="2383">
                <a:latin typeface="Consolas"/>
                <a:ea typeface="Consolas"/>
                <a:cs typeface="Consolas"/>
                <a:sym typeface="Consolas"/>
              </a:rPr>
              <a:t>#ifndef</a:t>
            </a:r>
            <a:r>
              <a:rPr lang="en-US" sz="2383"/>
              <a:t>, </a:t>
            </a:r>
            <a:r>
              <a:rPr lang="en-US" sz="2383">
                <a:latin typeface="Consolas"/>
                <a:ea typeface="Consolas"/>
                <a:cs typeface="Consolas"/>
                <a:sym typeface="Consolas"/>
              </a:rPr>
              <a:t>#if</a:t>
            </a:r>
            <a:r>
              <a:rPr lang="en-US" sz="2383"/>
              <a:t>, </a:t>
            </a:r>
            <a:r>
              <a:rPr lang="en-US" sz="2383">
                <a:latin typeface="Consolas"/>
                <a:ea typeface="Consolas"/>
                <a:cs typeface="Consolas"/>
                <a:sym typeface="Consolas"/>
              </a:rPr>
              <a:t>#elif</a:t>
            </a:r>
            <a:r>
              <a:rPr lang="en-US" sz="2383"/>
              <a:t>, </a:t>
            </a:r>
            <a:r>
              <a:rPr lang="en-US" sz="2383">
                <a:latin typeface="Consolas"/>
                <a:ea typeface="Consolas"/>
                <a:cs typeface="Consolas"/>
                <a:sym typeface="Consolas"/>
              </a:rPr>
              <a:t>#else</a:t>
            </a:r>
            <a:r>
              <a:rPr lang="en-US" sz="2383"/>
              <a:t>, </a:t>
            </a:r>
            <a:r>
              <a:rPr lang="en-US" sz="2383">
                <a:latin typeface="Consolas"/>
                <a:ea typeface="Consolas"/>
                <a:cs typeface="Consolas"/>
                <a:sym typeface="Consolas"/>
              </a:rPr>
              <a:t>#endif</a:t>
            </a:r>
            <a:r>
              <a:rPr lang="en-US" sz="2383"/>
              <a:t>).</a:t>
            </a:r>
            <a:endParaRPr sz="2383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8049"/>
              <a:buChar char="•"/>
            </a:pPr>
            <a:r>
              <a:rPr lang="en-US" sz="2383"/>
              <a:t>Error Directive (</a:t>
            </a:r>
            <a:r>
              <a:rPr lang="en-US" sz="2383">
                <a:latin typeface="Consolas"/>
                <a:ea typeface="Consolas"/>
                <a:cs typeface="Consolas"/>
                <a:sym typeface="Consolas"/>
              </a:rPr>
              <a:t>#error</a:t>
            </a:r>
            <a:r>
              <a:rPr lang="en-US" sz="2383"/>
              <a:t>): Generates an error from a specified location in your code, useful for flagging incorrect conditions during preprocessing.</a:t>
            </a:r>
            <a:endParaRPr sz="2383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8049"/>
              <a:buChar char="•"/>
            </a:pPr>
            <a:r>
              <a:rPr lang="en-US" sz="2383"/>
              <a:t>Pragma directives (</a:t>
            </a:r>
            <a:r>
              <a:rPr lang="en-US" sz="2383">
                <a:latin typeface="Consolas"/>
                <a:ea typeface="Consolas"/>
                <a:cs typeface="Consolas"/>
                <a:sym typeface="Consolas"/>
              </a:rPr>
              <a:t>#pragma</a:t>
            </a:r>
            <a:r>
              <a:rPr lang="en-US" sz="2383"/>
              <a:t>): Issues special commands to the compiler, such as optimization levels or code layout suggestions.</a:t>
            </a:r>
            <a:endParaRPr sz="2383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6971b05c12_0_7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Preprocessor example</a:t>
            </a:r>
            <a:endParaRPr/>
          </a:p>
        </p:txBody>
      </p:sp>
      <p:pic>
        <p:nvPicPr>
          <p:cNvPr id="313" name="Google Shape;313;g26971b05c12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581" y="3227244"/>
            <a:ext cx="4225776" cy="2549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26971b05c12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9521" y="3880682"/>
            <a:ext cx="2459457" cy="1242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26971b05c12_0_73"/>
          <p:cNvSpPr txBox="1"/>
          <p:nvPr/>
        </p:nvSpPr>
        <p:spPr>
          <a:xfrm>
            <a:off x="2756025" y="1810600"/>
            <a:ext cx="7473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C/C++ source code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put: Preprocessed C/C++ source code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6" name="Google Shape;316;g26971b05c12_0_73"/>
          <p:cNvGrpSpPr/>
          <p:nvPr/>
        </p:nvGrpSpPr>
        <p:grpSpPr>
          <a:xfrm>
            <a:off x="505000" y="6400788"/>
            <a:ext cx="5188500" cy="445275"/>
            <a:chOff x="289925" y="5611838"/>
            <a:chExt cx="5188500" cy="445275"/>
          </a:xfrm>
        </p:grpSpPr>
        <p:sp>
          <p:nvSpPr>
            <p:cNvPr id="317" name="Google Shape;317;g26971b05c12_0_73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</a:endParaRPr>
            </a:p>
          </p:txBody>
        </p:sp>
        <p:pic>
          <p:nvPicPr>
            <p:cNvPr id="318" name="Google Shape;318;g26971b05c12_0_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g26971b05c12_0_73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https://godbolt.org/z/zaacW8oGb</a:t>
              </a:r>
              <a:r>
                <a:rPr lang="en-US" sz="2400">
                  <a:solidFill>
                    <a:schemeClr val="dk1"/>
                  </a:solidFill>
                </a:rPr>
                <a:t> </a:t>
              </a:r>
              <a:endParaRPr sz="24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6971b05c12_0_7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preprocessor is needed?</a:t>
            </a:r>
            <a:endParaRPr/>
          </a:p>
        </p:txBody>
      </p:sp>
      <p:sp>
        <p:nvSpPr>
          <p:cNvPr id="325" name="Google Shape;325;g26971b05c12_0_79"/>
          <p:cNvSpPr txBox="1"/>
          <p:nvPr>
            <p:ph idx="1" type="body"/>
          </p:nvPr>
        </p:nvSpPr>
        <p:spPr>
          <a:xfrm>
            <a:off x="571375" y="1673450"/>
            <a:ext cx="11010900" cy="50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Importance: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Simplifies code by allowing file inclusion and macro expansions.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Enables platform-specific compilation through conditional directives.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Facilitates code maintenance and readability with organized, reusable code blocks; enables static polymorphism and other aspects of meta-programming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Use cases: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Defining compile-time constants.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Conditional compilation for cross-platform support.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Simplifying complex expressions or code snippets for readability and reusability.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Lexical analysis</a:t>
            </a:r>
            <a:endParaRPr/>
          </a:p>
        </p:txBody>
      </p:sp>
      <p:sp>
        <p:nvSpPr>
          <p:cNvPr id="331" name="Google Shape;331;p3"/>
          <p:cNvSpPr/>
          <p:nvPr/>
        </p:nvSpPr>
        <p:spPr>
          <a:xfrm>
            <a:off x="855405" y="1544658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2" name="Google Shape;332;p3"/>
          <p:cNvSpPr/>
          <p:nvPr/>
        </p:nvSpPr>
        <p:spPr>
          <a:xfrm>
            <a:off x="855404" y="2098214"/>
            <a:ext cx="2861187" cy="4719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3" name="Google Shape;333;p3"/>
          <p:cNvSpPr/>
          <p:nvPr/>
        </p:nvSpPr>
        <p:spPr>
          <a:xfrm>
            <a:off x="855403" y="2651770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4" name="Google Shape;334;p3"/>
          <p:cNvSpPr/>
          <p:nvPr/>
        </p:nvSpPr>
        <p:spPr>
          <a:xfrm>
            <a:off x="855405" y="3213202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5" name="Google Shape;335;p3"/>
          <p:cNvSpPr/>
          <p:nvPr/>
        </p:nvSpPr>
        <p:spPr>
          <a:xfrm>
            <a:off x="855402" y="3774634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6" name="Google Shape;336;p3"/>
          <p:cNvSpPr/>
          <p:nvPr/>
        </p:nvSpPr>
        <p:spPr>
          <a:xfrm>
            <a:off x="855401" y="4382232"/>
            <a:ext cx="2861187" cy="379591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7" name="Google Shape;337;p3"/>
          <p:cNvSpPr/>
          <p:nvPr/>
        </p:nvSpPr>
        <p:spPr>
          <a:xfrm>
            <a:off x="6707568" y="2474368"/>
            <a:ext cx="1828800" cy="595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338" name="Google Shape;338;p3"/>
          <p:cNvSpPr/>
          <p:nvPr/>
        </p:nvSpPr>
        <p:spPr>
          <a:xfrm>
            <a:off x="6478475" y="4241871"/>
            <a:ext cx="2286983" cy="595035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/>
          </a:p>
        </p:txBody>
      </p:sp>
      <p:sp>
        <p:nvSpPr>
          <p:cNvPr id="339" name="Google Shape;339;p3"/>
          <p:cNvSpPr/>
          <p:nvPr/>
        </p:nvSpPr>
        <p:spPr>
          <a:xfrm>
            <a:off x="6478476" y="5064028"/>
            <a:ext cx="2286983" cy="59503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  <p:sp>
        <p:nvSpPr>
          <p:cNvPr id="340" name="Google Shape;340;p3"/>
          <p:cNvSpPr/>
          <p:nvPr/>
        </p:nvSpPr>
        <p:spPr>
          <a:xfrm>
            <a:off x="855400" y="5505072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1" name="Google Shape;341;p3"/>
          <p:cNvSpPr/>
          <p:nvPr/>
        </p:nvSpPr>
        <p:spPr>
          <a:xfrm>
            <a:off x="855411" y="4897503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Goals of lexical analysis</a:t>
            </a:r>
            <a:endParaRPr/>
          </a:p>
        </p:txBody>
      </p:sp>
      <p:sp>
        <p:nvSpPr>
          <p:cNvPr id="347" name="Google Shape;347;p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Convert physical representation to </a:t>
            </a:r>
            <a:r>
              <a:rPr lang="en-US"/>
              <a:t>machine-readable</a:t>
            </a:r>
            <a:r>
              <a:rPr lang="en-US"/>
              <a:t> sequence of </a:t>
            </a:r>
            <a:r>
              <a:rPr b="1" lang="en-US"/>
              <a:t>tokens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Tokens are the smallest units in the source code, such as keywords, identifiers, literals, operators, and punctuation symbols (like commas and semicolons).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Associate each token with a </a:t>
            </a:r>
            <a:r>
              <a:rPr b="1" lang="en-US"/>
              <a:t>lexeme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E.g., 42 is an integer literal (</a:t>
            </a:r>
            <a:r>
              <a:rPr b="1" lang="en-US"/>
              <a:t>token</a:t>
            </a:r>
            <a:r>
              <a:rPr lang="en-US"/>
              <a:t>) with the value of 42 (</a:t>
            </a:r>
            <a:r>
              <a:rPr b="1" lang="en-US"/>
              <a:t>lexeme</a:t>
            </a:r>
            <a:r>
              <a:rPr lang="en-US"/>
              <a:t>)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essence, a lexeme is the textual string in the source code, while a token is a structured object that represents a categorized lexeme along with its classification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Tokens may have extra attributes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result will be then used to build AST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"/>
          <p:cNvSpPr/>
          <p:nvPr/>
        </p:nvSpPr>
        <p:spPr>
          <a:xfrm>
            <a:off x="9882976" y="5181558"/>
            <a:ext cx="261600" cy="61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3" name="Google Shape;353;p5"/>
          <p:cNvSpPr/>
          <p:nvPr/>
        </p:nvSpPr>
        <p:spPr>
          <a:xfrm>
            <a:off x="9361249" y="5165775"/>
            <a:ext cx="474600" cy="61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p5"/>
          <p:cNvSpPr/>
          <p:nvPr/>
        </p:nvSpPr>
        <p:spPr>
          <a:xfrm>
            <a:off x="9052526" y="5177608"/>
            <a:ext cx="261600" cy="61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5"/>
          <p:cNvSpPr/>
          <p:nvPr/>
        </p:nvSpPr>
        <p:spPr>
          <a:xfrm>
            <a:off x="8583905" y="5181538"/>
            <a:ext cx="261600" cy="61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p5"/>
          <p:cNvSpPr/>
          <p:nvPr/>
        </p:nvSpPr>
        <p:spPr>
          <a:xfrm>
            <a:off x="7927734" y="5181608"/>
            <a:ext cx="603703" cy="61155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5"/>
          <p:cNvSpPr/>
          <p:nvPr/>
        </p:nvSpPr>
        <p:spPr>
          <a:xfrm>
            <a:off x="7538555" y="5177675"/>
            <a:ext cx="261542" cy="61155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8" name="Google Shape;358;p5"/>
          <p:cNvSpPr/>
          <p:nvPr/>
        </p:nvSpPr>
        <p:spPr>
          <a:xfrm>
            <a:off x="6972049" y="5181600"/>
            <a:ext cx="405000" cy="61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9" name="Google Shape;359;p5"/>
          <p:cNvSpPr/>
          <p:nvPr/>
        </p:nvSpPr>
        <p:spPr>
          <a:xfrm>
            <a:off x="6576075" y="5181550"/>
            <a:ext cx="261600" cy="611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5"/>
          <p:cNvSpPr/>
          <p:nvPr/>
        </p:nvSpPr>
        <p:spPr>
          <a:xfrm>
            <a:off x="6178600" y="5181600"/>
            <a:ext cx="328500" cy="61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1" name="Google Shape;361;p5"/>
          <p:cNvSpPr/>
          <p:nvPr/>
        </p:nvSpPr>
        <p:spPr>
          <a:xfrm>
            <a:off x="5648641" y="5181608"/>
            <a:ext cx="379515" cy="61155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5"/>
          <p:cNvSpPr/>
          <p:nvPr/>
        </p:nvSpPr>
        <p:spPr>
          <a:xfrm>
            <a:off x="5052808" y="5181608"/>
            <a:ext cx="539780" cy="61155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3" name="Google Shape;363;p5"/>
          <p:cNvSpPr/>
          <p:nvPr/>
        </p:nvSpPr>
        <p:spPr>
          <a:xfrm>
            <a:off x="4290797" y="5181608"/>
            <a:ext cx="705957" cy="61155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p5"/>
          <p:cNvSpPr/>
          <p:nvPr/>
        </p:nvSpPr>
        <p:spPr>
          <a:xfrm>
            <a:off x="4043022" y="5177675"/>
            <a:ext cx="212377" cy="61155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p5"/>
          <p:cNvSpPr/>
          <p:nvPr/>
        </p:nvSpPr>
        <p:spPr>
          <a:xfrm>
            <a:off x="2902483" y="5181608"/>
            <a:ext cx="879003" cy="61155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Basics</a:t>
            </a:r>
            <a:endParaRPr/>
          </a:p>
        </p:txBody>
      </p:sp>
      <p:sp>
        <p:nvSpPr>
          <p:cNvPr id="367" name="Google Shape;367;p5"/>
          <p:cNvSpPr txBox="1"/>
          <p:nvPr>
            <p:ph idx="1" type="body"/>
          </p:nvPr>
        </p:nvSpPr>
        <p:spPr>
          <a:xfrm>
            <a:off x="2958525" y="5181724"/>
            <a:ext cx="7370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for (int i = 0; i &lt; 42; i++)</a:t>
            </a:r>
            <a:endParaRPr/>
          </a:p>
        </p:txBody>
      </p:sp>
      <p:sp>
        <p:nvSpPr>
          <p:cNvPr id="368" name="Google Shape;368;p5"/>
          <p:cNvSpPr/>
          <p:nvPr/>
        </p:nvSpPr>
        <p:spPr>
          <a:xfrm>
            <a:off x="89295" y="1895225"/>
            <a:ext cx="5898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9" name="Google Shape;369;p5"/>
          <p:cNvSpPr/>
          <p:nvPr/>
        </p:nvSpPr>
        <p:spPr>
          <a:xfrm>
            <a:off x="734351" y="1894900"/>
            <a:ext cx="7110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L_par</a:t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0" name="Google Shape;370;p5"/>
          <p:cNvSpPr/>
          <p:nvPr/>
        </p:nvSpPr>
        <p:spPr>
          <a:xfrm>
            <a:off x="1500603" y="1895224"/>
            <a:ext cx="10029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type(int)</a:t>
            </a:r>
            <a:endParaRPr/>
          </a:p>
        </p:txBody>
      </p:sp>
      <p:sp>
        <p:nvSpPr>
          <p:cNvPr id="371" name="Google Shape;371;p5"/>
          <p:cNvSpPr/>
          <p:nvPr/>
        </p:nvSpPr>
        <p:spPr>
          <a:xfrm>
            <a:off x="2538412" y="1895223"/>
            <a:ext cx="10029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ident(i)</a:t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2" name="Google Shape;372;p5"/>
          <p:cNvSpPr/>
          <p:nvPr/>
        </p:nvSpPr>
        <p:spPr>
          <a:xfrm>
            <a:off x="3581082" y="1895225"/>
            <a:ext cx="4050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</a:t>
            </a:r>
            <a:endParaRPr/>
          </a:p>
        </p:txBody>
      </p:sp>
      <p:sp>
        <p:nvSpPr>
          <p:cNvPr id="373" name="Google Shape;373;p5"/>
          <p:cNvSpPr/>
          <p:nvPr/>
        </p:nvSpPr>
        <p:spPr>
          <a:xfrm>
            <a:off x="4018464" y="1895225"/>
            <a:ext cx="8859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lit(0)</a:t>
            </a:r>
            <a:endParaRPr/>
          </a:p>
        </p:txBody>
      </p:sp>
      <p:sp>
        <p:nvSpPr>
          <p:cNvPr id="374" name="Google Shape;374;p5"/>
          <p:cNvSpPr/>
          <p:nvPr/>
        </p:nvSpPr>
        <p:spPr>
          <a:xfrm>
            <a:off x="4966369" y="1895225"/>
            <a:ext cx="9438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semicol</a:t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5" name="Google Shape;375;p5"/>
          <p:cNvSpPr/>
          <p:nvPr/>
        </p:nvSpPr>
        <p:spPr>
          <a:xfrm>
            <a:off x="5977773" y="1895225"/>
            <a:ext cx="10029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ident(i)</a:t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p5"/>
          <p:cNvSpPr/>
          <p:nvPr/>
        </p:nvSpPr>
        <p:spPr>
          <a:xfrm>
            <a:off x="7036005" y="1895225"/>
            <a:ext cx="6036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</a:t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p5"/>
          <p:cNvSpPr/>
          <p:nvPr/>
        </p:nvSpPr>
        <p:spPr>
          <a:xfrm>
            <a:off x="7668034" y="1895225"/>
            <a:ext cx="10029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lit(42)</a:t>
            </a:r>
            <a:endParaRPr/>
          </a:p>
        </p:txBody>
      </p:sp>
      <p:cxnSp>
        <p:nvCxnSpPr>
          <p:cNvPr id="378" name="Google Shape;378;p5"/>
          <p:cNvCxnSpPr>
            <a:stCxn id="368" idx="2"/>
          </p:cNvCxnSpPr>
          <p:nvPr/>
        </p:nvCxnSpPr>
        <p:spPr>
          <a:xfrm>
            <a:off x="384195" y="2274725"/>
            <a:ext cx="2827500" cy="2900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79" name="Google Shape;379;p5"/>
          <p:cNvCxnSpPr>
            <a:stCxn id="369" idx="2"/>
            <a:endCxn id="364" idx="0"/>
          </p:cNvCxnSpPr>
          <p:nvPr/>
        </p:nvCxnSpPr>
        <p:spPr>
          <a:xfrm>
            <a:off x="1089851" y="2274400"/>
            <a:ext cx="3059400" cy="29034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80" name="Google Shape;380;p5"/>
          <p:cNvCxnSpPr>
            <a:stCxn id="370" idx="2"/>
          </p:cNvCxnSpPr>
          <p:nvPr/>
        </p:nvCxnSpPr>
        <p:spPr>
          <a:xfrm>
            <a:off x="2002053" y="2274724"/>
            <a:ext cx="2598900" cy="2894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81" name="Google Shape;381;p5"/>
          <p:cNvCxnSpPr>
            <a:stCxn id="371" idx="2"/>
            <a:endCxn id="362" idx="0"/>
          </p:cNvCxnSpPr>
          <p:nvPr/>
        </p:nvCxnSpPr>
        <p:spPr>
          <a:xfrm>
            <a:off x="3039862" y="2274723"/>
            <a:ext cx="2282700" cy="2907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82" name="Google Shape;382;p5"/>
          <p:cNvCxnSpPr>
            <a:stCxn id="372" idx="2"/>
          </p:cNvCxnSpPr>
          <p:nvPr/>
        </p:nvCxnSpPr>
        <p:spPr>
          <a:xfrm>
            <a:off x="3783583" y="2274725"/>
            <a:ext cx="2046600" cy="2876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83" name="Google Shape;383;p5"/>
          <p:cNvCxnSpPr>
            <a:stCxn id="373" idx="2"/>
          </p:cNvCxnSpPr>
          <p:nvPr/>
        </p:nvCxnSpPr>
        <p:spPr>
          <a:xfrm>
            <a:off x="4461414" y="2274725"/>
            <a:ext cx="1867500" cy="2900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84" name="Google Shape;384;p5"/>
          <p:cNvCxnSpPr>
            <a:stCxn id="374" idx="2"/>
            <a:endCxn id="359" idx="0"/>
          </p:cNvCxnSpPr>
          <p:nvPr/>
        </p:nvCxnSpPr>
        <p:spPr>
          <a:xfrm>
            <a:off x="5438269" y="2274725"/>
            <a:ext cx="1268700" cy="2906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85" name="Google Shape;385;p5"/>
          <p:cNvCxnSpPr>
            <a:stCxn id="375" idx="2"/>
          </p:cNvCxnSpPr>
          <p:nvPr/>
        </p:nvCxnSpPr>
        <p:spPr>
          <a:xfrm>
            <a:off x="6479223" y="2274725"/>
            <a:ext cx="627600" cy="2865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86" name="Google Shape;386;p5"/>
          <p:cNvCxnSpPr>
            <a:stCxn id="376" idx="2"/>
            <a:endCxn id="357" idx="0"/>
          </p:cNvCxnSpPr>
          <p:nvPr/>
        </p:nvCxnSpPr>
        <p:spPr>
          <a:xfrm>
            <a:off x="7337805" y="2274725"/>
            <a:ext cx="331500" cy="2903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87" name="Google Shape;387;p5"/>
          <p:cNvCxnSpPr>
            <a:stCxn id="377" idx="2"/>
            <a:endCxn id="356" idx="0"/>
          </p:cNvCxnSpPr>
          <p:nvPr/>
        </p:nvCxnSpPr>
        <p:spPr>
          <a:xfrm>
            <a:off x="8169484" y="2274725"/>
            <a:ext cx="60000" cy="2907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88" name="Google Shape;388;p5"/>
          <p:cNvSpPr/>
          <p:nvPr/>
        </p:nvSpPr>
        <p:spPr>
          <a:xfrm>
            <a:off x="8707859" y="1895225"/>
            <a:ext cx="10029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lang="en-US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semicol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9" name="Google Shape;389;p5"/>
          <p:cNvCxnSpPr>
            <a:stCxn id="388" idx="2"/>
          </p:cNvCxnSpPr>
          <p:nvPr/>
        </p:nvCxnSpPr>
        <p:spPr>
          <a:xfrm flipH="1">
            <a:off x="8733809" y="2274725"/>
            <a:ext cx="475500" cy="2859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90" name="Google Shape;390;p5"/>
          <p:cNvSpPr/>
          <p:nvPr/>
        </p:nvSpPr>
        <p:spPr>
          <a:xfrm>
            <a:off x="9747684" y="1894900"/>
            <a:ext cx="10029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lang="en-US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ident(i)</a:t>
            </a:r>
            <a:endParaRPr/>
          </a:p>
        </p:txBody>
      </p:sp>
      <p:cxnSp>
        <p:nvCxnSpPr>
          <p:cNvPr id="391" name="Google Shape;391;p5"/>
          <p:cNvCxnSpPr>
            <a:stCxn id="390" idx="2"/>
          </p:cNvCxnSpPr>
          <p:nvPr/>
        </p:nvCxnSpPr>
        <p:spPr>
          <a:xfrm flipH="1">
            <a:off x="9173034" y="2274400"/>
            <a:ext cx="1076100" cy="2906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92" name="Google Shape;392;p5"/>
          <p:cNvSpPr/>
          <p:nvPr/>
        </p:nvSpPr>
        <p:spPr>
          <a:xfrm>
            <a:off x="10787500" y="1895225"/>
            <a:ext cx="4746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</a:t>
            </a:r>
            <a:endParaRPr/>
          </a:p>
        </p:txBody>
      </p:sp>
      <p:cxnSp>
        <p:nvCxnSpPr>
          <p:cNvPr id="393" name="Google Shape;393;p5"/>
          <p:cNvCxnSpPr>
            <a:stCxn id="392" idx="2"/>
          </p:cNvCxnSpPr>
          <p:nvPr/>
        </p:nvCxnSpPr>
        <p:spPr>
          <a:xfrm flipH="1">
            <a:off x="9588700" y="2274725"/>
            <a:ext cx="1436100" cy="2853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94" name="Google Shape;394;p5"/>
          <p:cNvSpPr/>
          <p:nvPr/>
        </p:nvSpPr>
        <p:spPr>
          <a:xfrm>
            <a:off x="11299025" y="1895225"/>
            <a:ext cx="7632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_par</a:t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95" name="Google Shape;395;p5"/>
          <p:cNvCxnSpPr>
            <a:stCxn id="394" idx="2"/>
          </p:cNvCxnSpPr>
          <p:nvPr/>
        </p:nvCxnSpPr>
        <p:spPr>
          <a:xfrm flipH="1">
            <a:off x="10022225" y="2274725"/>
            <a:ext cx="1658400" cy="2888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861c19ea1_1_40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c861c19ea1_1_408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2" name="Google Shape;402;g3c861c19ea1_1_408"/>
          <p:cNvGrpSpPr/>
          <p:nvPr/>
        </p:nvGrpSpPr>
        <p:grpSpPr>
          <a:xfrm>
            <a:off x="505000" y="6400788"/>
            <a:ext cx="5188500" cy="445275"/>
            <a:chOff x="289925" y="5611838"/>
            <a:chExt cx="5188500" cy="445275"/>
          </a:xfrm>
        </p:grpSpPr>
        <p:sp>
          <p:nvSpPr>
            <p:cNvPr id="403" name="Google Shape;403;g3c861c19ea1_1_408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</a:endParaRPr>
            </a:p>
          </p:txBody>
        </p:sp>
        <p:pic>
          <p:nvPicPr>
            <p:cNvPr id="404" name="Google Shape;404;g3c861c19ea1_1_4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g3c861c19ea1_1_408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https://godbolt.org/z/fffK9vf8G</a:t>
              </a:r>
              <a:r>
                <a:rPr lang="en-US" sz="2400">
                  <a:solidFill>
                    <a:schemeClr val="dk1"/>
                  </a:solidFill>
                </a:rPr>
                <a:t> </a:t>
              </a:r>
              <a:endParaRPr sz="2400">
                <a:solidFill>
                  <a:schemeClr val="dk1"/>
                </a:solidFill>
              </a:endParaRPr>
            </a:p>
          </p:txBody>
        </p:sp>
      </p:grpSp>
      <p:pic>
        <p:nvPicPr>
          <p:cNvPr id="406" name="Google Shape;406;g3c861c19ea1_1_4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547675"/>
            <a:ext cx="12192000" cy="57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c861c19ea1_1_192"/>
          <p:cNvSpPr txBox="1"/>
          <p:nvPr>
            <p:ph type="title"/>
          </p:nvPr>
        </p:nvSpPr>
        <p:spPr>
          <a:xfrm>
            <a:off x="571373" y="571500"/>
            <a:ext cx="57816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Tokens vs lexems</a:t>
            </a:r>
            <a:endParaRPr/>
          </a:p>
        </p:txBody>
      </p:sp>
      <p:graphicFrame>
        <p:nvGraphicFramePr>
          <p:cNvPr id="412" name="Google Shape;412;g3c861c19ea1_1_192"/>
          <p:cNvGraphicFramePr/>
          <p:nvPr/>
        </p:nvGraphicFramePr>
        <p:xfrm>
          <a:off x="7847025" y="4323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{78F996C5-1326-4335-8891-9B9C0A948D07}</a:tableStyleId>
              </a:tblPr>
              <a:tblGrid>
                <a:gridCol w="444050"/>
                <a:gridCol w="875875"/>
                <a:gridCol w="2616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idx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Lexeme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Token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keyword </a:t>
                      </a: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left paren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type keyword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identifier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assignment operator (eq)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integer literal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semicolon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identifier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less-than operator (less)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integer literal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semicolon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identifier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increment operator (inc)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right paren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13" name="Google Shape;413;g3c861c19ea1_1_192"/>
          <p:cNvSpPr/>
          <p:nvPr/>
        </p:nvSpPr>
        <p:spPr>
          <a:xfrm>
            <a:off x="6211103" y="4408080"/>
            <a:ext cx="1635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g3c861c19ea1_1_192"/>
          <p:cNvSpPr/>
          <p:nvPr/>
        </p:nvSpPr>
        <p:spPr>
          <a:xfrm>
            <a:off x="5884984" y="4398214"/>
            <a:ext cx="2967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g3c861c19ea1_1_192"/>
          <p:cNvSpPr/>
          <p:nvPr/>
        </p:nvSpPr>
        <p:spPr>
          <a:xfrm>
            <a:off x="5692008" y="4405611"/>
            <a:ext cx="1635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g3c861c19ea1_1_192"/>
          <p:cNvSpPr/>
          <p:nvPr/>
        </p:nvSpPr>
        <p:spPr>
          <a:xfrm>
            <a:off x="5399084" y="4408067"/>
            <a:ext cx="1635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7" name="Google Shape;417;g3c861c19ea1_1_192"/>
          <p:cNvSpPr/>
          <p:nvPr/>
        </p:nvSpPr>
        <p:spPr>
          <a:xfrm>
            <a:off x="4988927" y="4408111"/>
            <a:ext cx="3774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8" name="Google Shape;418;g3c861c19ea1_1_192"/>
          <p:cNvSpPr/>
          <p:nvPr/>
        </p:nvSpPr>
        <p:spPr>
          <a:xfrm>
            <a:off x="4745660" y="4405653"/>
            <a:ext cx="1635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9" name="Google Shape;419;g3c861c19ea1_1_192"/>
          <p:cNvSpPr/>
          <p:nvPr/>
        </p:nvSpPr>
        <p:spPr>
          <a:xfrm>
            <a:off x="4391550" y="4408106"/>
            <a:ext cx="2532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0" name="Google Shape;420;g3c861c19ea1_1_192"/>
          <p:cNvSpPr/>
          <p:nvPr/>
        </p:nvSpPr>
        <p:spPr>
          <a:xfrm>
            <a:off x="4144036" y="4408075"/>
            <a:ext cx="163500" cy="3822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1" name="Google Shape;421;g3c861c19ea1_1_192"/>
          <p:cNvSpPr/>
          <p:nvPr/>
        </p:nvSpPr>
        <p:spPr>
          <a:xfrm>
            <a:off x="3895584" y="4408106"/>
            <a:ext cx="2052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2" name="Google Shape;422;g3c861c19ea1_1_192"/>
          <p:cNvSpPr/>
          <p:nvPr/>
        </p:nvSpPr>
        <p:spPr>
          <a:xfrm>
            <a:off x="3564318" y="4408111"/>
            <a:ext cx="2373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g3c861c19ea1_1_192"/>
          <p:cNvSpPr/>
          <p:nvPr/>
        </p:nvSpPr>
        <p:spPr>
          <a:xfrm>
            <a:off x="3191877" y="4408111"/>
            <a:ext cx="3372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4" name="Google Shape;424;g3c861c19ea1_1_192"/>
          <p:cNvSpPr/>
          <p:nvPr/>
        </p:nvSpPr>
        <p:spPr>
          <a:xfrm>
            <a:off x="2715562" y="4408111"/>
            <a:ext cx="4413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5" name="Google Shape;425;g3c861c19ea1_1_192"/>
          <p:cNvSpPr/>
          <p:nvPr/>
        </p:nvSpPr>
        <p:spPr>
          <a:xfrm>
            <a:off x="2560683" y="4405653"/>
            <a:ext cx="1329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6" name="Google Shape;426;g3c861c19ea1_1_192"/>
          <p:cNvSpPr/>
          <p:nvPr/>
        </p:nvSpPr>
        <p:spPr>
          <a:xfrm>
            <a:off x="1847759" y="4408111"/>
            <a:ext cx="549300" cy="382500"/>
          </a:xfrm>
          <a:prstGeom prst="rect">
            <a:avLst/>
          </a:prstGeom>
          <a:solidFill>
            <a:schemeClr val="lt1"/>
          </a:solidFill>
          <a:ln cap="flat" cmpd="sng" w="79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7" name="Google Shape;427;g3c861c19ea1_1_192"/>
          <p:cNvSpPr txBox="1"/>
          <p:nvPr>
            <p:ph idx="1" type="body"/>
          </p:nvPr>
        </p:nvSpPr>
        <p:spPr>
          <a:xfrm>
            <a:off x="1882789" y="4408184"/>
            <a:ext cx="46074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550" lIns="57125" spcFirstLastPara="1" rIns="57125" wrap="square" tIns="28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</a:pPr>
            <a:r>
              <a:rPr lang="en-US" sz="2250">
                <a:latin typeface="Consolas"/>
                <a:ea typeface="Consolas"/>
                <a:cs typeface="Consolas"/>
                <a:sym typeface="Consolas"/>
              </a:rPr>
              <a:t>for (int i = 0; i &lt; 42; i++)</a:t>
            </a:r>
            <a:endParaRPr sz="1750"/>
          </a:p>
        </p:txBody>
      </p:sp>
      <p:sp>
        <p:nvSpPr>
          <p:cNvPr id="428" name="Google Shape;428;g3c861c19ea1_1_192"/>
          <p:cNvSpPr/>
          <p:nvPr/>
        </p:nvSpPr>
        <p:spPr>
          <a:xfrm>
            <a:off x="89300" y="2353878"/>
            <a:ext cx="3687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</a:t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9" name="Google Shape;429;g3c861c19ea1_1_192"/>
          <p:cNvSpPr/>
          <p:nvPr/>
        </p:nvSpPr>
        <p:spPr>
          <a:xfrm>
            <a:off x="492510" y="2353675"/>
            <a:ext cx="4443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L_par</a:t>
            </a:r>
            <a:endParaRPr b="0" i="0" sz="1125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0" name="Google Shape;430;g3c861c19ea1_1_192"/>
          <p:cNvSpPr/>
          <p:nvPr/>
        </p:nvSpPr>
        <p:spPr>
          <a:xfrm>
            <a:off x="971476" y="2353877"/>
            <a:ext cx="6267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type(int)</a:t>
            </a:r>
            <a:endParaRPr sz="875"/>
          </a:p>
        </p:txBody>
      </p:sp>
      <p:sp>
        <p:nvSpPr>
          <p:cNvPr id="431" name="Google Shape;431;g3c861c19ea1_1_192"/>
          <p:cNvSpPr/>
          <p:nvPr/>
        </p:nvSpPr>
        <p:spPr>
          <a:xfrm>
            <a:off x="1620186" y="2353876"/>
            <a:ext cx="6267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ident(i)</a:t>
            </a:r>
            <a:endParaRPr b="0" i="0" sz="1125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2" name="Google Shape;432;g3c861c19ea1_1_192"/>
          <p:cNvSpPr/>
          <p:nvPr/>
        </p:nvSpPr>
        <p:spPr>
          <a:xfrm>
            <a:off x="2271936" y="2353878"/>
            <a:ext cx="2532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</a:t>
            </a:r>
            <a:endParaRPr sz="875"/>
          </a:p>
        </p:txBody>
      </p:sp>
      <p:sp>
        <p:nvSpPr>
          <p:cNvPr id="433" name="Google Shape;433;g3c861c19ea1_1_192"/>
          <p:cNvSpPr/>
          <p:nvPr/>
        </p:nvSpPr>
        <p:spPr>
          <a:xfrm>
            <a:off x="2545333" y="2353878"/>
            <a:ext cx="5538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lit(0)</a:t>
            </a:r>
            <a:endParaRPr sz="875"/>
          </a:p>
        </p:txBody>
      </p:sp>
      <p:sp>
        <p:nvSpPr>
          <p:cNvPr id="434" name="Google Shape;434;g3c861c19ea1_1_192"/>
          <p:cNvSpPr/>
          <p:nvPr/>
        </p:nvSpPr>
        <p:spPr>
          <a:xfrm>
            <a:off x="3137846" y="2353878"/>
            <a:ext cx="5901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semicol</a:t>
            </a:r>
            <a:endParaRPr b="0" i="0" sz="1125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5" name="Google Shape;435;g3c861c19ea1_1_192"/>
          <p:cNvSpPr/>
          <p:nvPr/>
        </p:nvSpPr>
        <p:spPr>
          <a:xfrm>
            <a:off x="3770051" y="2353878"/>
            <a:ext cx="6267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ident(i)</a:t>
            </a:r>
            <a:endParaRPr b="0" i="0" sz="1125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6" name="Google Shape;436;g3c861c19ea1_1_192"/>
          <p:cNvSpPr/>
          <p:nvPr/>
        </p:nvSpPr>
        <p:spPr>
          <a:xfrm>
            <a:off x="4431528" y="2353878"/>
            <a:ext cx="3774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</a:t>
            </a:r>
            <a:endParaRPr b="0" i="0" sz="1125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7" name="Google Shape;437;g3c861c19ea1_1_192"/>
          <p:cNvSpPr/>
          <p:nvPr/>
        </p:nvSpPr>
        <p:spPr>
          <a:xfrm>
            <a:off x="4826594" y="2353878"/>
            <a:ext cx="6267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lit(42)</a:t>
            </a:r>
            <a:endParaRPr sz="875"/>
          </a:p>
        </p:txBody>
      </p:sp>
      <p:cxnSp>
        <p:nvCxnSpPr>
          <p:cNvPr id="438" name="Google Shape;438;g3c861c19ea1_1_192"/>
          <p:cNvCxnSpPr>
            <a:stCxn id="428" idx="2"/>
          </p:cNvCxnSpPr>
          <p:nvPr/>
        </p:nvCxnSpPr>
        <p:spPr>
          <a:xfrm>
            <a:off x="273650" y="2591178"/>
            <a:ext cx="1767300" cy="1813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39" name="Google Shape;439;g3c861c19ea1_1_192"/>
          <p:cNvCxnSpPr>
            <a:stCxn id="429" idx="2"/>
            <a:endCxn id="425" idx="0"/>
          </p:cNvCxnSpPr>
          <p:nvPr/>
        </p:nvCxnSpPr>
        <p:spPr>
          <a:xfrm>
            <a:off x="714660" y="2590975"/>
            <a:ext cx="1912500" cy="18147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40" name="Google Shape;440;g3c861c19ea1_1_192"/>
          <p:cNvCxnSpPr>
            <a:stCxn id="430" idx="2"/>
          </p:cNvCxnSpPr>
          <p:nvPr/>
        </p:nvCxnSpPr>
        <p:spPr>
          <a:xfrm>
            <a:off x="1284826" y="2591177"/>
            <a:ext cx="1624500" cy="18093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41" name="Google Shape;441;g3c861c19ea1_1_192"/>
          <p:cNvCxnSpPr>
            <a:stCxn id="431" idx="2"/>
            <a:endCxn id="423" idx="0"/>
          </p:cNvCxnSpPr>
          <p:nvPr/>
        </p:nvCxnSpPr>
        <p:spPr>
          <a:xfrm>
            <a:off x="1933536" y="2591176"/>
            <a:ext cx="1426800" cy="18168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42" name="Google Shape;442;g3c861c19ea1_1_192"/>
          <p:cNvCxnSpPr>
            <a:stCxn id="432" idx="2"/>
          </p:cNvCxnSpPr>
          <p:nvPr/>
        </p:nvCxnSpPr>
        <p:spPr>
          <a:xfrm>
            <a:off x="2398536" y="2591178"/>
            <a:ext cx="1279200" cy="1798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43" name="Google Shape;443;g3c861c19ea1_1_192"/>
          <p:cNvCxnSpPr>
            <a:stCxn id="433" idx="2"/>
          </p:cNvCxnSpPr>
          <p:nvPr/>
        </p:nvCxnSpPr>
        <p:spPr>
          <a:xfrm>
            <a:off x="2822233" y="2591178"/>
            <a:ext cx="1167300" cy="1813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44" name="Google Shape;444;g3c861c19ea1_1_192"/>
          <p:cNvCxnSpPr>
            <a:stCxn id="434" idx="2"/>
            <a:endCxn id="420" idx="0"/>
          </p:cNvCxnSpPr>
          <p:nvPr/>
        </p:nvCxnSpPr>
        <p:spPr>
          <a:xfrm>
            <a:off x="3432896" y="2591178"/>
            <a:ext cx="792900" cy="18168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45" name="Google Shape;445;g3c861c19ea1_1_192"/>
          <p:cNvCxnSpPr>
            <a:stCxn id="435" idx="2"/>
          </p:cNvCxnSpPr>
          <p:nvPr/>
        </p:nvCxnSpPr>
        <p:spPr>
          <a:xfrm>
            <a:off x="4083401" y="2591178"/>
            <a:ext cx="392400" cy="17907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46" name="Google Shape;446;g3c861c19ea1_1_192"/>
          <p:cNvCxnSpPr>
            <a:stCxn id="436" idx="2"/>
            <a:endCxn id="418" idx="0"/>
          </p:cNvCxnSpPr>
          <p:nvPr/>
        </p:nvCxnSpPr>
        <p:spPr>
          <a:xfrm>
            <a:off x="4620228" y="2591178"/>
            <a:ext cx="207300" cy="1814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47" name="Google Shape;447;g3c861c19ea1_1_192"/>
          <p:cNvCxnSpPr>
            <a:stCxn id="437" idx="2"/>
            <a:endCxn id="417" idx="0"/>
          </p:cNvCxnSpPr>
          <p:nvPr/>
        </p:nvCxnSpPr>
        <p:spPr>
          <a:xfrm>
            <a:off x="5139944" y="2591178"/>
            <a:ext cx="37800" cy="18168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48" name="Google Shape;448;g3c861c19ea1_1_192"/>
          <p:cNvSpPr/>
          <p:nvPr/>
        </p:nvSpPr>
        <p:spPr>
          <a:xfrm>
            <a:off x="5476564" y="2353878"/>
            <a:ext cx="6267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</a:pPr>
            <a:r>
              <a:rPr lang="en-US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semicol</a:t>
            </a:r>
            <a:endParaRPr sz="1125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9" name="Google Shape;449;g3c861c19ea1_1_192"/>
          <p:cNvCxnSpPr>
            <a:stCxn id="448" idx="2"/>
          </p:cNvCxnSpPr>
          <p:nvPr/>
        </p:nvCxnSpPr>
        <p:spPr>
          <a:xfrm flipH="1">
            <a:off x="5492914" y="2591178"/>
            <a:ext cx="297000" cy="17871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50" name="Google Shape;450;g3c861c19ea1_1_192"/>
          <p:cNvSpPr/>
          <p:nvPr/>
        </p:nvSpPr>
        <p:spPr>
          <a:xfrm>
            <a:off x="6126535" y="2353675"/>
            <a:ext cx="6267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</a:pPr>
            <a:r>
              <a:rPr lang="en-US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ident(i)</a:t>
            </a:r>
            <a:endParaRPr sz="875"/>
          </a:p>
        </p:txBody>
      </p:sp>
      <p:cxnSp>
        <p:nvCxnSpPr>
          <p:cNvPr id="451" name="Google Shape;451;g3c861c19ea1_1_192"/>
          <p:cNvCxnSpPr>
            <a:stCxn id="450" idx="2"/>
          </p:cNvCxnSpPr>
          <p:nvPr/>
        </p:nvCxnSpPr>
        <p:spPr>
          <a:xfrm flipH="1">
            <a:off x="5767285" y="2590975"/>
            <a:ext cx="672600" cy="18168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52" name="Google Shape;452;g3c861c19ea1_1_192"/>
          <p:cNvSpPr/>
          <p:nvPr/>
        </p:nvSpPr>
        <p:spPr>
          <a:xfrm>
            <a:off x="6776500" y="2353878"/>
            <a:ext cx="2967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lang="en-US" sz="1125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</a:t>
            </a:r>
            <a:endParaRPr sz="875"/>
          </a:p>
        </p:txBody>
      </p:sp>
      <p:cxnSp>
        <p:nvCxnSpPr>
          <p:cNvPr id="453" name="Google Shape;453;g3c861c19ea1_1_192"/>
          <p:cNvCxnSpPr>
            <a:stCxn id="452" idx="2"/>
          </p:cNvCxnSpPr>
          <p:nvPr/>
        </p:nvCxnSpPr>
        <p:spPr>
          <a:xfrm flipH="1">
            <a:off x="6027250" y="2591178"/>
            <a:ext cx="897600" cy="1783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54" name="Google Shape;454;g3c861c19ea1_1_192"/>
          <p:cNvSpPr/>
          <p:nvPr/>
        </p:nvSpPr>
        <p:spPr>
          <a:xfrm>
            <a:off x="7096242" y="2353878"/>
            <a:ext cx="477000" cy="2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1750" lIns="31750" spcFirstLastPara="1" rIns="31750" wrap="square" tIns="3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Helvetica Neue"/>
              <a:buNone/>
            </a:pPr>
            <a:r>
              <a:rPr lang="en-US" sz="1125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12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_par</a:t>
            </a:r>
            <a:endParaRPr b="0" i="0" sz="1125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55" name="Google Shape;455;g3c861c19ea1_1_192"/>
          <p:cNvCxnSpPr>
            <a:stCxn id="454" idx="2"/>
          </p:cNvCxnSpPr>
          <p:nvPr/>
        </p:nvCxnSpPr>
        <p:spPr>
          <a:xfrm flipH="1">
            <a:off x="6297942" y="2591178"/>
            <a:ext cx="1036800" cy="18057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Choosing the right tokens</a:t>
            </a:r>
            <a:endParaRPr/>
          </a:p>
        </p:txBody>
      </p:sp>
      <p:sp>
        <p:nvSpPr>
          <p:cNvPr id="461" name="Google Shape;461;p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Depends on your language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Typically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Keywords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Literals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Punctuation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Formal languages</a:t>
            </a:r>
            <a:endParaRPr/>
          </a:p>
        </p:txBody>
      </p:sp>
      <p:sp>
        <p:nvSpPr>
          <p:cNvPr id="467" name="Google Shape;467;p7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formal language consists of words whose letters are taken from an alphabet and are well-formed according to a specific set of rules.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Alphabet Σ = {a, b}, Language = Σ* - the set of all words over alphabet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Alphabet Σ = {a}, Language = {a}* = {a</a:t>
            </a:r>
            <a:r>
              <a:rPr baseline="30000" lang="en-US"/>
              <a:t>n</a:t>
            </a:r>
            <a:r>
              <a:rPr lang="en-US"/>
              <a:t>} - </a:t>
            </a:r>
            <a:r>
              <a:rPr lang="en-US"/>
              <a:t>where n ranges over the natural numbers and "a</a:t>
            </a:r>
            <a:r>
              <a:rPr baseline="30000" lang="en-US"/>
              <a:t>n</a:t>
            </a:r>
            <a:r>
              <a:rPr lang="en-US"/>
              <a:t>" means "a" repeated n times (this is the set of words consisting only of the symbol "a");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Regular expressions</a:t>
            </a:r>
            <a:endParaRPr/>
          </a:p>
        </p:txBody>
      </p:sp>
      <p:sp>
        <p:nvSpPr>
          <p:cNvPr id="473" name="Google Shape;473;p8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Regular expressions are a family of descriptions that can be used to capture regular languages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There’s a set of operations on regular expressions (concatenation, alternation, Kleene star: concatenation of zero or more strings from the set)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are multiple standards to describe the syntax of regular expressions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Matching regular expressions</a:t>
            </a:r>
            <a:endParaRPr/>
          </a:p>
        </p:txBody>
      </p:sp>
      <p:sp>
        <p:nvSpPr>
          <p:cNvPr id="479" name="Google Shape;479;p9"/>
          <p:cNvSpPr txBox="1"/>
          <p:nvPr>
            <p:ph idx="1" type="body"/>
          </p:nvPr>
        </p:nvSpPr>
        <p:spPr>
          <a:xfrm>
            <a:off x="571370" y="1673455"/>
            <a:ext cx="11010900" cy="1505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Regular expressions can be implemented as finite-state machines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finite-state machine is an abstract machine that can be in exactly one of a finite number of states</a:t>
            </a:r>
            <a:endParaRPr/>
          </a:p>
        </p:txBody>
      </p:sp>
      <p:pic>
        <p:nvPicPr>
          <p:cNvPr id="480" name="Google Shape;4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561" y="3179429"/>
            <a:ext cx="6680433" cy="273723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9"/>
          <p:cNvSpPr txBox="1"/>
          <p:nvPr/>
        </p:nvSpPr>
        <p:spPr>
          <a:xfrm>
            <a:off x="2544310" y="5988005"/>
            <a:ext cx="7103380" cy="426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https://en.wikipedia.org/wiki/Finite-state_machine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Ambiguity resolution</a:t>
            </a:r>
            <a:endParaRPr/>
          </a:p>
        </p:txBody>
      </p:sp>
      <p:sp>
        <p:nvSpPr>
          <p:cNvPr id="487" name="Google Shape;487;p10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we have words </a:t>
            </a:r>
            <a:r>
              <a:rPr lang="en-U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do</a:t>
            </a:r>
            <a:r>
              <a:rPr lang="en-US"/>
              <a:t> and </a:t>
            </a:r>
            <a:r>
              <a:rPr lang="en-U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/>
              <a:t>. How to assign tokens?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Left-to-right scanning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Maximal match – always match the longest occurrence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Lexical challenges</a:t>
            </a:r>
            <a:endParaRPr/>
          </a:p>
        </p:txBody>
      </p:sp>
      <p:sp>
        <p:nvSpPr>
          <p:cNvPr id="493" name="Google Shape;493;p11"/>
          <p:cNvSpPr txBox="1"/>
          <p:nvPr>
            <p:ph idx="2" type="body"/>
          </p:nvPr>
        </p:nvSpPr>
        <p:spPr>
          <a:xfrm>
            <a:off x="57137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/>
              <a:t>As seen by C++ compiler developers</a:t>
            </a:r>
            <a:endParaRPr/>
          </a:p>
        </p:txBody>
      </p:sp>
      <p:sp>
        <p:nvSpPr>
          <p:cNvPr id="494" name="Google Shape;494;p11"/>
          <p:cNvSpPr txBox="1"/>
          <p:nvPr/>
        </p:nvSpPr>
        <p:spPr>
          <a:xfrm>
            <a:off x="2438400" y="2396000"/>
            <a:ext cx="6753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&lt;vector&gt;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// Am I a template or a right shift operator?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&gt;&gt;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vec2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Syntax analysis</a:t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855405" y="1544658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855404" y="2098214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855403" y="2651770"/>
            <a:ext cx="2861187" cy="4719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855405" y="3213202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855402" y="3774634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855401" y="4336066"/>
            <a:ext cx="2861187" cy="471924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6707568" y="2474368"/>
            <a:ext cx="1828800" cy="595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6478475" y="4241871"/>
            <a:ext cx="2286983" cy="595035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6478476" y="5064028"/>
            <a:ext cx="2286983" cy="59503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855400" y="5505072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855411" y="4897503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Grammars</a:t>
            </a:r>
            <a:endParaRPr/>
          </a:p>
        </p:txBody>
      </p:sp>
      <p:sp>
        <p:nvSpPr>
          <p:cNvPr id="516" name="Google Shape;516;p13"/>
          <p:cNvSpPr txBox="1"/>
          <p:nvPr>
            <p:ph idx="1" type="body"/>
          </p:nvPr>
        </p:nvSpPr>
        <p:spPr>
          <a:xfrm>
            <a:off x="571370" y="1673454"/>
            <a:ext cx="11010900" cy="1942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formal grammar is a set of rules that describe how to form strings from a language’s alphabet that are valid according to the </a:t>
            </a:r>
            <a:r>
              <a:rPr lang="en-US"/>
              <a:t>language</a:t>
            </a:r>
            <a:r>
              <a:rPr lang="en-US"/>
              <a:t> syntax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</p:txBody>
      </p:sp>
      <p:sp>
        <p:nvSpPr>
          <p:cNvPr id="517" name="Google Shape;517;p13"/>
          <p:cNvSpPr txBox="1"/>
          <p:nvPr/>
        </p:nvSpPr>
        <p:spPr>
          <a:xfrm>
            <a:off x="571320" y="3377370"/>
            <a:ext cx="11010900" cy="1292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561" l="-207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The Chomsky hierarchy</a:t>
            </a:r>
            <a:endParaRPr/>
          </a:p>
        </p:txBody>
      </p:sp>
      <p:sp>
        <p:nvSpPr>
          <p:cNvPr id="523" name="Google Shape;523;p14"/>
          <p:cNvSpPr txBox="1"/>
          <p:nvPr>
            <p:ph idx="1" type="body"/>
          </p:nvPr>
        </p:nvSpPr>
        <p:spPr>
          <a:xfrm>
            <a:off x="571375" y="1673450"/>
            <a:ext cx="9381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Recursively enumerable (RE, Type 0)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Recursively enumerable subset in the set of all possible words over the alphabet of the language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Context-sensitive grammars (CSG, Type 1)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Left-hand side (LHS) and right-hand side (RHS) may be surrounded by a context of terminal and nonterminal symbols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Context-free grammars (CFG, Type 2)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LHS of each production rule consists only of </a:t>
            </a:r>
            <a:r>
              <a:rPr lang="en-US"/>
              <a:t>a single nonterminal symbol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Regular grammars (Type 3)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All production rules have at most 1 nonterminal symbol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symbol is always either at the start or at the end of rule’s RHS</a:t>
            </a:r>
            <a:endParaRPr/>
          </a:p>
        </p:txBody>
      </p:sp>
      <p:cxnSp>
        <p:nvCxnSpPr>
          <p:cNvPr id="524" name="Google Shape;524;p14"/>
          <p:cNvCxnSpPr/>
          <p:nvPr/>
        </p:nvCxnSpPr>
        <p:spPr>
          <a:xfrm flipH="1" rot="10800000">
            <a:off x="10327450" y="1673450"/>
            <a:ext cx="30300" cy="40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5" name="Google Shape;525;p14"/>
          <p:cNvCxnSpPr/>
          <p:nvPr/>
        </p:nvCxnSpPr>
        <p:spPr>
          <a:xfrm flipH="1">
            <a:off x="12006600" y="1729675"/>
            <a:ext cx="30300" cy="395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6" name="Google Shape;526;p14"/>
          <p:cNvSpPr txBox="1"/>
          <p:nvPr/>
        </p:nvSpPr>
        <p:spPr>
          <a:xfrm>
            <a:off x="8122375" y="943250"/>
            <a:ext cx="225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Expressiveness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Recognition complexity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 txBox="1"/>
          <p:nvPr/>
        </p:nvSpPr>
        <p:spPr>
          <a:xfrm>
            <a:off x="10418400" y="5699150"/>
            <a:ext cx="1773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Restrictions on Production Rules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Ease of Parsing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Determinism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8227e1633_0_1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The Chomsky hierarchy</a:t>
            </a:r>
            <a:endParaRPr/>
          </a:p>
        </p:txBody>
      </p:sp>
      <p:pic>
        <p:nvPicPr>
          <p:cNvPr id="533" name="Google Shape;533;g3c8227e1633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2310" y="0"/>
            <a:ext cx="666968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g3c8227e1633_0_13"/>
          <p:cNvSpPr txBox="1"/>
          <p:nvPr/>
        </p:nvSpPr>
        <p:spPr>
          <a:xfrm>
            <a:off x="1452450" y="6457800"/>
            <a:ext cx="38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Pics: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https://devopedia.org/chomsky-hierarchy</a:t>
            </a:r>
            <a:r>
              <a:rPr lang="en-US"/>
              <a:t> </a:t>
            </a:r>
            <a:endParaRPr/>
          </a:p>
        </p:txBody>
      </p:sp>
      <p:pic>
        <p:nvPicPr>
          <p:cNvPr id="535" name="Google Shape;535;g3c8227e1633_0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200" y="1903825"/>
            <a:ext cx="5217508" cy="3050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6971b05c12_0_9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The Chomsky hierarchy. Examples</a:t>
            </a:r>
            <a:endParaRPr/>
          </a:p>
        </p:txBody>
      </p:sp>
      <p:sp>
        <p:nvSpPr>
          <p:cNvPr id="541" name="Google Shape;541;g26971b05c12_0_95"/>
          <p:cNvSpPr txBox="1"/>
          <p:nvPr>
            <p:ph idx="1" type="body"/>
          </p:nvPr>
        </p:nvSpPr>
        <p:spPr>
          <a:xfrm>
            <a:off x="571375" y="1673450"/>
            <a:ext cx="9381900" cy="51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Recursively enumerable (RE, Type 0)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These grammars can describe any language that can be recognized by a Turing machine, including highly complex or undecidable problems. There are not many practical examples in programming due to their complexity and generality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Context-sensitive grammars (CSG, Type 1)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Ones </a:t>
            </a:r>
            <a:r>
              <a:rPr lang="en-US"/>
              <a:t>that</a:t>
            </a:r>
            <a:r>
              <a:rPr lang="en-US"/>
              <a:t> can be represented by linear </a:t>
            </a:r>
            <a:r>
              <a:rPr lang="en-US"/>
              <a:t>bound</a:t>
            </a:r>
            <a:r>
              <a:rPr lang="en-US"/>
              <a:t> automata (some set of limitations applied on Turing machine)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800"/>
              <a:buChar char="•"/>
            </a:pPr>
            <a:r>
              <a:rPr lang="en-US">
                <a:solidFill>
                  <a:srgbClr val="7030A0"/>
                </a:solidFill>
              </a:rPr>
              <a:t>Context-free grammars (CFG, Type 2)</a:t>
            </a:r>
            <a:endParaRPr>
              <a:solidFill>
                <a:srgbClr val="7030A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400"/>
              <a:buChar char="•"/>
            </a:pPr>
            <a:r>
              <a:rPr lang="en-US">
                <a:solidFill>
                  <a:srgbClr val="7030A0"/>
                </a:solidFill>
              </a:rPr>
              <a:t>Programming languages</a:t>
            </a:r>
            <a:endParaRPr>
              <a:solidFill>
                <a:srgbClr val="7030A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800"/>
              <a:buChar char="•"/>
            </a:pPr>
            <a:r>
              <a:rPr lang="en-US">
                <a:solidFill>
                  <a:srgbClr val="7030A0"/>
                </a:solidFill>
              </a:rPr>
              <a:t>Regular grammars (Type 3)</a:t>
            </a:r>
            <a:endParaRPr>
              <a:solidFill>
                <a:srgbClr val="7030A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400"/>
              <a:buChar char="•"/>
            </a:pPr>
            <a:r>
              <a:rPr lang="en-US">
                <a:solidFill>
                  <a:srgbClr val="7030A0"/>
                </a:solidFill>
              </a:rPr>
              <a:t>Regular expressions and finite automata can describe these languages</a:t>
            </a:r>
            <a:endParaRPr>
              <a:solidFill>
                <a:srgbClr val="7030A0"/>
              </a:solidFill>
            </a:endParaRPr>
          </a:p>
        </p:txBody>
      </p:sp>
      <p:cxnSp>
        <p:nvCxnSpPr>
          <p:cNvPr id="542" name="Google Shape;542;g26971b05c12_0_95"/>
          <p:cNvCxnSpPr/>
          <p:nvPr/>
        </p:nvCxnSpPr>
        <p:spPr>
          <a:xfrm flipH="1" rot="10800000">
            <a:off x="10327450" y="1673450"/>
            <a:ext cx="30300" cy="40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3" name="Google Shape;543;g26971b05c12_0_95"/>
          <p:cNvCxnSpPr/>
          <p:nvPr/>
        </p:nvCxnSpPr>
        <p:spPr>
          <a:xfrm flipH="1">
            <a:off x="12006600" y="1729675"/>
            <a:ext cx="30300" cy="395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4" name="Google Shape;544;g26971b05c12_0_95"/>
          <p:cNvSpPr txBox="1"/>
          <p:nvPr/>
        </p:nvSpPr>
        <p:spPr>
          <a:xfrm>
            <a:off x="8122375" y="943250"/>
            <a:ext cx="225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Expressiveness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Recognition complexity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26971b05c12_0_95"/>
          <p:cNvSpPr txBox="1"/>
          <p:nvPr/>
        </p:nvSpPr>
        <p:spPr>
          <a:xfrm>
            <a:off x="10418400" y="5699150"/>
            <a:ext cx="1773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Restrictions on Production Rules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Ease of Parsing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Determinism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26971b05c12_0_95"/>
          <p:cNvSpPr txBox="1"/>
          <p:nvPr/>
        </p:nvSpPr>
        <p:spPr>
          <a:xfrm>
            <a:off x="4652950" y="6285300"/>
            <a:ext cx="582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focus is set on </a:t>
            </a:r>
            <a:r>
              <a:rPr lang="en-US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highlighted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types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Backus–Naur form</a:t>
            </a:r>
            <a:endParaRPr/>
          </a:p>
        </p:txBody>
      </p:sp>
      <p:sp>
        <p:nvSpPr>
          <p:cNvPr id="552" name="Google Shape;552;p15"/>
          <p:cNvSpPr txBox="1"/>
          <p:nvPr>
            <p:ph idx="1" type="body"/>
          </p:nvPr>
        </p:nvSpPr>
        <p:spPr>
          <a:xfrm>
            <a:off x="571375" y="1349450"/>
            <a:ext cx="11010900" cy="5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BNF is a metasyntax notation for CFG, often used to describe </a:t>
            </a:r>
            <a:r>
              <a:rPr lang="en-US"/>
              <a:t>programming</a:t>
            </a:r>
            <a:r>
              <a:rPr lang="en-US"/>
              <a:t> languages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rules are written in the following format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&lt;symbol&gt; ::= __expression__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Python grammar is a mixture of EBNF and PEG (parsing expression grammar)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https://docs.python.org/3/reference/grammar.htm</a:t>
            </a:r>
            <a:r>
              <a:rPr lang="en-US" u="sng">
                <a:solidFill>
                  <a:schemeClr val="hlink"/>
                </a:solidFill>
                <a:hlinkClick r:id="rId4"/>
              </a:rPr>
              <a:t>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YAML also has BNF description fractions in their spec: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https://yaml.org/spec/1.2.2/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JSON has unofficial pure BNF description: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https://github.com/JetBrains/Grammar-Kit/blob/master/testData/livePreview/Json.bnf</a:t>
            </a:r>
            <a:r>
              <a:rPr lang="en-US"/>
              <a:t>, official spec also has only fractions of BNF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https://www.json.org/json-en.html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BNF examples for many languages: </a:t>
            </a:r>
            <a:r>
              <a:rPr lang="en-US" u="sng">
                <a:solidFill>
                  <a:schemeClr val="hlink"/>
                </a:solidFill>
                <a:hlinkClick r:id="rId8"/>
              </a:rPr>
              <a:t>https://github.com/mingodad/plgh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34888d8bce_0_16"/>
          <p:cNvSpPr txBox="1"/>
          <p:nvPr>
            <p:ph type="title"/>
          </p:nvPr>
        </p:nvSpPr>
        <p:spPr>
          <a:xfrm>
            <a:off x="571375" y="571500"/>
            <a:ext cx="112575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BNF example: grammar for basic </a:t>
            </a:r>
            <a:r>
              <a:rPr lang="en-US"/>
              <a:t>arithmetic</a:t>
            </a:r>
            <a:r>
              <a:rPr lang="en-US"/>
              <a:t> expressions</a:t>
            </a:r>
            <a:endParaRPr/>
          </a:p>
        </p:txBody>
      </p:sp>
      <p:sp>
        <p:nvSpPr>
          <p:cNvPr id="558" name="Google Shape;558;g334888d8bce_0_16"/>
          <p:cNvSpPr txBox="1"/>
          <p:nvPr>
            <p:ph idx="1" type="body"/>
          </p:nvPr>
        </p:nvSpPr>
        <p:spPr>
          <a:xfrm>
            <a:off x="571375" y="1673450"/>
            <a:ext cx="5530500" cy="323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&lt;expression&gt; ::= &lt;term&gt;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               | &lt;expression&gt; "+" &lt;term&gt;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               | &lt;expression&gt; "-" &lt;term&gt;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&lt;term&gt;       ::= &lt;factor&gt;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               | &lt;term&gt; "*" &lt;factor&gt;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               | &lt;term&gt; "/" &lt;factor&gt;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&lt;factor&gt;     ::= &lt;number&gt;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               | "(" &lt;expression&gt; ")"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&lt;number&gt;     ::= &lt;digit&gt;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               | &lt;digit&gt; &lt;number&gt;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&lt;digit&gt;      ::= "0" | "1" | "2" | "3" | "4"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US" sz="1660">
                <a:latin typeface="Consolas"/>
                <a:ea typeface="Consolas"/>
                <a:cs typeface="Consolas"/>
                <a:sym typeface="Consolas"/>
              </a:rPr>
              <a:t>               | "5" | "6" | "7" | "8" | "9"</a:t>
            </a:r>
            <a:endParaRPr sz="166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9" name="Google Shape;559;g334888d8bce_0_16"/>
          <p:cNvSpPr txBox="1"/>
          <p:nvPr/>
        </p:nvSpPr>
        <p:spPr>
          <a:xfrm>
            <a:off x="6225700" y="1449425"/>
            <a:ext cx="56031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Arithmetic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expressions conforming given BNF grammar: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Char char="●"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Char char="●"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3+5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Char char="●"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3+5*2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Char char="●"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(3+5)*2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Char char="●"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(1+2)*(3-4)/5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Different types of parsing</a:t>
            </a:r>
            <a:endParaRPr/>
          </a:p>
        </p:txBody>
      </p:sp>
      <p:sp>
        <p:nvSpPr>
          <p:cNvPr id="565" name="Google Shape;565;p17"/>
          <p:cNvSpPr txBox="1"/>
          <p:nvPr>
            <p:ph idx="1" type="body"/>
          </p:nvPr>
        </p:nvSpPr>
        <p:spPr>
          <a:xfrm>
            <a:off x="571375" y="1673450"/>
            <a:ext cx="5514000" cy="5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Top-down parsing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Beginning with the start symbol, try to guess the productions to apply to end up at the user’s program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2400"/>
              <a:t>Tries to find Expression that consists of elemental terms</a:t>
            </a:r>
            <a:endParaRPr i="1"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Bottom-up parsing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Beginning with user’s program, try to apply productions in reverse to convert the program back into the start symbol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2400"/>
              <a:t>F</a:t>
            </a:r>
            <a:r>
              <a:rPr i="1" lang="en-US" sz="2400"/>
              <a:t>irst sees b * c is a Term, then combines a + (Term) into an Expression</a:t>
            </a:r>
            <a:endParaRPr i="1" sz="2400"/>
          </a:p>
        </p:txBody>
      </p:sp>
      <p:pic>
        <p:nvPicPr>
          <p:cNvPr id="566" name="Google Shape;5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075" y="1956300"/>
            <a:ext cx="5964925" cy="2945411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7"/>
          <p:cNvSpPr txBox="1"/>
          <p:nvPr/>
        </p:nvSpPr>
        <p:spPr>
          <a:xfrm>
            <a:off x="4783900" y="6457800"/>
            <a:ext cx="754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https://www.geeksforgeeks.org/compiler-design/types-of-parsers-in-compiler-design/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LL(k) parsers</a:t>
            </a:r>
            <a:endParaRPr/>
          </a:p>
        </p:txBody>
      </p:sp>
      <p:sp>
        <p:nvSpPr>
          <p:cNvPr id="573" name="Google Shape;573;p18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Left-to-right, leftmost derivation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Top-down parser for context-free languages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k tokens of lookahead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Most popular – LL(1) parsers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Different parsers are not be covered in details in this course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c861c19ea1_1_368"/>
          <p:cNvSpPr txBox="1"/>
          <p:nvPr>
            <p:ph type="title"/>
          </p:nvPr>
        </p:nvSpPr>
        <p:spPr>
          <a:xfrm>
            <a:off x="571373" y="571500"/>
            <a:ext cx="57684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Lex list to trees</a:t>
            </a:r>
            <a:endParaRPr/>
          </a:p>
        </p:txBody>
      </p:sp>
      <p:sp>
        <p:nvSpPr>
          <p:cNvPr id="579" name="Google Shape;579;g3c861c19ea1_1_368"/>
          <p:cNvSpPr txBox="1"/>
          <p:nvPr>
            <p:ph idx="1" type="body"/>
          </p:nvPr>
        </p:nvSpPr>
        <p:spPr>
          <a:xfrm>
            <a:off x="571372" y="1673450"/>
            <a:ext cx="53973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Lexemes</a:t>
            </a:r>
            <a:r>
              <a:rPr lang="en-US"/>
              <a:t> list: what we get after lexer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Concrete syntax tree </a:t>
            </a:r>
            <a:r>
              <a:rPr lang="en-US"/>
              <a:t>is built from this list and represents </a:t>
            </a:r>
            <a:r>
              <a:rPr lang="en-US"/>
              <a:t>syntax</a:t>
            </a:r>
            <a:r>
              <a:rPr lang="en-US"/>
              <a:t> programmers write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Abstract syntax tree</a:t>
            </a:r>
            <a:r>
              <a:rPr lang="en-US"/>
              <a:t> is built from </a:t>
            </a:r>
            <a:r>
              <a:rPr lang="en-US"/>
              <a:t>concrete</a:t>
            </a:r>
            <a:r>
              <a:rPr lang="en-US"/>
              <a:t> by abstracting details and building syntax recognized by compilers</a:t>
            </a:r>
            <a:endParaRPr/>
          </a:p>
        </p:txBody>
      </p:sp>
      <p:pic>
        <p:nvPicPr>
          <p:cNvPr id="580" name="Google Shape;580;g3c861c19ea1_1_3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3257" y="1727100"/>
            <a:ext cx="3817081" cy="196222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3c861c19ea1_1_368"/>
          <p:cNvSpPr/>
          <p:nvPr/>
        </p:nvSpPr>
        <p:spPr>
          <a:xfrm>
            <a:off x="6777375" y="425249"/>
            <a:ext cx="4828800" cy="558000"/>
          </a:xfrm>
          <a:prstGeom prst="rect">
            <a:avLst/>
          </a:prstGeom>
          <a:solidFill>
            <a:schemeClr val="lt2"/>
          </a:solidFill>
          <a:ln cap="flat" cmpd="sng" w="11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575" lIns="114575" spcFirstLastPara="1" rIns="114575" wrap="square" tIns="11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>
                <a:latin typeface="Calibri"/>
                <a:ea typeface="Calibri"/>
                <a:cs typeface="Calibri"/>
                <a:sym typeface="Calibri"/>
              </a:rPr>
              <a:t>Lexemes:</a:t>
            </a:r>
            <a:endParaRPr sz="17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>
                <a:latin typeface="Calibri"/>
                <a:ea typeface="Calibri"/>
                <a:cs typeface="Calibri"/>
                <a:sym typeface="Calibri"/>
              </a:rPr>
              <a:t>int(5), plus, int(15), mul, int(20)</a:t>
            </a:r>
            <a:endParaRPr sz="1754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2" name="Google Shape;582;g3c861c19ea1_1_368"/>
          <p:cNvCxnSpPr>
            <a:stCxn id="581" idx="2"/>
          </p:cNvCxnSpPr>
          <p:nvPr/>
        </p:nvCxnSpPr>
        <p:spPr>
          <a:xfrm>
            <a:off x="9191775" y="983249"/>
            <a:ext cx="3300" cy="744000"/>
          </a:xfrm>
          <a:prstGeom prst="straightConnector1">
            <a:avLst/>
          </a:prstGeom>
          <a:noFill/>
          <a:ln cap="flat" cmpd="sng" w="11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g3c861c19ea1_1_368"/>
          <p:cNvSpPr txBox="1"/>
          <p:nvPr/>
        </p:nvSpPr>
        <p:spPr>
          <a:xfrm>
            <a:off x="7166775" y="6541700"/>
            <a:ext cx="40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Pics: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https://www.slideserve.com/hera/abstract-syntax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g3c861c19ea1_1_368"/>
          <p:cNvCxnSpPr/>
          <p:nvPr/>
        </p:nvCxnSpPr>
        <p:spPr>
          <a:xfrm>
            <a:off x="9190105" y="3766886"/>
            <a:ext cx="3300" cy="744000"/>
          </a:xfrm>
          <a:prstGeom prst="straightConnector1">
            <a:avLst/>
          </a:prstGeom>
          <a:noFill/>
          <a:ln cap="flat" cmpd="sng" w="11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85" name="Google Shape;585;g3c861c19ea1_1_3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9178" y="4510877"/>
            <a:ext cx="4288658" cy="1786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From concrete to abstract trees</a:t>
            </a:r>
            <a:endParaRPr/>
          </a:p>
        </p:txBody>
      </p:sp>
      <p:sp>
        <p:nvSpPr>
          <p:cNvPr id="591" name="Google Shape;591;p1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 a result of parsing, you will get a parse tree, which is also a concrete syntax tree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contains all the small details about textual representation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Abstract syntax tree omits those irrelevant details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Parenthesis, semicolons, commas…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get an abstract </a:t>
            </a:r>
            <a:r>
              <a:rPr lang="en-US"/>
              <a:t>tree,</a:t>
            </a:r>
            <a:r>
              <a:rPr lang="en-US"/>
              <a:t> you recursively traverse </a:t>
            </a:r>
            <a:r>
              <a:rPr lang="en-US"/>
              <a:t>the parsing</a:t>
            </a:r>
            <a:r>
              <a:rPr lang="en-US"/>
              <a:t> tree</a:t>
            </a:r>
            <a:endParaRPr/>
          </a:p>
        </p:txBody>
      </p:sp>
      <p:pic>
        <p:nvPicPr>
          <p:cNvPr id="592" name="Google Shape;592;p16"/>
          <p:cNvPicPr preferRelativeResize="0"/>
          <p:nvPr/>
        </p:nvPicPr>
        <p:blipFill rotWithShape="1">
          <a:blip r:embed="rId3">
            <a:alphaModFix/>
          </a:blip>
          <a:srcRect b="0" l="0" r="0" t="16485"/>
          <a:stretch/>
        </p:blipFill>
        <p:spPr>
          <a:xfrm>
            <a:off x="6534025" y="4309185"/>
            <a:ext cx="5048250" cy="236265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6"/>
          <p:cNvSpPr txBox="1"/>
          <p:nvPr/>
        </p:nvSpPr>
        <p:spPr>
          <a:xfrm>
            <a:off x="7166775" y="6541700"/>
            <a:ext cx="40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Pic: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https://datafireball.com/2021/06/19/python-cst-and-ast/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Syntax challenges</a:t>
            </a:r>
            <a:endParaRPr/>
          </a:p>
        </p:txBody>
      </p:sp>
      <p:sp>
        <p:nvSpPr>
          <p:cNvPr id="599" name="Google Shape;599;p19"/>
          <p:cNvSpPr txBox="1"/>
          <p:nvPr>
            <p:ph idx="2" type="body"/>
          </p:nvPr>
        </p:nvSpPr>
        <p:spPr>
          <a:xfrm>
            <a:off x="57137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As seen by C++ compiler developers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0" name="Google Shape;600;p19"/>
          <p:cNvSpPr txBox="1"/>
          <p:nvPr/>
        </p:nvSpPr>
        <p:spPr>
          <a:xfrm>
            <a:off x="2756450" y="2841275"/>
            <a:ext cx="6509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&lt;vector&gt;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// Am I a constructor call or a function declaration?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vec1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A word of advice</a:t>
            </a:r>
            <a:endParaRPr/>
          </a:p>
        </p:txBody>
      </p:sp>
      <p:sp>
        <p:nvSpPr>
          <p:cNvPr id="606" name="Google Shape;606;p20"/>
          <p:cNvSpPr txBox="1"/>
          <p:nvPr>
            <p:ph idx="1" type="body"/>
          </p:nvPr>
        </p:nvSpPr>
        <p:spPr>
          <a:xfrm>
            <a:off x="571370" y="1673454"/>
            <a:ext cx="6543252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 not re-invent the wheel!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problem has been solved before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 to use existing grammar description formats and use parser generators</a:t>
            </a:r>
            <a:endParaRPr/>
          </a:p>
        </p:txBody>
      </p:sp>
      <p:pic>
        <p:nvPicPr>
          <p:cNvPr descr="ICT Works » Blog Archive Stop Reinventing the Flat Tire ..." id="607" name="Google Shape;6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9912" y="1576541"/>
            <a:ext cx="451485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20"/>
          <p:cNvSpPr txBox="1"/>
          <p:nvPr/>
        </p:nvSpPr>
        <p:spPr>
          <a:xfrm>
            <a:off x="5085600" y="6507000"/>
            <a:ext cx="71064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Pic: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https://www.ictworks.org/2015/07/10/stop-reinventing-the-flat-tire-with-custom-software-development/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Semantic analysis</a:t>
            </a:r>
            <a:endParaRPr/>
          </a:p>
        </p:txBody>
      </p:sp>
      <p:sp>
        <p:nvSpPr>
          <p:cNvPr id="614" name="Google Shape;614;p21"/>
          <p:cNvSpPr/>
          <p:nvPr/>
        </p:nvSpPr>
        <p:spPr>
          <a:xfrm>
            <a:off x="855405" y="1544658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855404" y="2098214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p21"/>
          <p:cNvSpPr/>
          <p:nvPr/>
        </p:nvSpPr>
        <p:spPr>
          <a:xfrm>
            <a:off x="855403" y="2651770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855405" y="3213202"/>
            <a:ext cx="2861187" cy="4719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8" name="Google Shape;618;p21"/>
          <p:cNvSpPr/>
          <p:nvPr/>
        </p:nvSpPr>
        <p:spPr>
          <a:xfrm>
            <a:off x="855402" y="3774634"/>
            <a:ext cx="2861187" cy="471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9" name="Google Shape;619;p21"/>
          <p:cNvSpPr/>
          <p:nvPr/>
        </p:nvSpPr>
        <p:spPr>
          <a:xfrm>
            <a:off x="855401" y="4382232"/>
            <a:ext cx="2861187" cy="379591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0" name="Google Shape;620;p21"/>
          <p:cNvSpPr/>
          <p:nvPr/>
        </p:nvSpPr>
        <p:spPr>
          <a:xfrm>
            <a:off x="855400" y="4889622"/>
            <a:ext cx="2861187" cy="471924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855399" y="5443178"/>
            <a:ext cx="2861187" cy="471924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6707568" y="2474368"/>
            <a:ext cx="1828800" cy="595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623" name="Google Shape;623;p21"/>
          <p:cNvSpPr/>
          <p:nvPr/>
        </p:nvSpPr>
        <p:spPr>
          <a:xfrm>
            <a:off x="6478475" y="4241871"/>
            <a:ext cx="2286983" cy="595035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/>
          </a:p>
        </p:txBody>
      </p:sp>
      <p:sp>
        <p:nvSpPr>
          <p:cNvPr id="624" name="Google Shape;624;p21"/>
          <p:cNvSpPr/>
          <p:nvPr/>
        </p:nvSpPr>
        <p:spPr>
          <a:xfrm>
            <a:off x="6478476" y="5064028"/>
            <a:ext cx="2286983" cy="59503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Goals of semantic analysis</a:t>
            </a:r>
            <a:endParaRPr/>
          </a:p>
        </p:txBody>
      </p:sp>
      <p:sp>
        <p:nvSpPr>
          <p:cNvPr id="630" name="Google Shape;630;p22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Ensure that the program has a well-defined meaning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Variables and symbols are defined before they are used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Expressions have the right types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…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Gather useful information for later stages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c8227e1633_0_3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 overloads resolution</a:t>
            </a:r>
            <a:endParaRPr/>
          </a:p>
        </p:txBody>
      </p:sp>
      <p:sp>
        <p:nvSpPr>
          <p:cNvPr id="636" name="Google Shape;636;g3c8227e1633_0_33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decides which function is going to be taken according to the language standards</a:t>
            </a:r>
            <a:endParaRPr/>
          </a:p>
        </p:txBody>
      </p:sp>
      <p:sp>
        <p:nvSpPr>
          <p:cNvPr id="637" name="Google Shape;637;g3c8227e1633_0_33"/>
          <p:cNvSpPr txBox="1"/>
          <p:nvPr/>
        </p:nvSpPr>
        <p:spPr>
          <a:xfrm>
            <a:off x="2088250" y="2738075"/>
            <a:ext cx="8386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long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0L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// calls f(long)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// error: ambiguous overload</a:t>
            </a:r>
            <a:endParaRPr b="1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8" name="Google Shape;638;g3c8227e1633_0_33"/>
          <p:cNvSpPr txBox="1"/>
          <p:nvPr/>
        </p:nvSpPr>
        <p:spPr>
          <a:xfrm>
            <a:off x="654575" y="5146025"/>
            <a:ext cx="1119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Overload resolution rules in C++: </a:t>
            </a: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https://en.cppreference.com/w/cpp/language/overload_resolution.html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c8227e1633_0_2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 checking</a:t>
            </a:r>
            <a:endParaRPr/>
          </a:p>
        </p:txBody>
      </p:sp>
      <p:sp>
        <p:nvSpPr>
          <p:cNvPr id="644" name="Google Shape;644;g3c8227e1633_0_28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</a:t>
            </a:r>
            <a:r>
              <a:rPr lang="en-US"/>
              <a:t>he meaning of function calls often depends on types of arguments and their associated namespaces, not just visible names</a:t>
            </a:r>
            <a:endParaRPr/>
          </a:p>
        </p:txBody>
      </p:sp>
      <p:sp>
        <p:nvSpPr>
          <p:cNvPr id="645" name="Google Shape;645;g3c8227e1633_0_28"/>
          <p:cNvSpPr txBox="1"/>
          <p:nvPr/>
        </p:nvSpPr>
        <p:spPr>
          <a:xfrm>
            <a:off x="2041800" y="3158525"/>
            <a:ext cx="8386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lib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{};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// lib::f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// ::f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lib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// which f() is going to be called?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6" name="Google Shape;646;g3c8227e1633_0_28"/>
          <p:cNvSpPr txBox="1"/>
          <p:nvPr/>
        </p:nvSpPr>
        <p:spPr>
          <a:xfrm>
            <a:off x="996975" y="6052350"/>
            <a:ext cx="931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f(x) calls lib::f via ADL (argument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lookup), not ::f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c8227e1633_0_6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 inference</a:t>
            </a:r>
            <a:endParaRPr/>
          </a:p>
        </p:txBody>
      </p:sp>
      <p:sp>
        <p:nvSpPr>
          <p:cNvPr id="652" name="Google Shape;652;g3c8227e1633_0_66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</a:t>
            </a:r>
            <a:r>
              <a:rPr lang="en-US"/>
              <a:t>he type of the program changes based on subtle deduction rules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 such cases compilers must infer them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en-US"/>
              <a:t> or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decltype</a:t>
            </a:r>
            <a:r>
              <a:rPr lang="en-US"/>
              <a:t> key words are good example of this behavior in C++</a:t>
            </a:r>
            <a:endParaRPr/>
          </a:p>
        </p:txBody>
      </p:sp>
      <p:sp>
        <p:nvSpPr>
          <p:cNvPr id="653" name="Google Shape;653;g3c8227e1633_0_66"/>
          <p:cNvSpPr txBox="1"/>
          <p:nvPr/>
        </p:nvSpPr>
        <p:spPr>
          <a:xfrm>
            <a:off x="4203725" y="322220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&amp;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&amp;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decltype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g3c8227e1633_0_66"/>
          <p:cNvSpPr txBox="1"/>
          <p:nvPr/>
        </p:nvSpPr>
        <p:spPr>
          <a:xfrm>
            <a:off x="6446000" y="3868400"/>
            <a:ext cx="2637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 is int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b is int&amp;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c is int&amp;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Validity vs correctness</a:t>
            </a:r>
            <a:endParaRPr/>
          </a:p>
        </p:txBody>
      </p:sp>
      <p:sp>
        <p:nvSpPr>
          <p:cNvPr id="660" name="Google Shape;660;p23"/>
          <p:cNvSpPr txBox="1"/>
          <p:nvPr>
            <p:ph idx="1" type="body"/>
          </p:nvPr>
        </p:nvSpPr>
        <p:spPr>
          <a:xfrm>
            <a:off x="571370" y="1673454"/>
            <a:ext cx="11010900" cy="17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Valid syntax does not mean your program is correct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following sample is only correct if x is 2</a:t>
            </a:r>
            <a:endParaRPr/>
          </a:p>
        </p:txBody>
      </p:sp>
      <p:sp>
        <p:nvSpPr>
          <p:cNvPr id="661" name="Google Shape;661;p23"/>
          <p:cNvSpPr txBox="1"/>
          <p:nvPr/>
        </p:nvSpPr>
        <p:spPr>
          <a:xfrm>
            <a:off x="4576775" y="28184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square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en-US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2" name="Google Shape;662;p23"/>
          <p:cNvSpPr txBox="1"/>
          <p:nvPr/>
        </p:nvSpPr>
        <p:spPr>
          <a:xfrm>
            <a:off x="738450" y="4345100"/>
            <a:ext cx="10843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Compiler is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responsible for the correctness of your program.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only checks that the code is valid per the language rules, not that it matches your intended meaning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Symbol tables</a:t>
            </a:r>
            <a:endParaRPr/>
          </a:p>
        </p:txBody>
      </p:sp>
      <p:sp>
        <p:nvSpPr>
          <p:cNvPr id="668" name="Google Shape;668;p24"/>
          <p:cNvSpPr txBox="1"/>
          <p:nvPr>
            <p:ph idx="1" type="body"/>
          </p:nvPr>
        </p:nvSpPr>
        <p:spPr>
          <a:xfrm>
            <a:off x="571370" y="1673454"/>
            <a:ext cx="11010900" cy="4613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Basically, a hash map where key is symbol name and value is its graph node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Except the fact that it is scoped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LLVM scoped hash table implementation: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https://llvm.org/doxygen/classllvm_1_1ScopedHashTable.html</a:t>
            </a:r>
            <a:r>
              <a:rPr lang="en-US"/>
              <a:t>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9" name="Google Shape;669;p24"/>
          <p:cNvSpPr txBox="1"/>
          <p:nvPr/>
        </p:nvSpPr>
        <p:spPr>
          <a:xfrm>
            <a:off x="4576775" y="312882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</a:t>
            </a:r>
            <a:r>
              <a:rPr b="1"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</a:t>
            </a:r>
            <a:r>
              <a:rPr b="1" lang="en-US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-US">
                <a:solidFill>
                  <a:srgbClr val="EE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-US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OOP challenges</a:t>
            </a:r>
            <a:endParaRPr/>
          </a:p>
        </p:txBody>
      </p:sp>
      <p:sp>
        <p:nvSpPr>
          <p:cNvPr id="675" name="Google Shape;675;p25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Classes may have parents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that case we must look up symbol in base class symbol tables as well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Actual implementations may be different for particular languages</a:t>
            </a:r>
            <a:endParaRPr/>
          </a:p>
        </p:txBody>
      </p:sp>
      <p:pic>
        <p:nvPicPr>
          <p:cNvPr id="676" name="Google Shape;676;p25"/>
          <p:cNvPicPr preferRelativeResize="0"/>
          <p:nvPr/>
        </p:nvPicPr>
        <p:blipFill rotWithShape="1">
          <a:blip r:embed="rId3">
            <a:alphaModFix/>
          </a:blip>
          <a:srcRect b="0" l="0" r="48501" t="0"/>
          <a:stretch/>
        </p:blipFill>
        <p:spPr>
          <a:xfrm>
            <a:off x="7977875" y="3171775"/>
            <a:ext cx="2953800" cy="3229026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5"/>
          <p:cNvSpPr txBox="1"/>
          <p:nvPr/>
        </p:nvSpPr>
        <p:spPr>
          <a:xfrm>
            <a:off x="7327325" y="6263225"/>
            <a:ext cx="425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Pic: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https://www.enjoyalgorithms.com/blog/inheritance-in-java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Multiple inheritance</a:t>
            </a:r>
            <a:endParaRPr/>
          </a:p>
        </p:txBody>
      </p:sp>
      <p:sp>
        <p:nvSpPr>
          <p:cNvPr id="683" name="Google Shape;683;p2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 languages allow multiple base classes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that case we must look up the symbol in each base class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Again, rules depend on language design</a:t>
            </a:r>
            <a:endParaRPr/>
          </a:p>
        </p:txBody>
      </p:sp>
      <p:pic>
        <p:nvPicPr>
          <p:cNvPr id="684" name="Google Shape;6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3125" y="3201325"/>
            <a:ext cx="5438875" cy="30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26"/>
          <p:cNvSpPr txBox="1"/>
          <p:nvPr/>
        </p:nvSpPr>
        <p:spPr>
          <a:xfrm>
            <a:off x="7327325" y="6263225"/>
            <a:ext cx="425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Pic: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https://www.enjoyalgorithms.com/blog/inheritance-in-java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IR Generation</a:t>
            </a:r>
            <a:endParaRPr/>
          </a:p>
        </p:txBody>
      </p:sp>
      <p:sp>
        <p:nvSpPr>
          <p:cNvPr id="691" name="Google Shape;691;p28"/>
          <p:cNvSpPr/>
          <p:nvPr/>
        </p:nvSpPr>
        <p:spPr>
          <a:xfrm>
            <a:off x="855405" y="1544658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855404" y="2098214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3" name="Google Shape;693;p28"/>
          <p:cNvSpPr/>
          <p:nvPr/>
        </p:nvSpPr>
        <p:spPr>
          <a:xfrm>
            <a:off x="855403" y="2651770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4" name="Google Shape;694;p28"/>
          <p:cNvSpPr/>
          <p:nvPr/>
        </p:nvSpPr>
        <p:spPr>
          <a:xfrm>
            <a:off x="855405" y="3213202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855402" y="3774634"/>
            <a:ext cx="2861187" cy="4719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/>
          </a:p>
        </p:txBody>
      </p:sp>
      <p:sp>
        <p:nvSpPr>
          <p:cNvPr id="696" name="Google Shape;696;p28"/>
          <p:cNvSpPr/>
          <p:nvPr/>
        </p:nvSpPr>
        <p:spPr>
          <a:xfrm>
            <a:off x="855401" y="4382232"/>
            <a:ext cx="2861187" cy="379591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7" name="Google Shape;697;p28"/>
          <p:cNvSpPr/>
          <p:nvPr/>
        </p:nvSpPr>
        <p:spPr>
          <a:xfrm>
            <a:off x="6707568" y="2474368"/>
            <a:ext cx="1828800" cy="595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698" name="Google Shape;698;p28"/>
          <p:cNvSpPr/>
          <p:nvPr/>
        </p:nvSpPr>
        <p:spPr>
          <a:xfrm>
            <a:off x="6478475" y="4241871"/>
            <a:ext cx="2286983" cy="595035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/>
          </a:p>
        </p:txBody>
      </p:sp>
      <p:sp>
        <p:nvSpPr>
          <p:cNvPr id="699" name="Google Shape;699;p28"/>
          <p:cNvSpPr/>
          <p:nvPr/>
        </p:nvSpPr>
        <p:spPr>
          <a:xfrm>
            <a:off x="6478476" y="5064028"/>
            <a:ext cx="2286983" cy="59503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  <p:sp>
        <p:nvSpPr>
          <p:cNvPr id="700" name="Google Shape;700;p28"/>
          <p:cNvSpPr/>
          <p:nvPr/>
        </p:nvSpPr>
        <p:spPr>
          <a:xfrm>
            <a:off x="855400" y="5505072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1" name="Google Shape;701;p28"/>
          <p:cNvSpPr/>
          <p:nvPr/>
        </p:nvSpPr>
        <p:spPr>
          <a:xfrm>
            <a:off x="855411" y="4897503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IR Generation</a:t>
            </a:r>
            <a:endParaRPr/>
          </a:p>
        </p:txBody>
      </p:sp>
      <p:sp>
        <p:nvSpPr>
          <p:cNvPr id="707" name="Google Shape;707;p29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Consumes AST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Produces </a:t>
            </a:r>
            <a:r>
              <a:rPr lang="en-US"/>
              <a:t>LLVM </a:t>
            </a:r>
            <a:r>
              <a:rPr lang="en-US"/>
              <a:t>IR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more on that</a:t>
            </a:r>
            <a:br>
              <a:rPr lang="en-US"/>
            </a:br>
            <a:r>
              <a:rPr lang="en-US"/>
              <a:t>on lecture 04</a:t>
            </a:r>
            <a:endParaRPr/>
          </a:p>
        </p:txBody>
      </p:sp>
      <p:pic>
        <p:nvPicPr>
          <p:cNvPr id="708" name="Google Shape;7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9031" y="41793"/>
            <a:ext cx="2129408" cy="760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7633" y="876400"/>
            <a:ext cx="7772400" cy="235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19284" y="3549901"/>
            <a:ext cx="10172716" cy="32663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1" name="Google Shape;711;p29"/>
          <p:cNvCxnSpPr>
            <a:stCxn id="709" idx="2"/>
          </p:cNvCxnSpPr>
          <p:nvPr/>
        </p:nvCxnSpPr>
        <p:spPr>
          <a:xfrm>
            <a:off x="7513833" y="3231012"/>
            <a:ext cx="0" cy="31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0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Calibri"/>
              <a:buNone/>
            </a:pPr>
            <a:r>
              <a:rPr lang="en-US"/>
              <a:t>Overview of Clang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Simplified compiler flow</a:t>
            </a:r>
            <a:endParaRPr/>
          </a:p>
        </p:txBody>
      </p:sp>
      <p:sp>
        <p:nvSpPr>
          <p:cNvPr id="722" name="Google Shape;722;p31"/>
          <p:cNvSpPr/>
          <p:nvPr/>
        </p:nvSpPr>
        <p:spPr>
          <a:xfrm>
            <a:off x="153384" y="2736477"/>
            <a:ext cx="861305" cy="426403"/>
          </a:xfrm>
          <a:prstGeom prst="verticalScroll">
            <a:avLst>
              <a:gd fmla="val 25000" name="adj"/>
            </a:avLst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SRC</a:t>
            </a:r>
            <a:endParaRPr/>
          </a:p>
        </p:txBody>
      </p:sp>
      <p:sp>
        <p:nvSpPr>
          <p:cNvPr id="723" name="Google Shape;723;p31"/>
          <p:cNvSpPr/>
          <p:nvPr/>
        </p:nvSpPr>
        <p:spPr>
          <a:xfrm>
            <a:off x="1297447" y="2741553"/>
            <a:ext cx="902602" cy="4103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Driver</a:t>
            </a:r>
            <a:endParaRPr/>
          </a:p>
        </p:txBody>
      </p:sp>
      <p:cxnSp>
        <p:nvCxnSpPr>
          <p:cNvPr id="724" name="Google Shape;724;p31"/>
          <p:cNvCxnSpPr>
            <a:stCxn id="722" idx="3"/>
            <a:endCxn id="723" idx="1"/>
          </p:cNvCxnSpPr>
          <p:nvPr/>
        </p:nvCxnSpPr>
        <p:spPr>
          <a:xfrm flipH="1" rot="10800000">
            <a:off x="908088" y="2946679"/>
            <a:ext cx="389400" cy="3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725" name="Google Shape;725;p31"/>
          <p:cNvSpPr/>
          <p:nvPr/>
        </p:nvSpPr>
        <p:spPr>
          <a:xfrm>
            <a:off x="2482807" y="2590606"/>
            <a:ext cx="1712207" cy="7181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Preprocessor &amp; lexer</a:t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4861231" y="2744494"/>
            <a:ext cx="973232" cy="4103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Parser</a:t>
            </a:r>
            <a:endParaRPr/>
          </a:p>
        </p:txBody>
      </p:sp>
      <p:sp>
        <p:nvSpPr>
          <p:cNvPr id="727" name="Google Shape;727;p31"/>
          <p:cNvSpPr/>
          <p:nvPr/>
        </p:nvSpPr>
        <p:spPr>
          <a:xfrm>
            <a:off x="6147371" y="2741141"/>
            <a:ext cx="909322" cy="4103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</a:t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8" name="Google Shape;728;p31"/>
          <p:cNvSpPr/>
          <p:nvPr/>
        </p:nvSpPr>
        <p:spPr>
          <a:xfrm>
            <a:off x="7512950" y="2744494"/>
            <a:ext cx="1346858" cy="4103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CodeGen</a:t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9" name="Google Shape;729;p31"/>
          <p:cNvSpPr/>
          <p:nvPr/>
        </p:nvSpPr>
        <p:spPr>
          <a:xfrm>
            <a:off x="9316065" y="2735653"/>
            <a:ext cx="1190685" cy="4103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Compiler</a:t>
            </a:r>
            <a:endParaRPr/>
          </a:p>
        </p:txBody>
      </p:sp>
      <p:cxnSp>
        <p:nvCxnSpPr>
          <p:cNvPr id="730" name="Google Shape;730;p31"/>
          <p:cNvCxnSpPr>
            <a:stCxn id="723" idx="3"/>
            <a:endCxn id="725" idx="1"/>
          </p:cNvCxnSpPr>
          <p:nvPr/>
        </p:nvCxnSpPr>
        <p:spPr>
          <a:xfrm>
            <a:off x="2200049" y="2946738"/>
            <a:ext cx="282900" cy="3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731" name="Google Shape;731;p31"/>
          <p:cNvCxnSpPr>
            <a:stCxn id="725" idx="3"/>
            <a:endCxn id="726" idx="1"/>
          </p:cNvCxnSpPr>
          <p:nvPr/>
        </p:nvCxnSpPr>
        <p:spPr>
          <a:xfrm>
            <a:off x="4195014" y="2949679"/>
            <a:ext cx="6663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732" name="Google Shape;732;p31"/>
          <p:cNvCxnSpPr>
            <a:stCxn id="726" idx="3"/>
            <a:endCxn id="727" idx="1"/>
          </p:cNvCxnSpPr>
          <p:nvPr/>
        </p:nvCxnSpPr>
        <p:spPr>
          <a:xfrm flipH="1" rot="10800000">
            <a:off x="5834463" y="2946379"/>
            <a:ext cx="312900" cy="3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733" name="Google Shape;733;p31"/>
          <p:cNvCxnSpPr>
            <a:stCxn id="727" idx="3"/>
            <a:endCxn id="728" idx="1"/>
          </p:cNvCxnSpPr>
          <p:nvPr/>
        </p:nvCxnSpPr>
        <p:spPr>
          <a:xfrm>
            <a:off x="7056693" y="2946326"/>
            <a:ext cx="456300" cy="3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734" name="Google Shape;734;p31"/>
          <p:cNvCxnSpPr>
            <a:stCxn id="728" idx="3"/>
            <a:endCxn id="729" idx="1"/>
          </p:cNvCxnSpPr>
          <p:nvPr/>
        </p:nvCxnSpPr>
        <p:spPr>
          <a:xfrm flipH="1" rot="10800000">
            <a:off x="8859808" y="2940979"/>
            <a:ext cx="456300" cy="8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735" name="Google Shape;735;p31"/>
          <p:cNvSpPr/>
          <p:nvPr/>
        </p:nvSpPr>
        <p:spPr>
          <a:xfrm>
            <a:off x="10794837" y="2741141"/>
            <a:ext cx="862290" cy="4103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Linker</a:t>
            </a:r>
            <a:endParaRPr/>
          </a:p>
        </p:txBody>
      </p:sp>
      <p:cxnSp>
        <p:nvCxnSpPr>
          <p:cNvPr id="736" name="Google Shape;736;p31"/>
          <p:cNvCxnSpPr>
            <a:stCxn id="729" idx="3"/>
            <a:endCxn id="735" idx="1"/>
          </p:cNvCxnSpPr>
          <p:nvPr/>
        </p:nvCxnSpPr>
        <p:spPr>
          <a:xfrm>
            <a:off x="10506750" y="2940838"/>
            <a:ext cx="288000" cy="54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737" name="Google Shape;737;p31"/>
          <p:cNvSpPr txBox="1"/>
          <p:nvPr/>
        </p:nvSpPr>
        <p:spPr>
          <a:xfrm>
            <a:off x="4259334" y="2672408"/>
            <a:ext cx="51914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Tokens</a:t>
            </a:r>
            <a:endParaRPr/>
          </a:p>
        </p:txBody>
      </p:sp>
      <p:sp>
        <p:nvSpPr>
          <p:cNvPr id="738" name="Google Shape;738;p31"/>
          <p:cNvSpPr txBox="1"/>
          <p:nvPr/>
        </p:nvSpPr>
        <p:spPr>
          <a:xfrm>
            <a:off x="7007942" y="2639159"/>
            <a:ext cx="51914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endParaRPr/>
          </a:p>
        </p:txBody>
      </p:sp>
      <p:sp>
        <p:nvSpPr>
          <p:cNvPr id="739" name="Google Shape;739;p31"/>
          <p:cNvSpPr txBox="1"/>
          <p:nvPr/>
        </p:nvSpPr>
        <p:spPr>
          <a:xfrm>
            <a:off x="8810175" y="2649220"/>
            <a:ext cx="51914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Clang driver</a:t>
            </a:r>
            <a:endParaRPr/>
          </a:p>
        </p:txBody>
      </p:sp>
      <p:sp>
        <p:nvSpPr>
          <p:cNvPr id="745" name="Google Shape;745;p32"/>
          <p:cNvSpPr txBox="1"/>
          <p:nvPr>
            <p:ph idx="1" type="body"/>
          </p:nvPr>
        </p:nvSpPr>
        <p:spPr>
          <a:xfrm>
            <a:off x="571370" y="1673455"/>
            <a:ext cx="11010900" cy="213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Clang supports multiple compatibility modes: with GCC and MSVC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part that parses options and issues compile commands is called driver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Output can be seen with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-###</a:t>
            </a:r>
            <a:r>
              <a:rPr lang="en-US"/>
              <a:t> flag</a:t>
            </a:r>
            <a:endParaRPr/>
          </a:p>
        </p:txBody>
      </p:sp>
      <p:pic>
        <p:nvPicPr>
          <p:cNvPr id="746" name="Google Shape;7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88" y="3870597"/>
            <a:ext cx="11586333" cy="1313948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32"/>
          <p:cNvSpPr txBox="1"/>
          <p:nvPr/>
        </p:nvSpPr>
        <p:spPr>
          <a:xfrm>
            <a:off x="1241900" y="5616075"/>
            <a:ext cx="45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grpSp>
        <p:nvGrpSpPr>
          <p:cNvPr id="748" name="Google Shape;748;p32"/>
          <p:cNvGrpSpPr/>
          <p:nvPr/>
        </p:nvGrpSpPr>
        <p:grpSpPr>
          <a:xfrm>
            <a:off x="505000" y="6400788"/>
            <a:ext cx="5188500" cy="445275"/>
            <a:chOff x="289925" y="5611838"/>
            <a:chExt cx="5188500" cy="445275"/>
          </a:xfrm>
        </p:grpSpPr>
        <p:sp>
          <p:nvSpPr>
            <p:cNvPr id="749" name="Google Shape;749;p32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</a:endParaRPr>
            </a:p>
          </p:txBody>
        </p:sp>
        <p:pic>
          <p:nvPicPr>
            <p:cNvPr id="750" name="Google Shape;75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1" name="Google Shape;751;p32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https://godbolt.org/z/rWhqnzhT7</a:t>
              </a:r>
              <a:r>
                <a:rPr lang="en-US" sz="2400">
                  <a:solidFill>
                    <a:schemeClr val="dk1"/>
                  </a:solidFill>
                </a:rPr>
                <a:t> </a:t>
              </a:r>
              <a:endParaRPr sz="24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6971b05c12_0_6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Preprocessor</a:t>
            </a:r>
            <a:endParaRPr/>
          </a:p>
        </p:txBody>
      </p:sp>
      <p:sp>
        <p:nvSpPr>
          <p:cNvPr id="757" name="Google Shape;757;g26971b05c12_0_61"/>
          <p:cNvSpPr txBox="1"/>
          <p:nvPr>
            <p:ph idx="1" type="body"/>
          </p:nvPr>
        </p:nvSpPr>
        <p:spPr>
          <a:xfrm>
            <a:off x="571375" y="1673449"/>
            <a:ext cx="11010900" cy="518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GCC: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gcc -E in.cpp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GNU C compiler preprocessor as a standalone binary. You can use it directly to preprocess C files.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cpp in.cpp in.i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Clang: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clang -E in.cpp</a:t>
            </a:r>
            <a:endParaRPr/>
          </a:p>
        </p:txBody>
      </p:sp>
      <p:grpSp>
        <p:nvGrpSpPr>
          <p:cNvPr id="758" name="Google Shape;758;g26971b05c12_0_61"/>
          <p:cNvGrpSpPr/>
          <p:nvPr/>
        </p:nvGrpSpPr>
        <p:grpSpPr>
          <a:xfrm>
            <a:off x="505000" y="6400788"/>
            <a:ext cx="5188500" cy="445275"/>
            <a:chOff x="289925" y="5611838"/>
            <a:chExt cx="5188500" cy="445275"/>
          </a:xfrm>
        </p:grpSpPr>
        <p:sp>
          <p:nvSpPr>
            <p:cNvPr id="759" name="Google Shape;759;g26971b05c12_0_61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</a:endParaRPr>
            </a:p>
          </p:txBody>
        </p:sp>
        <p:pic>
          <p:nvPicPr>
            <p:cNvPr id="760" name="Google Shape;760;g26971b05c12_0_6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1" name="Google Shape;761;g26971b05c12_0_61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https://godbolt.org/z/5nzzbE15T</a:t>
              </a:r>
              <a:r>
                <a:rPr lang="en-US" sz="2400">
                  <a:solidFill>
                    <a:schemeClr val="dk1"/>
                  </a:solidFill>
                </a:rPr>
                <a:t> </a:t>
              </a:r>
              <a:endParaRPr sz="24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Lexer</a:t>
            </a:r>
            <a:endParaRPr/>
          </a:p>
        </p:txBody>
      </p:sp>
      <p:sp>
        <p:nvSpPr>
          <p:cNvPr id="767" name="Google Shape;767;p34"/>
          <p:cNvSpPr txBox="1"/>
          <p:nvPr>
            <p:ph idx="1" type="body"/>
          </p:nvPr>
        </p:nvSpPr>
        <p:spPr>
          <a:xfrm>
            <a:off x="571370" y="1673455"/>
            <a:ext cx="11010900" cy="2043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Starts right after preprocessor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Flags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-c – compile only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-Xclang -dump-tokens – bypass driver and pass -dump-tokens to FE</a:t>
            </a:r>
            <a:endParaRPr/>
          </a:p>
        </p:txBody>
      </p:sp>
      <p:pic>
        <p:nvPicPr>
          <p:cNvPr id="768" name="Google Shape;7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5566" y="4530704"/>
            <a:ext cx="1694062" cy="553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9219" y="3761413"/>
            <a:ext cx="5106255" cy="23802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0" name="Google Shape;770;p34"/>
          <p:cNvGrpSpPr/>
          <p:nvPr/>
        </p:nvGrpSpPr>
        <p:grpSpPr>
          <a:xfrm>
            <a:off x="505000" y="6400788"/>
            <a:ext cx="5188500" cy="445275"/>
            <a:chOff x="289925" y="5611838"/>
            <a:chExt cx="5188500" cy="445275"/>
          </a:xfrm>
        </p:grpSpPr>
        <p:sp>
          <p:nvSpPr>
            <p:cNvPr id="771" name="Google Shape;771;p34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</a:endParaRPr>
            </a:p>
          </p:txBody>
        </p:sp>
        <p:pic>
          <p:nvPicPr>
            <p:cNvPr id="772" name="Google Shape;772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3" name="Google Shape;773;p34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https://godbolt.org/z/7bPxao3Pz</a:t>
              </a:r>
              <a:r>
                <a:rPr lang="en-US" sz="2400">
                  <a:solidFill>
                    <a:schemeClr val="dk1"/>
                  </a:solidFill>
                </a:rPr>
                <a:t> </a:t>
              </a:r>
              <a:endParaRPr sz="24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Lexer internals</a:t>
            </a:r>
            <a:endParaRPr/>
          </a:p>
        </p:txBody>
      </p:sp>
      <p:sp>
        <p:nvSpPr>
          <p:cNvPr id="779" name="Google Shape;779;p35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Token kinds defined in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clang/include/clang/Basic/TokenKinds.def</a:t>
            </a:r>
            <a:r>
              <a:rPr lang="en-US"/>
              <a:t> </a:t>
            </a:r>
            <a:endParaRPr/>
          </a:p>
          <a:p>
            <a:pPr indent="-5080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Consumed by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clang/include/clang/Parse/Parser.h</a:t>
            </a:r>
            <a:r>
              <a:rPr lang="en-US"/>
              <a:t> </a:t>
            </a:r>
            <a:endParaRPr/>
          </a:p>
        </p:txBody>
      </p:sp>
      <p:pic>
        <p:nvPicPr>
          <p:cNvPr id="780" name="Google Shape;78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1784" y="2164226"/>
            <a:ext cx="6668431" cy="2305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Parser</a:t>
            </a:r>
            <a:endParaRPr/>
          </a:p>
        </p:txBody>
      </p:sp>
      <p:sp>
        <p:nvSpPr>
          <p:cNvPr id="786" name="Google Shape;786;p36"/>
          <p:cNvSpPr txBox="1"/>
          <p:nvPr>
            <p:ph idx="1" type="body"/>
          </p:nvPr>
        </p:nvSpPr>
        <p:spPr>
          <a:xfrm>
            <a:off x="571375" y="1673450"/>
            <a:ext cx="11010900" cy="5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Handwritten recursive-descent parser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Tentative parsing by looking at the tokens ahead</a:t>
            </a:r>
            <a:endParaRPr/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parser can “peek” ahead and choose the best path without committing prematurely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 to recover from errors as much as possible</a:t>
            </a:r>
            <a:endParaRPr/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Prevents cascading errors by synchronizing at known recovery points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Suggest FIX-IT hints</a:t>
            </a:r>
            <a:endParaRPr/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Analyzes error contexts to suggest potential fixes (e.g., missing semicolons, unmatched parentheses)</a:t>
            </a:r>
            <a:endParaRPr/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Aims to improve developer productivity by providing actionable guidance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Sema</a:t>
            </a:r>
            <a:endParaRPr/>
          </a:p>
        </p:txBody>
      </p:sp>
      <p:sp>
        <p:nvSpPr>
          <p:cNvPr id="792" name="Google Shape;792;p3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Tightly coupled with parser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Verifies AST before it is sent out to other clients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Biggest client of diagnostics subsystem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Most warnings and errors come out of here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Sema</a:t>
            </a:r>
            <a:r>
              <a:rPr lang="en-US"/>
              <a:t> verifies that the syntax that passes the parsing stage also makes sense according to the rules of the language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involves checking for type errors, ensuring that variables are declared before use, enforcing scope rules, and more.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AST</a:t>
            </a:r>
            <a:endParaRPr/>
          </a:p>
        </p:txBody>
      </p:sp>
      <p:pic>
        <p:nvPicPr>
          <p:cNvPr id="798" name="Google Shape;798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030" y="1141412"/>
            <a:ext cx="8119904" cy="45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38"/>
          <p:cNvSpPr txBox="1"/>
          <p:nvPr/>
        </p:nvSpPr>
        <p:spPr>
          <a:xfrm>
            <a:off x="776995" y="5710941"/>
            <a:ext cx="10638010" cy="34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https://llvm.org/devmtg/2019-10/slides/ClangTutorial-Stulova-vanHaastregt.pdf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800" name="Google Shape;800;p38"/>
          <p:cNvSpPr txBox="1"/>
          <p:nvPr/>
        </p:nvSpPr>
        <p:spPr>
          <a:xfrm>
            <a:off x="1722025" y="6209450"/>
            <a:ext cx="634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1" name="Google Shape;801;p38"/>
          <p:cNvGrpSpPr/>
          <p:nvPr/>
        </p:nvGrpSpPr>
        <p:grpSpPr>
          <a:xfrm>
            <a:off x="505000" y="6400788"/>
            <a:ext cx="5188500" cy="445275"/>
            <a:chOff x="289925" y="5611838"/>
            <a:chExt cx="5188500" cy="445275"/>
          </a:xfrm>
        </p:grpSpPr>
        <p:sp>
          <p:nvSpPr>
            <p:cNvPr id="802" name="Google Shape;802;p38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</a:endParaRPr>
            </a:p>
          </p:txBody>
        </p:sp>
        <p:pic>
          <p:nvPicPr>
            <p:cNvPr id="803" name="Google Shape;803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4" name="Google Shape;804;p38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https://godbolt.org/z/6Wq38MbPj</a:t>
              </a:r>
              <a:r>
                <a:rPr lang="en-US" sz="2400">
                  <a:solidFill>
                    <a:schemeClr val="dk1"/>
                  </a:solidFill>
                </a:rPr>
                <a:t> </a:t>
              </a:r>
              <a:endParaRPr sz="24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Diagnostics</a:t>
            </a:r>
            <a:endParaRPr/>
          </a:p>
        </p:txBody>
      </p:sp>
      <p:sp>
        <p:nvSpPr>
          <p:cNvPr id="810" name="Google Shape;810;p39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Defined in Diagnostic*Kind.td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Diagnostic engine tries to render output in human-readable format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Not always successful, especially in heavily templated code</a:t>
            </a:r>
            <a:endParaRPr/>
          </a:p>
        </p:txBody>
      </p:sp>
      <p:pic>
        <p:nvPicPr>
          <p:cNvPr id="811" name="Google Shape;81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973" y="2184101"/>
            <a:ext cx="5339203" cy="1891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6971b05c12_0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TableGen language</a:t>
            </a:r>
            <a:endParaRPr/>
          </a:p>
        </p:txBody>
      </p:sp>
      <p:sp>
        <p:nvSpPr>
          <p:cNvPr id="817" name="Google Shape;817;g26971b05c12_0_1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LLVM TableGen language is a domain-specific language used within the LLVM project framework.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Key points: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Description Tool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Code Generation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Extensible with writing additional code generators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Language is widely used in LLVM frontend and backend, MLIR and other components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Language reference: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https://llvm.org/docs/TableGen/ProgRef.html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6971b05c12_0_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TableGen example</a:t>
            </a:r>
            <a:endParaRPr/>
          </a:p>
        </p:txBody>
      </p:sp>
      <p:sp>
        <p:nvSpPr>
          <p:cNvPr id="823" name="Google Shape;823;g26971b05c12_0_7"/>
          <p:cNvSpPr txBox="1"/>
          <p:nvPr>
            <p:ph idx="1" type="body"/>
          </p:nvPr>
        </p:nvSpPr>
        <p:spPr>
          <a:xfrm>
            <a:off x="571372" y="1673450"/>
            <a:ext cx="52752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Here is the example: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code snippet that could be used to add new attribute for </a:t>
            </a:r>
            <a:r>
              <a:rPr lang="en-US"/>
              <a:t>clang</a:t>
            </a:r>
            <a:endParaRPr/>
          </a:p>
        </p:txBody>
      </p:sp>
      <p:sp>
        <p:nvSpPr>
          <p:cNvPr id="824" name="Google Shape;824;g26971b05c12_0_7"/>
          <p:cNvSpPr txBox="1"/>
          <p:nvPr/>
        </p:nvSpPr>
        <p:spPr>
          <a:xfrm>
            <a:off x="6352250" y="1635750"/>
            <a:ext cx="51384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// In File: clang/include/clang/Basic/Attr.td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include "clang/Basic/AttrDocs.td"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def MyAttr : InheritableAttr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  let Documentation = [Undocumented];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  // This specifies the attribute is for functions.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  let Subjects = SubjectList&lt;[Function], ErrorDiag&gt;;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  // The spelling of the attribute in the source code.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  let Spellings = [CXX11&lt;"clang", "my_attr"&gt;];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  // The attribute does not take any arguments.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  let Args = [];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5" name="Google Shape;825;g26971b05c12_0_7"/>
          <p:cNvSpPr txBox="1"/>
          <p:nvPr/>
        </p:nvSpPr>
        <p:spPr>
          <a:xfrm>
            <a:off x="1294725" y="3271175"/>
            <a:ext cx="2559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[[clang::my_attr]]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void foo()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__attribute__((my_attr))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foo()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Lab assignment #0</a:t>
            </a:r>
            <a:endParaRPr/>
          </a:p>
        </p:txBody>
      </p:sp>
      <p:sp>
        <p:nvSpPr>
          <p:cNvPr id="831" name="Google Shape;831;p40"/>
          <p:cNvSpPr txBox="1"/>
          <p:nvPr>
            <p:ph idx="1" type="body"/>
          </p:nvPr>
        </p:nvSpPr>
        <p:spPr>
          <a:xfrm>
            <a:off x="571375" y="1673450"/>
            <a:ext cx="11010900" cy="50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 to build LLVM and Clang from source code and run tests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Source code: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https://github.com/NN-complr-tech/compiler-course-2026</a:t>
            </a:r>
            <a:r>
              <a:rPr lang="en-US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Follow up-to-date build instructions: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https://llvm.org/docs/CMake.html</a:t>
            </a:r>
            <a:r>
              <a:rPr lang="en-US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Make sure to run check-clang and check-llvm targets, e.g.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cmake --build . --target check-clang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Better to be performed on Linux or macOS. Windows is also OK (WSL is more preferable for better experience in this case).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Goal: learn how to work with basic LLVM infrastructure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Build: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may take up to several hours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usually </a:t>
            </a:r>
            <a:r>
              <a:rPr lang="en-US"/>
              <a:t>requires 2GB of</a:t>
            </a:r>
            <a:r>
              <a:rPr lang="en-US"/>
              <a:t> RAM per 1 thread. One can reduce number of threads with </a:t>
            </a:r>
            <a:r>
              <a:rPr i="1" lang="en-US"/>
              <a:t>-j n</a:t>
            </a:r>
            <a:r>
              <a:rPr lang="en-US"/>
              <a:t> flag, where n is </a:t>
            </a:r>
            <a:r>
              <a:rPr lang="en-US"/>
              <a:t>a number of</a:t>
            </a:r>
            <a:r>
              <a:rPr lang="en-US"/>
              <a:t> threads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Next time…</a:t>
            </a:r>
            <a:endParaRPr/>
          </a:p>
        </p:txBody>
      </p:sp>
      <p:sp>
        <p:nvSpPr>
          <p:cNvPr id="837" name="Google Shape;837;p41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Look closer at practical usages of clang AST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Working with AST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Clang plugins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Clang-tidy and static analysis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2fa9fa7a23_0_2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843" name="Google Shape;843;g32fa9fa7a23_0_21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https://forms.gle/sA5VYne7p9UyHdbH9</a:t>
            </a:r>
            <a:r>
              <a:rPr lang="en-US"/>
              <a:t> </a:t>
            </a:r>
            <a:endParaRPr/>
          </a:p>
        </p:txBody>
      </p:sp>
      <p:sp>
        <p:nvSpPr>
          <p:cNvPr id="844" name="Google Shape;844;g32fa9fa7a23_0_21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845" name="Google Shape;845;g32fa9fa7a23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5050" y="1812200"/>
            <a:ext cx="29718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g32fa9fa7a23_0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340110"/>
            <a:ext cx="8742650" cy="3908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c8227e1633_0_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852" name="Google Shape;852;g3c8227e1633_0_5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https://forms.gle/LtXauXwLTZP6DM3K9</a:t>
            </a:r>
            <a:r>
              <a:rPr lang="en-US"/>
              <a:t> </a:t>
            </a:r>
            <a:endParaRPr/>
          </a:p>
        </p:txBody>
      </p:sp>
      <p:sp>
        <p:nvSpPr>
          <p:cNvPr id="853" name="Google Shape;853;g3c8227e1633_0_5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854" name="Google Shape;854;g3c8227e1633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92400" y="1571600"/>
            <a:ext cx="30289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g3c8227e1633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825" y="2255326"/>
            <a:ext cx="8116651" cy="4052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2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861" name="Google Shape;861;p42"/>
          <p:cNvSpPr txBox="1"/>
          <p:nvPr>
            <p:ph idx="1" type="body"/>
          </p:nvPr>
        </p:nvSpPr>
        <p:spPr>
          <a:xfrm>
            <a:off x="571500" y="1673402"/>
            <a:ext cx="10837852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lang="en-US" sz="1700"/>
              <a:t>An overview of Clang, LLVM Dev 2019 - </a:t>
            </a:r>
            <a:r>
              <a:rPr lang="en-US" sz="1700" u="sng">
                <a:solidFill>
                  <a:schemeClr val="hlink"/>
                </a:solidFill>
                <a:hlinkClick r:id="rId3"/>
              </a:rPr>
              <a:t>https://www.youtube.com/watch?v=5kkMpJpIGYU</a:t>
            </a:r>
            <a:r>
              <a:rPr lang="en-US" sz="1700"/>
              <a:t> </a:t>
            </a:r>
            <a:endParaRPr sz="1700"/>
          </a:p>
          <a:p>
            <a:pPr indent="-2349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lang="en-US" sz="1700"/>
              <a:t>What is C++, Chandler Carruth, Titus Winters - </a:t>
            </a:r>
            <a:r>
              <a:rPr lang="en-US" sz="1700" u="sng">
                <a:solidFill>
                  <a:schemeClr val="hlink"/>
                </a:solidFill>
                <a:hlinkClick r:id="rId4"/>
              </a:rPr>
              <a:t>https://www.youtube.com/watch?v=LJh5QCV4wDg</a:t>
            </a:r>
            <a:r>
              <a:rPr lang="en-US" sz="1700"/>
              <a:t> </a:t>
            </a:r>
            <a:endParaRPr sz="1700"/>
          </a:p>
          <a:p>
            <a:pPr indent="-2349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lang="en-US" sz="1700"/>
              <a:t>Hacking on clang - </a:t>
            </a:r>
            <a:r>
              <a:rPr lang="en-US" sz="1700" u="sng">
                <a:solidFill>
                  <a:schemeClr val="hlink"/>
                </a:solidFill>
                <a:hlinkClick r:id="rId5"/>
              </a:rPr>
              <a:t>https://clang.llvm.org/hacking.html</a:t>
            </a:r>
            <a:r>
              <a:rPr lang="en-US" sz="1700"/>
              <a:t> </a:t>
            </a:r>
            <a:endParaRPr sz="1700"/>
          </a:p>
          <a:p>
            <a:pPr indent="-2349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Lessons in TableGen - </a:t>
            </a:r>
            <a:r>
              <a:rPr lang="en-US" sz="1700" u="sng">
                <a:solidFill>
                  <a:schemeClr val="hlink"/>
                </a:solidFill>
                <a:hlinkClick r:id="rId6"/>
              </a:rPr>
              <a:t>https://www.youtube.com/watch?v=45gmF77JFBY</a:t>
            </a:r>
            <a:r>
              <a:rPr lang="en-US" sz="1700"/>
              <a:t> </a:t>
            </a:r>
            <a:endParaRPr sz="1700"/>
          </a:p>
          <a:p>
            <a:pPr indent="-2349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The Clang AST - a tutorial - </a:t>
            </a:r>
            <a:r>
              <a:rPr lang="en-US" sz="1700" u="sng">
                <a:solidFill>
                  <a:schemeClr val="hlink"/>
                </a:solidFill>
                <a:hlinkClick r:id="rId7"/>
              </a:rPr>
              <a:t>https://www.youtube.com/watch?v=VqCkCDFLSsc</a:t>
            </a:r>
            <a:r>
              <a:rPr lang="en-US" sz="1700"/>
              <a:t> </a:t>
            </a:r>
            <a:endParaRPr sz="1700"/>
          </a:p>
          <a:p>
            <a:pPr indent="-222250" lvl="0" marL="228600" rtl="0" algn="l">
              <a:spcBef>
                <a:spcPts val="1000"/>
              </a:spcBef>
              <a:spcAft>
                <a:spcPts val="0"/>
              </a:spcAft>
              <a:buSzPts val="1700"/>
              <a:buFont typeface="Calibri"/>
              <a:buChar char="•"/>
            </a:pPr>
            <a:r>
              <a:rPr lang="en-US" sz="1700"/>
              <a:t>Гладкий А. В. Формальные грамматики и языки (RU)</a:t>
            </a:r>
            <a:endParaRPr sz="1700"/>
          </a:p>
          <a:p>
            <a:pPr indent="-222250" lvl="0" marL="228600" rtl="0" algn="l">
              <a:spcBef>
                <a:spcPts val="1000"/>
              </a:spcBef>
              <a:spcAft>
                <a:spcPts val="0"/>
              </a:spcAft>
              <a:buSzPts val="1700"/>
              <a:buFont typeface="Calibri"/>
              <a:buChar char="•"/>
            </a:pPr>
            <a:r>
              <a:rPr lang="en-US" sz="1700"/>
              <a:t>Хопкрофт Дж., Мотвани Р., Ульман Дж. Введение в теорию автоматов, языков и вычислений (RU)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2022-02-11T08:56:50Z</dcterms:created>
  <dc:creator>Batashev, Alexander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0x01010079C5967B1E29274CA6A143F9D247F5D2</vt:lpwstr>
  </property>
</Properties>
</file>