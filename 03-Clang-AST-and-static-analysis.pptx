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6858000" cx="12192000"/>
  <p:notesSz cx="6858000" cy="9144000"/>
  <p:embeddedFontLst>
    <p:embeddedFont>
      <p:font typeface="Helvetica Neue"/>
      <p:regular r:id="rId45"/>
      <p:bold r:id="rId46"/>
      <p:italic r:id="rId47"/>
      <p:boldItalic r:id="rId48"/>
    </p:embeddedFont>
    <p:embeddedFont>
      <p:font typeface="Roboto Mono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32">
          <p15:clr>
            <a:srgbClr val="A4A3A4"/>
          </p15:clr>
        </p15:guide>
        <p15:guide id="2" pos="7392">
          <p15:clr>
            <a:srgbClr val="A4A3A4"/>
          </p15:clr>
        </p15:guide>
      </p15:sldGuideLst>
    </p:ext>
    <p:ext uri="GoogleSlidesCustomDataVersion2">
      <go:slidesCustomData xmlns:go="http://customooxmlschemas.google.com/" r:id="rId53" roundtripDataSignature="AMtx7mjw4UuegfdHOF5U+aQyrcz4E93K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32" orient="horz"/>
        <p:guide pos="73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HelveticaNeue-bold.fntdata"/><Relationship Id="rId45" Type="http://schemas.openxmlformats.org/officeDocument/2006/relationships/font" Target="fonts/HelveticaNeu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HelveticaNeue-boldItalic.fntdata"/><Relationship Id="rId47" Type="http://schemas.openxmlformats.org/officeDocument/2006/relationships/font" Target="fonts/HelveticaNeue-italic.fntdata"/><Relationship Id="rId49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italic.fntdata"/><Relationship Id="rId50" Type="http://schemas.openxmlformats.org/officeDocument/2006/relationships/font" Target="fonts/RobotoMono-bold.fntdata"/><Relationship Id="rId53" Type="http://customschemas.google.com/relationships/presentationmetadata" Target="metadata"/><Relationship Id="rId52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RU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43fb3192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43fb31921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43fb31921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943fb31921_0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86b55b7e1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c86b55b7e1_0_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bb3f83c6a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bb3f83c6aa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bb3f83c6aa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bb3f83c6aa_0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bb3f83c6aa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bb3f83c6aa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bb3f83c6aa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bb3f83c6aa_0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bb3f83c6aa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bb3f83c6aa_0_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6a25c02a4b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6a25c02a4b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2fabb4c2d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2fabb4c2d1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c86b55b7e1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c86b55b7e1_0_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lue A" showMasterSp="0">
  <p:cSld name="Title Blue A">
    <p:bg>
      <p:bgPr>
        <a:solidFill>
          <a:srgbClr val="184A8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2" name="Google Shape;12;p31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ntent Columns">
  <p:cSld name="Title &amp; 2 Content 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3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33"/>
          <p:cNvSpPr txBox="1"/>
          <p:nvPr>
            <p:ph idx="1" type="body"/>
          </p:nvPr>
        </p:nvSpPr>
        <p:spPr>
          <a:xfrm>
            <a:off x="571500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2" type="body"/>
          </p:nvPr>
        </p:nvSpPr>
        <p:spPr>
          <a:xfrm>
            <a:off x="6289113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showMasterSp="0">
  <p:cSld name="End Slide">
    <p:bg>
      <p:bgPr>
        <a:solidFill>
          <a:schemeClr val="accen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4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Blue B" showMasterSp="0">
  <p:cSld name="1_Title Blue B">
    <p:bg>
      <p:bgPr>
        <a:solidFill>
          <a:srgbClr val="184A86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35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5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hite" showMasterSp="0">
  <p:cSld name="Title Whit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6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882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6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500"/>
              <a:buFont typeface="Arial"/>
              <a:buNone/>
              <a:defRPr sz="75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i="0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36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36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6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6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6513" y="5992753"/>
            <a:ext cx="1031758" cy="384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">
  <p:cSld name="Title, Sub &amp;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" type="body"/>
          </p:nvPr>
        </p:nvSpPr>
        <p:spPr>
          <a:xfrm>
            <a:off x="571370" y="2139953"/>
            <a:ext cx="11010900" cy="410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2" type="body"/>
          </p:nvPr>
        </p:nvSpPr>
        <p:spPr>
          <a:xfrm>
            <a:off x="57137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2 Content Columns">
  <p:cSld name="Title, Sub &amp; 2 Content 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" type="body"/>
          </p:nvPr>
        </p:nvSpPr>
        <p:spPr>
          <a:xfrm>
            <a:off x="571500" y="2139951"/>
            <a:ext cx="5288525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44" name="Google Shape;44;p39"/>
          <p:cNvSpPr txBox="1"/>
          <p:nvPr>
            <p:ph idx="2" type="body"/>
          </p:nvPr>
        </p:nvSpPr>
        <p:spPr>
          <a:xfrm>
            <a:off x="6289113" y="2139951"/>
            <a:ext cx="5288525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39"/>
          <p:cNvSpPr txBox="1"/>
          <p:nvPr>
            <p:ph idx="3" type="body"/>
          </p:nvPr>
        </p:nvSpPr>
        <p:spPr>
          <a:xfrm>
            <a:off x="57150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2 Pictures">
  <p:cSld name="Title, Sub, Content &amp; 2 Picture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0"/>
          <p:cNvSpPr txBox="1"/>
          <p:nvPr>
            <p:ph type="title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40"/>
          <p:cNvSpPr txBox="1"/>
          <p:nvPr>
            <p:ph idx="1" type="body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40"/>
          <p:cNvSpPr txBox="1"/>
          <p:nvPr>
            <p:ph idx="2" type="body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40"/>
          <p:cNvSpPr/>
          <p:nvPr>
            <p:ph idx="3" type="pic"/>
          </p:nvPr>
        </p:nvSpPr>
        <p:spPr>
          <a:xfrm>
            <a:off x="6609331" y="571500"/>
            <a:ext cx="4668837" cy="238125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40"/>
          <p:cNvSpPr/>
          <p:nvPr>
            <p:ph idx="4" type="pic"/>
          </p:nvPr>
        </p:nvSpPr>
        <p:spPr>
          <a:xfrm>
            <a:off x="6609331" y="3537061"/>
            <a:ext cx="4668837" cy="238125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40"/>
          <p:cNvSpPr txBox="1"/>
          <p:nvPr>
            <p:ph idx="5" type="body"/>
          </p:nvPr>
        </p:nvSpPr>
        <p:spPr>
          <a:xfrm>
            <a:off x="571500" y="2139952"/>
            <a:ext cx="5768944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6" type="body"/>
          </p:nvPr>
        </p:nvSpPr>
        <p:spPr>
          <a:xfrm>
            <a:off x="571500" y="1612901"/>
            <a:ext cx="576894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Picture">
  <p:cSld name="Title, Sub, Content &amp; Pictur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/>
          <p:nvPr>
            <p:ph idx="2" type="pic"/>
          </p:nvPr>
        </p:nvSpPr>
        <p:spPr>
          <a:xfrm>
            <a:off x="6615046" y="0"/>
            <a:ext cx="5129422" cy="6416167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41"/>
          <p:cNvSpPr txBox="1"/>
          <p:nvPr>
            <p:ph type="title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57" name="Google Shape;57;p41"/>
          <p:cNvSpPr txBox="1"/>
          <p:nvPr>
            <p:ph idx="1" type="body"/>
          </p:nvPr>
        </p:nvSpPr>
        <p:spPr>
          <a:xfrm>
            <a:off x="571500" y="2139952"/>
            <a:ext cx="5768944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8" name="Google Shape;58;p41"/>
          <p:cNvSpPr txBox="1"/>
          <p:nvPr>
            <p:ph idx="3" type="body"/>
          </p:nvPr>
        </p:nvSpPr>
        <p:spPr>
          <a:xfrm>
            <a:off x="571500" y="1612901"/>
            <a:ext cx="576894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Full Page Picture">
  <p:cSld name="Title &amp; Full Page Pictur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2"/>
          <p:cNvSpPr/>
          <p:nvPr>
            <p:ph idx="2" type="pic"/>
          </p:nvPr>
        </p:nvSpPr>
        <p:spPr>
          <a:xfrm>
            <a:off x="-11286" y="0"/>
            <a:ext cx="11744325" cy="6401797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42"/>
          <p:cNvSpPr txBox="1"/>
          <p:nvPr>
            <p:ph type="title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Quote">
  <p:cSld name="Title &amp; Quot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3"/>
          <p:cNvSpPr txBox="1"/>
          <p:nvPr>
            <p:ph type="title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64" name="Google Shape;64;p43"/>
          <p:cNvSpPr txBox="1"/>
          <p:nvPr>
            <p:ph idx="1" type="body"/>
          </p:nvPr>
        </p:nvSpPr>
        <p:spPr>
          <a:xfrm>
            <a:off x="571500" y="1592529"/>
            <a:ext cx="11010900" cy="3727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43"/>
          <p:cNvSpPr txBox="1"/>
          <p:nvPr>
            <p:ph idx="2" type="body"/>
          </p:nvPr>
        </p:nvSpPr>
        <p:spPr>
          <a:xfrm>
            <a:off x="571500" y="5461818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hart Example" showMasterSp="0">
  <p:cSld name="3_Chart Example">
    <p:bg>
      <p:bgPr>
        <a:solidFill>
          <a:schemeClr val="accen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4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68;p44"/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4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4"/>
          <p:cNvSpPr txBox="1"/>
          <p:nvPr>
            <p:ph type="title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" type="body"/>
          </p:nvPr>
        </p:nvSpPr>
        <p:spPr>
          <a:xfrm>
            <a:off x="571500" y="1599816"/>
            <a:ext cx="11010900" cy="3719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pic>
        <p:nvPicPr>
          <p:cNvPr descr="Image" id="72" name="Google Shape;72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4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74" name="Google Shape;74;p44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75" name="Google Shape;75;p44"/>
          <p:cNvSpPr txBox="1"/>
          <p:nvPr>
            <p:ph idx="2" type="body"/>
          </p:nvPr>
        </p:nvSpPr>
        <p:spPr>
          <a:xfrm>
            <a:off x="571500" y="5476099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44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White">
  <p:cSld name="Section Break Whit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5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800"/>
              <a:buFont typeface="Arial"/>
              <a:buNone/>
              <a:defRPr sz="48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79" name="Google Shape;79;p45"/>
          <p:cNvSpPr txBox="1"/>
          <p:nvPr>
            <p:ph idx="1" type="body"/>
          </p:nvPr>
        </p:nvSpPr>
        <p:spPr>
          <a:xfrm>
            <a:off x="571500" y="3939750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Blue" showMasterSp="0">
  <p:cSld name="Section Break Blue">
    <p:bg>
      <p:bgPr>
        <a:solidFill>
          <a:schemeClr val="accen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6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82" name="Google Shape;82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6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6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85" name="Google Shape;85;p46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86" name="Google Shape;86;p46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46"/>
          <p:cNvSpPr txBox="1"/>
          <p:nvPr>
            <p:ph idx="1" type="body"/>
          </p:nvPr>
        </p:nvSpPr>
        <p:spPr>
          <a:xfrm>
            <a:off x="571500" y="3948942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88" name="Google Shape;88;p46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Light Blue" showMasterSp="0">
  <p:cSld name="Section Break Light Blue">
    <p:bg>
      <p:bgPr>
        <a:solidFill>
          <a:srgbClr val="0095BD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7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47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92" name="Google Shape;92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7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7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7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96" name="Google Shape;96;p47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97" name="Google Shape;97;p47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98" name="Google Shape;98;p47"/>
          <p:cNvSpPr txBox="1"/>
          <p:nvPr>
            <p:ph idx="1" type="body"/>
          </p:nvPr>
        </p:nvSpPr>
        <p:spPr>
          <a:xfrm>
            <a:off x="571500" y="3964420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" showMasterSp="0">
  <p:cSld name="Title, Sub &amp; Content Blue">
    <p:bg>
      <p:bgPr>
        <a:solidFill>
          <a:schemeClr val="dk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8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8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8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8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8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05" name="Google Shape;105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8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8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08" name="Google Shape;108;p48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09" name="Google Shape;109;p48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10" name="Google Shape;110;p48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11" name="Google Shape;111;p48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2" showMasterSp="0">
  <p:cSld name="Title, Sub &amp; Content Blue 2">
    <p:bg>
      <p:bgPr>
        <a:solidFill>
          <a:schemeClr val="dk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9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9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9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9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9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18" name="Google Shape;118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9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9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21" name="Google Shape;121;p49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22" name="Google Shape;122;p49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23" name="Google Shape;123;p49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24" name="Google Shape;124;p49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" showMasterSp="0">
  <p:cSld name="Title, Sub &amp; Content Light Blue">
    <p:bg>
      <p:bgPr>
        <a:solidFill>
          <a:schemeClr val="accent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0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0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28" name="Google Shape;128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0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0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0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0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0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0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35" name="Google Shape;135;p50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36" name="Google Shape;136;p50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37" name="Google Shape;137;p50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38" name="Google Shape;138;p50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Gray">
  <p:cSld name="Title, Sub, Content Gray">
    <p:bg>
      <p:bgPr>
        <a:solidFill>
          <a:srgbClr val="F2F2F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1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1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1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1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  <a:defRPr>
                <a:solidFill>
                  <a:schemeClr val="lt2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>
                <a:solidFill>
                  <a:schemeClr val="lt2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44" name="Google Shape;144;p51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45" name="Google Shape;145;p51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46" name="Google Shape;146;p51"/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3" showMasterSp="0">
  <p:cSld name="Title, Sub &amp; Content Blue 3">
    <p:bg>
      <p:bgPr>
        <a:solidFill>
          <a:schemeClr val="accen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2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49" name="Google Shape;149;p52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0" name="Google Shape;150;p52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1" name="Google Shape;151;p52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p52"/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2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54" name="Google Shape;154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2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56" name="Google Shape;156;p52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57" name="Google Shape;157;p52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 2" showMasterSp="0">
  <p:cSld name="Title, Sub &amp; Content Light Blue 2">
    <p:bg>
      <p:bgPr>
        <a:solidFill>
          <a:srgbClr val="0095BD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3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60" name="Google Shape;160;p53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61" name="Google Shape;161;p53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62" name="Google Shape;162;p53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3" name="Google Shape;163;p53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64" name="Google Shape;164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53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66" name="Google Shape;166;p53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67" name="Google Shape;167;p53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White">
  <p:cSld name="Title &amp; Sub Whit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" name="Google Shape;169;p54"/>
          <p:cNvGraphicFramePr/>
          <p:nvPr/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70" name="Google Shape;170;p54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71" name="Google Shape;171;p54"/>
          <p:cNvSpPr/>
          <p:nvPr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54"/>
          <p:cNvSpPr/>
          <p:nvPr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Blue" showMasterSp="0">
  <p:cSld name="Title &amp; Sub Blue">
    <p:bg>
      <p:bgPr>
        <a:solidFill>
          <a:schemeClr val="dk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5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5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76" name="Google Shape;176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5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5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5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80" name="Google Shape;180;p55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81" name="Google Shape;181;p55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Light Blue" showMasterSp="0">
  <p:cSld name="Title &amp; Sub Light Blue">
    <p:bg>
      <p:bgPr>
        <a:solidFill>
          <a:srgbClr val="00C7FD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6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6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85" name="Google Shape;185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6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6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6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89" name="Google Shape;189;p56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90" name="Google Shape;190;p56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idx="1" type="body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30"/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s://pvs-studio.com/en/blog/posts/cpp/0873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hyperlink" Target="https://www.accelq.com/blog/static-code-analysis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lang.llvm.org/docs/ClangFormatStyleOptions.html" TargetMode="External"/><Relationship Id="rId4" Type="http://schemas.openxmlformats.org/officeDocument/2006/relationships/hyperlink" Target="https://llvm.org/docs/CodingStandards.html" TargetMode="External"/><Relationship Id="rId9" Type="http://schemas.openxmlformats.org/officeDocument/2006/relationships/hyperlink" Target="https://docs.microsoft.com/en-us/visualstudio/ide/editorconfig-code-style-settings-reference" TargetMode="External"/><Relationship Id="rId5" Type="http://schemas.openxmlformats.org/officeDocument/2006/relationships/hyperlink" Target="https://google.github.io/styleguide/cppguide.html" TargetMode="External"/><Relationship Id="rId6" Type="http://schemas.openxmlformats.org/officeDocument/2006/relationships/hyperlink" Target="https://chromium.googlesource.com/chromium/src/+/refs/heads/main/styleguide/styleguide.md" TargetMode="External"/><Relationship Id="rId7" Type="http://schemas.openxmlformats.org/officeDocument/2006/relationships/hyperlink" Target="https://firefox-source-docs.mozilla.org/code-quality/coding-style/index.html" TargetMode="External"/><Relationship Id="rId8" Type="http://schemas.openxmlformats.org/officeDocument/2006/relationships/hyperlink" Target="https://www.webkit.org/coding/coding-style.html" TargetMode="External"/><Relationship Id="rId10" Type="http://schemas.openxmlformats.org/officeDocument/2006/relationships/hyperlink" Target="https://www.gnu.org/prep/standards/standards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en.wikipedia.org/wiki/Control-flow_graph" TargetMode="External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hyperlink" Target="https://www.boost.org/doc/libs/1_85_0/libs/graph/doc/lengauer_tarjan_dominator.htm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llvm.org/devmtg/2017-10/slides/Kuderski-Dominator_Trees.pdf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lang.llvm.org/docs/index.html#using-clang-as-a-library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youtube.com/watch?v=VqCkCDFLSsc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lang.llvm.org/docs/RAVFrontendAction.html" TargetMode="External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lang.llvm.org/docs/LibASTMatchersReference.html#decl-matchers" TargetMode="External"/><Relationship Id="rId4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clang.llvm.org/extra/clang-tidy/index.html" TargetMode="External"/><Relationship Id="rId4" Type="http://schemas.openxmlformats.org/officeDocument/2006/relationships/hyperlink" Target="https://clang.llvm.org/extra/clang-tidy/checks/list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github.com/llvm/llvm-project/blob/main/clang-tools-extra/clang-tidy/llvm/" TargetMode="External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lang.llvm.org/extra/modularize.html" TargetMode="External"/><Relationship Id="rId4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isocpp.github.io/CppCoreGuidelines/CppCoreGuidelines" TargetMode="External"/><Relationship Id="rId4" Type="http://schemas.openxmlformats.org/officeDocument/2006/relationships/hyperlink" Target="https://clang.llvm.org/extra/clang-tidy/checks/cppcoreguidelines/owning-memory.html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clang.llvm.org/docs/ClangPlugins.html" TargetMode="External"/><Relationship Id="rId4" Type="http://schemas.openxmlformats.org/officeDocument/2006/relationships/hyperlink" Target="https://github.com/llvm/llvm-project/tree/main/clang/examples/PrintFunctionNames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llvm.org/docs/CommandGuide/FileCheck.html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llvm.org/docs/CommandGuide/lit.html" TargetMode="External"/><Relationship Id="rId4" Type="http://schemas.openxmlformats.org/officeDocument/2006/relationships/image" Target="../media/image20.png"/><Relationship Id="rId5" Type="http://schemas.openxmlformats.org/officeDocument/2006/relationships/hyperlink" Target="https://medium.com/@mshockwave/using-llvm-lit-out-of-tree-5cddada85a78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forms.gle/KedxuyGUAkYiMmYf6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21.png"/><Relationship Id="rId6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forms.gle/B3ZrMNTH7wraYEtm6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24.png"/><Relationship Id="rId6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youtube.com/watch?v=OROXJ9-wUQE" TargetMode="External"/><Relationship Id="rId4" Type="http://schemas.openxmlformats.org/officeDocument/2006/relationships/hyperlink" Target="https://github.com/lac-dcc/llvm-course/tree/master/ast-matcher" TargetMode="External"/><Relationship Id="rId5" Type="http://schemas.openxmlformats.org/officeDocument/2006/relationships/hyperlink" Target="https://www.youtube.com/watch?v=mizS4KnfTtQ" TargetMode="External"/><Relationship Id="rId6" Type="http://schemas.openxmlformats.org/officeDocument/2006/relationships/hyperlink" Target="https://www.youtube.com/watch?v=_rUwW8Awc5s" TargetMode="External"/><Relationship Id="rId7" Type="http://schemas.openxmlformats.org/officeDocument/2006/relationships/hyperlink" Target="https://yegor256.github.io/sqm/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</a:pPr>
            <a:r>
              <a:rPr lang="en-US"/>
              <a:t>Compilers 101</a:t>
            </a:r>
            <a:endParaRPr/>
          </a:p>
        </p:txBody>
      </p:sp>
      <p:sp>
        <p:nvSpPr>
          <p:cNvPr id="196" name="Google Shape;196;p1"/>
          <p:cNvSpPr txBox="1"/>
          <p:nvPr>
            <p:ph idx="2" type="body"/>
          </p:nvPr>
        </p:nvSpPr>
        <p:spPr>
          <a:xfrm>
            <a:off x="1908350" y="4778594"/>
            <a:ext cx="102837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Compiler frontend.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AST and static analysis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Previously…</a:t>
            </a:r>
            <a:endParaRPr/>
          </a:p>
        </p:txBody>
      </p:sp>
      <p:sp>
        <p:nvSpPr>
          <p:cNvPr id="202" name="Google Shape;202;p2"/>
          <p:cNvSpPr/>
          <p:nvPr/>
        </p:nvSpPr>
        <p:spPr>
          <a:xfrm>
            <a:off x="855405" y="1544658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2"/>
          <p:cNvSpPr/>
          <p:nvPr/>
        </p:nvSpPr>
        <p:spPr>
          <a:xfrm>
            <a:off x="855404" y="2098214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p2"/>
          <p:cNvSpPr/>
          <p:nvPr/>
        </p:nvSpPr>
        <p:spPr>
          <a:xfrm>
            <a:off x="855403" y="2651770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p2"/>
          <p:cNvSpPr/>
          <p:nvPr/>
        </p:nvSpPr>
        <p:spPr>
          <a:xfrm>
            <a:off x="855405" y="3213202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2"/>
          <p:cNvSpPr/>
          <p:nvPr/>
        </p:nvSpPr>
        <p:spPr>
          <a:xfrm>
            <a:off x="855401" y="4382232"/>
            <a:ext cx="2861100" cy="379500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2"/>
          <p:cNvSpPr/>
          <p:nvPr/>
        </p:nvSpPr>
        <p:spPr>
          <a:xfrm>
            <a:off x="6707568" y="2474368"/>
            <a:ext cx="1828800" cy="594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/>
          </a:p>
        </p:txBody>
      </p:sp>
      <p:sp>
        <p:nvSpPr>
          <p:cNvPr id="208" name="Google Shape;208;p2"/>
          <p:cNvSpPr/>
          <p:nvPr/>
        </p:nvSpPr>
        <p:spPr>
          <a:xfrm>
            <a:off x="6478475" y="4241871"/>
            <a:ext cx="2286900" cy="594900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Middle-end</a:t>
            </a:r>
            <a:endParaRPr/>
          </a:p>
        </p:txBody>
      </p:sp>
      <p:sp>
        <p:nvSpPr>
          <p:cNvPr id="209" name="Google Shape;209;p2"/>
          <p:cNvSpPr/>
          <p:nvPr/>
        </p:nvSpPr>
        <p:spPr>
          <a:xfrm>
            <a:off x="6478476" y="5064028"/>
            <a:ext cx="2286900" cy="594900"/>
          </a:xfrm>
          <a:prstGeom prst="rect">
            <a:avLst/>
          </a:prstGeom>
          <a:solidFill>
            <a:srgbClr val="70AD47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/>
          </a:p>
        </p:txBody>
      </p:sp>
      <p:sp>
        <p:nvSpPr>
          <p:cNvPr id="210" name="Google Shape;210;p2"/>
          <p:cNvSpPr/>
          <p:nvPr/>
        </p:nvSpPr>
        <p:spPr>
          <a:xfrm>
            <a:off x="855400" y="5505072"/>
            <a:ext cx="2861100" cy="471900"/>
          </a:xfrm>
          <a:prstGeom prst="rect">
            <a:avLst/>
          </a:prstGeom>
          <a:solidFill>
            <a:srgbClr val="70AD47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p2"/>
          <p:cNvSpPr/>
          <p:nvPr/>
        </p:nvSpPr>
        <p:spPr>
          <a:xfrm>
            <a:off x="855411" y="4897503"/>
            <a:ext cx="2861100" cy="471900"/>
          </a:xfrm>
          <a:prstGeom prst="rect">
            <a:avLst/>
          </a:prstGeom>
          <a:solidFill>
            <a:srgbClr val="70AD47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2"/>
          <p:cNvSpPr/>
          <p:nvPr/>
        </p:nvSpPr>
        <p:spPr>
          <a:xfrm>
            <a:off x="855405" y="3797715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218" name="Google Shape;218;p3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Static analysis and its use cases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Control-flow graphs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Practical usage of Clang framework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What is static analysis?</a:t>
            </a:r>
            <a:endParaRPr/>
          </a:p>
        </p:txBody>
      </p:sp>
      <p:sp>
        <p:nvSpPr>
          <p:cNvPr id="224" name="Google Shape;224;p4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Static analysis is the analysis of software without executing any program code</a:t>
            </a:r>
            <a:endParaRPr/>
          </a:p>
        </p:txBody>
      </p:sp>
      <p:pic>
        <p:nvPicPr>
          <p:cNvPr id="225" name="Google Shape;22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7625" y="2107902"/>
            <a:ext cx="7430500" cy="41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"/>
          <p:cNvSpPr txBox="1"/>
          <p:nvPr/>
        </p:nvSpPr>
        <p:spPr>
          <a:xfrm>
            <a:off x="6091588" y="6089268"/>
            <a:ext cx="53112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5"/>
              <a:t>Pic: </a:t>
            </a:r>
            <a:r>
              <a:rPr lang="en-US" sz="1535" u="sng">
                <a:solidFill>
                  <a:schemeClr val="hlink"/>
                </a:solidFill>
                <a:hlinkClick r:id="rId4"/>
              </a:rPr>
              <a:t>https://pvs-studio.com/en/blog/posts/cpp/0873/</a:t>
            </a:r>
            <a:r>
              <a:rPr lang="en-US" sz="1535"/>
              <a:t> </a:t>
            </a:r>
            <a:endParaRPr sz="1535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43fb31921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Static vs dynamic code analysis</a:t>
            </a:r>
            <a:endParaRPr/>
          </a:p>
        </p:txBody>
      </p:sp>
      <p:pic>
        <p:nvPicPr>
          <p:cNvPr id="232" name="Google Shape;232;g3943fb3192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3288" y="1573275"/>
            <a:ext cx="7927074" cy="528472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943fb31921_0_0"/>
          <p:cNvSpPr txBox="1"/>
          <p:nvPr/>
        </p:nvSpPr>
        <p:spPr>
          <a:xfrm>
            <a:off x="3739850" y="6457800"/>
            <a:ext cx="434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https://www.accelq.com/blog/static-code-analysis/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Why static analysis?</a:t>
            </a:r>
            <a:endParaRPr/>
          </a:p>
        </p:txBody>
      </p:sp>
      <p:sp>
        <p:nvSpPr>
          <p:cNvPr id="239" name="Google Shape;239;p5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Reduce number of bugs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Some bugs are hard to find, e.g., = vs ==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Legal obligations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Safety critical code must pass certifications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Code quality improvement, efficiency and automation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Education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Basically, any rule enforcement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Warnings</a:t>
            </a:r>
            <a:endParaRPr/>
          </a:p>
        </p:txBody>
      </p:sp>
      <p:sp>
        <p:nvSpPr>
          <p:cNvPr id="245" name="Google Shape;245;p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The most basic kind of static analysis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Missing return statement, missing case in switch, use of deprecated functions and many others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Built into all compilers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available sets of warnings in different compilers may differ though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intended to check for the most obvious and easy-to-check mistakes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BKM (best known method): always enable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-Wall (-Wextra) -Werror</a:t>
            </a:r>
            <a:r>
              <a:rPr lang="en-US"/>
              <a:t> flags (or analogs) for your projects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Linters</a:t>
            </a:r>
            <a:endParaRPr/>
          </a:p>
        </p:txBody>
      </p:sp>
      <p:sp>
        <p:nvSpPr>
          <p:cNvPr id="251" name="Google Shape;251;p7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Checks that your code follows some rules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Google Code Style rules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C++ core guidelines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Those checks are not necessarily related to program functionality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Often highly opinionated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43fb31921_0_12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clang-format styles</a:t>
            </a:r>
            <a:endParaRPr/>
          </a:p>
        </p:txBody>
      </p:sp>
      <p:sp>
        <p:nvSpPr>
          <p:cNvPr id="257" name="Google Shape;257;g3943fb31921_0_12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Can be found in the docs: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https://clang.llvm.org/docs/ClangFormatStyleOptions.html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Possible values: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28600" lvl="1" marL="9144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E2E2E2"/>
                </a:highlight>
                <a:latin typeface="Roboto Mono"/>
                <a:ea typeface="Roboto Mono"/>
                <a:cs typeface="Roboto Mono"/>
                <a:sym typeface="Roboto Mono"/>
              </a:rPr>
              <a:t>LLVM</a:t>
            </a: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 A style complying with the </a:t>
            </a:r>
            <a:r>
              <a:rPr b="1" lang="en-US" sz="1100">
                <a:solidFill>
                  <a:srgbClr val="DC3C01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LLVM coding standards</a:t>
            </a:r>
            <a:endParaRPr b="1" sz="1100">
              <a:solidFill>
                <a:srgbClr val="DC3C01"/>
              </a:solidFill>
              <a:highlight>
                <a:srgbClr val="FFFFFF"/>
              </a:highlight>
            </a:endParaRPr>
          </a:p>
          <a:p>
            <a:pPr indent="-2286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E2E2E2"/>
                </a:highlight>
                <a:latin typeface="Roboto Mono"/>
                <a:ea typeface="Roboto Mono"/>
                <a:cs typeface="Roboto Mono"/>
                <a:sym typeface="Roboto Mono"/>
              </a:rPr>
              <a:t>Google</a:t>
            </a: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 A style complying with </a:t>
            </a:r>
            <a:r>
              <a:rPr b="1" lang="en-US" sz="1100">
                <a:solidFill>
                  <a:srgbClr val="DC3C01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Google’s C++ style guide</a:t>
            </a:r>
            <a:endParaRPr b="1" sz="1100">
              <a:solidFill>
                <a:srgbClr val="DC3C01"/>
              </a:solidFill>
              <a:highlight>
                <a:srgbClr val="FFFFFF"/>
              </a:highlight>
            </a:endParaRPr>
          </a:p>
          <a:p>
            <a:pPr indent="-2286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E2E2E2"/>
                </a:highlight>
                <a:latin typeface="Roboto Mono"/>
                <a:ea typeface="Roboto Mono"/>
                <a:cs typeface="Roboto Mono"/>
                <a:sym typeface="Roboto Mono"/>
              </a:rPr>
              <a:t>Chromium</a:t>
            </a: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 A style complying with </a:t>
            </a:r>
            <a:r>
              <a:rPr b="1" lang="en-US" sz="1100">
                <a:solidFill>
                  <a:srgbClr val="DC3C01"/>
                </a:solidFill>
                <a:highlight>
                  <a:srgbClr val="FFFFFF"/>
                </a:highlight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Chromium’s style guide</a:t>
            </a:r>
            <a:endParaRPr b="1" sz="1100">
              <a:solidFill>
                <a:srgbClr val="DC3C01"/>
              </a:solidFill>
              <a:highlight>
                <a:srgbClr val="FFFFFF"/>
              </a:highlight>
            </a:endParaRPr>
          </a:p>
          <a:p>
            <a:pPr indent="-2286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E2E2E2"/>
                </a:highlight>
                <a:latin typeface="Roboto Mono"/>
                <a:ea typeface="Roboto Mono"/>
                <a:cs typeface="Roboto Mono"/>
                <a:sym typeface="Roboto Mono"/>
              </a:rPr>
              <a:t>Mozilla</a:t>
            </a: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 A style complying with </a:t>
            </a:r>
            <a:r>
              <a:rPr b="1" lang="en-US" sz="1100">
                <a:solidFill>
                  <a:srgbClr val="DC3C01"/>
                </a:solidFill>
                <a:highlight>
                  <a:srgbClr val="FFFFFF"/>
                </a:highlight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Mozilla’s style guide</a:t>
            </a:r>
            <a:endParaRPr b="1" sz="1100">
              <a:solidFill>
                <a:srgbClr val="DC3C01"/>
              </a:solidFill>
              <a:highlight>
                <a:srgbClr val="FFFFFF"/>
              </a:highlight>
            </a:endParaRPr>
          </a:p>
          <a:p>
            <a:pPr indent="-2286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E2E2E2"/>
                </a:highlight>
                <a:latin typeface="Roboto Mono"/>
                <a:ea typeface="Roboto Mono"/>
                <a:cs typeface="Roboto Mono"/>
                <a:sym typeface="Roboto Mono"/>
              </a:rPr>
              <a:t>WebKit</a:t>
            </a: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 A style complying with </a:t>
            </a:r>
            <a:r>
              <a:rPr b="1" lang="en-US" sz="1100">
                <a:solidFill>
                  <a:srgbClr val="DC3C01"/>
                </a:solidFill>
                <a:highlight>
                  <a:srgbClr val="FFFFFF"/>
                </a:highlight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WebKit’s style guide</a:t>
            </a:r>
            <a:endParaRPr b="1" sz="1100">
              <a:solidFill>
                <a:srgbClr val="DC3C01"/>
              </a:solidFill>
              <a:highlight>
                <a:srgbClr val="FFFFFF"/>
              </a:highlight>
            </a:endParaRPr>
          </a:p>
          <a:p>
            <a:pPr indent="-2286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E2E2E2"/>
                </a:highlight>
                <a:latin typeface="Roboto Mono"/>
                <a:ea typeface="Roboto Mono"/>
                <a:cs typeface="Roboto Mono"/>
                <a:sym typeface="Roboto Mono"/>
              </a:rPr>
              <a:t>Microsoft</a:t>
            </a: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 A style complying with </a:t>
            </a:r>
            <a:r>
              <a:rPr b="1" lang="en-US" sz="1100">
                <a:solidFill>
                  <a:srgbClr val="DC3C01"/>
                </a:solidFill>
                <a:highlight>
                  <a:srgbClr val="FFFFFF"/>
                </a:highlight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Microsoft’s style guide</a:t>
            </a:r>
            <a:endParaRPr b="1" sz="1100">
              <a:solidFill>
                <a:srgbClr val="DC3C01"/>
              </a:solidFill>
              <a:highlight>
                <a:srgbClr val="FFFFFF"/>
              </a:highlight>
            </a:endParaRPr>
          </a:p>
          <a:p>
            <a:pPr indent="-2286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E2E2E2"/>
                </a:highlight>
                <a:latin typeface="Roboto Mono"/>
                <a:ea typeface="Roboto Mono"/>
                <a:cs typeface="Roboto Mono"/>
                <a:sym typeface="Roboto Mono"/>
              </a:rPr>
              <a:t>GNU</a:t>
            </a: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 A style complying with the </a:t>
            </a:r>
            <a:r>
              <a:rPr b="1" lang="en-US" sz="1100">
                <a:solidFill>
                  <a:srgbClr val="DC3C01"/>
                </a:solidFill>
                <a:highlight>
                  <a:srgbClr val="FFFFFF"/>
                </a:highlight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GNU coding standards</a:t>
            </a:r>
            <a:endParaRPr b="1" sz="1100">
              <a:solidFill>
                <a:srgbClr val="DC3C01"/>
              </a:solidFill>
              <a:highlight>
                <a:srgbClr val="FFFFFF"/>
              </a:highlight>
            </a:endParaRPr>
          </a:p>
          <a:p>
            <a:pPr indent="-2286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Built-in rule templates can be modified by using various parameters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Static analyzers</a:t>
            </a:r>
            <a:endParaRPr/>
          </a:p>
        </p:txBody>
      </p:sp>
      <p:sp>
        <p:nvSpPr>
          <p:cNvPr id="263" name="Google Shape;263;p8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The most advanced static analyzers can perform data flow analysis and provide correctness checks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Examples:</a:t>
            </a:r>
            <a:endParaRPr/>
          </a:p>
          <a:p>
            <a:pPr indent="-2667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</a:pPr>
            <a:r>
              <a:rPr lang="en-US"/>
              <a:t>clang static analyzer</a:t>
            </a:r>
            <a:endParaRPr/>
          </a:p>
          <a:p>
            <a:pPr indent="-2667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</a:pPr>
            <a:r>
              <a:rPr lang="en-US"/>
              <a:t>cppcheck</a:t>
            </a:r>
            <a:endParaRPr/>
          </a:p>
          <a:p>
            <a:pPr indent="-2667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</a:pPr>
            <a:r>
              <a:rPr lang="en-US"/>
              <a:t>PVS Studio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86b55b7e1_0_4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>
                <a:solidFill>
                  <a:schemeClr val="lt2"/>
                </a:solidFill>
              </a:rPr>
              <a:t>Static analyzers for different programming languages</a:t>
            </a:r>
            <a:endParaRPr/>
          </a:p>
        </p:txBody>
      </p:sp>
      <p:sp>
        <p:nvSpPr>
          <p:cNvPr id="269" name="Google Shape;269;g3c86b55b7e1_0_49"/>
          <p:cNvSpPr txBox="1"/>
          <p:nvPr>
            <p:ph idx="1" type="body"/>
          </p:nvPr>
        </p:nvSpPr>
        <p:spPr>
          <a:xfrm>
            <a:off x="571375" y="1673450"/>
            <a:ext cx="11010900" cy="50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C/C++: </a:t>
            </a:r>
            <a:r>
              <a:rPr lang="en-US"/>
              <a:t>clang-tidy, clang static analyzer (scan-build), cppcheck, PVS-Studio, Coverity, SonarQube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Java: </a:t>
            </a:r>
            <a:r>
              <a:rPr lang="en-US"/>
              <a:t>SpotBugs, PMD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Python: </a:t>
            </a:r>
            <a:r>
              <a:rPr lang="en-US"/>
              <a:t>Ruff, Pylint, Flake8, mypy, pyright, bandit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JavaScript: </a:t>
            </a:r>
            <a:r>
              <a:rPr lang="en-US"/>
              <a:t>ESLint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Kotlin:</a:t>
            </a:r>
            <a:r>
              <a:rPr lang="en-US"/>
              <a:t> detekt, ktlint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Rust: </a:t>
            </a:r>
            <a:r>
              <a:rPr lang="en-US"/>
              <a:t>clippy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Go:</a:t>
            </a:r>
            <a:r>
              <a:rPr lang="en-US"/>
              <a:t> govet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Swift:</a:t>
            </a:r>
            <a:r>
              <a:rPr lang="en-US"/>
              <a:t> SwiftLint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Ruby: </a:t>
            </a:r>
            <a:r>
              <a:rPr lang="en-US"/>
              <a:t>RuboCop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Control-flow graphs</a:t>
            </a:r>
            <a:endParaRPr/>
          </a:p>
        </p:txBody>
      </p:sp>
      <p:sp>
        <p:nvSpPr>
          <p:cNvPr id="275" name="Google Shape;275;p9"/>
          <p:cNvSpPr txBox="1"/>
          <p:nvPr>
            <p:ph idx="1" type="body"/>
          </p:nvPr>
        </p:nvSpPr>
        <p:spPr>
          <a:xfrm>
            <a:off x="571370" y="1673454"/>
            <a:ext cx="552463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A control-flow graph is a representation of all paths that might be traversed through a program during execution</a:t>
            </a:r>
            <a:endParaRPr/>
          </a:p>
          <a:p>
            <a:pPr indent="-508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</a:pPr>
            <a:r>
              <a:rPr lang="en-US" sz="1400"/>
              <a:t>Source: </a:t>
            </a:r>
            <a:r>
              <a:rPr lang="en-US" sz="1400" u="sng">
                <a:solidFill>
                  <a:schemeClr val="hlink"/>
                </a:solidFill>
                <a:hlinkClick r:id="rId3"/>
              </a:rPr>
              <a:t>https://en.wikipedia.org/wiki/Control-flow_graph</a:t>
            </a:r>
            <a:r>
              <a:rPr lang="en-US" sz="1400"/>
              <a:t> </a:t>
            </a:r>
            <a:endParaRPr/>
          </a:p>
        </p:txBody>
      </p:sp>
      <p:pic>
        <p:nvPicPr>
          <p:cNvPr id="276" name="Google Shape;27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61237" y="1047749"/>
            <a:ext cx="2810267" cy="5058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bb3f83c6aa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CFG demo</a:t>
            </a:r>
            <a:endParaRPr/>
          </a:p>
        </p:txBody>
      </p:sp>
      <p:pic>
        <p:nvPicPr>
          <p:cNvPr id="282" name="Google Shape;282;g2bb3f83c6a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9360" y="0"/>
            <a:ext cx="634262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g2bb3f83c6aa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425" y="1371600"/>
            <a:ext cx="4721603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2bb3f83c6aa_0_0"/>
          <p:cNvSpPr txBox="1"/>
          <p:nvPr/>
        </p:nvSpPr>
        <p:spPr>
          <a:xfrm>
            <a:off x="0" y="6457800"/>
            <a:ext cx="886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clang -Xclang -analyze -Xclang -analyzer-checker=debug.ViewCFG -Xclang -analyzer-output=text cfg.cpp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Dominators</a:t>
            </a:r>
            <a:endParaRPr/>
          </a:p>
        </p:txBody>
      </p:sp>
      <p:sp>
        <p:nvSpPr>
          <p:cNvPr id="290" name="Google Shape;290;p10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 block M dominates block N if every path from the entry that reaches block N must pass through block M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Block M postdomintates block N if every path from N to exit must pass through M</a:t>
            </a:r>
            <a:endParaRPr/>
          </a:p>
        </p:txBody>
      </p:sp>
      <p:pic>
        <p:nvPicPr>
          <p:cNvPr id="291" name="Google Shape;2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6725" y="3438575"/>
            <a:ext cx="5177418" cy="34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0"/>
          <p:cNvSpPr txBox="1"/>
          <p:nvPr>
            <p:ph idx="1" type="body"/>
          </p:nvPr>
        </p:nvSpPr>
        <p:spPr>
          <a:xfrm>
            <a:off x="5303788" y="6482650"/>
            <a:ext cx="6675000" cy="26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/>
              <a:t>Source: </a:t>
            </a:r>
            <a:r>
              <a:rPr lang="en-US" sz="1200" u="sng">
                <a:solidFill>
                  <a:schemeClr val="hlink"/>
                </a:solidFill>
                <a:hlinkClick r:id="rId4"/>
              </a:rPr>
              <a:t>https://www.boost.org/doc/libs/1_85_0/libs/graph/doc/lengauer_tarjan_dominator.htm</a:t>
            </a:r>
            <a:r>
              <a:rPr lang="en-US" sz="1200"/>
              <a:t> </a:t>
            </a:r>
            <a:endParaRPr sz="1200"/>
          </a:p>
        </p:txBody>
      </p:sp>
      <p:sp>
        <p:nvSpPr>
          <p:cNvPr id="293" name="Google Shape;293;p10"/>
          <p:cNvSpPr txBox="1"/>
          <p:nvPr/>
        </p:nvSpPr>
        <p:spPr>
          <a:xfrm>
            <a:off x="8383075" y="3924400"/>
            <a:ext cx="3827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</a:rPr>
              <a:t>idom</a:t>
            </a:r>
            <a:r>
              <a:rPr lang="en-US" sz="2000">
                <a:solidFill>
                  <a:schemeClr val="lt2"/>
                </a:solidFill>
              </a:rPr>
              <a:t> (immediate-dominator tree)</a:t>
            </a:r>
            <a:endParaRPr sz="2000">
              <a:solidFill>
                <a:schemeClr val="lt2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Dominator trees</a:t>
            </a:r>
            <a:endParaRPr/>
          </a:p>
        </p:txBody>
      </p:sp>
      <p:sp>
        <p:nvSpPr>
          <p:cNvPr id="299" name="Google Shape;299;p11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Data structure depicting the dominator relationships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Lengauer-Tarjan algorithm: O(nlogn)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See more: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https://www.llvm.org/devmtg/2017-10/slides/Kuderski-Dominator_Trees.pdf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bb3f83c6aa_0_1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Dominator trees (demo)</a:t>
            </a:r>
            <a:endParaRPr/>
          </a:p>
        </p:txBody>
      </p:sp>
      <p:sp>
        <p:nvSpPr>
          <p:cNvPr id="305" name="Google Shape;305;g2bb3f83c6aa_0_19"/>
          <p:cNvSpPr txBox="1"/>
          <p:nvPr>
            <p:ph idx="1" type="body"/>
          </p:nvPr>
        </p:nvSpPr>
        <p:spPr>
          <a:xfrm>
            <a:off x="571373" y="1673450"/>
            <a:ext cx="57531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How to build: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clang -S -emit-llvm dominator.cpp -o </a:t>
            </a: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dominator</a:t>
            </a: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.ll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opt -passes='dot-cfg' </a:t>
            </a: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dominator</a:t>
            </a: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.ll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dot -Tpng .main.dot -o main.png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/>
              <a:t>What are domination relationships in this CFG?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%0 dominates all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%7 dominates only %7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%9 dominates only %9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%11 dominates %11, %12, %16, %19, %22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%12 dominates %12, %16, %19, %22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%16 dominates %16, %19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%19 dominates only %19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%22 dominates only %22</a:t>
            </a:r>
            <a:endParaRPr sz="1400"/>
          </a:p>
        </p:txBody>
      </p:sp>
      <p:pic>
        <p:nvPicPr>
          <p:cNvPr id="306" name="Google Shape;306;g2bb3f83c6aa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4875" y="-40475"/>
            <a:ext cx="5937125" cy="693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2bb3f83c6aa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6350" y="4324700"/>
            <a:ext cx="2378367" cy="253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Hacking on Clang</a:t>
            </a:r>
            <a:endParaRPr/>
          </a:p>
        </p:txBody>
      </p:sp>
      <p:sp>
        <p:nvSpPr>
          <p:cNvPr id="313" name="Google Shape;313;p12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LibTooling – interface to write standalone tools based on clang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LibFormat – library for automatic source code formatting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LibClang – stable C interface for Clang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Clang Plugins – do extra actions during compilation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More on that: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https://clang.llvm.org/docs/index.html#using-clang-as-a-library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Working with AST</a:t>
            </a:r>
            <a:endParaRPr/>
          </a:p>
        </p:txBody>
      </p:sp>
      <p:sp>
        <p:nvSpPr>
          <p:cNvPr id="319" name="Google Shape;319;p13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AST is a graph, and you can use any graph theory algorithms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Examining AST: -Xclang -ast-dump -fsyntax-only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Clang framework provides a few helpers to work with AST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ASTConsumer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RecursiveASTVisitor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ASTAction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More on that: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https://www.youtube.com/watch?v=VqCkCDFLSsc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RecursiveASTVisitor</a:t>
            </a:r>
            <a:endParaRPr/>
          </a:p>
        </p:txBody>
      </p:sp>
      <p:sp>
        <p:nvSpPr>
          <p:cNvPr id="325" name="Google Shape;325;p14"/>
          <p:cNvSpPr txBox="1"/>
          <p:nvPr>
            <p:ph idx="1" type="body"/>
          </p:nvPr>
        </p:nvSpPr>
        <p:spPr>
          <a:xfrm>
            <a:off x="571500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CRTP class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Provides methods to act on certain AST node classes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Basically, an implementation of DFS</a:t>
            </a:r>
            <a:endParaRPr/>
          </a:p>
        </p:txBody>
      </p:sp>
      <p:pic>
        <p:nvPicPr>
          <p:cNvPr id="326" name="Google Shape;326;p1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9675" y="2526074"/>
            <a:ext cx="5287963" cy="287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LLVM IR generation</a:t>
            </a:r>
            <a:endParaRPr/>
          </a:p>
        </p:txBody>
      </p:sp>
      <p:sp>
        <p:nvSpPr>
          <p:cNvPr id="332" name="Google Shape;332;p15"/>
          <p:cNvSpPr txBox="1"/>
          <p:nvPr>
            <p:ph idx="1" type="body"/>
          </p:nvPr>
        </p:nvSpPr>
        <p:spPr>
          <a:xfrm>
            <a:off x="571500" y="1673402"/>
            <a:ext cx="10745545" cy="5028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/>
              <a:t>Typical use case for AST node visitors. Also can be referred as CodeGen, but do not confuse with LLVM CodeGen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Uses AST visitors, IRBuilder, and TargetInfo classes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CodeGenModule class keeps global state, e.g. LLVM type cache. Emits global and some shared entities.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CodeGenFunction class keeps per function state. Emits LLVM IR for function body statements.</a:t>
            </a:r>
            <a:endParaRPr/>
          </a:p>
          <a:p>
            <a:pPr indent="-508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Char char="▪"/>
            </a:pPr>
            <a:r>
              <a:rPr lang="en-US" sz="2000"/>
              <a:t>The output can be inspected using the -emit-llvm (to force -S for textual representation) option to clang. You can also use -emit-llvm-bc to write an LLVM bitcode file which can be processed by the suite of LLVM tools like llvm-dis, llvm-nm, etc.</a:t>
            </a:r>
            <a:endParaRPr sz="2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ASTConsumer</a:t>
            </a:r>
            <a:endParaRPr/>
          </a:p>
        </p:txBody>
      </p:sp>
      <p:sp>
        <p:nvSpPr>
          <p:cNvPr id="338" name="Google Shape;338;p16"/>
          <p:cNvSpPr txBox="1"/>
          <p:nvPr>
            <p:ph idx="1" type="body"/>
          </p:nvPr>
        </p:nvSpPr>
        <p:spPr>
          <a:xfrm>
            <a:off x="571500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An interface used to write generic actions on AST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Provides many different entry points</a:t>
            </a:r>
            <a:endParaRPr/>
          </a:p>
        </p:txBody>
      </p:sp>
      <p:pic>
        <p:nvPicPr>
          <p:cNvPr id="339" name="Google Shape;339;p1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4438" y="2456324"/>
            <a:ext cx="5287963" cy="194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FrontendAction</a:t>
            </a:r>
            <a:endParaRPr/>
          </a:p>
        </p:txBody>
      </p:sp>
      <p:sp>
        <p:nvSpPr>
          <p:cNvPr id="345" name="Google Shape;345;p17"/>
          <p:cNvSpPr txBox="1"/>
          <p:nvPr>
            <p:ph idx="1" type="body"/>
          </p:nvPr>
        </p:nvSpPr>
        <p:spPr>
          <a:xfrm>
            <a:off x="571500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FrontendActions are entry points for Clang-based tools (including Clang compiler)</a:t>
            </a:r>
            <a:endParaRPr/>
          </a:p>
        </p:txBody>
      </p:sp>
      <p:pic>
        <p:nvPicPr>
          <p:cNvPr id="346" name="Google Shape;346;p17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035" y="3592011"/>
            <a:ext cx="10675800" cy="22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Source manager</a:t>
            </a:r>
            <a:endParaRPr/>
          </a:p>
        </p:txBody>
      </p:sp>
      <p:sp>
        <p:nvSpPr>
          <p:cNvPr id="352" name="Google Shape;352;p18"/>
          <p:cNvSpPr txBox="1"/>
          <p:nvPr>
            <p:ph idx="1" type="body"/>
          </p:nvPr>
        </p:nvSpPr>
        <p:spPr>
          <a:xfrm>
            <a:off x="571325" y="1709424"/>
            <a:ext cx="11010900" cy="4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Source location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file:line:col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AST does not contain information on source locations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It may be required for code re-writing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SourceManager is owned by ASTContext: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More info: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https://clang.llvm.org/docs/RAVFrontendAction.html</a:t>
            </a:r>
            <a:r>
              <a:rPr lang="en-US"/>
              <a:t> </a:t>
            </a:r>
            <a:endParaRPr/>
          </a:p>
        </p:txBody>
      </p:sp>
      <p:pic>
        <p:nvPicPr>
          <p:cNvPr id="353" name="Google Shape;3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6923" y="4711720"/>
            <a:ext cx="9516804" cy="342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Matching AST</a:t>
            </a:r>
            <a:endParaRPr/>
          </a:p>
        </p:txBody>
      </p:sp>
      <p:sp>
        <p:nvSpPr>
          <p:cNvPr id="359" name="Google Shape;359;p19"/>
          <p:cNvSpPr txBox="1"/>
          <p:nvPr>
            <p:ph idx="1" type="body"/>
          </p:nvPr>
        </p:nvSpPr>
        <p:spPr>
          <a:xfrm>
            <a:off x="571375" y="1102550"/>
            <a:ext cx="11010900" cy="51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Sometimes there’s a need to find certain patterns in AST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Clang provides matchers interface: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Node matchers – find specific node type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Narrowing matchers – match attributes on AST nodes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Traversal matchers – traversal between AST nodes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More info on syntax: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https://clang.llvm.org/docs/LibASTMatchersReference.html#decl-matchers</a:t>
            </a:r>
            <a:r>
              <a:rPr lang="en-US"/>
              <a:t> </a:t>
            </a:r>
            <a:endParaRPr/>
          </a:p>
        </p:txBody>
      </p:sp>
      <p:pic>
        <p:nvPicPr>
          <p:cNvPr id="360" name="Google Shape;36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5125" y="4784425"/>
            <a:ext cx="6961802" cy="207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Clang Transformer</a:t>
            </a:r>
            <a:endParaRPr/>
          </a:p>
        </p:txBody>
      </p:sp>
      <p:sp>
        <p:nvSpPr>
          <p:cNvPr id="366" name="Google Shape;366;p20"/>
          <p:cNvSpPr txBox="1"/>
          <p:nvPr>
            <p:ph idx="1" type="body"/>
          </p:nvPr>
        </p:nvSpPr>
        <p:spPr>
          <a:xfrm>
            <a:off x="571370" y="1673455"/>
            <a:ext cx="11010900" cy="175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Framework for writing C++ diagnostics and source transformations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Built on Matchers interface and LibTooling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Rule examples:</a:t>
            </a:r>
            <a:endParaRPr/>
          </a:p>
          <a:p>
            <a:pPr indent="-508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67" name="Google Shape;3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45" y="3429001"/>
            <a:ext cx="10479110" cy="1066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1213" y="4745155"/>
            <a:ext cx="7589574" cy="982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clang-tidy</a:t>
            </a:r>
            <a:endParaRPr/>
          </a:p>
        </p:txBody>
      </p:sp>
      <p:sp>
        <p:nvSpPr>
          <p:cNvPr id="374" name="Google Shape;374;p21"/>
          <p:cNvSpPr txBox="1"/>
          <p:nvPr>
            <p:ph idx="1" type="body"/>
          </p:nvPr>
        </p:nvSpPr>
        <p:spPr>
          <a:xfrm>
            <a:off x="571375" y="1673450"/>
            <a:ext cx="11010900" cy="5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Clang-based linter tool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Provides rules for many standards, including: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C++ core guidelines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Abseil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Google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CERT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Linux Kernel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LLVM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Supports FIX-IT hints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Docs: </a:t>
            </a:r>
            <a:r>
              <a:rPr lang="en-US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https://clang.llvm.org/extra/clang-tidy/index.html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Full list of checks: </a:t>
            </a:r>
            <a:r>
              <a:rPr lang="en-US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https://clang.llvm.org/extra/clang-tidy/checks/list.html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Extending clang-tidy</a:t>
            </a:r>
            <a:endParaRPr/>
          </a:p>
        </p:txBody>
      </p:sp>
      <p:sp>
        <p:nvSpPr>
          <p:cNvPr id="380" name="Google Shape;380;p22"/>
          <p:cNvSpPr txBox="1"/>
          <p:nvPr>
            <p:ph idx="1" type="body"/>
          </p:nvPr>
        </p:nvSpPr>
        <p:spPr>
          <a:xfrm>
            <a:off x="571375" y="1673448"/>
            <a:ext cx="1101090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 useful source of knowledge: look at existing code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66"/>
              <a:t>Example: </a:t>
            </a:r>
            <a:r>
              <a:rPr lang="en-US" sz="2066" u="sng">
                <a:solidFill>
                  <a:schemeClr val="hlink"/>
                </a:solidFill>
                <a:hlinkClick r:id="rId3"/>
              </a:rPr>
              <a:t>https://github.com/llvm/llvm-project/blob/main/clang-tools-extra/clang-tidy/llvm/</a:t>
            </a:r>
            <a:endParaRPr sz="2066"/>
          </a:p>
        </p:txBody>
      </p:sp>
      <p:pic>
        <p:nvPicPr>
          <p:cNvPr id="381" name="Google Shape;38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637" y="3400302"/>
            <a:ext cx="5048790" cy="1784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3381" y="3400302"/>
            <a:ext cx="6059562" cy="1784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Case study: modularize</a:t>
            </a:r>
            <a:endParaRPr/>
          </a:p>
        </p:txBody>
      </p:sp>
      <p:sp>
        <p:nvSpPr>
          <p:cNvPr id="388" name="Google Shape;388;p23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 u="sng">
                <a:solidFill>
                  <a:schemeClr val="hlink"/>
                </a:solidFill>
                <a:hlinkClick r:id="rId3"/>
              </a:rPr>
              <a:t>modularize</a:t>
            </a:r>
            <a:r>
              <a:rPr lang="en-US"/>
              <a:t> is a s</a:t>
            </a:r>
            <a:r>
              <a:rPr lang="en-US"/>
              <a:t>tandalone tool that checks whether a set of headers provides the consistent definitions required to use modules</a:t>
            </a:r>
            <a:endParaRPr/>
          </a:p>
        </p:txBody>
      </p:sp>
      <p:pic>
        <p:nvPicPr>
          <p:cNvPr id="389" name="Google Shape;38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6260" y="2709279"/>
            <a:ext cx="5239480" cy="334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Case study: C++ core guidelines</a:t>
            </a:r>
            <a:endParaRPr/>
          </a:p>
        </p:txBody>
      </p:sp>
      <p:sp>
        <p:nvSpPr>
          <p:cNvPr id="395" name="Google Shape;395;p24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 u="sng">
                <a:solidFill>
                  <a:schemeClr val="hlink"/>
                </a:solidFill>
                <a:hlinkClick r:id="rId3"/>
              </a:rPr>
              <a:t>C++ Core Guidelines</a:t>
            </a:r>
            <a:r>
              <a:rPr lang="en-US"/>
              <a:t> </a:t>
            </a:r>
            <a:r>
              <a:rPr lang="en-US"/>
              <a:t>provide helper types for memory management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gsl::owner&lt;…&gt;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gsl::not_null&lt;…&gt;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clang-tidy will warn if you’re not using any of these and to suspicious things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https://clang.llvm.org/extra/clang-tidy/checks/cppcoreguidelines/owning-memory.html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Lab assignment #1</a:t>
            </a:r>
            <a:endParaRPr/>
          </a:p>
        </p:txBody>
      </p:sp>
      <p:sp>
        <p:nvSpPr>
          <p:cNvPr id="401" name="Google Shape;401;p26"/>
          <p:cNvSpPr txBox="1"/>
          <p:nvPr>
            <p:ph idx="1" type="body"/>
          </p:nvPr>
        </p:nvSpPr>
        <p:spPr>
          <a:xfrm>
            <a:off x="571375" y="1316900"/>
            <a:ext cx="11010900" cy="5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 clang AST plugin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Task list</a:t>
            </a:r>
            <a:r>
              <a:rPr lang="en-US"/>
              <a:t> in Google Docs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Deadline: March, 17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Where to seek help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https://clang.llvm.org/docs/ClangPlugins.html</a:t>
            </a:r>
            <a:r>
              <a:rPr lang="en-US"/>
              <a:t> 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https://github.com/llvm/llvm-project/tree/main/clang/examples/PrintFunctionNames</a:t>
            </a:r>
            <a:r>
              <a:rPr lang="en-US"/>
              <a:t> 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Contact teachers</a:t>
            </a:r>
            <a:endParaRPr sz="14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bb3f83c6aa_0_28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 assignment acceptance criterias</a:t>
            </a:r>
            <a:endParaRPr/>
          </a:p>
        </p:txBody>
      </p:sp>
      <p:sp>
        <p:nvSpPr>
          <p:cNvPr id="407" name="Google Shape;407;g2bb3f83c6aa_0_28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The code base with implementation passes clang-format checks on CI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The code base with implementation passes build and test stage on CI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LIT tests are added and passed on CI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bb3f83c6aa_0_33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FileCheck</a:t>
            </a:r>
            <a:r>
              <a:rPr lang="en-US"/>
              <a:t> tool</a:t>
            </a:r>
            <a:endParaRPr/>
          </a:p>
        </p:txBody>
      </p:sp>
      <p:sp>
        <p:nvSpPr>
          <p:cNvPr id="413" name="Google Shape;413;g2bb3f83c6aa_0_33"/>
          <p:cNvSpPr txBox="1"/>
          <p:nvPr>
            <p:ph idx="1" type="body"/>
          </p:nvPr>
        </p:nvSpPr>
        <p:spPr>
          <a:xfrm>
            <a:off x="571375" y="1366075"/>
            <a:ext cx="11010900" cy="48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Tool from LLVM toolchain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It is widely used for testing in LLVM framework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How to run FileCheck tool: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FileCheck %s - </a:t>
            </a: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compare stdin with file %s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string to be verified: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CHECK: content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Manual: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https://llvm.org/docs/CommandGuide/FileCheck.html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Run LIT test: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llvm-lit path/to/test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bb3f83c6aa_0_3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llvm-lit</a:t>
            </a:r>
            <a:endParaRPr/>
          </a:p>
        </p:txBody>
      </p:sp>
      <p:sp>
        <p:nvSpPr>
          <p:cNvPr id="419" name="Google Shape;419;g2bb3f83c6aa_0_39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lit is a portable tool for executing LLVM and Clang style test suites, summarizing their results, and providing indication of failures. lit is designed to be a lightweight testing tool with as simple a user interface as possible.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Manual: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https://llvm.org/docs/CommandGuide/lit.html</a:t>
            </a:r>
            <a:r>
              <a:rPr lang="en-US"/>
              <a:t> </a:t>
            </a:r>
            <a:endParaRPr/>
          </a:p>
        </p:txBody>
      </p:sp>
      <p:pic>
        <p:nvPicPr>
          <p:cNvPr id="420" name="Google Shape;420;g2bb3f83c6aa_0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89975" y="4306475"/>
            <a:ext cx="3402024" cy="25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2bb3f83c6aa_0_39"/>
          <p:cNvSpPr txBox="1"/>
          <p:nvPr/>
        </p:nvSpPr>
        <p:spPr>
          <a:xfrm>
            <a:off x="3298350" y="6527725"/>
            <a:ext cx="559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2"/>
                </a:solidFill>
              </a:rPr>
              <a:t>Pic: </a:t>
            </a:r>
            <a:r>
              <a:rPr lang="en-US" sz="1200" u="sng">
                <a:solidFill>
                  <a:schemeClr val="hlink"/>
                </a:solidFill>
                <a:hlinkClick r:id="rId5"/>
              </a:rPr>
              <a:t>https://medium.com/@mshockwave/using-llvm-lit-out-of-tree-5cddada85a78</a:t>
            </a:r>
            <a:endParaRPr sz="1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6a25c02a4b_0_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llvm-lit simple test demo</a:t>
            </a:r>
            <a:endParaRPr/>
          </a:p>
        </p:txBody>
      </p:sp>
      <p:pic>
        <p:nvPicPr>
          <p:cNvPr id="427" name="Google Shape;427;g26a25c02a4b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075" y="1673450"/>
            <a:ext cx="971550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g26a25c02a4b_0_1"/>
          <p:cNvSpPr txBox="1"/>
          <p:nvPr/>
        </p:nvSpPr>
        <p:spPr>
          <a:xfrm>
            <a:off x="1959425" y="5232250"/>
            <a:ext cx="8389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$PATH_TO_LLVM_BIN</a:t>
            </a:r>
            <a:r>
              <a:rPr lang="en-US" sz="2100"/>
              <a:t>/llvm-lit -a clang/test/_demo/1.cpp</a:t>
            </a:r>
            <a:endParaRPr sz="2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Next time…</a:t>
            </a:r>
            <a:endParaRPr/>
          </a:p>
        </p:txBody>
      </p:sp>
      <p:sp>
        <p:nvSpPr>
          <p:cNvPr id="434" name="Google Shape;434;p27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Intermediate representations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LLVM IR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IR generation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2fabb4c2d1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440" name="Google Shape;440;g32fabb4c2d1_0_0"/>
          <p:cNvSpPr txBox="1"/>
          <p:nvPr>
            <p:ph idx="1" type="body"/>
          </p:nvPr>
        </p:nvSpPr>
        <p:spPr>
          <a:xfrm>
            <a:off x="590545" y="1206529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https://forms.gle/KedxuyGUAkYiMmYf6</a:t>
            </a:r>
            <a:r>
              <a:rPr lang="en-US"/>
              <a:t> </a:t>
            </a:r>
            <a:endParaRPr/>
          </a:p>
        </p:txBody>
      </p:sp>
      <p:sp>
        <p:nvSpPr>
          <p:cNvPr id="441" name="Google Shape;441;g32fabb4c2d1_0_0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442" name="Google Shape;442;g32fabb4c2d1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10750" y="1932550"/>
            <a:ext cx="29337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g32fabb4c2d1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701" y="1825800"/>
            <a:ext cx="7066720" cy="50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c86b55b7e1_0_7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449" name="Google Shape;449;g3c86b55b7e1_0_70"/>
          <p:cNvSpPr txBox="1"/>
          <p:nvPr>
            <p:ph idx="1" type="body"/>
          </p:nvPr>
        </p:nvSpPr>
        <p:spPr>
          <a:xfrm>
            <a:off x="590545" y="1206529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https://forms.gle/B3ZrMNTH7wraYEtm6</a:t>
            </a:r>
            <a:r>
              <a:rPr lang="en-US"/>
              <a:t> </a:t>
            </a:r>
            <a:endParaRPr/>
          </a:p>
        </p:txBody>
      </p:sp>
      <p:sp>
        <p:nvSpPr>
          <p:cNvPr id="450" name="Google Shape;450;g3c86b55b7e1_0_70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451" name="Google Shape;451;g3c86b55b7e1_0_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3425" y="2212372"/>
            <a:ext cx="8013950" cy="362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3c86b55b7e1_0_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67625" y="1738375"/>
            <a:ext cx="291465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8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Extra materials</a:t>
            </a:r>
            <a:endParaRPr/>
          </a:p>
        </p:txBody>
      </p:sp>
      <p:sp>
        <p:nvSpPr>
          <p:cNvPr id="458" name="Google Shape;458;p28"/>
          <p:cNvSpPr txBox="1"/>
          <p:nvPr>
            <p:ph idx="1" type="body"/>
          </p:nvPr>
        </p:nvSpPr>
        <p:spPr>
          <a:xfrm>
            <a:off x="571500" y="1673402"/>
            <a:ext cx="10837852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Data flow analysis - </a:t>
            </a:r>
            <a:r>
              <a:rPr lang="en-US" sz="1600" u="sng">
                <a:solidFill>
                  <a:schemeClr val="hlink"/>
                </a:solidFill>
                <a:hlinkClick r:id="rId3"/>
              </a:rPr>
              <a:t>https://www.youtube.com/watch?v=OROXJ9-wUQE</a:t>
            </a:r>
            <a:r>
              <a:rPr lang="en-US" sz="1600"/>
              <a:t> </a:t>
            </a:r>
            <a:endParaRPr sz="1600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AST Matchers:</a:t>
            </a:r>
            <a:endParaRPr sz="1600"/>
          </a:p>
          <a:p>
            <a:pPr indent="-190500" lvl="1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 u="sng">
                <a:solidFill>
                  <a:schemeClr val="hlink"/>
                </a:solidFill>
                <a:hlinkClick r:id="rId4"/>
              </a:rPr>
              <a:t>https://github.com/lac-dcc/llvm-course/tree/master/ast-matcher</a:t>
            </a:r>
            <a:endParaRPr sz="1600"/>
          </a:p>
          <a:p>
            <a:pPr indent="-190500" lvl="1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 u="sng">
                <a:solidFill>
                  <a:schemeClr val="hlink"/>
                </a:solidFill>
                <a:hlinkClick r:id="rId5"/>
              </a:rPr>
              <a:t>https://www.youtube.com/watch?v=mizS4KnfTtQ</a:t>
            </a:r>
            <a:endParaRPr sz="1600"/>
          </a:p>
          <a:p>
            <a:pPr indent="-215900" lvl="0" marL="228600" rtl="0" algn="l">
              <a:spcBef>
                <a:spcPts val="120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A. Homescu “Mutating the clang AST from Plugins”: </a:t>
            </a:r>
            <a:r>
              <a:rPr lang="en-US" sz="1600" u="sng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https://www.youtube.com/watch?v=_rUwW8Awc5s</a:t>
            </a:r>
            <a:r>
              <a:rPr lang="en-US" sz="1600"/>
              <a:t> </a:t>
            </a:r>
            <a:endParaRPr sz="1600"/>
          </a:p>
          <a:p>
            <a:pPr indent="-215900" lvl="0" marL="228600" rtl="0" algn="l">
              <a:spcBef>
                <a:spcPts val="120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Software Quality Metrics course: </a:t>
            </a:r>
            <a:r>
              <a:rPr lang="en-US" sz="1600" u="sng">
                <a:solidFill>
                  <a:schemeClr val="hlink"/>
                </a:solidFill>
                <a:hlinkClick r:id="rId7"/>
              </a:rPr>
              <a:t>https://yegor256.github.io/sqm/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2022-02-11T08:56:50Z</dcterms:created>
  <dc:creator>Batashev, Alexander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0x01010079C5967B1E29274CA6A143F9D247F5D2</vt:lpwstr>
  </property>
</Properties>
</file>