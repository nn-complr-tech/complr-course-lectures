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6858000" cx="12192000"/>
  <p:notesSz cx="6858000" cy="9144000"/>
  <p:embeddedFontLst>
    <p:embeddedFont>
      <p:font typeface="Helvetica Neue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32">
          <p15:clr>
            <a:srgbClr val="A4A3A4"/>
          </p15:clr>
        </p15:guide>
        <p15:guide id="2" pos="7392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hi+EARJAMOB7exK/u2ajSFBUCh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2" orient="horz"/>
        <p:guide pos="73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-regular.fntdata"/><Relationship Id="rId47" Type="http://schemas.openxmlformats.org/officeDocument/2006/relationships/slide" Target="slides/slide42.xml"/><Relationship Id="rId49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999cc3595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999cc3595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6a0424328b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6a0424328b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6a0424328b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6a0424328b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6a0424328b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6a0424328b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395d76b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395d76b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bee99cf59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bee99cf594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bee99cf59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bee99cf594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bee99cf594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bee99cf594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6a042432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6a0424328b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fbb87074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2fbb87074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c4d2c5fc4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c4d2c5fc4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3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33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5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Blue B" showMasterSp="0">
  <p:cSld name="1_Title Blue B">
    <p:bg>
      <p:bgPr>
        <a:solidFill>
          <a:srgbClr val="184A8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6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6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6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6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28;p36"/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29" name="Google Shape;29;p36"/>
            <p:cNvSpPr/>
            <p:nvPr/>
          </p:nvSpPr>
          <p:spPr>
            <a:xfrm>
              <a:off x="1314450" y="6396809"/>
              <a:ext cx="78581" cy="78581"/>
            </a:xfrm>
            <a:custGeom>
              <a:rect b="b" l="l" r="r" t="t"/>
              <a:pathLst>
                <a:path extrusionOk="0" h="78581" w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6"/>
            <p:cNvSpPr/>
            <p:nvPr/>
          </p:nvSpPr>
          <p:spPr>
            <a:xfrm>
              <a:off x="1316545" y="6391094"/>
              <a:ext cx="995171" cy="420623"/>
            </a:xfrm>
            <a:custGeom>
              <a:rect b="b" l="l" r="r" t="t"/>
              <a:pathLst>
                <a:path extrusionOk="0" h="420623" w="995171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6"/>
            <p:cNvSpPr/>
            <p:nvPr/>
          </p:nvSpPr>
          <p:spPr>
            <a:xfrm>
              <a:off x="2358770" y="6728469"/>
              <a:ext cx="79057" cy="79057"/>
            </a:xfrm>
            <a:custGeom>
              <a:rect b="b" l="l" r="r" t="t"/>
              <a:pathLst>
                <a:path extrusionOk="0" h="79057" w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6"/>
            <p:cNvSpPr/>
            <p:nvPr/>
          </p:nvSpPr>
          <p:spPr>
            <a:xfrm>
              <a:off x="2384869" y="6748090"/>
              <a:ext cx="30765" cy="39528"/>
            </a:xfrm>
            <a:custGeom>
              <a:rect b="b" l="l" r="r" t="t"/>
              <a:pathLst>
                <a:path extrusionOk="0" h="39528" w="30765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hite" showMasterSp="0">
  <p:cSld name="Title Whit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882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7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500"/>
              <a:buFont typeface="Arial"/>
              <a:buNone/>
              <a:defRPr sz="75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i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37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7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7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6513" y="5992753"/>
            <a:ext cx="1031758" cy="38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">
  <p:cSld name="Title, Sub &amp;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" type="body"/>
          </p:nvPr>
        </p:nvSpPr>
        <p:spPr>
          <a:xfrm>
            <a:off x="571370" y="2139953"/>
            <a:ext cx="11010900" cy="410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2" type="body"/>
          </p:nvPr>
        </p:nvSpPr>
        <p:spPr>
          <a:xfrm>
            <a:off x="57137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2 Content Columns">
  <p:cSld name="Title, Sub &amp; 2 Content 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0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1" type="body"/>
          </p:nvPr>
        </p:nvSpPr>
        <p:spPr>
          <a:xfrm>
            <a:off x="571500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2" type="body"/>
          </p:nvPr>
        </p:nvSpPr>
        <p:spPr>
          <a:xfrm>
            <a:off x="6289113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3" type="body"/>
          </p:nvPr>
        </p:nvSpPr>
        <p:spPr>
          <a:xfrm>
            <a:off x="57150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2 Pictures">
  <p:cSld name="Title, Sub, Content &amp; 2 Picture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1"/>
          <p:cNvSpPr txBox="1"/>
          <p:nvPr>
            <p:ph type="title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1" type="body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2" type="body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41"/>
          <p:cNvSpPr/>
          <p:nvPr>
            <p:ph idx="3" type="pic"/>
          </p:nvPr>
        </p:nvSpPr>
        <p:spPr>
          <a:xfrm>
            <a:off x="6609331" y="571500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1"/>
          <p:cNvSpPr/>
          <p:nvPr>
            <p:ph idx="4" type="pic"/>
          </p:nvPr>
        </p:nvSpPr>
        <p:spPr>
          <a:xfrm>
            <a:off x="6609331" y="3537061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41"/>
          <p:cNvSpPr txBox="1"/>
          <p:nvPr>
            <p:ph idx="5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6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Picture">
  <p:cSld name="Title, Sub, Content &amp; Pictur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/>
          <p:nvPr>
            <p:ph idx="2" type="pic"/>
          </p:nvPr>
        </p:nvSpPr>
        <p:spPr>
          <a:xfrm>
            <a:off x="6615046" y="0"/>
            <a:ext cx="5129422" cy="6416167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42"/>
          <p:cNvSpPr txBox="1"/>
          <p:nvPr>
            <p:ph type="title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42"/>
          <p:cNvSpPr txBox="1"/>
          <p:nvPr>
            <p:ph idx="3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Full Page Picture">
  <p:cSld name="Title &amp; Full Page Pictur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3"/>
          <p:cNvSpPr/>
          <p:nvPr>
            <p:ph idx="2" type="pic"/>
          </p:nvPr>
        </p:nvSpPr>
        <p:spPr>
          <a:xfrm>
            <a:off x="-11286" y="0"/>
            <a:ext cx="11744325" cy="640179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3"/>
          <p:cNvSpPr txBox="1"/>
          <p:nvPr>
            <p:ph type="title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Quote">
  <p:cSld name="Title &amp; Quot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4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" type="body"/>
          </p:nvPr>
        </p:nvSpPr>
        <p:spPr>
          <a:xfrm>
            <a:off x="571500" y="1592529"/>
            <a:ext cx="11010900" cy="3727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2" type="body"/>
          </p:nvPr>
        </p:nvSpPr>
        <p:spPr>
          <a:xfrm>
            <a:off x="571500" y="5461818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hart Example" showMasterSp="0">
  <p:cSld name="3_Chart Example">
    <p:bg>
      <p:bgPr>
        <a:solidFill>
          <a:schemeClr val="accen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5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45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5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5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" type="body"/>
          </p:nvPr>
        </p:nvSpPr>
        <p:spPr>
          <a:xfrm>
            <a:off x="571500" y="1599816"/>
            <a:ext cx="11010900" cy="3719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pic>
        <p:nvPicPr>
          <p:cNvPr descr="Image" id="79" name="Google Shape;7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5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81" name="Google Shape;81;p45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82" name="Google Shape;82;p45"/>
          <p:cNvSpPr txBox="1"/>
          <p:nvPr>
            <p:ph idx="2" type="body"/>
          </p:nvPr>
        </p:nvSpPr>
        <p:spPr>
          <a:xfrm>
            <a:off x="571500" y="5476099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45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hite">
  <p:cSld name="Section Break Whit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6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Arial"/>
              <a:buNone/>
              <a:defRPr sz="48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1" type="body"/>
          </p:nvPr>
        </p:nvSpPr>
        <p:spPr>
          <a:xfrm>
            <a:off x="571500" y="393975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Blue" showMasterSp="0">
  <p:cSld name="Section Break Blue">
    <p:bg>
      <p:bgPr>
        <a:solidFill>
          <a:schemeClr val="accen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7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89" name="Google Shape;8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7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7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92" name="Google Shape;92;p47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93" name="Google Shape;93;p47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47"/>
          <p:cNvSpPr txBox="1"/>
          <p:nvPr>
            <p:ph idx="1" type="body"/>
          </p:nvPr>
        </p:nvSpPr>
        <p:spPr>
          <a:xfrm>
            <a:off x="571500" y="3948942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47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ight Blue" showMasterSp="0">
  <p:cSld name="Section Break Light Blue">
    <p:bg>
      <p:bgPr>
        <a:solidFill>
          <a:srgbClr val="0095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8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48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99" name="Google Shape;9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8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8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8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03" name="Google Shape;103;p48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04" name="Google Shape;104;p48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05" name="Google Shape;105;p48"/>
          <p:cNvSpPr txBox="1"/>
          <p:nvPr>
            <p:ph idx="1" type="body"/>
          </p:nvPr>
        </p:nvSpPr>
        <p:spPr>
          <a:xfrm>
            <a:off x="571500" y="396442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" showMasterSp="0">
  <p:cSld name="Title, Sub &amp; Content Blue">
    <p:bg>
      <p:bgPr>
        <a:solidFill>
          <a:schemeClr val="dk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9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9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9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9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9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12" name="Google Shape;11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9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9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15" name="Google Shape;115;p49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16" name="Google Shape;116;p49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17" name="Google Shape;117;p49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18" name="Google Shape;118;p49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2" showMasterSp="0">
  <p:cSld name="Title, Sub &amp; Content Blue 2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0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0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0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0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0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25" name="Google Shape;12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0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0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28" name="Google Shape;128;p50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29" name="Google Shape;129;p50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30" name="Google Shape;130;p50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31" name="Google Shape;131;p50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" showMasterSp="0">
  <p:cSld name="Title, Sub &amp; Content Light Blue">
    <p:bg>
      <p:bgPr>
        <a:solidFill>
          <a:schemeClr val="accent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1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1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35" name="Google Shape;13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1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1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1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1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1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1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42" name="Google Shape;142;p51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43" name="Google Shape;143;p51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44" name="Google Shape;144;p51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51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Gray">
  <p:cSld name="Title, Sub, Content Gray">
    <p:bg>
      <p:bgPr>
        <a:solidFill>
          <a:srgbClr val="F2F2F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2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2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2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2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1" name="Google Shape;151;p52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2" name="Google Shape;152;p52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3" name="Google Shape;153;p52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3" showMasterSp="0">
  <p:cSld name="Title, Sub &amp; Content Blue 3">
    <p:bg>
      <p:bgPr>
        <a:solidFill>
          <a:schemeClr val="accen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3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6" name="Google Shape;156;p53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7" name="Google Shape;157;p53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8" name="Google Shape;158;p53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53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3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61" name="Google Shape;16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3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63" name="Google Shape;163;p53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64" name="Google Shape;164;p53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 2" showMasterSp="0">
  <p:cSld name="Title, Sub &amp; Content Light Blue 2">
    <p:bg>
      <p:bgPr>
        <a:solidFill>
          <a:srgbClr val="0095BD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4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7" name="Google Shape;167;p54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68" name="Google Shape;168;p54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54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54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71" name="Google Shape;171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4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73" name="Google Shape;173;p54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74" name="Google Shape;174;p54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White">
  <p:cSld name="Title &amp; Sub Whit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Google Shape;176;p55"/>
          <p:cNvGraphicFramePr/>
          <p:nvPr/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77" name="Google Shape;177;p55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78" name="Google Shape;178;p55"/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55"/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Blue" showMasterSp="0">
  <p:cSld name="Title &amp; Sub Blue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6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6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83" name="Google Shape;183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6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6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6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87" name="Google Shape;187;p56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88" name="Google Shape;188;p56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Light Blue" showMasterSp="0">
  <p:cSld name="Title &amp; Sub Light Blue">
    <p:bg>
      <p:bgPr>
        <a:solidFill>
          <a:srgbClr val="00C7F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7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7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92" name="Google Shape;19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7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7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7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96" name="Google Shape;196;p57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7" name="Google Shape;197;p57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9949" y="2409775"/>
            <a:ext cx="4080108" cy="152139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8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8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58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idx="1" type="body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32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hyperlink" Target="https://www.intel.com/content/www/us/en/developer/articles/technical/intel-sdm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s://en.wikipedia.org/wiki/Three-address_co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hyperlink" Target="https://en.wikipedia.org/wiki/Static_single_assignment_for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lvm.org/docs/LangRef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hyperlink" Target="https://llvm.org/devmtg/2019-04/slides/Tutorial-Bridgers-LLVM_IR_tutorial.pdf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hyperlink" Target="https://godbolt.org/z/sqo4aG7Gd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hyperlink" Target="https://godbolt.org/z/4hebzfe6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hyperlink" Target="https://godbolt.org/z/898E47xG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hyperlink" Target="https://godbolt.org/z/jxcvxM57f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hyperlink" Target="https://godbolt.org/z/jxcvxM57f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hyperlink" Target="https://godbolt.org/z/GbqhabvM8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hyperlink" Target="https://godbolt.org/z/x6bf1fxxv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hyperlink" Target="https://godbolt.org/z/x6bf1fxxv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llvm.org/docs/CommandGuide/bugpoint.html" TargetMode="External"/><Relationship Id="rId4" Type="http://schemas.openxmlformats.org/officeDocument/2006/relationships/hyperlink" Target="https://llvm.org/docs/CommandGuide/llvm-reduce.html" TargetMode="External"/><Relationship Id="rId5" Type="http://schemas.openxmlformats.org/officeDocument/2006/relationships/hyperlink" Target="https://www.youtube.com/watch?v=n1jDj7J9N8c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forms.gle/JbjBRMFNXym6tBQG6" TargetMode="External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hyperlink" Target="mailto:me@gooddoog.ru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forms.gle/KNKvREkPhq3QNHj18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forms.gle/6621mVXjavHiQxWB6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34.png"/><Relationship Id="rId6" Type="http://schemas.openxmlformats.org/officeDocument/2006/relationships/image" Target="../media/image3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github.com/f0rki/mapping-high-level-constructs-to-llvm-ir" TargetMode="External"/><Relationship Id="rId4" Type="http://schemas.openxmlformats.org/officeDocument/2006/relationships/hyperlink" Target="https://www.llvm.org/docs/GetElementPtr.html" TargetMode="External"/><Relationship Id="rId5" Type="http://schemas.openxmlformats.org/officeDocument/2006/relationships/hyperlink" Target="https://www.youtube.com/watch?v=m8G_S5LwlT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208" name="Google Shape;208;p1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LLVM IR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Previously…</a:t>
            </a:r>
            <a:endParaRPr/>
          </a:p>
        </p:txBody>
      </p:sp>
      <p:sp>
        <p:nvSpPr>
          <p:cNvPr id="214" name="Google Shape;214;p2"/>
          <p:cNvSpPr/>
          <p:nvPr/>
        </p:nvSpPr>
        <p:spPr>
          <a:xfrm>
            <a:off x="855405" y="1544658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855404" y="2098214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855403" y="2651770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855405" y="3213202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855401" y="4382232"/>
            <a:ext cx="2861100" cy="3795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855400" y="5505072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2"/>
          <p:cNvSpPr/>
          <p:nvPr/>
        </p:nvSpPr>
        <p:spPr>
          <a:xfrm>
            <a:off x="855411" y="4897503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855405" y="3797715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2"/>
          <p:cNvSpPr/>
          <p:nvPr/>
        </p:nvSpPr>
        <p:spPr>
          <a:xfrm>
            <a:off x="6707568" y="2474368"/>
            <a:ext cx="1828800" cy="594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223" name="Google Shape;223;p2"/>
          <p:cNvSpPr/>
          <p:nvPr/>
        </p:nvSpPr>
        <p:spPr>
          <a:xfrm>
            <a:off x="6478475" y="4241871"/>
            <a:ext cx="2286900" cy="5949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/>
          </a:p>
        </p:txBody>
      </p:sp>
      <p:sp>
        <p:nvSpPr>
          <p:cNvPr id="224" name="Google Shape;224;p2"/>
          <p:cNvSpPr/>
          <p:nvPr/>
        </p:nvSpPr>
        <p:spPr>
          <a:xfrm>
            <a:off x="6478476" y="5064028"/>
            <a:ext cx="2286900" cy="59490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30" name="Google Shape;230;p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Three address code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Intermediate representations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LLVM IR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How to represent computation?</a:t>
            </a:r>
            <a:endParaRPr/>
          </a:p>
        </p:txBody>
      </p:sp>
      <p:pic>
        <p:nvPicPr>
          <p:cNvPr id="236" name="Google Shape;236;p4"/>
          <p:cNvPicPr preferRelativeResize="0"/>
          <p:nvPr/>
        </p:nvPicPr>
        <p:blipFill rotWithShape="1">
          <a:blip r:embed="rId3">
            <a:alphaModFix/>
          </a:blip>
          <a:srcRect b="0" l="0" r="0" t="36701"/>
          <a:stretch/>
        </p:blipFill>
        <p:spPr>
          <a:xfrm>
            <a:off x="633052" y="1524000"/>
            <a:ext cx="10925899" cy="473087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"/>
          <p:cNvSpPr txBox="1"/>
          <p:nvPr/>
        </p:nvSpPr>
        <p:spPr>
          <a:xfrm>
            <a:off x="2679425" y="6400800"/>
            <a:ext cx="6794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https://www.intel.com/content/www/us/en/developer/articles/technical/intel-sdm.html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999cc3595_0_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Two-address code (2AC)</a:t>
            </a:r>
            <a:endParaRPr/>
          </a:p>
        </p:txBody>
      </p:sp>
      <p:sp>
        <p:nvSpPr>
          <p:cNvPr id="243" name="Google Shape;243;g3a999cc3595_0_6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Two</a:t>
            </a:r>
            <a:r>
              <a:rPr lang="en-US"/>
              <a:t>-address code is a representation of the computation in the form of a sequence of expressions A := A op B</a:t>
            </a:r>
            <a:endParaRPr/>
          </a:p>
          <a:p>
            <a:pPr indent="-292100" lvl="0" marL="228600" rtl="0" algn="l">
              <a:spcBef>
                <a:spcPts val="12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:= B + C + 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:=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+= 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+= D</a:t>
            </a:r>
            <a:endParaRPr/>
          </a:p>
        </p:txBody>
      </p:sp>
      <p:cxnSp>
        <p:nvCxnSpPr>
          <p:cNvPr id="244" name="Google Shape;244;g3a999cc3595_0_6"/>
          <p:cNvCxnSpPr/>
          <p:nvPr/>
        </p:nvCxnSpPr>
        <p:spPr>
          <a:xfrm>
            <a:off x="571370" y="3749879"/>
            <a:ext cx="26667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Three-address code (TAC, 3AC)</a:t>
            </a:r>
            <a:endParaRPr/>
          </a:p>
        </p:txBody>
      </p:sp>
      <p:sp>
        <p:nvSpPr>
          <p:cNvPr id="250" name="Google Shape;250;p5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Three-address code is a representation of the computation in the form of a sequence of expressions A := B op C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:= B + C + 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t1 := B +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t2 := t1 + 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:= t2</a:t>
            </a:r>
            <a:endParaRPr/>
          </a:p>
        </p:txBody>
      </p:sp>
      <p:cxnSp>
        <p:nvCxnSpPr>
          <p:cNvPr id="251" name="Google Shape;251;p5"/>
          <p:cNvCxnSpPr/>
          <p:nvPr/>
        </p:nvCxnSpPr>
        <p:spPr>
          <a:xfrm>
            <a:off x="571370" y="3749879"/>
            <a:ext cx="266678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252" name="Google Shape;252;p5"/>
          <p:cNvSpPr txBox="1"/>
          <p:nvPr/>
        </p:nvSpPr>
        <p:spPr>
          <a:xfrm>
            <a:off x="846300" y="5758775"/>
            <a:ext cx="1107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Key point here: we have a separate return value, not a single operand is being modified</a:t>
            </a:r>
            <a:endParaRPr sz="2800">
              <a:solidFill>
                <a:schemeClr val="lt2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Three-address code (TAC)</a:t>
            </a:r>
            <a:r>
              <a:rPr lang="en-US"/>
              <a:t> instructions</a:t>
            </a:r>
            <a:endParaRPr/>
          </a:p>
        </p:txBody>
      </p:sp>
      <p:sp>
        <p:nvSpPr>
          <p:cNvPr id="258" name="Google Shape;258;p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The following forms are allowed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constant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B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B op C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constant op B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B op constant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constant op constant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TAC control flow</a:t>
            </a:r>
            <a:endParaRPr/>
          </a:p>
        </p:txBody>
      </p:sp>
      <p:sp>
        <p:nvSpPr>
          <p:cNvPr id="264" name="Google Shape;264;p7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int x, y;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while (x &lt; y)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x = x * 2;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y = x;</a:t>
            </a:r>
            <a:endParaRPr/>
          </a:p>
        </p:txBody>
      </p:sp>
      <p:sp>
        <p:nvSpPr>
          <p:cNvPr id="265" name="Google Shape;265;p7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L0: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t0 := x &gt;= y;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if t0 goto L1;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x := x *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goto L0;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L1: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y := x;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Three-address code example</a:t>
            </a:r>
            <a:endParaRPr/>
          </a:p>
        </p:txBody>
      </p:sp>
      <p:pic>
        <p:nvPicPr>
          <p:cNvPr id="271" name="Google Shape;27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99880"/>
            <a:ext cx="11010900" cy="292186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 txBox="1"/>
          <p:nvPr/>
        </p:nvSpPr>
        <p:spPr>
          <a:xfrm>
            <a:off x="2369892" y="5618890"/>
            <a:ext cx="7413771" cy="426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https://en.wikipedia.org/wiki/Three-address_code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Function calls</a:t>
            </a:r>
            <a:endParaRPr/>
          </a:p>
        </p:txBody>
      </p:sp>
      <p:sp>
        <p:nvSpPr>
          <p:cNvPr id="278" name="Google Shape;278;p9"/>
          <p:cNvSpPr txBox="1"/>
          <p:nvPr>
            <p:ph idx="1" type="body"/>
          </p:nvPr>
        </p:nvSpPr>
        <p:spPr>
          <a:xfrm>
            <a:off x="571500" y="1673402"/>
            <a:ext cx="5524500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void bar(int A, int B)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void foo()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bar(10, 42);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79" name="Google Shape;279;p9"/>
          <p:cNvSpPr txBox="1"/>
          <p:nvPr>
            <p:ph idx="2" type="body"/>
          </p:nvPr>
        </p:nvSpPr>
        <p:spPr>
          <a:xfrm>
            <a:off x="6493425" y="963023"/>
            <a:ext cx="5288400" cy="55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bar: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B = pop;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A = pop;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foo: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push 10;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push 42;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goto bar;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Single static assignment</a:t>
            </a:r>
            <a:endParaRPr/>
          </a:p>
        </p:txBody>
      </p:sp>
      <p:sp>
        <p:nvSpPr>
          <p:cNvPr id="285" name="Google Shape;285;p10"/>
          <p:cNvSpPr txBox="1"/>
          <p:nvPr>
            <p:ph idx="1" type="body"/>
          </p:nvPr>
        </p:nvSpPr>
        <p:spPr>
          <a:xfrm>
            <a:off x="571370" y="1673455"/>
            <a:ext cx="11010900" cy="1598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SSA is a property of intermediate representation, which requires that each variable to be assigned exactly once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Benefits</a:t>
            </a:r>
            <a:endParaRPr/>
          </a:p>
        </p:txBody>
      </p:sp>
      <p:pic>
        <p:nvPicPr>
          <p:cNvPr id="286" name="Google Shape;2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471" y="3572005"/>
            <a:ext cx="1228896" cy="122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6115" y="3586294"/>
            <a:ext cx="1371791" cy="120031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 txBox="1"/>
          <p:nvPr/>
        </p:nvSpPr>
        <p:spPr>
          <a:xfrm>
            <a:off x="1878010" y="5266552"/>
            <a:ext cx="8573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https://en.wikipedia.org/wiki/Static_single_assignment_form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Converting to SSA</a:t>
            </a:r>
            <a:endParaRPr/>
          </a:p>
        </p:txBody>
      </p:sp>
      <p:sp>
        <p:nvSpPr>
          <p:cNvPr id="294" name="Google Shape;294;p11"/>
          <p:cNvSpPr txBox="1"/>
          <p:nvPr>
            <p:ph idx="1" type="body"/>
          </p:nvPr>
        </p:nvSpPr>
        <p:spPr>
          <a:xfrm>
            <a:off x="571500" y="1673402"/>
            <a:ext cx="5288400" cy="4584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810" r="0" t="-239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 </a:t>
            </a:r>
            <a:endParaRPr/>
          </a:p>
        </p:txBody>
      </p:sp>
      <p:pic>
        <p:nvPicPr>
          <p:cNvPr id="295" name="Google Shape;295;p11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4976" y="1673225"/>
            <a:ext cx="3257361" cy="45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Computing minimal SSA</a:t>
            </a:r>
            <a:endParaRPr/>
          </a:p>
        </p:txBody>
      </p:sp>
      <p:sp>
        <p:nvSpPr>
          <p:cNvPr id="301" name="Google Shape;301;p12"/>
          <p:cNvSpPr txBox="1"/>
          <p:nvPr>
            <p:ph idx="1" type="body"/>
          </p:nvPr>
        </p:nvSpPr>
        <p:spPr>
          <a:xfrm>
            <a:off x="571370" y="1673454"/>
            <a:ext cx="11010900" cy="393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Dominance frontier: a node B is in the dominance frontier of a node A if A does not strictly dominate B, but does dominate some immediate predecessor of B, or if node A is an immediate predecessor of B.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If the node A defines a certain variable, then that definition will reach every node A dominates. When we leave those nodes and enter a dominance frontier, we must account for other flows.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6a0424328b_0_1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Def-use analysis</a:t>
            </a:r>
            <a:endParaRPr/>
          </a:p>
        </p:txBody>
      </p:sp>
      <p:sp>
        <p:nvSpPr>
          <p:cNvPr id="307" name="Google Shape;307;g26a0424328b_0_19"/>
          <p:cNvSpPr txBox="1"/>
          <p:nvPr>
            <p:ph idx="1" type="body"/>
          </p:nvPr>
        </p:nvSpPr>
        <p:spPr>
          <a:xfrm>
            <a:off x="571375" y="1673449"/>
            <a:ext cx="11010900" cy="51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Def-use analysis is a technique used in compilers to determine the points in the program where variables are defined (def) and used (use)</a:t>
            </a:r>
            <a:r>
              <a:rPr lang="en-US"/>
              <a:t>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Definition (Def): A point in the program where a variable is assigned a value</a:t>
            </a:r>
            <a:r>
              <a:rPr lang="en-U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(Use): A point in the program where the value of a variable is read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This analysis helps in: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Identifying dead code (code that is defined but never used).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Optimizing away redundant computations</a:t>
            </a:r>
            <a:r>
              <a:rPr lang="en-U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Facilitating more complex analyses like reaching definitions, live variable analysis, and more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6a0424328b_0_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Intermediate representations (IRs)</a:t>
            </a:r>
            <a:endParaRPr/>
          </a:p>
        </p:txBody>
      </p:sp>
      <p:sp>
        <p:nvSpPr>
          <p:cNvPr id="313" name="Google Shape;313;g26a0424328b_0_5"/>
          <p:cNvSpPr txBox="1"/>
          <p:nvPr>
            <p:ph idx="1" type="body"/>
          </p:nvPr>
        </p:nvSpPr>
        <p:spPr>
          <a:xfrm>
            <a:off x="571375" y="1673449"/>
            <a:ext cx="11010900" cy="51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LLVM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MLIR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(g)MIR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GCC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GENERIC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GIMPLE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RTL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6a0424328b_0_1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Intermediate representations of LLVM infrastructure</a:t>
            </a:r>
            <a:endParaRPr/>
          </a:p>
        </p:txBody>
      </p:sp>
      <p:sp>
        <p:nvSpPr>
          <p:cNvPr id="319" name="Google Shape;319;g26a0424328b_0_10"/>
          <p:cNvSpPr txBox="1"/>
          <p:nvPr>
            <p:ph idx="1" type="body"/>
          </p:nvPr>
        </p:nvSpPr>
        <p:spPr>
          <a:xfrm>
            <a:off x="571375" y="1673449"/>
            <a:ext cx="11010900" cy="51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MLIR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LLVM IR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(g)MIR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Other IRs will be covered later as a part of this course as well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LLVM IR</a:t>
            </a:r>
            <a:endParaRPr/>
          </a:p>
        </p:txBody>
      </p:sp>
      <p:sp>
        <p:nvSpPr>
          <p:cNvPr id="325" name="Google Shape;325;p1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SSA, infinite registers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Functions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Metadata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Textual and binary representation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Full reference: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https://llvm.org/docs/LangRef.html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32" name="Google Shape;3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86" y="0"/>
            <a:ext cx="121582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4"/>
          <p:cNvSpPr txBox="1"/>
          <p:nvPr/>
        </p:nvSpPr>
        <p:spPr>
          <a:xfrm>
            <a:off x="804545" y="5914082"/>
            <a:ext cx="11666989" cy="426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https://llvm.org/devmtg/2019-04/slides/Tutorial-Bridgers-LLVM_IR_tutorial.pdf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LLVM IR Example</a:t>
            </a:r>
            <a:endParaRPr/>
          </a:p>
        </p:txBody>
      </p:sp>
      <p:pic>
        <p:nvPicPr>
          <p:cNvPr id="339" name="Google Shape;3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44" y="1540127"/>
            <a:ext cx="3658111" cy="1705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3490" y="1"/>
            <a:ext cx="6989566" cy="64500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15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42" name="Google Shape;342;p15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43" name="Google Shape;343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15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accent1"/>
                  </a:solidFill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https://godbolt.org/z/sqo4aG7Gd</a:t>
              </a:r>
              <a:r>
                <a:rPr lang="en-US" sz="2400">
                  <a:solidFill>
                    <a:schemeClr val="dk1"/>
                  </a:solidFill>
                </a:rPr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Global variables</a:t>
            </a:r>
            <a:endParaRPr/>
          </a:p>
        </p:txBody>
      </p:sp>
      <p:pic>
        <p:nvPicPr>
          <p:cNvPr id="350" name="Google Shape;3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176" y="495362"/>
            <a:ext cx="2355158" cy="546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464" y="1047749"/>
            <a:ext cx="9850555" cy="53599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2" name="Google Shape;352;p16"/>
          <p:cNvGrpSpPr/>
          <p:nvPr/>
        </p:nvGrpSpPr>
        <p:grpSpPr>
          <a:xfrm>
            <a:off x="0" y="6407713"/>
            <a:ext cx="5188500" cy="445275"/>
            <a:chOff x="289925" y="5611838"/>
            <a:chExt cx="5188500" cy="445275"/>
          </a:xfrm>
        </p:grpSpPr>
        <p:sp>
          <p:nvSpPr>
            <p:cNvPr id="353" name="Google Shape;353;p16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54" name="Google Shape;354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16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https://godbolt.org/z/4hebzfe6s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Structures</a:t>
            </a:r>
            <a:endParaRPr/>
          </a:p>
        </p:txBody>
      </p:sp>
      <p:pic>
        <p:nvPicPr>
          <p:cNvPr id="361" name="Google Shape;3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5126" y="3495141"/>
            <a:ext cx="9136874" cy="2437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" y="1217867"/>
            <a:ext cx="2437636" cy="243763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7"/>
          <p:cNvSpPr/>
          <p:nvPr/>
        </p:nvSpPr>
        <p:spPr>
          <a:xfrm>
            <a:off x="1551963" y="1635853"/>
            <a:ext cx="3959604" cy="1963024"/>
          </a:xfrm>
          <a:custGeom>
            <a:rect b="b" l="l" r="r" t="t"/>
            <a:pathLst>
              <a:path extrusionOk="0" h="1963024" w="3959604">
                <a:moveTo>
                  <a:pt x="0" y="0"/>
                </a:moveTo>
                <a:cubicBezTo>
                  <a:pt x="932576" y="0"/>
                  <a:pt x="1865153" y="0"/>
                  <a:pt x="2525087" y="327171"/>
                </a:cubicBezTo>
                <a:cubicBezTo>
                  <a:pt x="3185021" y="654342"/>
                  <a:pt x="3959604" y="1963024"/>
                  <a:pt x="3959604" y="1963024"/>
                </a:cubicBezTo>
                <a:lnTo>
                  <a:pt x="3959604" y="1963024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1795244" y="1832193"/>
            <a:ext cx="4412609" cy="1733128"/>
          </a:xfrm>
          <a:custGeom>
            <a:rect b="b" l="l" r="r" t="t"/>
            <a:pathLst>
              <a:path extrusionOk="0" h="1733128" w="4412609">
                <a:moveTo>
                  <a:pt x="0" y="21774"/>
                </a:moveTo>
                <a:cubicBezTo>
                  <a:pt x="1259746" y="-11782"/>
                  <a:pt x="2519493" y="-45338"/>
                  <a:pt x="3254928" y="239888"/>
                </a:cubicBezTo>
                <a:cubicBezTo>
                  <a:pt x="3990363" y="525114"/>
                  <a:pt x="4412609" y="1733128"/>
                  <a:pt x="4412609" y="1733128"/>
                </a:cubicBezTo>
                <a:lnTo>
                  <a:pt x="4412609" y="173312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1879134" y="2122415"/>
            <a:ext cx="5100506" cy="1468073"/>
          </a:xfrm>
          <a:custGeom>
            <a:rect b="b" l="l" r="r" t="t"/>
            <a:pathLst>
              <a:path extrusionOk="0" h="1468073" w="5100506">
                <a:moveTo>
                  <a:pt x="0" y="0"/>
                </a:moveTo>
                <a:cubicBezTo>
                  <a:pt x="1290506" y="78996"/>
                  <a:pt x="2581013" y="157992"/>
                  <a:pt x="3431097" y="402671"/>
                </a:cubicBezTo>
                <a:cubicBezTo>
                  <a:pt x="4281181" y="647350"/>
                  <a:pt x="5100506" y="1468073"/>
                  <a:pt x="5100506" y="1468073"/>
                </a:cubicBezTo>
                <a:lnTo>
                  <a:pt x="5100506" y="1468073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17"/>
          <p:cNvCxnSpPr/>
          <p:nvPr/>
        </p:nvCxnSpPr>
        <p:spPr>
          <a:xfrm>
            <a:off x="1551963" y="3229761"/>
            <a:ext cx="1744910" cy="1853967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grpSp>
        <p:nvGrpSpPr>
          <p:cNvPr id="367" name="Google Shape;367;p17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68" name="Google Shape;368;p17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69" name="Google Shape;369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17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https://godbolt.org/z/898E47xGf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Nested structures</a:t>
            </a:r>
            <a:endParaRPr/>
          </a:p>
        </p:txBody>
      </p:sp>
      <p:pic>
        <p:nvPicPr>
          <p:cNvPr id="376" name="Google Shape;376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70" y="2198441"/>
            <a:ext cx="2781688" cy="35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7419" y="3313021"/>
            <a:ext cx="7779777" cy="7388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18"/>
          <p:cNvCxnSpPr/>
          <p:nvPr/>
        </p:nvCxnSpPr>
        <p:spPr>
          <a:xfrm flipH="1" rot="10800000">
            <a:off x="2969703" y="3800213"/>
            <a:ext cx="7373923" cy="140935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grpSp>
        <p:nvGrpSpPr>
          <p:cNvPr id="379" name="Google Shape;379;p18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80" name="Google Shape;380;p18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81" name="Google Shape;381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2" name="Google Shape;382;p18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https://godbolt.org/z/jxcvxM57f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Functions</a:t>
            </a:r>
            <a:endParaRPr/>
          </a:p>
        </p:txBody>
      </p:sp>
      <p:pic>
        <p:nvPicPr>
          <p:cNvPr id="388" name="Google Shape;388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8761" y="2143626"/>
            <a:ext cx="7249537" cy="3248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02" y="2886679"/>
            <a:ext cx="3572374" cy="1762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19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91" name="Google Shape;391;p19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92" name="Google Shape;392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" name="Google Shape;393;p19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https://godbolt.org/z/jxcvxM57f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Branches</a:t>
            </a:r>
            <a:endParaRPr/>
          </a:p>
        </p:txBody>
      </p:sp>
      <p:pic>
        <p:nvPicPr>
          <p:cNvPr id="399" name="Google Shape;39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4450" y="0"/>
            <a:ext cx="5380296" cy="6863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814" y="1523999"/>
            <a:ext cx="4182059" cy="23815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" name="Google Shape;401;p20"/>
          <p:cNvCxnSpPr/>
          <p:nvPr/>
        </p:nvCxnSpPr>
        <p:spPr>
          <a:xfrm>
            <a:off x="3229761" y="2164360"/>
            <a:ext cx="3078760" cy="80534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grpSp>
        <p:nvGrpSpPr>
          <p:cNvPr id="402" name="Google Shape;402;p20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403" name="Google Shape;403;p2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404" name="Google Shape;40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2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https://godbolt.org/z/GbqhabvM8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3ce395d76b_0_1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blocks</a:t>
            </a:r>
            <a:endParaRPr/>
          </a:p>
        </p:txBody>
      </p:sp>
      <p:sp>
        <p:nvSpPr>
          <p:cNvPr id="411" name="Google Shape;411;g33ce395d76b_0_19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 basic block is a sequence of consecutive statements in a program.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Execution in a basic block flows linearly (no jumps, branches, or labels except at the start and the end).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B</a:t>
            </a:r>
            <a:r>
              <a:rPr lang="en-US"/>
              <a:t>asic block h</a:t>
            </a:r>
            <a:r>
              <a:rPr lang="en-US"/>
              <a:t>as a single entry and a single exit.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Basic blocks</a:t>
            </a:r>
            <a:endParaRPr/>
          </a:p>
        </p:txBody>
      </p:sp>
      <p:pic>
        <p:nvPicPr>
          <p:cNvPr id="417" name="Google Shape;417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4450" y="0"/>
            <a:ext cx="5380296" cy="68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1"/>
          <p:cNvSpPr/>
          <p:nvPr/>
        </p:nvSpPr>
        <p:spPr>
          <a:xfrm>
            <a:off x="5083728" y="486561"/>
            <a:ext cx="629175" cy="2575421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5120701" y="3365734"/>
            <a:ext cx="629175" cy="113076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5120701" y="4648900"/>
            <a:ext cx="629175" cy="87105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5085203" y="5756414"/>
            <a:ext cx="629175" cy="719887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1392572" y="2600804"/>
            <a:ext cx="19378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blocks</a:t>
            </a:r>
            <a:endParaRPr/>
          </a:p>
        </p:txBody>
      </p:sp>
      <p:sp>
        <p:nvSpPr>
          <p:cNvPr id="423" name="Google Shape;423;p21"/>
          <p:cNvSpPr txBox="1"/>
          <p:nvPr/>
        </p:nvSpPr>
        <p:spPr>
          <a:xfrm>
            <a:off x="1177254" y="3830812"/>
            <a:ext cx="19378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Terminators</a:t>
            </a:r>
            <a:endParaRPr/>
          </a:p>
        </p:txBody>
      </p:sp>
      <p:cxnSp>
        <p:nvCxnSpPr>
          <p:cNvPr id="424" name="Google Shape;424;p21"/>
          <p:cNvCxnSpPr>
            <a:stCxn id="422" idx="3"/>
            <a:endCxn id="418" idx="1"/>
          </p:cNvCxnSpPr>
          <p:nvPr/>
        </p:nvCxnSpPr>
        <p:spPr>
          <a:xfrm flipH="1" rot="10800000">
            <a:off x="3330429" y="1774170"/>
            <a:ext cx="1753200" cy="1011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25" name="Google Shape;425;p21"/>
          <p:cNvCxnSpPr>
            <a:stCxn id="422" idx="3"/>
            <a:endCxn id="419" idx="1"/>
          </p:cNvCxnSpPr>
          <p:nvPr/>
        </p:nvCxnSpPr>
        <p:spPr>
          <a:xfrm>
            <a:off x="3330429" y="2785470"/>
            <a:ext cx="1790400" cy="1145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26" name="Google Shape;426;p21"/>
          <p:cNvCxnSpPr>
            <a:stCxn id="422" idx="3"/>
            <a:endCxn id="420" idx="1"/>
          </p:cNvCxnSpPr>
          <p:nvPr/>
        </p:nvCxnSpPr>
        <p:spPr>
          <a:xfrm>
            <a:off x="3330429" y="2785470"/>
            <a:ext cx="1790400" cy="2298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27" name="Google Shape;427;p21"/>
          <p:cNvCxnSpPr>
            <a:stCxn id="422" idx="3"/>
            <a:endCxn id="421" idx="1"/>
          </p:cNvCxnSpPr>
          <p:nvPr/>
        </p:nvCxnSpPr>
        <p:spPr>
          <a:xfrm>
            <a:off x="3330429" y="2785470"/>
            <a:ext cx="1754700" cy="3330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28" name="Google Shape;428;p21"/>
          <p:cNvCxnSpPr>
            <a:stCxn id="423" idx="3"/>
          </p:cNvCxnSpPr>
          <p:nvPr/>
        </p:nvCxnSpPr>
        <p:spPr>
          <a:xfrm flipH="1" rot="10800000">
            <a:off x="3115111" y="3028478"/>
            <a:ext cx="3218700" cy="987000"/>
          </a:xfrm>
          <a:prstGeom prst="straightConnector1">
            <a:avLst/>
          </a:prstGeom>
          <a:noFill/>
          <a:ln cap="flat" cmpd="sng" w="38100">
            <a:solidFill>
              <a:srgbClr val="00C5F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9" name="Google Shape;429;p21"/>
          <p:cNvCxnSpPr>
            <a:stCxn id="423" idx="3"/>
          </p:cNvCxnSpPr>
          <p:nvPr/>
        </p:nvCxnSpPr>
        <p:spPr>
          <a:xfrm>
            <a:off x="3115111" y="4015478"/>
            <a:ext cx="3218700" cy="184800"/>
          </a:xfrm>
          <a:prstGeom prst="straightConnector1">
            <a:avLst/>
          </a:prstGeom>
          <a:noFill/>
          <a:ln cap="flat" cmpd="sng" w="38100">
            <a:solidFill>
              <a:srgbClr val="00C5F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0" name="Google Shape;430;p21"/>
          <p:cNvCxnSpPr>
            <a:stCxn id="423" idx="3"/>
          </p:cNvCxnSpPr>
          <p:nvPr/>
        </p:nvCxnSpPr>
        <p:spPr>
          <a:xfrm>
            <a:off x="3115111" y="4015478"/>
            <a:ext cx="3151500" cy="1372800"/>
          </a:xfrm>
          <a:prstGeom prst="straightConnector1">
            <a:avLst/>
          </a:prstGeom>
          <a:noFill/>
          <a:ln cap="flat" cmpd="sng" w="38100">
            <a:solidFill>
              <a:srgbClr val="00C5F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1" name="Google Shape;431;p21"/>
          <p:cNvCxnSpPr>
            <a:stCxn id="423" idx="3"/>
          </p:cNvCxnSpPr>
          <p:nvPr/>
        </p:nvCxnSpPr>
        <p:spPr>
          <a:xfrm>
            <a:off x="3115111" y="4015478"/>
            <a:ext cx="3151500" cy="2404500"/>
          </a:xfrm>
          <a:prstGeom prst="straightConnector1">
            <a:avLst/>
          </a:prstGeom>
          <a:noFill/>
          <a:ln cap="flat" cmpd="sng" w="38100">
            <a:solidFill>
              <a:srgbClr val="00C5F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Loops</a:t>
            </a:r>
            <a:endParaRPr/>
          </a:p>
        </p:txBody>
      </p:sp>
      <p:pic>
        <p:nvPicPr>
          <p:cNvPr id="437" name="Google Shape;437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0634" y="6641"/>
            <a:ext cx="3838042" cy="6844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119" y="2420118"/>
            <a:ext cx="4535647" cy="1658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Loops. Control flow graph (CFG)</a:t>
            </a:r>
            <a:endParaRPr/>
          </a:p>
        </p:txBody>
      </p:sp>
      <p:pic>
        <p:nvPicPr>
          <p:cNvPr id="444" name="Google Shape;444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1738" y="1181150"/>
            <a:ext cx="4254900" cy="56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569" y="2599743"/>
            <a:ext cx="4535647" cy="165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7177" y="917698"/>
            <a:ext cx="2816100" cy="502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23"/>
          <p:cNvCxnSpPr/>
          <p:nvPr/>
        </p:nvCxnSpPr>
        <p:spPr>
          <a:xfrm>
            <a:off x="9182900" y="1099225"/>
            <a:ext cx="19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23"/>
          <p:cNvCxnSpPr/>
          <p:nvPr/>
        </p:nvCxnSpPr>
        <p:spPr>
          <a:xfrm>
            <a:off x="9182900" y="2545400"/>
            <a:ext cx="19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23"/>
          <p:cNvCxnSpPr/>
          <p:nvPr/>
        </p:nvCxnSpPr>
        <p:spPr>
          <a:xfrm>
            <a:off x="9182900" y="3339825"/>
            <a:ext cx="19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23"/>
          <p:cNvCxnSpPr/>
          <p:nvPr/>
        </p:nvCxnSpPr>
        <p:spPr>
          <a:xfrm>
            <a:off x="9182900" y="4786000"/>
            <a:ext cx="19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23"/>
          <p:cNvCxnSpPr/>
          <p:nvPr/>
        </p:nvCxnSpPr>
        <p:spPr>
          <a:xfrm>
            <a:off x="9182900" y="5580425"/>
            <a:ext cx="19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Single assignment</a:t>
            </a:r>
            <a:endParaRPr/>
          </a:p>
        </p:txBody>
      </p:sp>
      <p:pic>
        <p:nvPicPr>
          <p:cNvPr id="457" name="Google Shape;457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3129" y="1566602"/>
            <a:ext cx="3705742" cy="3724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oogle Shape;458;p24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459" name="Google Shape;459;p24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460" name="Google Shape;460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24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https://godbolt.org/z/x6bf1fxxv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Memory SSA</a:t>
            </a:r>
            <a:endParaRPr/>
          </a:p>
        </p:txBody>
      </p:sp>
      <p:pic>
        <p:nvPicPr>
          <p:cNvPr id="467" name="Google Shape;46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650" y="1566602"/>
            <a:ext cx="3705742" cy="372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3671" y="18175"/>
            <a:ext cx="5744377" cy="6268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9" name="Google Shape;469;p25"/>
          <p:cNvCxnSpPr/>
          <p:nvPr/>
        </p:nvCxnSpPr>
        <p:spPr>
          <a:xfrm flipH="1" rot="10800000">
            <a:off x="3674378" y="461394"/>
            <a:ext cx="1946246" cy="2189527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70" name="Google Shape;470;p25"/>
          <p:cNvCxnSpPr/>
          <p:nvPr/>
        </p:nvCxnSpPr>
        <p:spPr>
          <a:xfrm flipH="1" rot="10800000">
            <a:off x="4490548" y="2876395"/>
            <a:ext cx="1130076" cy="49755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71" name="Google Shape;471;p25"/>
          <p:cNvCxnSpPr/>
          <p:nvPr/>
        </p:nvCxnSpPr>
        <p:spPr>
          <a:xfrm>
            <a:off x="4870392" y="4041604"/>
            <a:ext cx="825733" cy="45469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72" name="Google Shape;472;p25"/>
          <p:cNvCxnSpPr/>
          <p:nvPr/>
        </p:nvCxnSpPr>
        <p:spPr>
          <a:xfrm>
            <a:off x="3818862" y="4734892"/>
            <a:ext cx="1801762" cy="89033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grpSp>
        <p:nvGrpSpPr>
          <p:cNvPr id="473" name="Google Shape;473;p25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474" name="Google Shape;474;p25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475" name="Google Shape;475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6" name="Google Shape;476;p25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https://godbolt.org/z/x6bf1fxxv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2" name="Google Shape;482;p2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83" name="Google Shape;4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77"/>
            <a:ext cx="12192000" cy="6852646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6"/>
          <p:cNvSpPr/>
          <p:nvPr/>
        </p:nvSpPr>
        <p:spPr>
          <a:xfrm>
            <a:off x="5058375" y="5009750"/>
            <a:ext cx="1566300" cy="42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aka GEP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485" name="Google Shape;485;p26"/>
          <p:cNvCxnSpPr>
            <a:stCxn id="484" idx="0"/>
          </p:cNvCxnSpPr>
          <p:nvPr/>
        </p:nvCxnSpPr>
        <p:spPr>
          <a:xfrm flipH="1" rot="10800000">
            <a:off x="5841525" y="3258650"/>
            <a:ext cx="685800" cy="17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bee99cf594_0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LLVM IR bitcode</a:t>
            </a:r>
            <a:endParaRPr/>
          </a:p>
        </p:txBody>
      </p:sp>
      <p:sp>
        <p:nvSpPr>
          <p:cNvPr id="491" name="Google Shape;491;g2bee99cf594_0_1"/>
          <p:cNvSpPr txBox="1"/>
          <p:nvPr>
            <p:ph idx="1" type="body"/>
          </p:nvPr>
        </p:nvSpPr>
        <p:spPr>
          <a:xfrm>
            <a:off x="571375" y="1673450"/>
            <a:ext cx="11010900" cy="51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Binary Representation of LLVM IR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Use Cases: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distribution (for usage or inspection by other LLVM based tools).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intermediate step in a build process that involves further optimization or cross-compilation.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Just-In-Time (JIT) compilation scenarios.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bee99cf594_0_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LLVM IR bitcode: tooling</a:t>
            </a:r>
            <a:endParaRPr/>
          </a:p>
        </p:txBody>
      </p:sp>
      <p:sp>
        <p:nvSpPr>
          <p:cNvPr id="497" name="Google Shape;497;g2bee99cf594_0_7"/>
          <p:cNvSpPr txBox="1"/>
          <p:nvPr>
            <p:ph idx="1" type="body"/>
          </p:nvPr>
        </p:nvSpPr>
        <p:spPr>
          <a:xfrm>
            <a:off x="571375" y="1203700"/>
            <a:ext cx="11010900" cy="56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Emit bitcode: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clang -emit-llvm -c source.c -o source.bc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Converting LLVM IR Bitcode to Human-Readable Format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llvm-dis source.bc -o source.ll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Converting Human-Readable LLVM IR to Bitcode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llvm-as source.ll -o source.bc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Linking Multiple LLVM Bitcode Files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llvm-link file1.bc file2.bc -o combined.bc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Execute LLVM IR bitcode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lli source.bc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Inspecting LLVM IR</a:t>
            </a:r>
            <a:endParaRPr/>
          </a:p>
        </p:txBody>
      </p:sp>
      <p:sp>
        <p:nvSpPr>
          <p:cNvPr id="503" name="Google Shape;503;p2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Inspecting LLVM IR bitcode from clang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clang++ -emit-llvm -o file.bc file.cpp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Inspecting LLVM IR from clang</a:t>
            </a:r>
            <a:endParaRPr/>
          </a:p>
          <a:p>
            <a:pPr indent="-241300" lvl="1" marL="431800" rtl="0" algn="l">
              <a:spcBef>
                <a:spcPts val="1200"/>
              </a:spcBef>
              <a:spcAft>
                <a:spcPts val="0"/>
              </a:spcAft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clang++ -emit-llvm -o file.ll file.cpp -S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Displaying CFG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-analyze -dot-cfg-only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bee99cf594_0_1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Processing LLVM IR</a:t>
            </a:r>
            <a:endParaRPr/>
          </a:p>
        </p:txBody>
      </p:sp>
      <p:sp>
        <p:nvSpPr>
          <p:cNvPr id="509" name="Google Shape;509;g2bee99cf594_0_14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Run optimizations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-O2 source.bc -o optimized.bc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-passes=’&lt;pass-pipeline&gt;’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source.bc -o optimized.bc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Compile down to assembler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llc -filetype=obj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source.bc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-o source.s -S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Compile down to binary (object file)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llc -filetype=obj source.bc -o source.o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Note: both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.bc</a:t>
            </a:r>
            <a:r>
              <a:rPr lang="en-US"/>
              <a:t> (binary) and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.ll</a:t>
            </a:r>
            <a:r>
              <a:rPr lang="en-US"/>
              <a:t> (text) are accepted here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Comparing LLVM modules</a:t>
            </a:r>
            <a:endParaRPr/>
          </a:p>
        </p:txBody>
      </p:sp>
      <p:pic>
        <p:nvPicPr>
          <p:cNvPr id="515" name="Google Shape;515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388" y="1897380"/>
            <a:ext cx="11010900" cy="350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Debugging LLVM IR</a:t>
            </a:r>
            <a:endParaRPr/>
          </a:p>
        </p:txBody>
      </p:sp>
      <p:sp>
        <p:nvSpPr>
          <p:cNvPr id="521" name="Google Shape;521;p29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bugpoint</a:t>
            </a:r>
            <a:endParaRPr/>
          </a:p>
          <a:p>
            <a:pPr indent="-2667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https://www.llvm.org/docs/CommandGuide/bugpoint.html</a:t>
            </a: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llvm-reduce</a:t>
            </a:r>
            <a:endParaRPr/>
          </a:p>
          <a:p>
            <a:pPr indent="-2667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https://llvm.org/docs/CommandGuide/llvm-reduce.html</a:t>
            </a:r>
            <a:endParaRPr/>
          </a:p>
          <a:p>
            <a:pPr indent="-2667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https://www.youtube.com/watch?v=n1jDj7J9N8c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Next time…</a:t>
            </a:r>
            <a:endParaRPr/>
          </a:p>
        </p:txBody>
      </p:sp>
      <p:sp>
        <p:nvSpPr>
          <p:cNvPr id="527" name="Google Shape;527;p30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LLVM Passes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IR Optimizations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6a0424328b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33" name="Google Shape;533;g26a0424328b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https://forms.gle/JbjBRMFNXym6tBQG6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4" name="Google Shape;534;g26a0424328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2175" y="2309075"/>
            <a:ext cx="29146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g26a0424328b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000" y="2773446"/>
            <a:ext cx="6995374" cy="3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g26a0424328b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Backup: </a:t>
            </a:r>
            <a:r>
              <a:rPr lang="en-US" sz="2000" u="sng">
                <a:solidFill>
                  <a:schemeClr val="hlink"/>
                </a:solidFill>
                <a:hlinkClick r:id="rId6"/>
              </a:rPr>
              <a:t>me@gooddoog.ru</a:t>
            </a:r>
            <a:r>
              <a:rPr lang="en-US" sz="2000">
                <a:solidFill>
                  <a:schemeClr val="lt2"/>
                </a:solidFill>
              </a:rPr>
              <a:t> </a:t>
            </a:r>
            <a:endParaRPr sz="2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2fbb870741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42" name="Google Shape;542;g32fbb870741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https://forms.gle/KNKvREkPhq3QNHj18</a:t>
            </a:r>
            <a:r>
              <a:rPr lang="en-US"/>
              <a:t>  </a:t>
            </a:r>
            <a:endParaRPr/>
          </a:p>
        </p:txBody>
      </p:sp>
      <p:sp>
        <p:nvSpPr>
          <p:cNvPr id="543" name="Google Shape;543;g32fbb870741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Backup: 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me@gooddoog.ru</a:t>
            </a:r>
            <a:r>
              <a:rPr lang="en-US" sz="2000">
                <a:solidFill>
                  <a:schemeClr val="lt2"/>
                </a:solidFill>
              </a:rPr>
              <a:t> </a:t>
            </a:r>
            <a:endParaRPr sz="2000">
              <a:solidFill>
                <a:schemeClr val="lt2"/>
              </a:solidFill>
            </a:endParaRPr>
          </a:p>
        </p:txBody>
      </p:sp>
      <p:pic>
        <p:nvPicPr>
          <p:cNvPr id="544" name="Google Shape;544;g32fbb87074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5850" y="2000250"/>
            <a:ext cx="3028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g32fbb870741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500" y="2286000"/>
            <a:ext cx="7760874" cy="40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c4d2c5fc43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51" name="Google Shape;551;g3c4d2c5fc43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https://forms.gle/6621mVXjavHiQxWB6</a:t>
            </a:r>
            <a:r>
              <a:rPr lang="en-US"/>
              <a:t> </a:t>
            </a:r>
            <a:endParaRPr/>
          </a:p>
        </p:txBody>
      </p:sp>
      <p:sp>
        <p:nvSpPr>
          <p:cNvPr id="552" name="Google Shape;552;g3c4d2c5fc43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Backup: 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me@gooddoog.ru</a:t>
            </a:r>
            <a:r>
              <a:rPr lang="en-US" sz="2000">
                <a:solidFill>
                  <a:schemeClr val="lt2"/>
                </a:solidFill>
              </a:rPr>
              <a:t> </a:t>
            </a:r>
            <a:endParaRPr sz="2000">
              <a:solidFill>
                <a:schemeClr val="lt2"/>
              </a:solidFill>
            </a:endParaRPr>
          </a:p>
        </p:txBody>
      </p:sp>
      <p:pic>
        <p:nvPicPr>
          <p:cNvPr id="553" name="Google Shape;553;g3c4d2c5fc43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02900" y="1893750"/>
            <a:ext cx="29718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g3c4d2c5fc43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285015"/>
            <a:ext cx="8550501" cy="4175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1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560" name="Google Shape;560;p31"/>
          <p:cNvSpPr txBox="1"/>
          <p:nvPr>
            <p:ph idx="1" type="body"/>
          </p:nvPr>
        </p:nvSpPr>
        <p:spPr>
          <a:xfrm>
            <a:off x="571500" y="1673402"/>
            <a:ext cx="10837852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Mapping high-level constructs to LLVM IR -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https://github.com/f0rki/mapping-high-level-constructs-to-llvm-ir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The often misunderstood GEP (GetElementPtr) instruction - </a:t>
            </a:r>
            <a:r>
              <a:rPr lang="en-US" sz="1600" u="sng">
                <a:solidFill>
                  <a:schemeClr val="hlink"/>
                </a:solidFill>
                <a:hlinkClick r:id="rId4"/>
              </a:rPr>
              <a:t>https://www.llvm.org/docs/GetElementPtr.html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LLVM IR Tutorial - Phis, GEPs and other things, oh my! - Vince Bridgers (Intel Corporation), Felipe de Azevedo Piovezan (Intel Corporation) - 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https://www.youtube.com/watch?v=m8G_S5LwlTo</a:t>
            </a:r>
            <a:r>
              <a:rPr lang="en-US" sz="1600"/>
              <a:t>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2022-02-11T08:56:50Z</dcterms:created>
  <dc:creator>Batashev, Alexander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0x01010079C5967B1E29274CA6A143F9D247F5D2</vt:lpwstr>
  </property>
</Properties>
</file>