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</p:sldIdLst>
  <p:sldSz cy="6858000" cx="12192000"/>
  <p:notesSz cx="6858000" cy="9144000"/>
  <p:embeddedFontLst>
    <p:embeddedFont>
      <p:font typeface="Helvetica Neue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2" roundtripDataSignature="AMtx7mhg1UmmEjX7lXZ5Nllfs0z9PKOL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HelveticaNeue-regular.fntdata"/><Relationship Id="rId47" Type="http://schemas.openxmlformats.org/officeDocument/2006/relationships/slide" Target="slides/slide43.xml"/><Relationship Id="rId49" Type="http://schemas.openxmlformats.org/officeDocument/2006/relationships/font" Target="fonts/HelveticaNeue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HelveticaNeue-boldItalic.fntdata"/><Relationship Id="rId50" Type="http://schemas.openxmlformats.org/officeDocument/2006/relationships/font" Target="fonts/HelveticaNeue-italic.fntdata"/><Relationship Id="rId52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85003499999999999"/>
        </c:manualLayout>
      </c:layout>
      <c:pieChart>
        <c:varyColors val="0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 w="12700" cap="flat">
          <a:noFill/>
          <a:miter lim="400000"/>
        </a:ln>
        <a:effectLst/>
      </c:spPr>
    </c:plotArea>
    <c:legend>
      <c:legendPos val="b"/>
      <c:layout>
        <c:manualLayout>
          <c:xMode val="edge"/>
          <c:yMode val="edge"/>
          <c:x val="4.1227E-2"/>
          <c:y val="0.95121999999999995"/>
          <c:w val="0.91754599999999997"/>
          <c:h val="4.8779599999999999E-2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1800" b="0" i="0" u="none" strike="noStrike">
              <a:solidFill>
                <a:srgbClr val="000000"/>
              </a:solidFill>
              <a:latin typeface="Intel Clear"/>
            </a:defRPr>
          </a:pPr>
          <a:endParaRPr lang="ru-RU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6aa17c3ece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26aa17c3ece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6b5081e801_0_2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26b5081e801_0_2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6b5081e801_0_4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26b5081e801_0_4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6b5081e801_0_4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6b5081e801_0_4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6b5081e801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26b5081e801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6b5081e801_0_4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26b5081e801_0_4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6b5081e801_0_4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26b5081e801_0_43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6b5081e801_0_4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26b5081e801_0_45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d08807a7f1_0_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d08807a7f1_0_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d08807a7f1_0_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d08807a7f1_0_6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d08807a7f1_0_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d08807a7f1_0_4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d08807a7f1_0_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d08807a7f1_0_4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d08807a7f1_0_1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d08807a7f1_0_1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d08807a7f1_0_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d08807a7f1_0_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2c3fbe12272_1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2c3fbe12272_1_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26aa17c3ece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26aa17c3ece_0_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26b5081e801_0_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g26b5081e801_0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6b5081e801_0_4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26b5081e801_0_47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4113910fee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34113910fee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chart" Target="../charts/chart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Blue A" showMasterSp="0">
  <p:cSld name="Title Blue A">
    <p:bg>
      <p:bgPr>
        <a:solidFill>
          <a:srgbClr val="184A8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 txBox="1"/>
          <p:nvPr>
            <p:ph type="title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Arial"/>
              <a:buNone/>
              <a:defRPr sz="75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1" name="Google Shape;11;p26"/>
          <p:cNvSpPr txBox="1"/>
          <p:nvPr>
            <p:ph idx="1" type="body"/>
          </p:nvPr>
        </p:nvSpPr>
        <p:spPr>
          <a:xfrm>
            <a:off x="1895475" y="3182315"/>
            <a:ext cx="10296524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C7FD"/>
              </a:buClr>
              <a:buSzPts val="1600"/>
              <a:buNone/>
              <a:defRPr b="1" i="0" sz="1600">
                <a:solidFill>
                  <a:srgbClr val="00C7F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2" name="Google Shape;12;p26"/>
          <p:cNvSpPr txBox="1"/>
          <p:nvPr>
            <p:ph idx="2" type="body"/>
          </p:nvPr>
        </p:nvSpPr>
        <p:spPr>
          <a:xfrm>
            <a:off x="1908348" y="4778609"/>
            <a:ext cx="10283651" cy="326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i="0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Content">
  <p:cSld name="Title &amp; Conten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7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5" name="Google Shape;15;p27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2 Content Columns">
  <p:cSld name="Title &amp; 2 Content Columns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8"/>
          <p:cNvSpPr txBox="1"/>
          <p:nvPr>
            <p:ph type="title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8" name="Google Shape;18;p28"/>
          <p:cNvSpPr txBox="1"/>
          <p:nvPr>
            <p:ph idx="1" type="body"/>
          </p:nvPr>
        </p:nvSpPr>
        <p:spPr>
          <a:xfrm>
            <a:off x="571500" y="1673402"/>
            <a:ext cx="5288525" cy="45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9" name="Google Shape;19;p28"/>
          <p:cNvSpPr txBox="1"/>
          <p:nvPr>
            <p:ph idx="2" type="body"/>
          </p:nvPr>
        </p:nvSpPr>
        <p:spPr>
          <a:xfrm>
            <a:off x="6289113" y="1673402"/>
            <a:ext cx="5288525" cy="45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" showMasterSp="0">
  <p:cSld name="End Slide">
    <p:bg>
      <p:bgPr>
        <a:solidFill>
          <a:schemeClr val="accen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9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Blue B" showMasterSp="0">
  <p:cSld name="1_Title Blue B">
    <p:bg>
      <p:bgPr>
        <a:solidFill>
          <a:srgbClr val="184A86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0"/>
          <p:cNvSpPr/>
          <p:nvPr/>
        </p:nvSpPr>
        <p:spPr>
          <a:xfrm>
            <a:off x="1469360" y="0"/>
            <a:ext cx="3430768" cy="539316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0"/>
          <p:cNvSpPr txBox="1"/>
          <p:nvPr>
            <p:ph idx="1" type="body"/>
          </p:nvPr>
        </p:nvSpPr>
        <p:spPr>
          <a:xfrm>
            <a:off x="1895475" y="3182315"/>
            <a:ext cx="10296524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C7FD"/>
              </a:buClr>
              <a:buSzPts val="1600"/>
              <a:buNone/>
              <a:defRPr b="1" i="0" sz="1600">
                <a:solidFill>
                  <a:srgbClr val="00C7F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30"/>
          <p:cNvSpPr txBox="1"/>
          <p:nvPr>
            <p:ph type="title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Arial"/>
              <a:buNone/>
              <a:defRPr sz="75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26" name="Google Shape;26;p30"/>
          <p:cNvSpPr txBox="1"/>
          <p:nvPr>
            <p:ph idx="2" type="body"/>
          </p:nvPr>
        </p:nvSpPr>
        <p:spPr>
          <a:xfrm>
            <a:off x="1908348" y="4778609"/>
            <a:ext cx="10283651" cy="326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i="0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27" name="Google Shape;27;p30"/>
          <p:cNvSpPr/>
          <p:nvPr/>
        </p:nvSpPr>
        <p:spPr>
          <a:xfrm>
            <a:off x="861107" y="5390896"/>
            <a:ext cx="607299" cy="6072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30"/>
          <p:cNvSpPr/>
          <p:nvPr/>
        </p:nvSpPr>
        <p:spPr>
          <a:xfrm>
            <a:off x="576067" y="5108797"/>
            <a:ext cx="286654" cy="28207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30"/>
          <p:cNvSpPr/>
          <p:nvPr/>
        </p:nvSpPr>
        <p:spPr>
          <a:xfrm>
            <a:off x="861107" y="4952474"/>
            <a:ext cx="157461" cy="15746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" name="Google Shape;30;p30"/>
          <p:cNvGrpSpPr/>
          <p:nvPr/>
        </p:nvGrpSpPr>
        <p:grpSpPr>
          <a:xfrm>
            <a:off x="1468406" y="5995719"/>
            <a:ext cx="1059754" cy="396801"/>
            <a:chOff x="1314450" y="6391094"/>
            <a:chExt cx="1123377" cy="420623"/>
          </a:xfrm>
        </p:grpSpPr>
        <p:sp>
          <p:nvSpPr>
            <p:cNvPr id="31" name="Google Shape;31;p30"/>
            <p:cNvSpPr/>
            <p:nvPr/>
          </p:nvSpPr>
          <p:spPr>
            <a:xfrm>
              <a:off x="1314450" y="6396809"/>
              <a:ext cx="78581" cy="78581"/>
            </a:xfrm>
            <a:custGeom>
              <a:rect b="b" l="l" r="r" t="t"/>
              <a:pathLst>
                <a:path extrusionOk="0" h="78581" w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rgbClr val="00B2E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30"/>
            <p:cNvSpPr/>
            <p:nvPr/>
          </p:nvSpPr>
          <p:spPr>
            <a:xfrm>
              <a:off x="1316545" y="6391094"/>
              <a:ext cx="995171" cy="420623"/>
            </a:xfrm>
            <a:custGeom>
              <a:rect b="b" l="l" r="r" t="t"/>
              <a:pathLst>
                <a:path extrusionOk="0" h="420623" w="995171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30"/>
            <p:cNvSpPr/>
            <p:nvPr/>
          </p:nvSpPr>
          <p:spPr>
            <a:xfrm>
              <a:off x="2358770" y="6728469"/>
              <a:ext cx="79057" cy="79057"/>
            </a:xfrm>
            <a:custGeom>
              <a:rect b="b" l="l" r="r" t="t"/>
              <a:pathLst>
                <a:path extrusionOk="0" h="79057" w="79057">
                  <a:moveTo>
                    <a:pt x="39529" y="5620"/>
                  </a:moveTo>
                  <a:cubicBezTo>
                    <a:pt x="58198" y="5620"/>
                    <a:pt x="73438" y="20860"/>
                    <a:pt x="73438" y="39529"/>
                  </a:cubicBezTo>
                  <a:cubicBezTo>
                    <a:pt x="73438" y="58198"/>
                    <a:pt x="58198" y="73438"/>
                    <a:pt x="39529" y="73438"/>
                  </a:cubicBezTo>
                  <a:cubicBezTo>
                    <a:pt x="20860" y="73438"/>
                    <a:pt x="5620" y="58198"/>
                    <a:pt x="5620" y="39529"/>
                  </a:cubicBezTo>
                  <a:cubicBezTo>
                    <a:pt x="5620" y="20860"/>
                    <a:pt x="20860" y="5620"/>
                    <a:pt x="39529" y="5620"/>
                  </a:cubicBezTo>
                  <a:moveTo>
                    <a:pt x="39529" y="0"/>
                  </a:moveTo>
                  <a:cubicBezTo>
                    <a:pt x="17717" y="0"/>
                    <a:pt x="0" y="17717"/>
                    <a:pt x="0" y="39529"/>
                  </a:cubicBezTo>
                  <a:cubicBezTo>
                    <a:pt x="0" y="61341"/>
                    <a:pt x="17717" y="79058"/>
                    <a:pt x="39529" y="79058"/>
                  </a:cubicBezTo>
                  <a:cubicBezTo>
                    <a:pt x="61341" y="79058"/>
                    <a:pt x="79058" y="61341"/>
                    <a:pt x="79058" y="39529"/>
                  </a:cubicBezTo>
                  <a:cubicBezTo>
                    <a:pt x="79058" y="17717"/>
                    <a:pt x="61341" y="0"/>
                    <a:pt x="3952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0"/>
            <p:cNvSpPr/>
            <p:nvPr/>
          </p:nvSpPr>
          <p:spPr>
            <a:xfrm>
              <a:off x="2384869" y="6748090"/>
              <a:ext cx="30765" cy="39528"/>
            </a:xfrm>
            <a:custGeom>
              <a:rect b="b" l="l" r="r" t="t"/>
              <a:pathLst>
                <a:path extrusionOk="0" h="39528" w="30765">
                  <a:moveTo>
                    <a:pt x="16383" y="95"/>
                  </a:moveTo>
                  <a:cubicBezTo>
                    <a:pt x="18860" y="95"/>
                    <a:pt x="21050" y="667"/>
                    <a:pt x="23051" y="1715"/>
                  </a:cubicBezTo>
                  <a:cubicBezTo>
                    <a:pt x="25051" y="2762"/>
                    <a:pt x="26575" y="4286"/>
                    <a:pt x="27718" y="6191"/>
                  </a:cubicBezTo>
                  <a:cubicBezTo>
                    <a:pt x="28861" y="8096"/>
                    <a:pt x="29337" y="10192"/>
                    <a:pt x="29337" y="12478"/>
                  </a:cubicBezTo>
                  <a:cubicBezTo>
                    <a:pt x="29337" y="15335"/>
                    <a:pt x="28575" y="17717"/>
                    <a:pt x="27146" y="19622"/>
                  </a:cubicBezTo>
                  <a:cubicBezTo>
                    <a:pt x="25718" y="21527"/>
                    <a:pt x="23908" y="22860"/>
                    <a:pt x="21812" y="23717"/>
                  </a:cubicBezTo>
                  <a:lnTo>
                    <a:pt x="30766" y="39529"/>
                  </a:lnTo>
                  <a:lnTo>
                    <a:pt x="23717" y="39529"/>
                  </a:lnTo>
                  <a:lnTo>
                    <a:pt x="15526" y="24860"/>
                  </a:lnTo>
                  <a:lnTo>
                    <a:pt x="6191" y="24860"/>
                  </a:lnTo>
                  <a:lnTo>
                    <a:pt x="6191" y="39529"/>
                  </a:lnTo>
                  <a:lnTo>
                    <a:pt x="0" y="39529"/>
                  </a:lnTo>
                  <a:lnTo>
                    <a:pt x="0" y="0"/>
                  </a:lnTo>
                  <a:lnTo>
                    <a:pt x="16383" y="0"/>
                  </a:lnTo>
                  <a:close/>
                  <a:moveTo>
                    <a:pt x="16383" y="19336"/>
                  </a:moveTo>
                  <a:cubicBezTo>
                    <a:pt x="17717" y="19336"/>
                    <a:pt x="18860" y="19050"/>
                    <a:pt x="19907" y="18478"/>
                  </a:cubicBezTo>
                  <a:cubicBezTo>
                    <a:pt x="20955" y="17907"/>
                    <a:pt x="21717" y="17050"/>
                    <a:pt x="22289" y="16097"/>
                  </a:cubicBezTo>
                  <a:cubicBezTo>
                    <a:pt x="22860" y="15050"/>
                    <a:pt x="23146" y="13906"/>
                    <a:pt x="23146" y="12573"/>
                  </a:cubicBezTo>
                  <a:cubicBezTo>
                    <a:pt x="23146" y="11240"/>
                    <a:pt x="22860" y="10097"/>
                    <a:pt x="22289" y="9049"/>
                  </a:cubicBezTo>
                  <a:cubicBezTo>
                    <a:pt x="21717" y="8001"/>
                    <a:pt x="20860" y="7239"/>
                    <a:pt x="19907" y="6668"/>
                  </a:cubicBezTo>
                  <a:cubicBezTo>
                    <a:pt x="18860" y="6096"/>
                    <a:pt x="17717" y="5810"/>
                    <a:pt x="16383" y="5810"/>
                  </a:cubicBezTo>
                  <a:lnTo>
                    <a:pt x="6191" y="5810"/>
                  </a:lnTo>
                  <a:lnTo>
                    <a:pt x="6191" y="19336"/>
                  </a:lnTo>
                  <a:lnTo>
                    <a:pt x="16383" y="193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hite" showMasterSp="0">
  <p:cSld name="Title White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1"/>
          <p:cNvSpPr/>
          <p:nvPr/>
        </p:nvSpPr>
        <p:spPr>
          <a:xfrm>
            <a:off x="1466513" y="-28456"/>
            <a:ext cx="3430768" cy="5421617"/>
          </a:xfrm>
          <a:prstGeom prst="rect">
            <a:avLst/>
          </a:prstGeom>
          <a:solidFill>
            <a:srgbClr val="E7E7E7">
              <a:alpha val="38823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1"/>
          <p:cNvSpPr txBox="1"/>
          <p:nvPr>
            <p:ph type="title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7500"/>
              <a:buFont typeface="Arial"/>
              <a:buNone/>
              <a:defRPr sz="75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38" name="Google Shape;38;p31"/>
          <p:cNvSpPr txBox="1"/>
          <p:nvPr>
            <p:ph idx="1" type="body"/>
          </p:nvPr>
        </p:nvSpPr>
        <p:spPr>
          <a:xfrm>
            <a:off x="1895475" y="3182315"/>
            <a:ext cx="10296524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i="0" sz="1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39" name="Google Shape;39;p31"/>
          <p:cNvSpPr txBox="1"/>
          <p:nvPr>
            <p:ph idx="2" type="body"/>
          </p:nvPr>
        </p:nvSpPr>
        <p:spPr>
          <a:xfrm>
            <a:off x="1908348" y="4778609"/>
            <a:ext cx="10283651" cy="326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i="0" sz="1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40" name="Google Shape;40;p31"/>
          <p:cNvSpPr/>
          <p:nvPr/>
        </p:nvSpPr>
        <p:spPr>
          <a:xfrm>
            <a:off x="861107" y="5390896"/>
            <a:ext cx="607299" cy="607299"/>
          </a:xfrm>
          <a:prstGeom prst="rect">
            <a:avLst/>
          </a:prstGeom>
          <a:solidFill>
            <a:srgbClr val="2872C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31"/>
          <p:cNvSpPr/>
          <p:nvPr/>
        </p:nvSpPr>
        <p:spPr>
          <a:xfrm>
            <a:off x="576067" y="5108797"/>
            <a:ext cx="286654" cy="282073"/>
          </a:xfrm>
          <a:prstGeom prst="rect">
            <a:avLst/>
          </a:prstGeom>
          <a:solidFill>
            <a:srgbClr val="00C7F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31"/>
          <p:cNvSpPr/>
          <p:nvPr/>
        </p:nvSpPr>
        <p:spPr>
          <a:xfrm>
            <a:off x="861107" y="4952474"/>
            <a:ext cx="157461" cy="157461"/>
          </a:xfrm>
          <a:prstGeom prst="rect">
            <a:avLst/>
          </a:prstGeom>
          <a:solidFill>
            <a:srgbClr val="2872C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" name="Google Shape;43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66513" y="5992753"/>
            <a:ext cx="1031758" cy="384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2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Content">
  <p:cSld name="Title, Sub &amp; Conten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3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48" name="Google Shape;48;p33"/>
          <p:cNvSpPr txBox="1"/>
          <p:nvPr>
            <p:ph idx="1" type="body"/>
          </p:nvPr>
        </p:nvSpPr>
        <p:spPr>
          <a:xfrm>
            <a:off x="571370" y="2139953"/>
            <a:ext cx="11010900" cy="4108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49" name="Google Shape;49;p33"/>
          <p:cNvSpPr txBox="1"/>
          <p:nvPr>
            <p:ph idx="2" type="body"/>
          </p:nvPr>
        </p:nvSpPr>
        <p:spPr>
          <a:xfrm>
            <a:off x="571370" y="1612901"/>
            <a:ext cx="1102201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2 Content Columns">
  <p:cSld name="Title, Sub &amp; 2 Content Column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4"/>
          <p:cNvSpPr txBox="1"/>
          <p:nvPr>
            <p:ph type="title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52" name="Google Shape;52;p34"/>
          <p:cNvSpPr txBox="1"/>
          <p:nvPr>
            <p:ph idx="1" type="body"/>
          </p:nvPr>
        </p:nvSpPr>
        <p:spPr>
          <a:xfrm>
            <a:off x="571500" y="2139951"/>
            <a:ext cx="5288525" cy="4118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53" name="Google Shape;53;p34"/>
          <p:cNvSpPr txBox="1"/>
          <p:nvPr>
            <p:ph idx="2" type="body"/>
          </p:nvPr>
        </p:nvSpPr>
        <p:spPr>
          <a:xfrm>
            <a:off x="6289113" y="2139951"/>
            <a:ext cx="5288525" cy="4118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54" name="Google Shape;54;p34"/>
          <p:cNvSpPr txBox="1"/>
          <p:nvPr>
            <p:ph idx="3" type="body"/>
          </p:nvPr>
        </p:nvSpPr>
        <p:spPr>
          <a:xfrm>
            <a:off x="571500" y="1612901"/>
            <a:ext cx="1102201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, Content &amp; 2 Pictures">
  <p:cSld name="Title, Sub, Content &amp; 2 Pictures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5"/>
          <p:cNvSpPr txBox="1"/>
          <p:nvPr>
            <p:ph type="title"/>
          </p:nvPr>
        </p:nvSpPr>
        <p:spPr>
          <a:xfrm>
            <a:off x="571500" y="567227"/>
            <a:ext cx="5755707" cy="945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57" name="Google Shape;57;p35"/>
          <p:cNvSpPr txBox="1"/>
          <p:nvPr>
            <p:ph idx="1" type="body"/>
          </p:nvPr>
        </p:nvSpPr>
        <p:spPr>
          <a:xfrm>
            <a:off x="6609331" y="2978828"/>
            <a:ext cx="4668837" cy="3453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58" name="Google Shape;58;p35"/>
          <p:cNvSpPr txBox="1"/>
          <p:nvPr>
            <p:ph idx="2" type="body"/>
          </p:nvPr>
        </p:nvSpPr>
        <p:spPr>
          <a:xfrm>
            <a:off x="6609331" y="5929172"/>
            <a:ext cx="4668837" cy="3453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59" name="Google Shape;59;p35"/>
          <p:cNvSpPr/>
          <p:nvPr>
            <p:ph idx="3" type="pic"/>
          </p:nvPr>
        </p:nvSpPr>
        <p:spPr>
          <a:xfrm>
            <a:off x="6609331" y="571500"/>
            <a:ext cx="4668837" cy="2381250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35"/>
          <p:cNvSpPr/>
          <p:nvPr>
            <p:ph idx="4" type="pic"/>
          </p:nvPr>
        </p:nvSpPr>
        <p:spPr>
          <a:xfrm>
            <a:off x="6609331" y="3537061"/>
            <a:ext cx="4668837" cy="238125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35"/>
          <p:cNvSpPr txBox="1"/>
          <p:nvPr>
            <p:ph idx="5" type="body"/>
          </p:nvPr>
        </p:nvSpPr>
        <p:spPr>
          <a:xfrm>
            <a:off x="571500" y="2139952"/>
            <a:ext cx="5768944" cy="4118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62" name="Google Shape;62;p35"/>
          <p:cNvSpPr txBox="1"/>
          <p:nvPr>
            <p:ph idx="6" type="body"/>
          </p:nvPr>
        </p:nvSpPr>
        <p:spPr>
          <a:xfrm>
            <a:off x="571500" y="1612901"/>
            <a:ext cx="5768944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, Content &amp; Picture">
  <p:cSld name="Title, Sub, Content &amp; Picture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6"/>
          <p:cNvSpPr/>
          <p:nvPr>
            <p:ph idx="2" type="pic"/>
          </p:nvPr>
        </p:nvSpPr>
        <p:spPr>
          <a:xfrm>
            <a:off x="6615046" y="0"/>
            <a:ext cx="5129422" cy="6416167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36"/>
          <p:cNvSpPr txBox="1"/>
          <p:nvPr>
            <p:ph type="title"/>
          </p:nvPr>
        </p:nvSpPr>
        <p:spPr>
          <a:xfrm>
            <a:off x="571500" y="567227"/>
            <a:ext cx="5747107" cy="945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66" name="Google Shape;66;p36"/>
          <p:cNvSpPr txBox="1"/>
          <p:nvPr>
            <p:ph idx="1" type="body"/>
          </p:nvPr>
        </p:nvSpPr>
        <p:spPr>
          <a:xfrm>
            <a:off x="571500" y="2139952"/>
            <a:ext cx="5768944" cy="4118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67" name="Google Shape;67;p36"/>
          <p:cNvSpPr txBox="1"/>
          <p:nvPr>
            <p:ph idx="3" type="body"/>
          </p:nvPr>
        </p:nvSpPr>
        <p:spPr>
          <a:xfrm>
            <a:off x="571500" y="1612901"/>
            <a:ext cx="5768944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Full Page Picture">
  <p:cSld name="Title &amp; Full Page Picture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7"/>
          <p:cNvSpPr/>
          <p:nvPr>
            <p:ph idx="2" type="pic"/>
          </p:nvPr>
        </p:nvSpPr>
        <p:spPr>
          <a:xfrm>
            <a:off x="-11286" y="0"/>
            <a:ext cx="11744325" cy="6401797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37"/>
          <p:cNvSpPr txBox="1"/>
          <p:nvPr>
            <p:ph type="title"/>
          </p:nvPr>
        </p:nvSpPr>
        <p:spPr>
          <a:xfrm>
            <a:off x="571500" y="571500"/>
            <a:ext cx="11010899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>
                <a:solidFill>
                  <a:schemeClr val="dk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Quote">
  <p:cSld name="Title &amp; Quote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8"/>
          <p:cNvSpPr txBox="1"/>
          <p:nvPr>
            <p:ph type="title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73" name="Google Shape;73;p38"/>
          <p:cNvSpPr txBox="1"/>
          <p:nvPr>
            <p:ph idx="1" type="body"/>
          </p:nvPr>
        </p:nvSpPr>
        <p:spPr>
          <a:xfrm>
            <a:off x="571500" y="1592529"/>
            <a:ext cx="11010900" cy="3727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74" name="Google Shape;74;p38"/>
          <p:cNvSpPr txBox="1"/>
          <p:nvPr>
            <p:ph idx="2" type="body"/>
          </p:nvPr>
        </p:nvSpPr>
        <p:spPr>
          <a:xfrm>
            <a:off x="571500" y="5461818"/>
            <a:ext cx="1102201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hart Example" showMasterSp="0">
  <p:cSld name="3_Chart Example">
    <p:bg>
      <p:bgPr>
        <a:solidFill>
          <a:schemeClr val="accen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9"/>
          <p:cNvSpPr/>
          <p:nvPr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7" name="Google Shape;77;p39"/>
          <p:cNvSpPr/>
          <p:nvPr/>
        </p:nvSpPr>
        <p:spPr>
          <a:xfrm>
            <a:off x="11741697" y="6407185"/>
            <a:ext cx="450068" cy="450068"/>
          </a:xfrm>
          <a:prstGeom prst="rect">
            <a:avLst/>
          </a:prstGeom>
          <a:solidFill>
            <a:schemeClr val="accent1">
              <a:alpha val="49803"/>
            </a:scheme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9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chemeClr val="lt1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9"/>
          <p:cNvSpPr txBox="1"/>
          <p:nvPr>
            <p:ph type="title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80" name="Google Shape;80;p39"/>
          <p:cNvSpPr txBox="1"/>
          <p:nvPr>
            <p:ph idx="1" type="body"/>
          </p:nvPr>
        </p:nvSpPr>
        <p:spPr>
          <a:xfrm>
            <a:off x="571500" y="1599816"/>
            <a:ext cx="11010900" cy="37198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pic>
        <p:nvPicPr>
          <p:cNvPr descr="Image" id="81" name="Google Shape;81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39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83" name="Google Shape;83;p39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84" name="Google Shape;84;p39"/>
          <p:cNvSpPr txBox="1"/>
          <p:nvPr>
            <p:ph idx="2" type="body"/>
          </p:nvPr>
        </p:nvSpPr>
        <p:spPr>
          <a:xfrm>
            <a:off x="571500" y="5476099"/>
            <a:ext cx="1102201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85" name="Google Shape;85;p39"/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White">
  <p:cSld name="Section Break White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0"/>
          <p:cNvSpPr txBox="1"/>
          <p:nvPr>
            <p:ph type="title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800"/>
              <a:buFont typeface="Arial"/>
              <a:buNone/>
              <a:defRPr sz="48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88" name="Google Shape;88;p40"/>
          <p:cNvSpPr txBox="1"/>
          <p:nvPr>
            <p:ph idx="1" type="body"/>
          </p:nvPr>
        </p:nvSpPr>
        <p:spPr>
          <a:xfrm>
            <a:off x="571500" y="3939750"/>
            <a:ext cx="1102201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Blue" showMasterSp="0">
  <p:cSld name="Section Break Blue">
    <p:bg>
      <p:bgPr>
        <a:solidFill>
          <a:schemeClr val="accen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1"/>
          <p:cNvSpPr/>
          <p:nvPr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Image" id="91" name="Google Shape;91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41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41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94" name="Google Shape;94;p41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95" name="Google Shape;95;p41"/>
          <p:cNvSpPr txBox="1"/>
          <p:nvPr>
            <p:ph type="title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96" name="Google Shape;96;p41"/>
          <p:cNvSpPr txBox="1"/>
          <p:nvPr>
            <p:ph idx="1" type="body"/>
          </p:nvPr>
        </p:nvSpPr>
        <p:spPr>
          <a:xfrm>
            <a:off x="571500" y="3948942"/>
            <a:ext cx="1102201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97" name="Google Shape;97;p41"/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Light Blue" showMasterSp="0">
  <p:cSld name="Section Break Light Blue">
    <p:bg>
      <p:bgPr>
        <a:solidFill>
          <a:srgbClr val="0095BD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2"/>
          <p:cNvSpPr/>
          <p:nvPr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" name="Google Shape;100;p42"/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Image" id="101" name="Google Shape;101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42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42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42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105" name="Google Shape;105;p42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106" name="Google Shape;106;p42"/>
          <p:cNvSpPr txBox="1"/>
          <p:nvPr>
            <p:ph type="title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07" name="Google Shape;107;p42"/>
          <p:cNvSpPr txBox="1"/>
          <p:nvPr>
            <p:ph idx="1" type="body"/>
          </p:nvPr>
        </p:nvSpPr>
        <p:spPr>
          <a:xfrm>
            <a:off x="571500" y="3964420"/>
            <a:ext cx="1102201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Content Blue" showMasterSp="0">
  <p:cSld name="Title, Sub &amp; Content Blue">
    <p:bg>
      <p:bgPr>
        <a:solidFill>
          <a:schemeClr val="dk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3"/>
          <p:cNvSpPr/>
          <p:nvPr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43"/>
          <p:cNvSpPr/>
          <p:nvPr/>
        </p:nvSpPr>
        <p:spPr>
          <a:xfrm>
            <a:off x="709974" y="2295859"/>
            <a:ext cx="318638" cy="318638"/>
          </a:xfrm>
          <a:prstGeom prst="rect">
            <a:avLst/>
          </a:prstGeom>
          <a:solidFill>
            <a:srgbClr val="00C7FD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8B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3"/>
          <p:cNvSpPr/>
          <p:nvPr/>
        </p:nvSpPr>
        <p:spPr>
          <a:xfrm>
            <a:off x="536812" y="2122317"/>
            <a:ext cx="174318" cy="174318"/>
          </a:xfrm>
          <a:prstGeom prst="rect">
            <a:avLst/>
          </a:prstGeom>
          <a:solidFill>
            <a:srgbClr val="7BDEF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3"/>
          <p:cNvSpPr/>
          <p:nvPr/>
        </p:nvSpPr>
        <p:spPr>
          <a:xfrm>
            <a:off x="709974" y="2023075"/>
            <a:ext cx="98724" cy="98723"/>
          </a:xfrm>
          <a:prstGeom prst="rect">
            <a:avLst/>
          </a:prstGeom>
          <a:solidFill>
            <a:srgbClr val="B4F0F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43"/>
          <p:cNvSpPr/>
          <p:nvPr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114" name="Google Shape;114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3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3"/>
          <p:cNvSpPr txBox="1"/>
          <p:nvPr>
            <p:ph idx="1" type="body"/>
          </p:nvPr>
        </p:nvSpPr>
        <p:spPr>
          <a:xfrm>
            <a:off x="6394450" y="1974850"/>
            <a:ext cx="4852988" cy="3703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Char char="▪"/>
              <a:defRPr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17" name="Google Shape;117;p43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118" name="Google Shape;118;p43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119" name="Google Shape;119;p43"/>
          <p:cNvSpPr txBox="1"/>
          <p:nvPr>
            <p:ph type="title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20" name="Google Shape;120;p43"/>
          <p:cNvSpPr txBox="1"/>
          <p:nvPr>
            <p:ph idx="2" type="body"/>
          </p:nvPr>
        </p:nvSpPr>
        <p:spPr>
          <a:xfrm>
            <a:off x="6394450" y="740229"/>
            <a:ext cx="4865211" cy="107814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Content Blue 2" showMasterSp="0">
  <p:cSld name="Title, Sub &amp; Content Blue 2">
    <p:bg>
      <p:bgPr>
        <a:solidFill>
          <a:schemeClr val="dk2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4"/>
          <p:cNvSpPr/>
          <p:nvPr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4"/>
          <p:cNvSpPr/>
          <p:nvPr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4"/>
          <p:cNvSpPr/>
          <p:nvPr/>
        </p:nvSpPr>
        <p:spPr>
          <a:xfrm>
            <a:off x="707513" y="2295859"/>
            <a:ext cx="318638" cy="318638"/>
          </a:xfrm>
          <a:prstGeom prst="rect">
            <a:avLst/>
          </a:prstGeom>
          <a:solidFill>
            <a:srgbClr val="D9692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8B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4"/>
          <p:cNvSpPr/>
          <p:nvPr/>
        </p:nvSpPr>
        <p:spPr>
          <a:xfrm>
            <a:off x="533946" y="2122317"/>
            <a:ext cx="174318" cy="174318"/>
          </a:xfrm>
          <a:prstGeom prst="rect">
            <a:avLst/>
          </a:prstGeom>
          <a:solidFill>
            <a:srgbClr val="F6CB4B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4"/>
          <p:cNvSpPr/>
          <p:nvPr/>
        </p:nvSpPr>
        <p:spPr>
          <a:xfrm>
            <a:off x="707513" y="2023075"/>
            <a:ext cx="98724" cy="98723"/>
          </a:xfrm>
          <a:prstGeom prst="rect">
            <a:avLst/>
          </a:prstGeom>
          <a:solidFill>
            <a:srgbClr val="D9692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127" name="Google Shape;127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44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4"/>
          <p:cNvSpPr txBox="1"/>
          <p:nvPr>
            <p:ph idx="1" type="body"/>
          </p:nvPr>
        </p:nvSpPr>
        <p:spPr>
          <a:xfrm>
            <a:off x="6394450" y="1974850"/>
            <a:ext cx="4852988" cy="3703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Char char="▪"/>
              <a:defRPr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30" name="Google Shape;130;p44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131" name="Google Shape;131;p44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132" name="Google Shape;132;p44"/>
          <p:cNvSpPr txBox="1"/>
          <p:nvPr>
            <p:ph type="title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33" name="Google Shape;133;p44"/>
          <p:cNvSpPr txBox="1"/>
          <p:nvPr>
            <p:ph idx="2" type="body"/>
          </p:nvPr>
        </p:nvSpPr>
        <p:spPr>
          <a:xfrm>
            <a:off x="6394450" y="740229"/>
            <a:ext cx="4865211" cy="107814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Content Light Blue" showMasterSp="0">
  <p:cSld name="Title, Sub &amp; Content Light Blue">
    <p:bg>
      <p:bgPr>
        <a:solidFill>
          <a:schemeClr val="accent2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5"/>
          <p:cNvSpPr/>
          <p:nvPr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rgbClr val="0095B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5"/>
          <p:cNvSpPr/>
          <p:nvPr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rgbClr val="0095B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137" name="Google Shape;137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45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5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5"/>
          <p:cNvSpPr/>
          <p:nvPr/>
        </p:nvSpPr>
        <p:spPr>
          <a:xfrm>
            <a:off x="707513" y="2295859"/>
            <a:ext cx="318638" cy="318638"/>
          </a:xfrm>
          <a:prstGeom prst="rect">
            <a:avLst/>
          </a:prstGeom>
          <a:solidFill>
            <a:srgbClr val="004A86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8B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45"/>
          <p:cNvSpPr/>
          <p:nvPr/>
        </p:nvSpPr>
        <p:spPr>
          <a:xfrm>
            <a:off x="533946" y="2122317"/>
            <a:ext cx="174318" cy="174318"/>
          </a:xfrm>
          <a:prstGeom prst="rect">
            <a:avLst/>
          </a:prstGeom>
          <a:solidFill>
            <a:srgbClr val="7BDEF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45"/>
          <p:cNvSpPr/>
          <p:nvPr/>
        </p:nvSpPr>
        <p:spPr>
          <a:xfrm>
            <a:off x="707513" y="2023075"/>
            <a:ext cx="98724" cy="98723"/>
          </a:xfrm>
          <a:prstGeom prst="rect">
            <a:avLst/>
          </a:prstGeom>
          <a:solidFill>
            <a:srgbClr val="B4F0F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45"/>
          <p:cNvSpPr txBox="1"/>
          <p:nvPr>
            <p:ph idx="1" type="body"/>
          </p:nvPr>
        </p:nvSpPr>
        <p:spPr>
          <a:xfrm>
            <a:off x="6394450" y="1974850"/>
            <a:ext cx="4852988" cy="3703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Char char="▪"/>
              <a:defRPr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44" name="Google Shape;144;p45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145" name="Google Shape;145;p45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146" name="Google Shape;146;p45"/>
          <p:cNvSpPr txBox="1"/>
          <p:nvPr>
            <p:ph type="title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47" name="Google Shape;147;p45"/>
          <p:cNvSpPr txBox="1"/>
          <p:nvPr>
            <p:ph idx="2" type="body"/>
          </p:nvPr>
        </p:nvSpPr>
        <p:spPr>
          <a:xfrm>
            <a:off x="6394450" y="740229"/>
            <a:ext cx="4865211" cy="107814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, Content Gray">
  <p:cSld name="Title, Sub, Content Gray">
    <p:bg>
      <p:bgPr>
        <a:solidFill>
          <a:srgbClr val="F2F2F2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6"/>
          <p:cNvSpPr/>
          <p:nvPr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46"/>
          <p:cNvSpPr/>
          <p:nvPr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46"/>
          <p:cNvSpPr/>
          <p:nvPr/>
        </p:nvSpPr>
        <p:spPr>
          <a:xfrm>
            <a:off x="5815052" y="401865"/>
            <a:ext cx="5927511" cy="600347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46"/>
          <p:cNvSpPr txBox="1"/>
          <p:nvPr>
            <p:ph idx="1" type="body"/>
          </p:nvPr>
        </p:nvSpPr>
        <p:spPr>
          <a:xfrm>
            <a:off x="6394450" y="1974850"/>
            <a:ext cx="4852988" cy="3703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  <a:defRPr>
                <a:solidFill>
                  <a:schemeClr val="lt2"/>
                </a:solidFill>
              </a:defRPr>
            </a:lvl1pPr>
            <a:lvl2pPr indent="-3810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Char char="•"/>
              <a:defRPr>
                <a:solidFill>
                  <a:schemeClr val="lt2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>
                <a:solidFill>
                  <a:schemeClr val="lt2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>
                <a:solidFill>
                  <a:schemeClr val="lt2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6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53" name="Google Shape;153;p46"/>
          <p:cNvSpPr txBox="1"/>
          <p:nvPr>
            <p:ph type="title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rial"/>
              <a:buNone/>
              <a:defRPr sz="4000">
                <a:solidFill>
                  <a:schemeClr val="lt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54" name="Google Shape;154;p46"/>
          <p:cNvSpPr txBox="1"/>
          <p:nvPr>
            <p:ph idx="2" type="body"/>
          </p:nvPr>
        </p:nvSpPr>
        <p:spPr>
          <a:xfrm>
            <a:off x="6394450" y="740229"/>
            <a:ext cx="4865211" cy="107814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55" name="Google Shape;155;p46"/>
          <p:cNvSpPr txBox="1"/>
          <p:nvPr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Content Blue 3" showMasterSp="0">
  <p:cSld name="Title, Sub &amp; Content Blue 3">
    <p:bg>
      <p:bgPr>
        <a:solidFill>
          <a:schemeClr val="accen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7"/>
          <p:cNvSpPr txBox="1"/>
          <p:nvPr>
            <p:ph idx="1" type="body"/>
          </p:nvPr>
        </p:nvSpPr>
        <p:spPr>
          <a:xfrm>
            <a:off x="6394450" y="1974850"/>
            <a:ext cx="4852988" cy="3703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Char char="▪"/>
              <a:defRPr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58" name="Google Shape;158;p47"/>
          <p:cNvSpPr txBox="1"/>
          <p:nvPr>
            <p:ph type="title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59" name="Google Shape;159;p47"/>
          <p:cNvSpPr txBox="1"/>
          <p:nvPr>
            <p:ph idx="2" type="body"/>
          </p:nvPr>
        </p:nvSpPr>
        <p:spPr>
          <a:xfrm>
            <a:off x="6394450" y="740229"/>
            <a:ext cx="4865211" cy="107814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60" name="Google Shape;160;p47"/>
          <p:cNvSpPr/>
          <p:nvPr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1" name="Google Shape;161;p47"/>
          <p:cNvSpPr/>
          <p:nvPr/>
        </p:nvSpPr>
        <p:spPr>
          <a:xfrm>
            <a:off x="11741697" y="6407185"/>
            <a:ext cx="450068" cy="450068"/>
          </a:xfrm>
          <a:prstGeom prst="rect">
            <a:avLst/>
          </a:prstGeom>
          <a:solidFill>
            <a:schemeClr val="accent1">
              <a:alpha val="49803"/>
            </a:scheme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47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chemeClr val="lt1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163" name="Google Shape;163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47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165" name="Google Shape;165;p47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166" name="Google Shape;166;p47"/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Content Light Blue 2" showMasterSp="0">
  <p:cSld name="Title, Sub &amp; Content Light Blue 2">
    <p:bg>
      <p:bgPr>
        <a:solidFill>
          <a:srgbClr val="0095BD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8"/>
          <p:cNvSpPr txBox="1"/>
          <p:nvPr>
            <p:ph idx="1" type="body"/>
          </p:nvPr>
        </p:nvSpPr>
        <p:spPr>
          <a:xfrm>
            <a:off x="6394450" y="1974850"/>
            <a:ext cx="4852988" cy="3703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Char char="▪"/>
              <a:defRPr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69" name="Google Shape;169;p48"/>
          <p:cNvSpPr txBox="1"/>
          <p:nvPr>
            <p:ph type="title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70" name="Google Shape;170;p48"/>
          <p:cNvSpPr txBox="1"/>
          <p:nvPr>
            <p:ph idx="2" type="body"/>
          </p:nvPr>
        </p:nvSpPr>
        <p:spPr>
          <a:xfrm>
            <a:off x="6394450" y="740229"/>
            <a:ext cx="4865211" cy="107814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71" name="Google Shape;171;p48"/>
          <p:cNvSpPr/>
          <p:nvPr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2" name="Google Shape;172;p48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chemeClr val="lt1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173" name="Google Shape;173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48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175" name="Google Shape;175;p48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176" name="Google Shape;176;p48"/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 White">
  <p:cSld name="Title &amp; Sub White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8" name="Google Shape;178;p49"/>
          <p:cNvGraphicFramePr/>
          <p:nvPr/>
        </p:nvGraphicFramePr>
        <p:xfrm>
          <a:off x="7201593" y="1799047"/>
          <a:ext cx="3472287" cy="4025676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id="179" name="Google Shape;179;p49"/>
          <p:cNvSpPr txBox="1"/>
          <p:nvPr>
            <p:ph type="title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rial"/>
              <a:buNone/>
              <a:defRPr sz="4800">
                <a:solidFill>
                  <a:schemeClr val="accen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80" name="Google Shape;180;p49"/>
          <p:cNvSpPr/>
          <p:nvPr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1" name="Google Shape;181;p49"/>
          <p:cNvSpPr/>
          <p:nvPr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 Blue" showMasterSp="0">
  <p:cSld name="Title &amp; Sub Blue">
    <p:bg>
      <p:bgPr>
        <a:solidFill>
          <a:schemeClr val="dk2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0"/>
          <p:cNvSpPr/>
          <p:nvPr/>
        </p:nvSpPr>
        <p:spPr>
          <a:xfrm>
            <a:off x="471054" y="464127"/>
            <a:ext cx="11272494" cy="59448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50"/>
          <p:cNvSpPr/>
          <p:nvPr/>
        </p:nvSpPr>
        <p:spPr>
          <a:xfrm>
            <a:off x="11743603" y="6405281"/>
            <a:ext cx="448398" cy="452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185" name="Google Shape;185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50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50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50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189" name="Google Shape;189;p50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190" name="Google Shape;190;p50"/>
          <p:cNvSpPr txBox="1"/>
          <p:nvPr>
            <p:ph type="title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 Light Blue" showMasterSp="0">
  <p:cSld name="Title &amp; Sub Light Blue">
    <p:bg>
      <p:bgPr>
        <a:solidFill>
          <a:srgbClr val="00C7FD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1"/>
          <p:cNvSpPr/>
          <p:nvPr/>
        </p:nvSpPr>
        <p:spPr>
          <a:xfrm>
            <a:off x="471054" y="464127"/>
            <a:ext cx="11272494" cy="5944838"/>
          </a:xfrm>
          <a:prstGeom prst="rect">
            <a:avLst/>
          </a:prstGeom>
          <a:solidFill>
            <a:srgbClr val="0095BD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51"/>
          <p:cNvSpPr/>
          <p:nvPr/>
        </p:nvSpPr>
        <p:spPr>
          <a:xfrm>
            <a:off x="11743603" y="6405281"/>
            <a:ext cx="448398" cy="452720"/>
          </a:xfrm>
          <a:prstGeom prst="rect">
            <a:avLst/>
          </a:prstGeom>
          <a:solidFill>
            <a:srgbClr val="0095B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194" name="Google Shape;194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51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51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51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198" name="Google Shape;198;p51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199" name="Google Shape;199;p51"/>
          <p:cNvSpPr txBox="1"/>
          <p:nvPr>
            <p:ph type="title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5"/>
          <p:cNvSpPr txBox="1"/>
          <p:nvPr>
            <p:ph idx="1" type="body"/>
          </p:nvPr>
        </p:nvSpPr>
        <p:spPr>
          <a:xfrm>
            <a:off x="592915" y="1524000"/>
            <a:ext cx="10972801" cy="47244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300"/>
              <a:buFont typeface="Helvetica Neue"/>
              <a:buNone/>
              <a:defRPr b="0" i="0" sz="1300" u="none" cap="none" strike="noStrike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300"/>
              <a:buFont typeface="Helvetica Neue"/>
              <a:buNone/>
              <a:defRPr b="0" i="0" sz="1300" u="none" cap="none" strike="noStrike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300"/>
              <a:buFont typeface="Helvetica Neue"/>
              <a:buNone/>
              <a:defRPr b="0" i="0" sz="1300" u="none" cap="none" strike="noStrike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300"/>
              <a:buFont typeface="Helvetica Neue"/>
              <a:buNone/>
              <a:defRPr b="0" i="0" sz="1300" u="none" cap="none" strike="noStrike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" name="Google Shape;7;p25"/>
          <p:cNvSpPr txBox="1"/>
          <p:nvPr>
            <p:ph type="title"/>
          </p:nvPr>
        </p:nvSpPr>
        <p:spPr>
          <a:xfrm>
            <a:off x="592916" y="571500"/>
            <a:ext cx="10972801" cy="8836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rial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" name="Google Shape;8;p25"/>
          <p:cNvSpPr txBox="1"/>
          <p:nvPr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llvm.org/docs/CommandGuide/opt.html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llvm.org/docs/Passes.html" TargetMode="External"/><Relationship Id="rId4" Type="http://schemas.openxmlformats.org/officeDocument/2006/relationships/hyperlink" Target="https://llvm.org/docs/CommandGuide/opt.html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godbolt.org/" TargetMode="External"/><Relationship Id="rId4" Type="http://schemas.openxmlformats.org/officeDocument/2006/relationships/hyperlink" Target="https://github.com/compiler-explorer/compiler-explorer" TargetMode="External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hyperlink" Target="https://godbolt.org/z/vYzMohM3e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hyperlink" Target="https://godbolt.org/z/T6bWarjjK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hyperlink" Target="https://godbolt.org/z/hK4ndPbcq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hyperlink" Target="https://dl.acm.org/doi/pdf/10.1145/362929.362947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hyperlink" Target="https://llvm.org/docs/LoopTerminology.html" TargetMode="External"/><Relationship Id="rId5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hyperlink" Target="https://godbolt.org/z/KE4GKsfKT" TargetMode="External"/><Relationship Id="rId5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hyperlink" Target="https://godbolt.org/z/ofGWxx4c4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Relationship Id="rId4" Type="http://schemas.openxmlformats.org/officeDocument/2006/relationships/hyperlink" Target="https://llvm.org/docs/CycleTerminology.html" TargetMode="External"/><Relationship Id="rId5" Type="http://schemas.openxmlformats.org/officeDocument/2006/relationships/image" Target="../media/image13.png"/><Relationship Id="rId6" Type="http://schemas.openxmlformats.org/officeDocument/2006/relationships/image" Target="../media/image12.png"/><Relationship Id="rId7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png"/><Relationship Id="rId4" Type="http://schemas.openxmlformats.org/officeDocument/2006/relationships/hyperlink" Target="https://www.intel.com/content/www/us/en/developer/articles/technical/intel-sdm.html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hyperlink" Target="https://en.wikipedia.org/wiki/Polytope_model" TargetMode="Externa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polly.llvm.org/" TargetMode="Externa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www.llvm.org/docs/WritingAnLLVMNewPMPass.html" TargetMode="External"/><Relationship Id="rId4" Type="http://schemas.openxmlformats.org/officeDocument/2006/relationships/hyperlink" Target="https://github.com/llvm/llvm-project/tree/main/llvm/examples/IRTransforms" TargetMode="Externa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forms.gle/A3XfkLu2PnZbRodT7" TargetMode="External"/><Relationship Id="rId4" Type="http://schemas.openxmlformats.org/officeDocument/2006/relationships/hyperlink" Target="mailto:me@gooddoog.ru" TargetMode="External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forms.gle/ywfMNSijV2XqDiVF8" TargetMode="External"/><Relationship Id="rId4" Type="http://schemas.openxmlformats.org/officeDocument/2006/relationships/hyperlink" Target="mailto:me@gooddoog.ru" TargetMode="External"/><Relationship Id="rId5" Type="http://schemas.openxmlformats.org/officeDocument/2006/relationships/image" Target="../media/image16.png"/><Relationship Id="rId6" Type="http://schemas.openxmlformats.org/officeDocument/2006/relationships/image" Target="../media/image2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llvm.org/devmtg/2018-10/slides/Kruse-LoopTransforms.pdf" TargetMode="External"/><Relationship Id="rId4" Type="http://schemas.openxmlformats.org/officeDocument/2006/relationships/hyperlink" Target="https://www.youtube.com/watch?v=mXve_W4XU2g" TargetMode="External"/><Relationship Id="rId5" Type="http://schemas.openxmlformats.org/officeDocument/2006/relationships/hyperlink" Target="https://www.youtube.com/watch?v=WwfZkQEuwEE" TargetMode="Externa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"/>
          <p:cNvSpPr txBox="1"/>
          <p:nvPr>
            <p:ph type="title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Arial"/>
              <a:buNone/>
            </a:pPr>
            <a:r>
              <a:rPr lang="en-US"/>
              <a:t>Compilers 101</a:t>
            </a:r>
            <a:endParaRPr/>
          </a:p>
        </p:txBody>
      </p:sp>
      <p:sp>
        <p:nvSpPr>
          <p:cNvPr id="205" name="Google Shape;205;p1"/>
          <p:cNvSpPr txBox="1"/>
          <p:nvPr>
            <p:ph idx="2" type="body"/>
          </p:nvPr>
        </p:nvSpPr>
        <p:spPr>
          <a:xfrm>
            <a:off x="1908348" y="4778609"/>
            <a:ext cx="10283651" cy="326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/>
              <a:t>Optimizations – Part 2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Previously…</a:t>
            </a:r>
            <a:endParaRPr/>
          </a:p>
        </p:txBody>
      </p:sp>
      <p:sp>
        <p:nvSpPr>
          <p:cNvPr id="211" name="Google Shape;211;p2"/>
          <p:cNvSpPr/>
          <p:nvPr/>
        </p:nvSpPr>
        <p:spPr>
          <a:xfrm>
            <a:off x="855405" y="1544658"/>
            <a:ext cx="2861187" cy="471924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Preprocessing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2" name="Google Shape;212;p2"/>
          <p:cNvSpPr/>
          <p:nvPr/>
        </p:nvSpPr>
        <p:spPr>
          <a:xfrm>
            <a:off x="855404" y="2098214"/>
            <a:ext cx="2861187" cy="471924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Lexical analysis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3" name="Google Shape;213;p2"/>
          <p:cNvSpPr/>
          <p:nvPr/>
        </p:nvSpPr>
        <p:spPr>
          <a:xfrm>
            <a:off x="855403" y="2651770"/>
            <a:ext cx="2861187" cy="471924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Syntax analysis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4" name="Google Shape;214;p2"/>
          <p:cNvSpPr/>
          <p:nvPr/>
        </p:nvSpPr>
        <p:spPr>
          <a:xfrm>
            <a:off x="855405" y="3213202"/>
            <a:ext cx="2861187" cy="471924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Semantic analysis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5" name="Google Shape;215;p2"/>
          <p:cNvSpPr/>
          <p:nvPr/>
        </p:nvSpPr>
        <p:spPr>
          <a:xfrm>
            <a:off x="855402" y="3774634"/>
            <a:ext cx="2861187" cy="471924"/>
          </a:xfrm>
          <a:prstGeom prst="rect">
            <a:avLst/>
          </a:prstGeom>
          <a:solidFill>
            <a:srgbClr val="A5A5A5"/>
          </a:solidFill>
          <a:ln cap="flat" cmpd="sng" w="12700">
            <a:solidFill>
              <a:schemeClr val="lt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IR Generation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6" name="Google Shape;216;p2"/>
          <p:cNvSpPr/>
          <p:nvPr/>
        </p:nvSpPr>
        <p:spPr>
          <a:xfrm>
            <a:off x="855401" y="4336066"/>
            <a:ext cx="2861187" cy="471924"/>
          </a:xfrm>
          <a:prstGeom prst="rect">
            <a:avLst/>
          </a:prstGeom>
          <a:solidFill>
            <a:schemeClr val="accent5"/>
          </a:solidFill>
          <a:ln cap="flat" cmpd="sng" w="25400">
            <a:solidFill>
              <a:srgbClr val="6843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IR Optimization</a:t>
            </a:r>
            <a:endParaRPr b="0" i="0" sz="32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7" name="Google Shape;217;p2"/>
          <p:cNvSpPr/>
          <p:nvPr/>
        </p:nvSpPr>
        <p:spPr>
          <a:xfrm>
            <a:off x="855413" y="5458947"/>
            <a:ext cx="2861100" cy="471900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657E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Code generation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8" name="Google Shape;218;p2"/>
          <p:cNvSpPr/>
          <p:nvPr/>
        </p:nvSpPr>
        <p:spPr>
          <a:xfrm>
            <a:off x="855424" y="4897528"/>
            <a:ext cx="2861100" cy="471900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657E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Optimization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9" name="Google Shape;219;p2"/>
          <p:cNvSpPr/>
          <p:nvPr/>
        </p:nvSpPr>
        <p:spPr>
          <a:xfrm>
            <a:off x="6707568" y="2474368"/>
            <a:ext cx="1828800" cy="595035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Frontend</a:t>
            </a:r>
            <a:endParaRPr/>
          </a:p>
        </p:txBody>
      </p:sp>
      <p:sp>
        <p:nvSpPr>
          <p:cNvPr id="220" name="Google Shape;220;p2"/>
          <p:cNvSpPr/>
          <p:nvPr/>
        </p:nvSpPr>
        <p:spPr>
          <a:xfrm>
            <a:off x="6478475" y="4241871"/>
            <a:ext cx="2286983" cy="595035"/>
          </a:xfrm>
          <a:prstGeom prst="rect">
            <a:avLst/>
          </a:prstGeom>
          <a:solidFill>
            <a:schemeClr val="accent5"/>
          </a:solidFill>
          <a:ln cap="flat" cmpd="sng" w="25400">
            <a:solidFill>
              <a:srgbClr val="6843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Middle-end</a:t>
            </a:r>
            <a:endParaRPr/>
          </a:p>
        </p:txBody>
      </p:sp>
      <p:sp>
        <p:nvSpPr>
          <p:cNvPr id="221" name="Google Shape;221;p2"/>
          <p:cNvSpPr/>
          <p:nvPr/>
        </p:nvSpPr>
        <p:spPr>
          <a:xfrm>
            <a:off x="6478476" y="5064028"/>
            <a:ext cx="2286983" cy="595035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657E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Backend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Previously… (2)</a:t>
            </a:r>
            <a:endParaRPr/>
          </a:p>
        </p:txBody>
      </p:sp>
      <p:sp>
        <p:nvSpPr>
          <p:cNvPr id="227" name="Google Shape;227;p3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LLVM IR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LLVM IR passes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LLVM IR optimizations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6aa17c3ece_0_0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Today</a:t>
            </a:r>
            <a:endParaRPr/>
          </a:p>
        </p:txBody>
      </p:sp>
      <p:sp>
        <p:nvSpPr>
          <p:cNvPr id="233" name="Google Shape;233;g26aa17c3ece_0_0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opt tool showcase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Loop optimizations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6b5081e801_0_220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Running optimizations</a:t>
            </a:r>
            <a:endParaRPr/>
          </a:p>
        </p:txBody>
      </p:sp>
      <p:sp>
        <p:nvSpPr>
          <p:cNvPr id="239" name="Google Shape;239;g26b5081e801_0_220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Generate LLVM IR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Use opt tool</a:t>
            </a:r>
            <a:endParaRPr/>
          </a:p>
          <a:p>
            <a:pPr indent="-203200" lvl="1" marL="431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Guide: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https://llvm.org/docs/CommandGuide/opt.html</a:t>
            </a:r>
            <a:r>
              <a:rPr lang="en-US"/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6b5081e801_0_420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 tool</a:t>
            </a:r>
            <a:endParaRPr/>
          </a:p>
        </p:txBody>
      </p:sp>
      <p:sp>
        <p:nvSpPr>
          <p:cNvPr id="245" name="Google Shape;245;g26b5081e801_0_420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LLVM optimizer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Input: LLVM IR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Output: LLVM IR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Passes list: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https://llvm.org/docs/Passes.html</a:t>
            </a:r>
            <a:r>
              <a:rPr lang="en-US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Options: </a:t>
            </a:r>
            <a:r>
              <a:rPr lang="en-US" u="sng">
                <a:solidFill>
                  <a:schemeClr val="hlink"/>
                </a:solidFill>
                <a:hlinkClick r:id="rId4"/>
              </a:rPr>
              <a:t>https://llvm.org/docs/CommandGuide/opt.html</a:t>
            </a:r>
            <a:r>
              <a:rPr lang="en-US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Command line examples: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opt -print-passes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opt -O2 input.ll -o optimized.bc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opt -passes=’dce’ input.bc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opt -dce input.bc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opt -load MyPass.so -my-custom-pass input.ll -o output.ll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6b5081e801_0_425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Compiler Explorer</a:t>
            </a:r>
            <a:endParaRPr/>
          </a:p>
        </p:txBody>
      </p:sp>
      <p:sp>
        <p:nvSpPr>
          <p:cNvPr id="251" name="Google Shape;251;g26b5081e801_0_425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600"/>
              <a:t>Is an interactive compiler exploration website. Edit code in C, C++, C#, F#, Rust, Go, D, Haskell, Swift, Pascal, ispc, Python, Java, or any of the other 30+ supported languages components, and see how that code looks after being compiled in real time.</a:t>
            </a:r>
            <a:endParaRPr sz="2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600"/>
              <a:t>Official website: </a:t>
            </a:r>
            <a:r>
              <a:rPr lang="en-US" sz="2600" u="sng">
                <a:solidFill>
                  <a:schemeClr val="hlink"/>
                </a:solidFill>
                <a:hlinkClick r:id="rId3"/>
              </a:rPr>
              <a:t>https://godbolt.org/</a:t>
            </a:r>
            <a:r>
              <a:rPr lang="en-US" sz="2600"/>
              <a:t> </a:t>
            </a:r>
            <a:endParaRPr sz="2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600"/>
              <a:t>GitHub repository: </a:t>
            </a:r>
            <a:r>
              <a:rPr lang="en-US" sz="2600" u="sng">
                <a:solidFill>
                  <a:schemeClr val="hlink"/>
                </a:solidFill>
                <a:hlinkClick r:id="rId4"/>
              </a:rPr>
              <a:t>https://github.com/compiler-explorer/compiler-explorer</a:t>
            </a:r>
            <a:r>
              <a:rPr lang="en-US" sz="2600"/>
              <a:t> </a:t>
            </a:r>
            <a:endParaRPr sz="2600"/>
          </a:p>
        </p:txBody>
      </p:sp>
      <p:pic>
        <p:nvPicPr>
          <p:cNvPr id="252" name="Google Shape;252;g26b5081e801_0_4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15350" y="347300"/>
            <a:ext cx="3219450" cy="95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6b5081e801_0_0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Running LLVM IR optimizations</a:t>
            </a:r>
            <a:endParaRPr/>
          </a:p>
        </p:txBody>
      </p:sp>
      <p:sp>
        <p:nvSpPr>
          <p:cNvPr id="258" name="Google Shape;258;g26b5081e801_0_0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Learn by example (1):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SCCP: </a:t>
            </a:r>
            <a:endParaRPr/>
          </a:p>
        </p:txBody>
      </p:sp>
      <p:pic>
        <p:nvPicPr>
          <p:cNvPr id="259" name="Google Shape;259;g26b5081e801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094652"/>
            <a:ext cx="12192000" cy="13275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0" name="Google Shape;260;g26b5081e801_0_0"/>
          <p:cNvGrpSpPr/>
          <p:nvPr/>
        </p:nvGrpSpPr>
        <p:grpSpPr>
          <a:xfrm>
            <a:off x="67275" y="6313238"/>
            <a:ext cx="5188500" cy="445275"/>
            <a:chOff x="289925" y="5611838"/>
            <a:chExt cx="5188500" cy="445275"/>
          </a:xfrm>
        </p:grpSpPr>
        <p:sp>
          <p:nvSpPr>
            <p:cNvPr id="261" name="Google Shape;261;g26b5081e801_0_0"/>
            <p:cNvSpPr/>
            <p:nvPr/>
          </p:nvSpPr>
          <p:spPr>
            <a:xfrm>
              <a:off x="289925" y="5611850"/>
              <a:ext cx="51885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</a:endParaRPr>
            </a:p>
          </p:txBody>
        </p:sp>
        <p:pic>
          <p:nvPicPr>
            <p:cNvPr id="262" name="Google Shape;262;g26b5081e801_0_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89925" y="5611838"/>
              <a:ext cx="445275" cy="445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3" name="Google Shape;263;g26b5081e801_0_0"/>
            <p:cNvSpPr/>
            <p:nvPr/>
          </p:nvSpPr>
          <p:spPr>
            <a:xfrm>
              <a:off x="777375" y="5611850"/>
              <a:ext cx="47010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u="sng">
                  <a:solidFill>
                    <a:schemeClr val="hlink"/>
                  </a:solidFill>
                  <a:hlinkClick r:id="rId5"/>
                </a:rPr>
                <a:t>https://godbolt.org/z/vYzMohM3e</a:t>
              </a:r>
              <a:r>
                <a:rPr lang="en-US" sz="2400"/>
                <a:t> </a:t>
              </a:r>
              <a:endParaRPr sz="240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6b5081e801_0_443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CFG visualization</a:t>
            </a:r>
            <a:endParaRPr/>
          </a:p>
        </p:txBody>
      </p:sp>
      <p:sp>
        <p:nvSpPr>
          <p:cNvPr id="269" name="Google Shape;269;g26b5081e801_0_443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0" name="Google Shape;270;g26b5081e801_0_4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512" y="1406875"/>
            <a:ext cx="10944973" cy="5451125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g26b5081e801_0_443"/>
          <p:cNvSpPr txBox="1"/>
          <p:nvPr/>
        </p:nvSpPr>
        <p:spPr>
          <a:xfrm>
            <a:off x="6049400" y="409275"/>
            <a:ext cx="5749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opt -dot-cfg cfg_example.ll</a:t>
            </a:r>
            <a:endParaRPr sz="1900"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dot -Tpng </a:t>
            </a:r>
            <a:r>
              <a:rPr lang="en-US" sz="190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cfg_example.dot</a:t>
            </a:r>
            <a:endParaRPr sz="1900"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2" name="Google Shape;272;g26b5081e801_0_44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3" name="Google Shape;273;g26b5081e801_0_443"/>
          <p:cNvGrpSpPr/>
          <p:nvPr/>
        </p:nvGrpSpPr>
        <p:grpSpPr>
          <a:xfrm>
            <a:off x="67275" y="6313238"/>
            <a:ext cx="5188500" cy="445275"/>
            <a:chOff x="289925" y="5611838"/>
            <a:chExt cx="5188500" cy="445275"/>
          </a:xfrm>
        </p:grpSpPr>
        <p:sp>
          <p:nvSpPr>
            <p:cNvPr id="274" name="Google Shape;274;g26b5081e801_0_443"/>
            <p:cNvSpPr/>
            <p:nvPr/>
          </p:nvSpPr>
          <p:spPr>
            <a:xfrm>
              <a:off x="289925" y="5611850"/>
              <a:ext cx="51885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</a:endParaRPr>
            </a:p>
          </p:txBody>
        </p:sp>
        <p:pic>
          <p:nvPicPr>
            <p:cNvPr id="275" name="Google Shape;275;g26b5081e801_0_4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89925" y="5611838"/>
              <a:ext cx="445275" cy="445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6" name="Google Shape;276;g26b5081e801_0_443"/>
            <p:cNvSpPr/>
            <p:nvPr/>
          </p:nvSpPr>
          <p:spPr>
            <a:xfrm>
              <a:off x="777375" y="5611850"/>
              <a:ext cx="47010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u="sng">
                  <a:solidFill>
                    <a:schemeClr val="hlink"/>
                  </a:solidFill>
                  <a:hlinkClick r:id="rId5"/>
                </a:rPr>
                <a:t>https://godbolt.org/z/T6bWarjjK</a:t>
              </a:r>
              <a:r>
                <a:rPr lang="en-US" sz="2400"/>
                <a:t> </a:t>
              </a:r>
              <a:endParaRPr sz="240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6b5081e801_0_435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Running LLVM IR optimizations</a:t>
            </a:r>
            <a:endParaRPr/>
          </a:p>
        </p:txBody>
      </p:sp>
      <p:sp>
        <p:nvSpPr>
          <p:cNvPr id="282" name="Google Shape;282;g26b5081e801_0_435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Learn by example (2):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CFG simplification: </a:t>
            </a:r>
            <a:endParaRPr/>
          </a:p>
        </p:txBody>
      </p:sp>
      <p:pic>
        <p:nvPicPr>
          <p:cNvPr id="283" name="Google Shape;283;g26b5081e801_0_4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9175" y="2991491"/>
            <a:ext cx="12192000" cy="251221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4" name="Google Shape;284;g26b5081e801_0_435"/>
          <p:cNvGrpSpPr/>
          <p:nvPr/>
        </p:nvGrpSpPr>
        <p:grpSpPr>
          <a:xfrm>
            <a:off x="67275" y="6313238"/>
            <a:ext cx="5188500" cy="445275"/>
            <a:chOff x="289925" y="5611838"/>
            <a:chExt cx="5188500" cy="445275"/>
          </a:xfrm>
        </p:grpSpPr>
        <p:sp>
          <p:nvSpPr>
            <p:cNvPr id="285" name="Google Shape;285;g26b5081e801_0_435"/>
            <p:cNvSpPr/>
            <p:nvPr/>
          </p:nvSpPr>
          <p:spPr>
            <a:xfrm>
              <a:off x="289925" y="5611850"/>
              <a:ext cx="51885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</a:endParaRPr>
            </a:p>
          </p:txBody>
        </p:sp>
        <p:pic>
          <p:nvPicPr>
            <p:cNvPr id="286" name="Google Shape;286;g26b5081e801_0_4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89925" y="5611838"/>
              <a:ext cx="445275" cy="445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g26b5081e801_0_435"/>
            <p:cNvSpPr/>
            <p:nvPr/>
          </p:nvSpPr>
          <p:spPr>
            <a:xfrm>
              <a:off x="777375" y="5611850"/>
              <a:ext cx="47010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u="sng">
                  <a:solidFill>
                    <a:schemeClr val="hlink"/>
                  </a:solidFill>
                  <a:hlinkClick r:id="rId5"/>
                </a:rPr>
                <a:t>https://godbolt.org/z/hK4ndPbcq</a:t>
              </a:r>
              <a:r>
                <a:rPr lang="en-US" sz="2400"/>
                <a:t> </a:t>
              </a:r>
              <a:endParaRPr sz="240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Loop optimizations</a:t>
            </a:r>
            <a:endParaRPr/>
          </a:p>
        </p:txBody>
      </p:sp>
      <p:sp>
        <p:nvSpPr>
          <p:cNvPr id="293" name="Google Shape;293;p4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Why are they important?</a:t>
            </a:r>
            <a:endParaRPr sz="3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Pareto principle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20 percent of effort gives 80 percent of result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Most computationally </a:t>
            </a:r>
            <a:r>
              <a:rPr lang="en-US"/>
              <a:t>intensive</a:t>
            </a:r>
            <a:r>
              <a:rPr lang="en-US"/>
              <a:t> algorithms involve loops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26b5081e801_0_456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rial"/>
              <a:buNone/>
            </a:pPr>
            <a:r>
              <a:rPr lang="en-US">
                <a:solidFill>
                  <a:schemeClr val="lt2"/>
                </a:solidFill>
              </a:rPr>
              <a:t>Structured control flow</a:t>
            </a:r>
            <a:endParaRPr/>
          </a:p>
        </p:txBody>
      </p:sp>
      <p:sp>
        <p:nvSpPr>
          <p:cNvPr id="299" name="Google Shape;299;g26b5081e801_0_456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Structured control flow is a programming paradigm characterized by the clear, hierarchical organization of control paths through a program.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It relies exclusively on structured control constructs such as conditionals (if, else), loops (for, while), and function calls, which lead to well-defined entry and exit points.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The key attribute of structured CF is that it avoids the use of arbitrary jumps or goto statements, making the control flow predictable and easier to follow.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7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Structured control flow</a:t>
            </a:r>
            <a:endParaRPr/>
          </a:p>
        </p:txBody>
      </p:sp>
      <p:pic>
        <p:nvPicPr>
          <p:cNvPr id="305" name="Google Shape;305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3553" y="1673225"/>
            <a:ext cx="9926793" cy="4575175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7"/>
          <p:cNvSpPr txBox="1"/>
          <p:nvPr/>
        </p:nvSpPr>
        <p:spPr>
          <a:xfrm>
            <a:off x="5907200" y="6397625"/>
            <a:ext cx="414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https://dl.acm.org/doi/pdf/10.1145/362929.362947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lt2"/>
                </a:solidFill>
              </a:rPr>
              <a:t>Loop terminology</a:t>
            </a:r>
            <a:endParaRPr/>
          </a:p>
        </p:txBody>
      </p:sp>
      <p:sp>
        <p:nvSpPr>
          <p:cNvPr id="312" name="Google Shape;312;p5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b="1" lang="en-US"/>
              <a:t>Trip count</a:t>
            </a:r>
            <a:r>
              <a:rPr lang="en-US"/>
              <a:t> is a minimum number of times a loop executes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b="1" lang="en-US"/>
              <a:t>Induction variable</a:t>
            </a:r>
            <a:r>
              <a:rPr lang="en-US"/>
              <a:t> is a variable that gets increased or decreased on each loop iteration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b="1" lang="en-US"/>
              <a:t>Loop invariant</a:t>
            </a:r>
            <a:r>
              <a:rPr lang="en-US"/>
              <a:t> is the part of a computation inside a loop that remains unchanged (invariant) in each iteration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d08807a7f1_0_21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Loop terminology</a:t>
            </a:r>
            <a:endParaRPr/>
          </a:p>
        </p:txBody>
      </p:sp>
      <p:sp>
        <p:nvSpPr>
          <p:cNvPr id="318" name="Google Shape;318;g3d08807a7f1_0_21"/>
          <p:cNvSpPr txBox="1"/>
          <p:nvPr>
            <p:ph idx="1" type="body"/>
          </p:nvPr>
        </p:nvSpPr>
        <p:spPr>
          <a:xfrm>
            <a:off x="571375" y="1673450"/>
            <a:ext cx="7625100" cy="45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85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An </a:t>
            </a:r>
            <a:r>
              <a:rPr b="1" lang="en-US"/>
              <a:t>entering block</a:t>
            </a:r>
            <a:r>
              <a:rPr lang="en-US"/>
              <a:t> (or loop predecessor) is a non-loop node that has an edge into the loop (necessarily the header). </a:t>
            </a:r>
            <a:r>
              <a:rPr b="1" lang="en-US"/>
              <a:t>If</a:t>
            </a:r>
            <a:r>
              <a:rPr lang="en-US"/>
              <a:t> there is </a:t>
            </a:r>
            <a:r>
              <a:rPr b="1" lang="en-US"/>
              <a:t>only one entering block</a:t>
            </a:r>
            <a:r>
              <a:rPr lang="en-US"/>
              <a:t>, and its only edge is to the header, it is also called the loop’s </a:t>
            </a:r>
            <a:r>
              <a:rPr b="1" lang="en-US"/>
              <a:t>preheader</a:t>
            </a:r>
            <a:r>
              <a:rPr lang="en-US"/>
              <a:t>. The preheader dominates the loop without itself being part of the loop.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A </a:t>
            </a:r>
            <a:r>
              <a:rPr b="1" lang="en-US"/>
              <a:t>latch</a:t>
            </a:r>
            <a:r>
              <a:rPr lang="en-US"/>
              <a:t> is a loop node that has an edge to the header.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A </a:t>
            </a:r>
            <a:r>
              <a:rPr b="1" lang="en-US"/>
              <a:t>backedge</a:t>
            </a:r>
            <a:r>
              <a:rPr lang="en-US"/>
              <a:t> is an edge from a latch to the header.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An </a:t>
            </a:r>
            <a:r>
              <a:rPr b="1" lang="en-US"/>
              <a:t>exiting edge</a:t>
            </a:r>
            <a:r>
              <a:rPr lang="en-US"/>
              <a:t> is an edge from inside the loop to a node outside of the loop. The source of such an edge is called an exiting block, its target is an exit block.</a:t>
            </a:r>
            <a:endParaRPr/>
          </a:p>
        </p:txBody>
      </p:sp>
      <p:pic>
        <p:nvPicPr>
          <p:cNvPr id="319" name="Google Shape;319;g3d08807a7f1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56325" y="1895475"/>
            <a:ext cx="3247175" cy="330175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g3d08807a7f1_0_21"/>
          <p:cNvSpPr txBox="1"/>
          <p:nvPr/>
        </p:nvSpPr>
        <p:spPr>
          <a:xfrm>
            <a:off x="8196475" y="5373050"/>
            <a:ext cx="356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https://llvm.org/docs/LoopTerminology.html</a:t>
            </a:r>
            <a:r>
              <a:rPr lang="en-US"/>
              <a:t> </a:t>
            </a:r>
            <a:endParaRPr/>
          </a:p>
        </p:txBody>
      </p:sp>
      <p:pic>
        <p:nvPicPr>
          <p:cNvPr id="321" name="Google Shape;321;g3d08807a7f1_0_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31550" y="5568688"/>
            <a:ext cx="1666875" cy="124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d08807a7f1_0_61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Loop example</a:t>
            </a:r>
            <a:endParaRPr/>
          </a:p>
        </p:txBody>
      </p:sp>
      <p:grpSp>
        <p:nvGrpSpPr>
          <p:cNvPr id="327" name="Google Shape;327;g3d08807a7f1_0_61"/>
          <p:cNvGrpSpPr/>
          <p:nvPr/>
        </p:nvGrpSpPr>
        <p:grpSpPr>
          <a:xfrm>
            <a:off x="67275" y="6313238"/>
            <a:ext cx="5188500" cy="445275"/>
            <a:chOff x="289925" y="5611838"/>
            <a:chExt cx="5188500" cy="445275"/>
          </a:xfrm>
        </p:grpSpPr>
        <p:sp>
          <p:nvSpPr>
            <p:cNvPr id="328" name="Google Shape;328;g3d08807a7f1_0_61"/>
            <p:cNvSpPr/>
            <p:nvPr/>
          </p:nvSpPr>
          <p:spPr>
            <a:xfrm>
              <a:off x="289925" y="5611850"/>
              <a:ext cx="51885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</a:endParaRPr>
            </a:p>
          </p:txBody>
        </p:sp>
        <p:pic>
          <p:nvPicPr>
            <p:cNvPr id="329" name="Google Shape;329;g3d08807a7f1_0_6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89925" y="5611838"/>
              <a:ext cx="445275" cy="445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0" name="Google Shape;330;g3d08807a7f1_0_61"/>
            <p:cNvSpPr/>
            <p:nvPr/>
          </p:nvSpPr>
          <p:spPr>
            <a:xfrm>
              <a:off x="777375" y="5611850"/>
              <a:ext cx="47010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u="sng">
                  <a:solidFill>
                    <a:schemeClr val="hlink"/>
                  </a:solidFill>
                  <a:hlinkClick r:id="rId4"/>
                </a:rPr>
                <a:t>https://godbolt.org/z/KE4GKsfKT</a:t>
              </a:r>
              <a:r>
                <a:rPr lang="en-US" sz="2400"/>
                <a:t> </a:t>
              </a:r>
              <a:endParaRPr sz="2400"/>
            </a:p>
          </p:txBody>
        </p:sp>
      </p:grpSp>
      <p:sp>
        <p:nvSpPr>
          <p:cNvPr id="331" name="Google Shape;331;g3d08807a7f1_0_61"/>
          <p:cNvSpPr txBox="1"/>
          <p:nvPr/>
        </p:nvSpPr>
        <p:spPr>
          <a:xfrm>
            <a:off x="615450" y="2921000"/>
            <a:ext cx="3624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foo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++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+=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2" name="Google Shape;332;g3d08807a7f1_0_61"/>
          <p:cNvSpPr txBox="1"/>
          <p:nvPr/>
        </p:nvSpPr>
        <p:spPr>
          <a:xfrm>
            <a:off x="5793150" y="23700"/>
            <a:ext cx="5627100" cy="68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define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dso_local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@foo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(int*, int)(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noundef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%a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noundef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%N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#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entry: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%a.addr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alloca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align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 sz="12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%N.addr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alloca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align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2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%i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alloca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align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2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store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%a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%a.addr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align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 sz="12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store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%N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%N.addr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align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2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store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%i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align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2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br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%for.cond</a:t>
            </a:r>
            <a:endParaRPr sz="12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for.cond: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%0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load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%i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align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2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%1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load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%N.addr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align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2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%cmp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icmp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slt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%0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%1</a:t>
            </a:r>
            <a:endParaRPr sz="12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br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i1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%cmp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%for.body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%for.end</a:t>
            </a:r>
            <a:endParaRPr sz="12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for.body: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load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%a.addr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align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 sz="12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%3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load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%i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align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2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%idxprom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sext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%3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to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i64</a:t>
            </a:r>
            <a:endParaRPr sz="12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%arrayidx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getelementptr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inbounds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i64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%idxprom</a:t>
            </a:r>
            <a:endParaRPr sz="12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%4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load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%arrayidx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align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2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%add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add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nsw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%4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2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store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%add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%arrayidx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align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2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br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%for.inc</a:t>
            </a:r>
            <a:endParaRPr sz="12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for.inc: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%5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load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%i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align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2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%inc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add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nsw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%5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2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store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%inc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%i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align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2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br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%for.cond</a:t>
            </a:r>
            <a:endParaRPr sz="12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for.end: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ret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endParaRPr sz="12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3" name="Google Shape;333;g3d08807a7f1_0_61"/>
          <p:cNvSpPr/>
          <p:nvPr/>
        </p:nvSpPr>
        <p:spPr>
          <a:xfrm>
            <a:off x="5842000" y="488450"/>
            <a:ext cx="5314500" cy="150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34" name="Google Shape;334;g3d08807a7f1_0_61"/>
          <p:cNvSpPr/>
          <p:nvPr/>
        </p:nvSpPr>
        <p:spPr>
          <a:xfrm>
            <a:off x="5842000" y="2116000"/>
            <a:ext cx="5314500" cy="952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35" name="Google Shape;335;g3d08807a7f1_0_61"/>
          <p:cNvSpPr/>
          <p:nvPr/>
        </p:nvSpPr>
        <p:spPr>
          <a:xfrm>
            <a:off x="5842000" y="3230600"/>
            <a:ext cx="5314500" cy="1693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36" name="Google Shape;336;g3d08807a7f1_0_61"/>
          <p:cNvSpPr/>
          <p:nvPr/>
        </p:nvSpPr>
        <p:spPr>
          <a:xfrm>
            <a:off x="5842000" y="5037050"/>
            <a:ext cx="5314500" cy="952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37" name="Google Shape;337;g3d08807a7f1_0_61"/>
          <p:cNvSpPr txBox="1"/>
          <p:nvPr/>
        </p:nvSpPr>
        <p:spPr>
          <a:xfrm>
            <a:off x="11156500" y="825050"/>
            <a:ext cx="1035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2"/>
                </a:solidFill>
              </a:rPr>
              <a:t>entering</a:t>
            </a:r>
            <a:endParaRPr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2"/>
                </a:solidFill>
              </a:rPr>
              <a:t>or</a:t>
            </a:r>
            <a:endParaRPr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2"/>
                </a:solidFill>
              </a:rPr>
              <a:t>preheader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338" name="Google Shape;338;g3d08807a7f1_0_61"/>
          <p:cNvSpPr txBox="1"/>
          <p:nvPr/>
        </p:nvSpPr>
        <p:spPr>
          <a:xfrm>
            <a:off x="11156500" y="2237200"/>
            <a:ext cx="1035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2"/>
                </a:solidFill>
              </a:rPr>
              <a:t>header</a:t>
            </a:r>
            <a:endParaRPr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2"/>
                </a:solidFill>
              </a:rPr>
              <a:t>and</a:t>
            </a:r>
            <a:endParaRPr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2"/>
                </a:solidFill>
              </a:rPr>
              <a:t>exiting</a:t>
            </a:r>
            <a:endParaRPr>
              <a:solidFill>
                <a:schemeClr val="lt2"/>
              </a:solidFill>
            </a:endParaRPr>
          </a:p>
        </p:txBody>
      </p:sp>
      <p:pic>
        <p:nvPicPr>
          <p:cNvPr id="339" name="Google Shape;339;g3d08807a7f1_0_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" y="4264862"/>
            <a:ext cx="1934118" cy="1966625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g3d08807a7f1_0_61"/>
          <p:cNvSpPr txBox="1"/>
          <p:nvPr/>
        </p:nvSpPr>
        <p:spPr>
          <a:xfrm>
            <a:off x="11156500" y="3877100"/>
            <a:ext cx="103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2"/>
                </a:solidFill>
              </a:rPr>
              <a:t>body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341" name="Google Shape;341;g3d08807a7f1_0_61"/>
          <p:cNvSpPr txBox="1"/>
          <p:nvPr/>
        </p:nvSpPr>
        <p:spPr>
          <a:xfrm>
            <a:off x="11156500" y="5313200"/>
            <a:ext cx="103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2"/>
                </a:solidFill>
              </a:rPr>
              <a:t>latch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342" name="Google Shape;342;g3d08807a7f1_0_61"/>
          <p:cNvSpPr/>
          <p:nvPr/>
        </p:nvSpPr>
        <p:spPr>
          <a:xfrm>
            <a:off x="5842000" y="6102800"/>
            <a:ext cx="5314500" cy="445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43" name="Google Shape;343;g3d08807a7f1_0_61"/>
          <p:cNvSpPr txBox="1"/>
          <p:nvPr/>
        </p:nvSpPr>
        <p:spPr>
          <a:xfrm>
            <a:off x="11156500" y="6125300"/>
            <a:ext cx="103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2"/>
                </a:solidFill>
              </a:rPr>
              <a:t>exit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344" name="Google Shape;344;g3d08807a7f1_0_61"/>
          <p:cNvSpPr txBox="1"/>
          <p:nvPr/>
        </p:nvSpPr>
        <p:spPr>
          <a:xfrm>
            <a:off x="654550" y="1256150"/>
            <a:ext cx="562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clang++ -emit-llvm -fno-discard-value-names -g0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d08807a7f1_0_41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Loop analysis</a:t>
            </a:r>
            <a:endParaRPr/>
          </a:p>
        </p:txBody>
      </p:sp>
      <p:sp>
        <p:nvSpPr>
          <p:cNvPr id="350" name="Google Shape;350;g3d08807a7f1_0_41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LoopInfo (LI) is the core analysis for obtaining information about loops. There are few key implications of the definitions given above which are important for working successfully with this interface.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g3d08807a7f1_0_41"/>
          <p:cNvSpPr txBox="1"/>
          <p:nvPr/>
        </p:nvSpPr>
        <p:spPr>
          <a:xfrm>
            <a:off x="849925" y="5099525"/>
            <a:ext cx="3643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Loop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L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getLoopFor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BB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)) {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  // BB is inside loop L</a:t>
            </a:r>
            <a:endParaRPr>
              <a:solidFill>
                <a:srgbClr val="008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2" name="Google Shape;352;g3d08807a7f1_0_41"/>
          <p:cNvSpPr txBox="1"/>
          <p:nvPr/>
        </p:nvSpPr>
        <p:spPr>
          <a:xfrm>
            <a:off x="849925" y="3663475"/>
            <a:ext cx="3741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Loop</a:t>
            </a: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</a:t>
            </a: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: </a:t>
            </a:r>
            <a:r>
              <a:rPr lang="en-US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// top-level loops only</a:t>
            </a:r>
            <a:endParaRPr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3" name="Google Shape;353;g3d08807a7f1_0_41"/>
          <p:cNvSpPr txBox="1"/>
          <p:nvPr/>
        </p:nvSpPr>
        <p:spPr>
          <a:xfrm>
            <a:off x="898775" y="3204300"/>
            <a:ext cx="5627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2"/>
                </a:solidFill>
              </a:rPr>
              <a:t>Iterate through loop forest:</a:t>
            </a:r>
            <a:endParaRPr sz="2800">
              <a:solidFill>
                <a:schemeClr val="lt2"/>
              </a:solidFill>
            </a:endParaRPr>
          </a:p>
        </p:txBody>
      </p:sp>
      <p:sp>
        <p:nvSpPr>
          <p:cNvPr id="354" name="Google Shape;354;g3d08807a7f1_0_41"/>
          <p:cNvSpPr txBox="1"/>
          <p:nvPr/>
        </p:nvSpPr>
        <p:spPr>
          <a:xfrm>
            <a:off x="898775" y="4597400"/>
            <a:ext cx="6477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2"/>
                </a:solidFill>
              </a:rPr>
              <a:t>Get info which loop is the current BB in:</a:t>
            </a:r>
            <a:endParaRPr sz="2800">
              <a:solidFill>
                <a:schemeClr val="lt2"/>
              </a:solidFill>
            </a:endParaRPr>
          </a:p>
        </p:txBody>
      </p:sp>
      <p:sp>
        <p:nvSpPr>
          <p:cNvPr id="355" name="Google Shape;355;g3d08807a7f1_0_41"/>
          <p:cNvSpPr txBox="1"/>
          <p:nvPr/>
        </p:nvSpPr>
        <p:spPr>
          <a:xfrm>
            <a:off x="7805625" y="3297775"/>
            <a:ext cx="3000000" cy="11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Note: </a:t>
            </a:r>
            <a:r>
              <a:rPr lang="en-US" sz="1100">
                <a:solidFill>
                  <a:schemeClr val="dk1"/>
                </a:solidFill>
              </a:rPr>
              <a:t>LoopInfo provides an interface for enumerating all top level loops (e.g. those not contained in any other loop). From there, you may walk the tree of sub-loops rooted in that top level loop.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d08807a7f1_0_46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2"/>
                </a:solidFill>
              </a:rPr>
              <a:t>Loop analysis example</a:t>
            </a:r>
            <a:endParaRPr/>
          </a:p>
        </p:txBody>
      </p:sp>
      <p:sp>
        <p:nvSpPr>
          <p:cNvPr id="361" name="Google Shape;361;g3d08807a7f1_0_46"/>
          <p:cNvSpPr txBox="1"/>
          <p:nvPr/>
        </p:nvSpPr>
        <p:spPr>
          <a:xfrm>
            <a:off x="5793150" y="23700"/>
            <a:ext cx="5627100" cy="68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define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dso_local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@foo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(int*, int)(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noundef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%a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noundef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%N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#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entry: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%a.addr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alloca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align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 sz="12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%N.addr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alloca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align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2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%i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alloca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align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2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store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%a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%a.addr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align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 sz="12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store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%N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%N.addr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align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2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store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%i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align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2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br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%for.cond</a:t>
            </a:r>
            <a:endParaRPr sz="12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for.cond: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%0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load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%i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align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2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%1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load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%N.addr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align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2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%cmp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icmp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slt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%0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%1</a:t>
            </a:r>
            <a:endParaRPr sz="12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br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i1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%cmp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%for.body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%for.end</a:t>
            </a:r>
            <a:endParaRPr sz="12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for.body: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load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%a.addr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align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 sz="12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%3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load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%i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align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2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%idxprom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sext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%3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to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i64</a:t>
            </a:r>
            <a:endParaRPr sz="12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%arrayidx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getelementptr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inbounds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i64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%idxprom</a:t>
            </a:r>
            <a:endParaRPr sz="12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%4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load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%arrayidx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align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2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%add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add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nsw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%4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2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store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%add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%arrayidx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align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2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br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%for.inc</a:t>
            </a:r>
            <a:endParaRPr sz="12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for.inc: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%5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load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%i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align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2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%inc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add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nsw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%5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2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store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%inc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%i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align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200">
              <a:solidFill>
                <a:srgbClr val="09865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br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%for.cond</a:t>
            </a:r>
            <a:endParaRPr sz="12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for.end: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ret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endParaRPr sz="12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2" name="Google Shape;362;g3d08807a7f1_0_46"/>
          <p:cNvSpPr txBox="1"/>
          <p:nvPr/>
        </p:nvSpPr>
        <p:spPr>
          <a:xfrm>
            <a:off x="190375" y="1582625"/>
            <a:ext cx="57006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Loop info for function 'foo':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Loop at depth 1 containing: %for.cond&lt;header&gt;&lt;exiting&gt;,%for.body,%for.inc&lt;latch&gt;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363" name="Google Shape;363;g3d08807a7f1_0_46"/>
          <p:cNvGrpSpPr/>
          <p:nvPr/>
        </p:nvGrpSpPr>
        <p:grpSpPr>
          <a:xfrm>
            <a:off x="67275" y="6313238"/>
            <a:ext cx="5188500" cy="445275"/>
            <a:chOff x="289925" y="5611838"/>
            <a:chExt cx="5188500" cy="445275"/>
          </a:xfrm>
        </p:grpSpPr>
        <p:sp>
          <p:nvSpPr>
            <p:cNvPr id="364" name="Google Shape;364;g3d08807a7f1_0_46"/>
            <p:cNvSpPr/>
            <p:nvPr/>
          </p:nvSpPr>
          <p:spPr>
            <a:xfrm>
              <a:off x="289925" y="5611850"/>
              <a:ext cx="51885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</a:endParaRPr>
            </a:p>
          </p:txBody>
        </p:sp>
        <p:pic>
          <p:nvPicPr>
            <p:cNvPr id="365" name="Google Shape;365;g3d08807a7f1_0_4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89925" y="5611838"/>
              <a:ext cx="445275" cy="445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6" name="Google Shape;366;g3d08807a7f1_0_46"/>
            <p:cNvSpPr/>
            <p:nvPr/>
          </p:nvSpPr>
          <p:spPr>
            <a:xfrm>
              <a:off x="777375" y="5611850"/>
              <a:ext cx="47010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u="sng">
                  <a:solidFill>
                    <a:schemeClr val="hlink"/>
                  </a:solidFill>
                  <a:hlinkClick r:id="rId4"/>
                </a:rPr>
                <a:t>https://godbolt.org/z/ofGWxx4c4</a:t>
              </a:r>
              <a:r>
                <a:rPr lang="en-US" sz="2400"/>
                <a:t> </a:t>
              </a:r>
              <a:endParaRPr sz="2400"/>
            </a:p>
          </p:txBody>
        </p:sp>
      </p:grpSp>
      <p:sp>
        <p:nvSpPr>
          <p:cNvPr id="367" name="Google Shape;367;g3d08807a7f1_0_46"/>
          <p:cNvSpPr txBox="1"/>
          <p:nvPr/>
        </p:nvSpPr>
        <p:spPr>
          <a:xfrm>
            <a:off x="234475" y="11824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opt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-passes='print&lt;loops&gt;'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d08807a7f1_0_116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Cycles are not loops</a:t>
            </a:r>
            <a:endParaRPr/>
          </a:p>
        </p:txBody>
      </p:sp>
      <p:sp>
        <p:nvSpPr>
          <p:cNvPr id="373" name="Google Shape;373;g3d08807a7f1_0_116"/>
          <p:cNvSpPr txBox="1"/>
          <p:nvPr>
            <p:ph idx="1" type="body"/>
          </p:nvPr>
        </p:nvSpPr>
        <p:spPr>
          <a:xfrm>
            <a:off x="571375" y="1673450"/>
            <a:ext cx="7273200" cy="223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In computer science literature, this is often called a natural loop. In LLVM, a more generalized definition is called a cycle.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Cycle is more generalized term:</a:t>
            </a:r>
            <a:endParaRPr/>
          </a:p>
        </p:txBody>
      </p:sp>
      <p:pic>
        <p:nvPicPr>
          <p:cNvPr id="374" name="Google Shape;374;g3d08807a7f1_0_1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66100" y="1113950"/>
            <a:ext cx="3247175" cy="330175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g3d08807a7f1_0_116"/>
          <p:cNvSpPr txBox="1"/>
          <p:nvPr/>
        </p:nvSpPr>
        <p:spPr>
          <a:xfrm>
            <a:off x="8466086" y="4415700"/>
            <a:ext cx="3247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2"/>
                </a:solidFill>
              </a:rPr>
              <a:t>Loop (natural loop)</a:t>
            </a:r>
            <a:endParaRPr sz="2800">
              <a:solidFill>
                <a:schemeClr val="lt2"/>
              </a:solidFill>
            </a:endParaRPr>
          </a:p>
        </p:txBody>
      </p:sp>
      <p:sp>
        <p:nvSpPr>
          <p:cNvPr id="376" name="Google Shape;376;g3d08807a7f1_0_116"/>
          <p:cNvSpPr txBox="1"/>
          <p:nvPr/>
        </p:nvSpPr>
        <p:spPr>
          <a:xfrm>
            <a:off x="7590700" y="6457800"/>
            <a:ext cx="363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https://llvm.org/docs/CycleTerminology.html</a:t>
            </a:r>
            <a:r>
              <a:rPr lang="en-US"/>
              <a:t> </a:t>
            </a:r>
            <a:endParaRPr/>
          </a:p>
        </p:txBody>
      </p:sp>
      <p:pic>
        <p:nvPicPr>
          <p:cNvPr id="377" name="Google Shape;377;g3d08807a7f1_0_1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4060250"/>
            <a:ext cx="1730532" cy="264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g3d08807a7f1_0_1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16463" y="3552813"/>
            <a:ext cx="1704975" cy="330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g3d08807a7f1_0_1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55000" y="3552813"/>
            <a:ext cx="1704975" cy="330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d08807a7f1_0_30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Loops simplification</a:t>
            </a:r>
            <a:endParaRPr/>
          </a:p>
        </p:txBody>
      </p:sp>
      <p:sp>
        <p:nvSpPr>
          <p:cNvPr id="385" name="Google Shape;385;g3d08807a7f1_0_30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This pass performs several transformations to transform natural loops into a simpler form, which makes subsequent analyses and transformations simpler and more effective.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When it is successful, the loop has: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A preheader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A single backedge (which implies that there is a single latch)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Dedicated exits. That is, no exit block for the loop has a predecessor that is outside the loop. This implies that all exit blocks are dominated by the loop header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6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Detecting induction variables</a:t>
            </a:r>
            <a:endParaRPr/>
          </a:p>
        </p:txBody>
      </p:sp>
      <p:sp>
        <p:nvSpPr>
          <p:cNvPr id="391" name="Google Shape;391;p6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i is a basic induction variable in a loop L if the only definitions of i within L are of the form i := i +/- c where c is loop invariant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k is a derived induction variable in loop L if</a:t>
            </a:r>
            <a:endParaRPr/>
          </a:p>
          <a:p>
            <a:pPr indent="-203200" lvl="1" marL="431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Char char="•"/>
            </a:pPr>
            <a:r>
              <a:rPr lang="en-US"/>
              <a:t>There’s only 1 definition of k within L in the form of k := j */+ c where j is an induction variable</a:t>
            </a:r>
            <a:endParaRPr/>
          </a:p>
          <a:p>
            <a:pPr indent="-203200" lvl="1" marL="431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Char char="•"/>
            </a:pPr>
            <a:r>
              <a:rPr lang="en-US"/>
              <a:t>If j is an induction variable in the family of i then</a:t>
            </a:r>
            <a:endParaRPr/>
          </a:p>
          <a:p>
            <a:pPr indent="-197644" lvl="2" marL="686594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</a:pPr>
            <a:r>
              <a:rPr lang="en-US"/>
              <a:t>The only definition of j that reaches k is the one in the loop</a:t>
            </a:r>
            <a:endParaRPr/>
          </a:p>
          <a:p>
            <a:pPr indent="-197644" lvl="2" marL="686594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</a:pPr>
            <a:r>
              <a:rPr lang="en-US"/>
              <a:t>There’s no definition of i on any path between the definition of j and the definition of k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8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rial"/>
              <a:buNone/>
            </a:pPr>
            <a:r>
              <a:rPr lang="en-US">
                <a:solidFill>
                  <a:schemeClr val="lt2"/>
                </a:solidFill>
              </a:rPr>
              <a:t>Structured control flow</a:t>
            </a:r>
            <a:endParaRPr/>
          </a:p>
        </p:txBody>
      </p:sp>
      <p:sp>
        <p:nvSpPr>
          <p:cNvPr id="397" name="Google Shape;397;p8"/>
          <p:cNvSpPr txBox="1"/>
          <p:nvPr/>
        </p:nvSpPr>
        <p:spPr>
          <a:xfrm>
            <a:off x="571375" y="1647100"/>
            <a:ext cx="7267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2"/>
                </a:solidFill>
              </a:rPr>
              <a:t>Is this program structured?</a:t>
            </a:r>
            <a:endParaRPr sz="2800">
              <a:solidFill>
                <a:schemeClr val="lt2"/>
              </a:solidFill>
            </a:endParaRPr>
          </a:p>
        </p:txBody>
      </p:sp>
      <p:sp>
        <p:nvSpPr>
          <p:cNvPr id="398" name="Google Shape;398;p8"/>
          <p:cNvSpPr txBox="1"/>
          <p:nvPr/>
        </p:nvSpPr>
        <p:spPr>
          <a:xfrm>
            <a:off x="3209525" y="2540000"/>
            <a:ext cx="57345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foo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4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24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4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4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24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4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4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24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4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++) {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4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24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24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== </a:t>
            </a:r>
            <a:r>
              <a:rPr lang="en-US" sz="24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42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en-US" sz="24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break</a:t>
            </a: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400"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9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Loop-invariant code motion</a:t>
            </a:r>
            <a:endParaRPr/>
          </a:p>
        </p:txBody>
      </p:sp>
      <p:sp>
        <p:nvSpPr>
          <p:cNvPr id="404" name="Google Shape;404;p9"/>
          <p:cNvSpPr txBox="1"/>
          <p:nvPr/>
        </p:nvSpPr>
        <p:spPr>
          <a:xfrm>
            <a:off x="439625" y="2246900"/>
            <a:ext cx="47382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baz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foo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0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++)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baz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42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5" name="Google Shape;405;p9"/>
          <p:cNvSpPr txBox="1"/>
          <p:nvPr/>
        </p:nvSpPr>
        <p:spPr>
          <a:xfrm>
            <a:off x="6437925" y="2246900"/>
            <a:ext cx="49041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baz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foo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42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0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++)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baz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0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Conditions for safe hoisting</a:t>
            </a:r>
            <a:endParaRPr/>
          </a:p>
        </p:txBody>
      </p:sp>
      <p:sp>
        <p:nvSpPr>
          <p:cNvPr id="411" name="Google Shape;411;p10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hoisting - moving to outer scope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sinking - moving to inner scope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An invariant assignment d: x := y op z is safe to hoist if</a:t>
            </a:r>
            <a:endParaRPr/>
          </a:p>
          <a:p>
            <a:pPr indent="-203200" lvl="1" marL="431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Char char="•"/>
            </a:pPr>
            <a:r>
              <a:rPr lang="en-US"/>
              <a:t>d dominates all loop exits at which x is live and</a:t>
            </a:r>
            <a:endParaRPr/>
          </a:p>
          <a:p>
            <a:pPr indent="-203200" lvl="1" marL="431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Char char="•"/>
            </a:pPr>
            <a:r>
              <a:rPr lang="en-US"/>
              <a:t>there is only one definition of x in the loop, and</a:t>
            </a:r>
            <a:endParaRPr/>
          </a:p>
          <a:p>
            <a:pPr indent="-203200" lvl="1" marL="431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Char char="•"/>
            </a:pPr>
            <a:r>
              <a:rPr lang="en-US"/>
              <a:t>x is not live at the entry point for the loop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1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Loop unroll</a:t>
            </a:r>
            <a:endParaRPr/>
          </a:p>
        </p:txBody>
      </p:sp>
      <p:sp>
        <p:nvSpPr>
          <p:cNvPr id="417" name="Google Shape;417;p11"/>
          <p:cNvSpPr txBox="1"/>
          <p:nvPr/>
        </p:nvSpPr>
        <p:spPr>
          <a:xfrm>
            <a:off x="263775" y="2707063"/>
            <a:ext cx="50508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foo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0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++)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8" name="Google Shape;418;p11"/>
          <p:cNvSpPr txBox="1"/>
          <p:nvPr/>
        </p:nvSpPr>
        <p:spPr>
          <a:xfrm>
            <a:off x="5822450" y="1736125"/>
            <a:ext cx="61449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foo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0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/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+=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0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-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%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++)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2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When it works and when it fails?</a:t>
            </a:r>
            <a:endParaRPr/>
          </a:p>
        </p:txBody>
      </p:sp>
      <p:pic>
        <p:nvPicPr>
          <p:cNvPr id="424" name="Google Shape;424;p12"/>
          <p:cNvPicPr preferRelativeResize="0"/>
          <p:nvPr/>
        </p:nvPicPr>
        <p:blipFill rotWithShape="1">
          <a:blip r:embed="rId3">
            <a:alphaModFix/>
          </a:blip>
          <a:srcRect b="0" l="0" r="0" t="36701"/>
          <a:stretch/>
        </p:blipFill>
        <p:spPr>
          <a:xfrm>
            <a:off x="2184872" y="1887522"/>
            <a:ext cx="8082483" cy="3499668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12"/>
          <p:cNvSpPr txBox="1"/>
          <p:nvPr/>
        </p:nvSpPr>
        <p:spPr>
          <a:xfrm>
            <a:off x="2870794" y="5429934"/>
            <a:ext cx="7396561" cy="2870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https://www.intel.com/content/www/us/en/developer/articles/technical/intel-sdm.html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3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Loop fusion</a:t>
            </a:r>
            <a:endParaRPr/>
          </a:p>
        </p:txBody>
      </p:sp>
      <p:sp>
        <p:nvSpPr>
          <p:cNvPr id="431" name="Google Shape;431;p13"/>
          <p:cNvSpPr txBox="1"/>
          <p:nvPr/>
        </p:nvSpPr>
        <p:spPr>
          <a:xfrm>
            <a:off x="293075" y="1797450"/>
            <a:ext cx="50967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foo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0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++)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42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0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&gt;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--)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2" name="Google Shape;432;p13"/>
          <p:cNvSpPr txBox="1"/>
          <p:nvPr/>
        </p:nvSpPr>
        <p:spPr>
          <a:xfrm>
            <a:off x="6516100" y="2105250"/>
            <a:ext cx="55197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foo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0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++)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42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-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4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Loop peeling</a:t>
            </a:r>
            <a:endParaRPr/>
          </a:p>
        </p:txBody>
      </p:sp>
      <p:sp>
        <p:nvSpPr>
          <p:cNvPr id="438" name="Google Shape;438;p14"/>
          <p:cNvSpPr txBox="1"/>
          <p:nvPr/>
        </p:nvSpPr>
        <p:spPr>
          <a:xfrm>
            <a:off x="449375" y="2105250"/>
            <a:ext cx="47673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foo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0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++)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+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9" name="Google Shape;439;p14"/>
          <p:cNvSpPr txBox="1"/>
          <p:nvPr/>
        </p:nvSpPr>
        <p:spPr>
          <a:xfrm>
            <a:off x="6144850" y="2413050"/>
            <a:ext cx="55293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foo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+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0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++)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+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-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5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Loop unswitch</a:t>
            </a:r>
            <a:endParaRPr/>
          </a:p>
        </p:txBody>
      </p:sp>
      <p:sp>
        <p:nvSpPr>
          <p:cNvPr id="445" name="Google Shape;445;p15"/>
          <p:cNvSpPr txBox="1"/>
          <p:nvPr/>
        </p:nvSpPr>
        <p:spPr>
          <a:xfrm>
            <a:off x="0" y="2105250"/>
            <a:ext cx="60471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foo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bool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0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++)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42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6" name="Google Shape;446;p15"/>
          <p:cNvSpPr txBox="1"/>
          <p:nvPr/>
        </p:nvSpPr>
        <p:spPr>
          <a:xfrm>
            <a:off x="5920200" y="1489500"/>
            <a:ext cx="62718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foo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bool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0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++)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42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} </a:t>
            </a:r>
            <a:r>
              <a:rPr lang="en-US" sz="20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++)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6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Control flow sink</a:t>
            </a:r>
            <a:endParaRPr/>
          </a:p>
        </p:txBody>
      </p:sp>
      <p:sp>
        <p:nvSpPr>
          <p:cNvPr id="452" name="Google Shape;452;p16"/>
          <p:cNvSpPr txBox="1"/>
          <p:nvPr/>
        </p:nvSpPr>
        <p:spPr>
          <a:xfrm>
            <a:off x="302850" y="1489500"/>
            <a:ext cx="49824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bazz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bazz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foo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42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0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++)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bazz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bazz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3" name="Google Shape;453;p16"/>
          <p:cNvSpPr txBox="1"/>
          <p:nvPr/>
        </p:nvSpPr>
        <p:spPr>
          <a:xfrm>
            <a:off x="6330450" y="1489500"/>
            <a:ext cx="54318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bazz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bazz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foo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0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++)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bazz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42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bazz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7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Loop reroll</a:t>
            </a:r>
            <a:endParaRPr/>
          </a:p>
        </p:txBody>
      </p:sp>
      <p:sp>
        <p:nvSpPr>
          <p:cNvPr id="459" name="Google Shape;459;p17"/>
          <p:cNvSpPr txBox="1"/>
          <p:nvPr/>
        </p:nvSpPr>
        <p:spPr>
          <a:xfrm>
            <a:off x="0" y="1638425"/>
            <a:ext cx="61449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foo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0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/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+=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0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-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%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++)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0" name="Google Shape;460;p17"/>
          <p:cNvSpPr txBox="1"/>
          <p:nvPr/>
        </p:nvSpPr>
        <p:spPr>
          <a:xfrm>
            <a:off x="6682150" y="2561963"/>
            <a:ext cx="50508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foo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0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++)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8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Loop fission</a:t>
            </a:r>
            <a:endParaRPr/>
          </a:p>
        </p:txBody>
      </p:sp>
      <p:sp>
        <p:nvSpPr>
          <p:cNvPr id="466" name="Google Shape;466;p18"/>
          <p:cNvSpPr txBox="1"/>
          <p:nvPr/>
        </p:nvSpPr>
        <p:spPr>
          <a:xfrm>
            <a:off x="6936150" y="1797450"/>
            <a:ext cx="50967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foo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0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++)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42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0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&gt;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--)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7" name="Google Shape;467;p18"/>
          <p:cNvSpPr txBox="1"/>
          <p:nvPr/>
        </p:nvSpPr>
        <p:spPr>
          <a:xfrm>
            <a:off x="146550" y="2105250"/>
            <a:ext cx="55197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foo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0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++)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42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bar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-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9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Loop tiling</a:t>
            </a:r>
            <a:endParaRPr/>
          </a:p>
        </p:txBody>
      </p:sp>
      <p:sp>
        <p:nvSpPr>
          <p:cNvPr id="473" name="Google Shape;473;p19"/>
          <p:cNvSpPr txBox="1"/>
          <p:nvPr/>
        </p:nvSpPr>
        <p:spPr>
          <a:xfrm>
            <a:off x="185600" y="1689833"/>
            <a:ext cx="51093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foo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0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++)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       // ...</a:t>
            </a:r>
            <a:endParaRPr sz="2000">
              <a:solidFill>
                <a:srgbClr val="008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74" name="Google Shape;474;p19"/>
          <p:cNvSpPr txBox="1"/>
          <p:nvPr/>
        </p:nvSpPr>
        <p:spPr>
          <a:xfrm>
            <a:off x="4288800" y="3214075"/>
            <a:ext cx="79032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&lt;algorithm&gt;</a:t>
            </a:r>
            <a:endParaRPr sz="2000">
              <a:solidFill>
                <a:srgbClr val="A315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foo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0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+=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20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std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min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++)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           // ...</a:t>
            </a:r>
            <a:endParaRPr sz="2000">
              <a:solidFill>
                <a:srgbClr val="008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2c3fbe12272_1_3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Loop rotation</a:t>
            </a:r>
            <a:endParaRPr/>
          </a:p>
        </p:txBody>
      </p:sp>
      <p:sp>
        <p:nvSpPr>
          <p:cNvPr id="480" name="Google Shape;480;g2c3fbe12272_1_3"/>
          <p:cNvSpPr txBox="1"/>
          <p:nvPr/>
        </p:nvSpPr>
        <p:spPr>
          <a:xfrm>
            <a:off x="0" y="2720988"/>
            <a:ext cx="5265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foo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0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++)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+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1" name="Google Shape;481;g2c3fbe12272_1_3"/>
          <p:cNvSpPr txBox="1"/>
          <p:nvPr/>
        </p:nvSpPr>
        <p:spPr>
          <a:xfrm>
            <a:off x="6316675" y="1951350"/>
            <a:ext cx="52656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foo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0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&gt; </a:t>
            </a:r>
            <a:r>
              <a:rPr lang="en-US" sz="20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 sz="20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do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+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++;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} </a:t>
            </a:r>
            <a:r>
              <a:rPr lang="en-US" sz="20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 sz="20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0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Polytope model</a:t>
            </a:r>
            <a:endParaRPr/>
          </a:p>
        </p:txBody>
      </p:sp>
      <p:pic>
        <p:nvPicPr>
          <p:cNvPr id="487" name="Google Shape;487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370" y="2164359"/>
            <a:ext cx="4141394" cy="29367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20"/>
          <p:cNvPicPr preferRelativeResize="0"/>
          <p:nvPr/>
        </p:nvPicPr>
        <p:blipFill rotWithShape="1">
          <a:blip r:embed="rId4">
            <a:alphaModFix/>
          </a:blip>
          <a:srcRect b="0" l="509" r="0" t="0"/>
          <a:stretch/>
        </p:blipFill>
        <p:spPr>
          <a:xfrm>
            <a:off x="5394122" y="2164359"/>
            <a:ext cx="6188064" cy="3135058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20"/>
          <p:cNvSpPr txBox="1"/>
          <p:nvPr/>
        </p:nvSpPr>
        <p:spPr>
          <a:xfrm>
            <a:off x="3231859" y="5860421"/>
            <a:ext cx="6650372" cy="4260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https://en.wikipedia.org/wiki/Polytope_model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1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Affine transformations</a:t>
            </a:r>
            <a:endParaRPr/>
          </a:p>
        </p:txBody>
      </p:sp>
      <p:sp>
        <p:nvSpPr>
          <p:cNvPr id="495" name="Google Shape;495;p21"/>
          <p:cNvSpPr txBox="1"/>
          <p:nvPr/>
        </p:nvSpPr>
        <p:spPr>
          <a:xfrm>
            <a:off x="0" y="1181700"/>
            <a:ext cx="59298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#define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ERR(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y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) (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dst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][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y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] 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src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][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y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dither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unsigned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char**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src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unsigned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char**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dst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w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h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h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++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w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++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src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][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en-US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&gt;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-= </a:t>
            </a:r>
            <a:r>
              <a:rPr lang="en-US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ERR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-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/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en-US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&gt;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-= </a:t>
            </a:r>
            <a:r>
              <a:rPr lang="en-US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ERR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-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/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</a:t>
            </a:r>
            <a:r>
              <a:rPr lang="en-US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w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-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-= </a:t>
            </a:r>
            <a:r>
              <a:rPr lang="en-US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ERR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-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/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}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dst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][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 (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128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?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: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255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src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][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 (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?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: (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255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?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: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255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}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6" name="Google Shape;496;p21"/>
          <p:cNvSpPr txBox="1"/>
          <p:nvPr/>
        </p:nvSpPr>
        <p:spPr>
          <a:xfrm>
            <a:off x="5929800" y="858450"/>
            <a:ext cx="6262200" cy="51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#define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ERR(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y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) (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dst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][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y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] 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src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][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y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dither_skewed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unsigned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**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src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unsigned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**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dst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w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h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(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w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+ (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h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)); ++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pmin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max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%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- (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h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+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pmax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min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w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-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-US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pmin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&lt;=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pmax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+=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(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-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/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src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][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en-US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&gt;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-= </a:t>
            </a:r>
            <a:r>
              <a:rPr lang="en-US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ERR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-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/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en-US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&gt;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-= </a:t>
            </a:r>
            <a:r>
              <a:rPr lang="en-US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ERR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-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/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en-US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&gt;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&amp;&amp;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w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-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-= </a:t>
            </a:r>
            <a:r>
              <a:rPr lang="en-US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ERR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-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/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dst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][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 (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128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?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: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255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src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][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 (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?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: (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255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?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: </a:t>
            </a:r>
            <a:r>
              <a:rPr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255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}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26aa17c3ece_0_8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Polyhedral transformations in LLVM</a:t>
            </a:r>
            <a:endParaRPr/>
          </a:p>
        </p:txBody>
      </p:sp>
      <p:sp>
        <p:nvSpPr>
          <p:cNvPr id="502" name="Google Shape;502;g26aa17c3ece_0_8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Polly is a high-performance loop and data-locality optimizer embedded </a:t>
            </a:r>
            <a:r>
              <a:rPr lang="en-US"/>
              <a:t>framework </a:t>
            </a:r>
            <a:r>
              <a:rPr lang="en-US"/>
              <a:t>within the LLV</a:t>
            </a:r>
            <a:r>
              <a:rPr lang="en-US"/>
              <a:t>M</a:t>
            </a:r>
            <a:r>
              <a:rPr lang="en-US"/>
              <a:t>. It utilizes mathematical models to analyze and optimize memory access patterns, significantly enhancing code efficiency, particularly in loops and matrix multiplications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Docs &amp; info: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https://polly.llvm.org/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2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Next time…</a:t>
            </a:r>
            <a:endParaRPr/>
          </a:p>
        </p:txBody>
      </p:sp>
      <p:sp>
        <p:nvSpPr>
          <p:cNvPr id="508" name="Google Shape;508;p22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Vectorization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26b5081e801_0_19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Lab assignment #2</a:t>
            </a:r>
            <a:endParaRPr/>
          </a:p>
        </p:txBody>
      </p:sp>
      <p:sp>
        <p:nvSpPr>
          <p:cNvPr id="514" name="Google Shape;514;g26b5081e801_0_19"/>
          <p:cNvSpPr txBox="1"/>
          <p:nvPr>
            <p:ph idx="1" type="body"/>
          </p:nvPr>
        </p:nvSpPr>
        <p:spPr>
          <a:xfrm>
            <a:off x="571375" y="1673450"/>
            <a:ext cx="11010900" cy="50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Write a plugin </a:t>
            </a:r>
            <a:r>
              <a:rPr lang="en-US"/>
              <a:t>with </a:t>
            </a:r>
            <a:r>
              <a:rPr lang="en-US"/>
              <a:t>simple LLVM pass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Task list in Google Docs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Deadline: April, 7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Where to seek help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https://www.llvm.org/docs/WritingAnLLVMNewPMPass.html</a:t>
            </a:r>
            <a:r>
              <a:rPr lang="en-US"/>
              <a:t> 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https://github.com/llvm/llvm-project/tree/main/llvm/examples/IRTransforms</a:t>
            </a:r>
            <a:r>
              <a:rPr lang="en-US"/>
              <a:t> 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contact teachers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26b5081e801_0_477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</a:t>
            </a:r>
            <a:endParaRPr/>
          </a:p>
        </p:txBody>
      </p:sp>
      <p:sp>
        <p:nvSpPr>
          <p:cNvPr id="520" name="Google Shape;520;g26b5081e801_0_477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https://forms.gle/A3XfkLu2PnZbRodT7</a:t>
            </a:r>
            <a:r>
              <a:rPr lang="en-US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Submission time: </a:t>
            </a:r>
            <a:r>
              <a:rPr b="1" lang="en-US"/>
              <a:t>10 minutes</a:t>
            </a:r>
            <a:r>
              <a:rPr lang="en-US"/>
              <a:t> </a:t>
            </a:r>
            <a:endParaRPr/>
          </a:p>
        </p:txBody>
      </p:sp>
      <p:sp>
        <p:nvSpPr>
          <p:cNvPr id="521" name="Google Shape;521;g26b5081e801_0_477"/>
          <p:cNvSpPr txBox="1"/>
          <p:nvPr/>
        </p:nvSpPr>
        <p:spPr>
          <a:xfrm>
            <a:off x="8510750" y="6397900"/>
            <a:ext cx="335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525252"/>
                </a:solidFill>
              </a:rPr>
              <a:t>Backup: </a:t>
            </a:r>
            <a:r>
              <a:rPr lang="en-US" sz="2000" u="sng">
                <a:solidFill>
                  <a:srgbClr val="0068B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me@gooddoog.ru</a:t>
            </a:r>
            <a:r>
              <a:rPr lang="en-US" sz="2000">
                <a:solidFill>
                  <a:srgbClr val="525252"/>
                </a:solidFill>
              </a:rPr>
              <a:t> </a:t>
            </a:r>
            <a:endParaRPr sz="2000">
              <a:solidFill>
                <a:srgbClr val="525252"/>
              </a:solidFill>
            </a:endParaRPr>
          </a:p>
        </p:txBody>
      </p:sp>
      <p:pic>
        <p:nvPicPr>
          <p:cNvPr id="522" name="Google Shape;522;g26b5081e801_0_4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34025" y="1905000"/>
            <a:ext cx="2990850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g26b5081e801_0_4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1375" y="2858920"/>
            <a:ext cx="7194750" cy="354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4113910fee_0_0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</a:t>
            </a:r>
            <a:endParaRPr/>
          </a:p>
        </p:txBody>
      </p:sp>
      <p:sp>
        <p:nvSpPr>
          <p:cNvPr id="529" name="Google Shape;529;g34113910fee_0_0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https://forms.gle/ywfMNSijV2XqDiVF8</a:t>
            </a:r>
            <a:r>
              <a:rPr lang="en-US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Submission time: </a:t>
            </a:r>
            <a:r>
              <a:rPr b="1" lang="en-US"/>
              <a:t>10 minutes</a:t>
            </a:r>
            <a:r>
              <a:rPr lang="en-US"/>
              <a:t> </a:t>
            </a:r>
            <a:endParaRPr/>
          </a:p>
        </p:txBody>
      </p:sp>
      <p:sp>
        <p:nvSpPr>
          <p:cNvPr id="530" name="Google Shape;530;g34113910fee_0_0"/>
          <p:cNvSpPr txBox="1"/>
          <p:nvPr/>
        </p:nvSpPr>
        <p:spPr>
          <a:xfrm>
            <a:off x="8510750" y="6397900"/>
            <a:ext cx="335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525252"/>
                </a:solidFill>
              </a:rPr>
              <a:t>Backup: </a:t>
            </a:r>
            <a:r>
              <a:rPr lang="en-US" sz="2000" u="sng">
                <a:solidFill>
                  <a:srgbClr val="0068B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me@gooddoog.ru</a:t>
            </a:r>
            <a:r>
              <a:rPr lang="en-US" sz="2000">
                <a:solidFill>
                  <a:srgbClr val="525252"/>
                </a:solidFill>
              </a:rPr>
              <a:t> </a:t>
            </a:r>
            <a:endParaRPr sz="2000">
              <a:solidFill>
                <a:srgbClr val="525252"/>
              </a:solidFill>
            </a:endParaRPr>
          </a:p>
        </p:txBody>
      </p:sp>
      <p:pic>
        <p:nvPicPr>
          <p:cNvPr id="531" name="Google Shape;531;g34113910fee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10750" y="1962150"/>
            <a:ext cx="2971800" cy="293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g34113910fee_0_0" title="Screenshot 2025-03-17 at 11.15.54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6350" y="2771650"/>
            <a:ext cx="7587874" cy="3961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23"/>
          <p:cNvSpPr txBox="1"/>
          <p:nvPr>
            <p:ph type="title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Extra materials</a:t>
            </a:r>
            <a:endParaRPr/>
          </a:p>
        </p:txBody>
      </p:sp>
      <p:sp>
        <p:nvSpPr>
          <p:cNvPr id="538" name="Google Shape;538;p23"/>
          <p:cNvSpPr txBox="1"/>
          <p:nvPr>
            <p:ph idx="1" type="body"/>
          </p:nvPr>
        </p:nvSpPr>
        <p:spPr>
          <a:xfrm>
            <a:off x="571500" y="1673402"/>
            <a:ext cx="10837852" cy="45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▪"/>
            </a:pPr>
            <a:r>
              <a:rPr lang="en-US" sz="1600"/>
              <a:t>Loop Optimizations in LLVM: The Good, The Bad, and The Ugly - </a:t>
            </a:r>
            <a:r>
              <a:rPr lang="en-US" sz="1600" u="sng">
                <a:solidFill>
                  <a:schemeClr val="hlink"/>
                </a:solidFill>
                <a:hlinkClick r:id="rId3"/>
              </a:rPr>
              <a:t>https://llvm.org/devmtg/2018-10/slides/Kruse-LoopTransforms.pdf</a:t>
            </a:r>
            <a:r>
              <a:rPr lang="en-US" sz="1600"/>
              <a:t> </a:t>
            </a:r>
            <a:endParaRPr sz="1600"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▪"/>
            </a:pPr>
            <a:r>
              <a:rPr lang="en-US" sz="1600"/>
              <a:t>EuroLLVM Developers' Meeting: J. Doerfert &amp; T. Grosser "Analyzing and Optimizing ... Polly“ - </a:t>
            </a:r>
            <a:r>
              <a:rPr lang="en-US" sz="1600" u="sng">
                <a:solidFill>
                  <a:schemeClr val="hlink"/>
                </a:solidFill>
                <a:hlinkClick r:id="rId4"/>
              </a:rPr>
              <a:t>https://www.youtube.com/watch?v=mXve_W4XU2g</a:t>
            </a:r>
            <a:r>
              <a:rPr lang="en-US" sz="1600"/>
              <a:t> 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▪"/>
            </a:pPr>
            <a:r>
              <a:rPr lang="en-US" sz="1600"/>
              <a:t>LLVM Developers’ Meeting: T. Grosser “Polly - Polyhedral optimizations in LLVM” - </a:t>
            </a:r>
            <a:r>
              <a:rPr lang="en-US" sz="1600" u="sng">
                <a:solidFill>
                  <a:schemeClr val="hlink"/>
                </a:solidFill>
                <a:hlinkClick r:id="rId5"/>
              </a:rPr>
              <a:t>https://www.youtube.com/watch?v=WwfZkQEuwEE</a:t>
            </a:r>
            <a:r>
              <a:rPr lang="en-US" sz="1600"/>
              <a:t>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Intel2020">
      <a:dk1>
        <a:srgbClr val="000000"/>
      </a:dk1>
      <a:lt1>
        <a:srgbClr val="FFFFFF"/>
      </a:lt1>
      <a:dk2>
        <a:srgbClr val="004A86"/>
      </a:dk2>
      <a:lt2>
        <a:srgbClr val="525252"/>
      </a:lt2>
      <a:accent1>
        <a:srgbClr val="0068B5"/>
      </a:accent1>
      <a:accent2>
        <a:srgbClr val="00C7FD"/>
      </a:accent2>
      <a:accent3>
        <a:srgbClr val="F6CB4B"/>
      </a:accent3>
      <a:accent4>
        <a:srgbClr val="D96930"/>
      </a:accent4>
      <a:accent5>
        <a:srgbClr val="8F5DA2"/>
      </a:accent5>
      <a:accent6>
        <a:srgbClr val="8BAE46"/>
      </a:accent6>
      <a:hlink>
        <a:srgbClr val="0068B5"/>
      </a:hlink>
      <a:folHlink>
        <a:srgbClr val="0068B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2022-02-11T08:56:50Z</dcterms:created>
  <dc:creator>Batashev, Alexander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77294acb-f791-4422-865e-0b7527e37b89</vt:lpwstr>
  </property>
  <property fmtid="{D5CDD505-2E9C-101B-9397-08002B2CF9AE}" pid="3" name="CTP_TimeStamp">
    <vt:lpwstr>2020-08-21 21:49:33Z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  <property fmtid="{D5CDD505-2E9C-101B-9397-08002B2CF9AE}" pid="8" name="ContentTypeId">
    <vt:lpwstr>0x01010079C5967B1E29274CA6A143F9D247F5D2</vt:lpwstr>
  </property>
</Properties>
</file>