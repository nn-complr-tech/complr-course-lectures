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Helvetica Neue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i4lSL7nQWkwIs9xN3d5qqfh2fr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HelveticaNeue-regular.fntdata"/><Relationship Id="rId47" Type="http://schemas.openxmlformats.org/officeDocument/2006/relationships/slide" Target="slides/slide43.xml"/><Relationship Id="rId49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74fa1927f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474fa1927f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74fa1927f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74fa1927f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474fa1927f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74e66f23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374e66f23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374e66f23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7e46875cf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7e46875cf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2c7e46875cf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374e66f23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374e66f23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374e66f23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374e66f2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374e66f2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374e66f2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374e66f2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374e66f2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374e66f2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374e66f23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374e66f23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374e66f23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374e66f23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374e66f23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374e66f23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81fcb20f4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c81fcb20f4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c81fcb20f4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74fa1927f_0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474fa1927f_0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474fa1927f_0_2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374e66f23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374e66f23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374e66f23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c81fcb20f4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c81fcb20f4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2c81fcb20f4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81fcb20f4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c81fcb20f4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c81fcb20f4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6ce01a8fcf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26ce01a8fcf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c7e46875c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c7e46875c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474fa1927f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474fa1927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374e66f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d374e66f2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6ce01a8fcf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26ce01a8fcf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3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3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6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6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74fa1927f_0_224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g3474fa1927f_0_224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g3474fa1927f_0_224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wr.informatik.uni-hamburg.de/_media/teaching/wintersemester_2020_2021/ep-2021_hosseini_llvm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hyperlink" Target="https://getting-started-with-llvm-core-libraries-zh-cn.readthedocs.io/zh-cn/latest/ch06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llvm.org/docs/GlobalISel/Pipeline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godbolt.org/z/d33c1P99M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hyperlink" Target="https://www.geeksforgeeks.org/memory-hierarchy-design-and-its-characteristics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hyperlink" Target="https://www.cs.uni.edu/~fienup/cs041s08/lectures/lec13_reg_file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s://en.wikipedia.org/wiki/Register_allocatio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hyperlink" Target="https://llvm.org/pubs/2008-06-PLDI-PuzzleSolving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hyperlink" Target="https://web.cecs.pdx.edu/~mperkows/temp/register-allocation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hyperlink" Target="https://web.cecs.pdx.edu/~mperkows/temp/register-allocation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hyperlink" Target="https://web.cecs.pdx.edu/~mperkows/temp/register-allocation.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Register_allocation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hyperlink" Target="https://www.intel.com/content/www/us/en/developer/articles/technical/intel-sdm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Y5EggA67Reh7hfSR9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LZZZYDejbnUV19zY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forms.gle/pWLeGMzx5S18mtPz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youtube.com/watch?v=Zh4R40ZyJ2k" TargetMode="External"/><Relationship Id="rId4" Type="http://schemas.openxmlformats.org/officeDocument/2006/relationships/hyperlink" Target="https://jonathan2251.github.io/lbd/" TargetMode="External"/><Relationship Id="rId5" Type="http://schemas.openxmlformats.org/officeDocument/2006/relationships/hyperlink" Target="https://llvm.org/devmtg/2014-04/PDFs/Talks/Building%20an%20LLVM%20backend.pdf" TargetMode="External"/><Relationship Id="rId6" Type="http://schemas.openxmlformats.org/officeDocument/2006/relationships/hyperlink" Target="https://llvm.org/docs/WritingAnLLVMBackend.html" TargetMode="External"/><Relationship Id="rId7" Type="http://schemas.openxmlformats.org/officeDocument/2006/relationships/hyperlink" Target="https://llvm.org/devmtg/2017-10/slides/Braun-Welcome%20to%20the%20Back%20End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74fa1927f_0_24"/>
          <p:cNvSpPr txBox="1"/>
          <p:nvPr>
            <p:ph type="title"/>
          </p:nvPr>
        </p:nvSpPr>
        <p:spPr>
          <a:xfrm>
            <a:off x="1895475" y="3585275"/>
            <a:ext cx="619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100" name="Google Shape;100;g3474fa1927f_0_24"/>
          <p:cNvSpPr txBox="1"/>
          <p:nvPr>
            <p:ph idx="2" type="body"/>
          </p:nvPr>
        </p:nvSpPr>
        <p:spPr>
          <a:xfrm>
            <a:off x="1908350" y="4778600"/>
            <a:ext cx="8226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Backends - Part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55402" y="377463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55401" y="4336066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55400" y="4889622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55399" y="5443178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8F5DA2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74fa1927f_0_1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24" name="Google Shape;124;g3474fa1927f_0_1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Compiler backend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Backend </a:t>
            </a:r>
            <a:r>
              <a:rPr lang="en-US"/>
              <a:t>stages and algorithms behind</a:t>
            </a:r>
            <a:endParaRPr/>
          </a:p>
        </p:txBody>
      </p:sp>
      <p:sp>
        <p:nvSpPr>
          <p:cNvPr id="125" name="Google Shape;125;g3474fa1927f_0_1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Backend in LLVM</a:t>
            </a:r>
            <a:endParaRPr/>
          </a:p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221" y="1947519"/>
            <a:ext cx="10708106" cy="375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7387389" y="3072062"/>
            <a:ext cx="2590800" cy="123524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052250" y="5214975"/>
            <a:ext cx="100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https://wr.informatik.uni-hamburg.de/_media/teaching/wintersemester_2020_2021/ep-2021_hosseini_llvm.pdf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71375" y="5766778"/>
            <a:ext cx="1117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role: to map program semantics onto a specific target architecture efficiently and correctly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74e66f23_0_15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Backends can target</a:t>
            </a:r>
            <a:endParaRPr/>
          </a:p>
        </p:txBody>
      </p:sp>
      <p:sp>
        <p:nvSpPr>
          <p:cNvPr id="142" name="Google Shape;142;g3d374e66f23_0_15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CPU - generate code for processors: x86, ARM, RISC-V,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GPU/NPU - generate code for graphics cards / accelerators: PTX (for NVIDIA GPU), AMDGPU, </a:t>
            </a:r>
            <a:r>
              <a:rPr lang="en-US"/>
              <a:t>SPIR-V, </a:t>
            </a:r>
            <a:r>
              <a:rPr lang="en-US"/>
              <a:t>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Virtual machine backends — generate bytecode (IR) for systems virtual environments: JVM bytecode, .NET IL / CIL, WebAssembly, 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LLVM backend pipeline (overview)</a:t>
            </a:r>
            <a:endParaRPr/>
          </a:p>
        </p:txBody>
      </p:sp>
      <p:pic>
        <p:nvPicPr>
          <p:cNvPr descr="Overview | Getting Started with LLVM Core Libraries" id="148" name="Google Shape;14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4" y="1726598"/>
            <a:ext cx="11010900" cy="3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2425025" y="5357600"/>
            <a:ext cx="730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https://getting-started-with-llvm-core-libraries-zh-cn.readthedocs.io/zh-cn/latest/ch06.html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4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7e46875cf_0_21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LLVM backend: detailed view</a:t>
            </a:r>
            <a:endParaRPr/>
          </a:p>
        </p:txBody>
      </p:sp>
      <p:pic>
        <p:nvPicPr>
          <p:cNvPr id="157" name="Google Shape;157;g2c7e46875cf_0_213"/>
          <p:cNvPicPr preferRelativeResize="0"/>
          <p:nvPr/>
        </p:nvPicPr>
        <p:blipFill rotWithShape="1">
          <a:blip r:embed="rId3">
            <a:alphaModFix/>
          </a:blip>
          <a:srcRect b="-49290" l="0" r="0" t="49290"/>
          <a:stretch/>
        </p:blipFill>
        <p:spPr>
          <a:xfrm>
            <a:off x="0" y="1632924"/>
            <a:ext cx="12192000" cy="51576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c7e46875cf_0_213"/>
          <p:cNvSpPr txBox="1"/>
          <p:nvPr/>
        </p:nvSpPr>
        <p:spPr>
          <a:xfrm>
            <a:off x="0" y="6248450"/>
            <a:ext cx="1018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Details about LLVM backend are going to be covered next time…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2c7e46875cf_0_213"/>
          <p:cNvSpPr txBox="1"/>
          <p:nvPr/>
        </p:nvSpPr>
        <p:spPr>
          <a:xfrm>
            <a:off x="4202275" y="4491575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https://llvm.org/docs/GlobalISel/Pipeline.html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g2c7e46875cf_0_213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374e66f23_0_9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backend passes</a:t>
            </a:r>
            <a:endParaRPr/>
          </a:p>
        </p:txBody>
      </p:sp>
      <p:sp>
        <p:nvSpPr>
          <p:cNvPr id="167" name="Google Shape;167;g3d374e66f23_0_9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Instruction Selection (ISel)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Register Allocation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Instruction scheduling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Other backend specific optimizations may vary: Calling convention and ABI handling, lowering, legalization, peephole optimizations, …</a:t>
            </a:r>
            <a:endParaRPr/>
          </a:p>
        </p:txBody>
      </p:sp>
      <p:sp>
        <p:nvSpPr>
          <p:cNvPr id="168" name="Google Shape;168;g3d374e66f23_0_94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Instruction selection</a:t>
            </a:r>
            <a:endParaRPr/>
          </a:p>
        </p:txBody>
      </p:sp>
      <p:sp>
        <p:nvSpPr>
          <p:cNvPr id="174" name="Google Shape;174;p5"/>
          <p:cNvSpPr txBox="1"/>
          <p:nvPr>
            <p:ph idx="1" type="body"/>
          </p:nvPr>
        </p:nvSpPr>
        <p:spPr>
          <a:xfrm>
            <a:off x="435175" y="1303500"/>
            <a:ext cx="11010900" cy="18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now have an optimized IR code, but it’s not consumable by HW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Instruction selection is a stage of compiler, that transforms IR into low-level IR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2200"/>
              <a:t>In case of LLVM compiler: LLVM IR → MIR (Machine IR)</a:t>
            </a:r>
            <a:endParaRPr i="1" sz="2200"/>
          </a:p>
        </p:txBody>
      </p:sp>
      <p:grpSp>
        <p:nvGrpSpPr>
          <p:cNvPr id="175" name="Google Shape;175;p5"/>
          <p:cNvGrpSpPr/>
          <p:nvPr/>
        </p:nvGrpSpPr>
        <p:grpSpPr>
          <a:xfrm>
            <a:off x="77275" y="6358538"/>
            <a:ext cx="5188500" cy="445275"/>
            <a:chOff x="289925" y="5611838"/>
            <a:chExt cx="5188500" cy="445275"/>
          </a:xfrm>
        </p:grpSpPr>
        <p:sp>
          <p:nvSpPr>
            <p:cNvPr id="176" name="Google Shape;176;p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77" name="Google Shape;177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https://godbolt.org/z/d33c1P99M</a:t>
              </a:r>
              <a:r>
                <a:rPr lang="en-US" sz="2400"/>
                <a:t> </a:t>
              </a:r>
              <a:endParaRPr sz="2400"/>
            </a:p>
          </p:txBody>
        </p:sp>
      </p:grpSp>
      <p:pic>
        <p:nvPicPr>
          <p:cNvPr id="179" name="Google Shape;17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669" y="3201775"/>
            <a:ext cx="4467649" cy="30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2175" y="2286000"/>
            <a:ext cx="5289825" cy="42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5557150" y="4338525"/>
            <a:ext cx="1099200" cy="6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891125" y="3258750"/>
            <a:ext cx="142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LLVM IR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1352175" y="2380025"/>
            <a:ext cx="78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Instruction selection methods</a:t>
            </a:r>
            <a:endParaRPr/>
          </a:p>
        </p:txBody>
      </p:sp>
      <p:sp>
        <p:nvSpPr>
          <p:cNvPr id="190" name="Google Shape;190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Macro expansion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Replace all IR instructions by matching templates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Graph covering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Transform IR into graph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Cover graph with patterns – templates that match a portion of a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Lowest common denominator strategy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Attempt to select instructions that would allow execution on the widest range of hardware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317150" y="466925"/>
            <a:ext cx="3161400" cy="31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Abstract/HW agnostic instructions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317150" y="1070188"/>
            <a:ext cx="3161400" cy="31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HW specific instructions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>
            <a:stCxn id="191" idx="2"/>
            <a:endCxn id="192" idx="0"/>
          </p:cNvCxnSpPr>
          <p:nvPr/>
        </p:nvCxnSpPr>
        <p:spPr>
          <a:xfrm>
            <a:off x="9897850" y="785525"/>
            <a:ext cx="0" cy="2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6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Memory hierarchy</a:t>
            </a:r>
            <a:endParaRPr/>
          </a:p>
        </p:txBody>
      </p:sp>
      <p:pic>
        <p:nvPicPr>
          <p:cNvPr id="200" name="Google Shape;20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690" y="1523999"/>
            <a:ext cx="7200619" cy="44252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2110191" y="6101834"/>
            <a:ext cx="7933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https://www.geeksforgeeks.org/memory-hierarchy-design-and-its-characteristics/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Registers</a:t>
            </a:r>
            <a:endParaRPr/>
          </a:p>
        </p:txBody>
      </p:sp>
      <p:pic>
        <p:nvPicPr>
          <p:cNvPr descr="Изображение выглядит как стол&#10;&#10;Автоматически созданное описание" id="208" name="Google Shape;20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050" y="2125662"/>
            <a:ext cx="7797900" cy="36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 txBox="1"/>
          <p:nvPr/>
        </p:nvSpPr>
        <p:spPr>
          <a:xfrm>
            <a:off x="2679714" y="5795962"/>
            <a:ext cx="67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https://www.cs.uni.edu/~fienup/cs041s08/lectures/lec13_reg_file.pdf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>
            <p:ph idx="4294967295" type="sldNum"/>
          </p:nvPr>
        </p:nvSpPr>
        <p:spPr>
          <a:xfrm>
            <a:off x="8610600" y="63459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446314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Registers in modern CPUs</a:t>
            </a:r>
            <a:endParaRPr sz="4000">
              <a:solidFill>
                <a:srgbClr val="525252"/>
              </a:solidFill>
            </a:endParaRPr>
          </a:p>
        </p:txBody>
      </p:sp>
      <p:pic>
        <p:nvPicPr>
          <p:cNvPr descr="Изображение выглядит как стол&#10;&#10;Автоматически созданное описание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950" y="1298575"/>
            <a:ext cx="5118100" cy="51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3639110" y="6308209"/>
            <a:ext cx="49137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https://en.wikipedia.org/wiki/Register_allocation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Virtual vs physical registers</a:t>
            </a:r>
            <a:endParaRPr/>
          </a:p>
        </p:txBody>
      </p:sp>
      <p:sp>
        <p:nvSpPr>
          <p:cNvPr id="224" name="Google Shape;224;p10"/>
          <p:cNvSpPr txBox="1"/>
          <p:nvPr>
            <p:ph idx="1" type="body"/>
          </p:nvPr>
        </p:nvSpPr>
        <p:spPr>
          <a:xfrm>
            <a:off x="571375" y="1673450"/>
            <a:ext cx="53817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Virtual registers are SSA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Registers are only assigned once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Infinite amount of registers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good for more abstract IR, but at this point need to map virtual registers to the physical ones</a:t>
            </a:r>
            <a:endParaRPr/>
          </a:p>
        </p:txBody>
      </p:sp>
      <p:pic>
        <p:nvPicPr>
          <p:cNvPr id="225" name="Google Shape;225;p10" title="ChatGPT Image Mar 31, 2026, 02_04_4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76" y="1569900"/>
            <a:ext cx="6227424" cy="415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>
            <p:ph type="title"/>
          </p:nvPr>
        </p:nvSpPr>
        <p:spPr>
          <a:xfrm>
            <a:off x="486508" y="3952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Challenges</a:t>
            </a:r>
            <a:endParaRPr sz="4000">
              <a:solidFill>
                <a:srgbClr val="525252"/>
              </a:solidFill>
            </a:endParaRPr>
          </a:p>
        </p:txBody>
      </p:sp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614845" y="1854534"/>
            <a:ext cx="9371366" cy="344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Registers are scarce</a:t>
            </a:r>
            <a:endParaRPr/>
          </a:p>
          <a:p>
            <a:pPr indent="-381000" lvl="1" marL="9144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 most of the cases, we deal with dozens of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Registers are complicated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Registers can be made of smaller registers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registers may be reserved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instructions must store results to certain registers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registers are part of ABI</a:t>
            </a:r>
            <a:endParaRPr/>
          </a:p>
        </p:txBody>
      </p:sp>
      <p:sp>
        <p:nvSpPr>
          <p:cNvPr id="232" name="Google Shape;2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/>
          <p:nvPr>
            <p:ph type="title"/>
          </p:nvPr>
        </p:nvSpPr>
        <p:spPr>
          <a:xfrm>
            <a:off x="486508" y="3952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Challenges</a:t>
            </a:r>
            <a:endParaRPr sz="4000">
              <a:solidFill>
                <a:srgbClr val="525252"/>
              </a:solidFill>
            </a:endParaRPr>
          </a:p>
        </p:txBody>
      </p:sp>
      <p:sp>
        <p:nvSpPr>
          <p:cNvPr id="238" name="Google Shape;23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9" name="Google Shape;2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3873" y="1342323"/>
            <a:ext cx="6618200" cy="452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 txBox="1"/>
          <p:nvPr/>
        </p:nvSpPr>
        <p:spPr>
          <a:xfrm>
            <a:off x="3241424" y="5987050"/>
            <a:ext cx="52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https://llvm.org/pubs/2008-06-PLDI-PuzzleSolving.pdf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Graph theory to the rescue!</a:t>
            </a:r>
            <a:endParaRPr/>
          </a:p>
        </p:txBody>
      </p:sp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register is a node in a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Edges are interfering ranges (i.e., registers that live together)</a:t>
            </a:r>
            <a:endParaRPr/>
          </a:p>
        </p:txBody>
      </p:sp>
      <p:sp>
        <p:nvSpPr>
          <p:cNvPr id="247" name="Google Shape;247;p13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Graph coloring</a:t>
            </a:r>
            <a:endParaRPr/>
          </a:p>
        </p:txBody>
      </p:sp>
      <p:sp>
        <p:nvSpPr>
          <p:cNvPr id="253" name="Google Shape;253;p14"/>
          <p:cNvSpPr txBox="1"/>
          <p:nvPr>
            <p:ph idx="1" type="body"/>
          </p:nvPr>
        </p:nvSpPr>
        <p:spPr>
          <a:xfrm>
            <a:off x="571370" y="1673454"/>
            <a:ext cx="5681512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Process vertices in the given order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colors to each vertex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the smallest color number that is not already in use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9288" y="1523999"/>
            <a:ext cx="3641342" cy="321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4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374e66f23_0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allocation: Naive</a:t>
            </a:r>
            <a:endParaRPr/>
          </a:p>
        </p:txBody>
      </p:sp>
      <p:sp>
        <p:nvSpPr>
          <p:cNvPr id="262" name="Google Shape;262;g3d374e66f23_0_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Naive approach: reuse dead variables</a:t>
            </a:r>
            <a:endParaRPr/>
          </a:p>
        </p:txBody>
      </p:sp>
      <p:sp>
        <p:nvSpPr>
          <p:cNvPr id="263" name="Google Shape;263;g3d374e66f23_0_8"/>
          <p:cNvSpPr txBox="1"/>
          <p:nvPr/>
        </p:nvSpPr>
        <p:spPr>
          <a:xfrm>
            <a:off x="3224725" y="2600850"/>
            <a:ext cx="1813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:= c + 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:= a + 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:= e - 1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374e66f23_0_8"/>
          <p:cNvSpPr txBox="1"/>
          <p:nvPr/>
        </p:nvSpPr>
        <p:spPr>
          <a:xfrm>
            <a:off x="7413425" y="2600850"/>
            <a:ext cx="2031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r₁ := r₂ + r₃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r₁ := r₁ + r₄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r₁ := r₁ - 1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d374e66f23_0_8"/>
          <p:cNvSpPr/>
          <p:nvPr/>
        </p:nvSpPr>
        <p:spPr>
          <a:xfrm>
            <a:off x="5395950" y="3103500"/>
            <a:ext cx="1400100" cy="78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374e66f23_0_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374e66f23_0_1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 via graph coloring: Example</a:t>
            </a:r>
            <a:endParaRPr/>
          </a:p>
        </p:txBody>
      </p:sp>
      <p:pic>
        <p:nvPicPr>
          <p:cNvPr id="273" name="Google Shape;273;g3d374e66f23_0_18"/>
          <p:cNvPicPr preferRelativeResize="0"/>
          <p:nvPr/>
        </p:nvPicPr>
        <p:blipFill rotWithShape="1">
          <a:blip r:embed="rId3">
            <a:alphaModFix/>
          </a:blip>
          <a:srcRect b="0" l="0" r="0" t="2458"/>
          <a:stretch/>
        </p:blipFill>
        <p:spPr>
          <a:xfrm>
            <a:off x="121900" y="2214800"/>
            <a:ext cx="7047800" cy="44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d374e66f23_0_18"/>
          <p:cNvSpPr txBox="1"/>
          <p:nvPr/>
        </p:nvSpPr>
        <p:spPr>
          <a:xfrm>
            <a:off x="571375" y="1526431"/>
            <a:ext cx="564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Compute live variables for each point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d374e66f23_0_18"/>
          <p:cNvSpPr txBox="1"/>
          <p:nvPr/>
        </p:nvSpPr>
        <p:spPr>
          <a:xfrm>
            <a:off x="6527400" y="1524006"/>
            <a:ext cx="5645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Step 2: Build Register Interference Graph (RIG)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ode represents each temporary register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An edge between t1 and t2 if they are live simultaneously at some point in the program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d374e66f23_0_18"/>
          <p:cNvSpPr txBox="1"/>
          <p:nvPr/>
        </p:nvSpPr>
        <p:spPr>
          <a:xfrm>
            <a:off x="7169700" y="3264925"/>
            <a:ext cx="4360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An edge between t1 and t2 if they are live simultaneously at some point in the program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g3d374e66f23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9700" y="4519700"/>
            <a:ext cx="1974241" cy="183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d374e66f23_0_18"/>
          <p:cNvSpPr txBox="1"/>
          <p:nvPr/>
        </p:nvSpPr>
        <p:spPr>
          <a:xfrm>
            <a:off x="9012500" y="451970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Here, for example: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 and c cannot be in the same register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 and d can be in the same register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374e66f23_0_18"/>
          <p:cNvSpPr txBox="1"/>
          <p:nvPr/>
        </p:nvSpPr>
        <p:spPr>
          <a:xfrm>
            <a:off x="1014825" y="1922800"/>
            <a:ext cx="132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live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374e66f23_0_18"/>
          <p:cNvSpPr txBox="1"/>
          <p:nvPr/>
        </p:nvSpPr>
        <p:spPr>
          <a:xfrm>
            <a:off x="3347550" y="6457800"/>
            <a:ext cx="549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https://web.cecs.pdx.edu/~mperkows/temp/register-allocation.pdf</a:t>
            </a:r>
            <a:r>
              <a:rPr lang="en-US"/>
              <a:t> </a:t>
            </a:r>
            <a:endParaRPr/>
          </a:p>
        </p:txBody>
      </p:sp>
      <p:sp>
        <p:nvSpPr>
          <p:cNvPr id="281" name="Google Shape;281;g3d374e66f23_0_1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374e66f23_0_5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 via graph coloring: Example (2)</a:t>
            </a:r>
            <a:endParaRPr/>
          </a:p>
        </p:txBody>
      </p:sp>
      <p:sp>
        <p:nvSpPr>
          <p:cNvPr id="288" name="Google Shape;288;g3d374e66f23_0_58"/>
          <p:cNvSpPr txBox="1"/>
          <p:nvPr>
            <p:ph idx="1" type="body"/>
          </p:nvPr>
        </p:nvSpPr>
        <p:spPr>
          <a:xfrm>
            <a:off x="571375" y="1673451"/>
            <a:ext cx="2617500" cy="41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/>
              <a:t>Step 3: coloring</a:t>
            </a:r>
            <a:endParaRPr sz="2100"/>
          </a:p>
        </p:txBody>
      </p:sp>
      <p:pic>
        <p:nvPicPr>
          <p:cNvPr id="289" name="Google Shape;289;g3d374e66f23_0_58"/>
          <p:cNvPicPr preferRelativeResize="0"/>
          <p:nvPr/>
        </p:nvPicPr>
        <p:blipFill rotWithShape="1">
          <a:blip r:embed="rId3">
            <a:alphaModFix/>
          </a:blip>
          <a:srcRect b="0" l="0" r="0" t="2458"/>
          <a:stretch/>
        </p:blipFill>
        <p:spPr>
          <a:xfrm>
            <a:off x="121900" y="2214800"/>
            <a:ext cx="7047800" cy="441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d374e66f23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550" y="2910050"/>
            <a:ext cx="1709001" cy="15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d374e66f23_0_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4050" y="2910050"/>
            <a:ext cx="2220984" cy="159082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d374e66f23_0_58"/>
          <p:cNvSpPr txBox="1"/>
          <p:nvPr/>
        </p:nvSpPr>
        <p:spPr>
          <a:xfrm>
            <a:off x="7256550" y="4500875"/>
            <a:ext cx="484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goal: use as few colors (unique registers) as possible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k - number of machine registers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RIG is k-colorable then there is a register assignment that uses no more than k registers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374e66f23_0_58"/>
          <p:cNvSpPr txBox="1"/>
          <p:nvPr/>
        </p:nvSpPr>
        <p:spPr>
          <a:xfrm>
            <a:off x="7453239" y="2083545"/>
            <a:ext cx="356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For this example t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here is no coloring with less than 4 colors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374e66f23_0_5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g3d374e66f23_0_58"/>
          <p:cNvSpPr txBox="1"/>
          <p:nvPr/>
        </p:nvSpPr>
        <p:spPr>
          <a:xfrm>
            <a:off x="3347550" y="6457800"/>
            <a:ext cx="549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https://web.cecs.pdx.edu/~mperkows/temp/register-allocation.pdf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374e66f23_0_7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 via graph coloring: Example (3)</a:t>
            </a:r>
            <a:endParaRPr/>
          </a:p>
        </p:txBody>
      </p:sp>
      <p:sp>
        <p:nvSpPr>
          <p:cNvPr id="302" name="Google Shape;302;g3d374e66f23_0_79"/>
          <p:cNvSpPr txBox="1"/>
          <p:nvPr>
            <p:ph idx="1" type="body"/>
          </p:nvPr>
        </p:nvSpPr>
        <p:spPr>
          <a:xfrm>
            <a:off x="-38575" y="5152675"/>
            <a:ext cx="8930700" cy="162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/>
              <a:t>Problems: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This problem is very hard (NP-hard)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 coloring might not exist for a given number of registers</a:t>
            </a:r>
            <a:endParaRPr sz="2100"/>
          </a:p>
        </p:txBody>
      </p:sp>
      <p:pic>
        <p:nvPicPr>
          <p:cNvPr id="303" name="Google Shape;303;g3d374e66f23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938" y="1329175"/>
            <a:ext cx="6081639" cy="38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d374e66f23_0_79"/>
          <p:cNvPicPr preferRelativeResize="0"/>
          <p:nvPr/>
        </p:nvPicPr>
        <p:blipFill rotWithShape="1">
          <a:blip r:embed="rId4">
            <a:alphaModFix/>
          </a:blip>
          <a:srcRect b="0" l="0" r="0" t="2458"/>
          <a:stretch/>
        </p:blipFill>
        <p:spPr>
          <a:xfrm>
            <a:off x="-38587" y="1329175"/>
            <a:ext cx="6110401" cy="382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d374e66f23_0_79"/>
          <p:cNvSpPr txBox="1"/>
          <p:nvPr>
            <p:ph idx="1" type="body"/>
          </p:nvPr>
        </p:nvSpPr>
        <p:spPr>
          <a:xfrm>
            <a:off x="8680500" y="5152675"/>
            <a:ext cx="3511500" cy="162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Solutions: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use heuristics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use register spilling</a:t>
            </a:r>
            <a:endParaRPr sz="2100"/>
          </a:p>
        </p:txBody>
      </p:sp>
      <p:sp>
        <p:nvSpPr>
          <p:cNvPr id="306" name="Google Shape;306;g3d374e66f23_0_79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g3d374e66f23_0_79"/>
          <p:cNvSpPr txBox="1"/>
          <p:nvPr/>
        </p:nvSpPr>
        <p:spPr>
          <a:xfrm>
            <a:off x="3347550" y="6457800"/>
            <a:ext cx="549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https://web.cecs.pdx.edu/~mperkows/temp/register-allocation.pdf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c81fcb20f4_2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 mechanism</a:t>
            </a:r>
            <a:endParaRPr/>
          </a:p>
        </p:txBody>
      </p:sp>
      <p:pic>
        <p:nvPicPr>
          <p:cNvPr id="314" name="Google Shape;314;g2c81fcb20f4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2234"/>
            <a:ext cx="12192002" cy="267353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c81fcb20f4_2_1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g2c81fcb20f4_2_1"/>
          <p:cNvSpPr txBox="1"/>
          <p:nvPr/>
        </p:nvSpPr>
        <p:spPr>
          <a:xfrm>
            <a:off x="4089025" y="6222300"/>
            <a:ext cx="39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https://en.wikipedia.org/wiki/Register_allocation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74fa1927f_0_24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allocation mechanism s</a:t>
            </a:r>
            <a:r>
              <a:rPr lang="en-US"/>
              <a:t>tages</a:t>
            </a:r>
            <a:endParaRPr/>
          </a:p>
        </p:txBody>
      </p:sp>
      <p:sp>
        <p:nvSpPr>
          <p:cNvPr id="323" name="Google Shape;323;g3474fa1927f_0_244"/>
          <p:cNvSpPr txBox="1"/>
          <p:nvPr>
            <p:ph idx="1" type="body"/>
          </p:nvPr>
        </p:nvSpPr>
        <p:spPr>
          <a:xfrm>
            <a:off x="571375" y="1336475"/>
            <a:ext cx="11010900" cy="542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Renumber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assign/verify unique virtual register IDs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Build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build a graph: liveness analysis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Coalesce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merge nodes that represent copy-related variables (reduce need of COPY instructions)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Spill Cost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calculate a spill cost for each variable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Simplify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simplify a graph (e.g., drop low-degree nodes and push them to the stack)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Select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compiler pops nodes from the stack and tries to assign them to registers (color them)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if a node cannot be assigned a register (e.g., it conflicts with all available registers), the compiler designates it as “spilled”</a:t>
            </a:r>
            <a:endParaRPr sz="2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500"/>
              <a:t>Insert spill code</a:t>
            </a:r>
            <a:endParaRPr sz="2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compiler inserts extra load/store instructions (the spill code) to move that variable between memory and registers (if needed)</a:t>
            </a:r>
            <a:endParaRPr sz="2100"/>
          </a:p>
        </p:txBody>
      </p:sp>
      <p:sp>
        <p:nvSpPr>
          <p:cNvPr id="324" name="Google Shape;324;g3474fa1927f_0_244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374e66f23_0_14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spill &amp; fill</a:t>
            </a:r>
            <a:endParaRPr/>
          </a:p>
        </p:txBody>
      </p:sp>
      <p:pic>
        <p:nvPicPr>
          <p:cNvPr id="331" name="Google Shape;331;g3d374e66f23_0_142"/>
          <p:cNvPicPr preferRelativeResize="0"/>
          <p:nvPr/>
        </p:nvPicPr>
        <p:blipFill rotWithShape="1">
          <a:blip r:embed="rId3">
            <a:alphaModFix/>
          </a:blip>
          <a:srcRect b="0" l="0" r="0" t="15839"/>
          <a:stretch/>
        </p:blipFill>
        <p:spPr>
          <a:xfrm>
            <a:off x="248475" y="1599550"/>
            <a:ext cx="7685326" cy="431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d374e66f23_0_142"/>
          <p:cNvSpPr txBox="1"/>
          <p:nvPr/>
        </p:nvSpPr>
        <p:spPr>
          <a:xfrm>
            <a:off x="7506125" y="1470150"/>
            <a:ext cx="4503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Spill: move a value from a register to memory, usually the stack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Fill: load that spilled value back from memory into a register when it is needed again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546798" y="3550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Pros and cons</a:t>
            </a:r>
            <a:endParaRPr sz="4000">
              <a:solidFill>
                <a:srgbClr val="525252"/>
              </a:solidFill>
            </a:endParaRPr>
          </a:p>
        </p:txBody>
      </p:sp>
      <p:sp>
        <p:nvSpPr>
          <p:cNvPr id="338" name="Google Shape;338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Good known algorithm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Optimal solution</a:t>
            </a:r>
            <a:endParaRPr/>
          </a:p>
        </p:txBody>
      </p:sp>
      <p:sp>
        <p:nvSpPr>
          <p:cNvPr id="339" name="Google Shape;339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NP-hard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Evicted variables are spilled everywhere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Variable, that is not spilled, is kept in the register throughout its whole lifetime</a:t>
            </a:r>
            <a:endParaRPr/>
          </a:p>
        </p:txBody>
      </p:sp>
      <p:sp>
        <p:nvSpPr>
          <p:cNvPr id="340" name="Google Shape;34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>
            <p:ph type="title"/>
          </p:nvPr>
        </p:nvSpPr>
        <p:spPr>
          <a:xfrm>
            <a:off x="506604" y="37517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Linear scan to the rescue!</a:t>
            </a:r>
            <a:endParaRPr sz="4000">
              <a:solidFill>
                <a:srgbClr val="525252"/>
              </a:solidFill>
            </a:endParaRPr>
          </a:p>
        </p:txBody>
      </p:sp>
      <p:sp>
        <p:nvSpPr>
          <p:cNvPr id="346" name="Google Shape;346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Instead of building a graph, all the variables are linearly scanned to determine their live range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ranges are sorted and traversed chronologically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Registers are allocated in a greedy way</a:t>
            </a:r>
            <a:endParaRPr/>
          </a:p>
        </p:txBody>
      </p:sp>
      <p:sp>
        <p:nvSpPr>
          <p:cNvPr id="347" name="Google Shape;34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 txBox="1"/>
          <p:nvPr>
            <p:ph type="title"/>
          </p:nvPr>
        </p:nvSpPr>
        <p:spPr>
          <a:xfrm>
            <a:off x="46641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525252"/>
                </a:solidFill>
              </a:rPr>
              <a:t>Pros and cons</a:t>
            </a:r>
            <a:endParaRPr sz="4000">
              <a:solidFill>
                <a:srgbClr val="525252"/>
              </a:solidFill>
            </a:endParaRPr>
          </a:p>
        </p:txBody>
      </p:sp>
      <p:sp>
        <p:nvSpPr>
          <p:cNvPr id="353" name="Google Shape;353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Fast algorithm (much cheaper than graph coloring)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Simpler implementation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Low memory overhead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Works well in practice</a:t>
            </a:r>
            <a:endParaRPr b="1"/>
          </a:p>
        </p:txBody>
      </p:sp>
      <p:sp>
        <p:nvSpPr>
          <p:cNvPr id="354" name="Google Shape;354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Usually worse code quality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More spills/reloads can happen</a:t>
            </a:r>
            <a:endParaRPr/>
          </a:p>
        </p:txBody>
      </p:sp>
      <p:sp>
        <p:nvSpPr>
          <p:cNvPr id="355" name="Google Shape;3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8"/>
          <p:cNvPicPr preferRelativeResize="0"/>
          <p:nvPr/>
        </p:nvPicPr>
        <p:blipFill rotWithShape="1">
          <a:blip r:embed="rId3">
            <a:alphaModFix/>
          </a:blip>
          <a:srcRect b="0" l="0" r="0" t="36700"/>
          <a:stretch/>
        </p:blipFill>
        <p:spPr>
          <a:xfrm>
            <a:off x="2184872" y="1887522"/>
            <a:ext cx="8082483" cy="3499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8"/>
          <p:cNvSpPr txBox="1"/>
          <p:nvPr/>
        </p:nvSpPr>
        <p:spPr>
          <a:xfrm>
            <a:off x="2870794" y="5429934"/>
            <a:ext cx="7396561" cy="28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https://www.intel.com/content/www/us/en/developer/articles/technical/intel-sdm.html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556846" y="3751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CPU scheduler and pipeline</a:t>
            </a:r>
            <a:endParaRPr b="0" i="0" sz="4000" u="none" cap="none" strike="noStrike">
              <a:solidFill>
                <a:srgbClr val="5252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Instruction scheduling</a:t>
            </a:r>
            <a:endParaRPr/>
          </a:p>
        </p:txBody>
      </p:sp>
      <p:sp>
        <p:nvSpPr>
          <p:cNvPr id="369" name="Google Shape;369;p1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Instruction scheduling is a compiler optimization used to improve ILP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Goals: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Avoid pipeline stalls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Avoid illegal or semantically ambiguous operations</a:t>
            </a:r>
            <a:endParaRPr/>
          </a:p>
        </p:txBody>
      </p:sp>
      <p:sp>
        <p:nvSpPr>
          <p:cNvPr id="370" name="Google Shape;370;p19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Instruction scheduling types</a:t>
            </a:r>
            <a:endParaRPr/>
          </a:p>
        </p:txBody>
      </p:sp>
      <p:sp>
        <p:nvSpPr>
          <p:cNvPr id="376" name="Google Shape;376;p20"/>
          <p:cNvSpPr txBox="1"/>
          <p:nvPr>
            <p:ph idx="1" type="body"/>
          </p:nvPr>
        </p:nvSpPr>
        <p:spPr>
          <a:xfrm>
            <a:off x="571370" y="1673454"/>
            <a:ext cx="4794714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Static instruction scheduling: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during compile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reordering instructions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compiler has less execution context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more time for instruction rearrangement at compile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complicates compiler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5793075" y="1711553"/>
            <a:ext cx="5147641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instruction scheduling: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execution time on a HW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Selectively issuing instructions to execution units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HW (e.g. CPU) has more execution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time for instruction rearrangement at execution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complicates HW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 txBox="1"/>
          <p:nvPr>
            <p:ph idx="4294967295" type="sldNum"/>
          </p:nvPr>
        </p:nvSpPr>
        <p:spPr>
          <a:xfrm>
            <a:off x="8610600" y="636670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Pipeline execution</a:t>
            </a:r>
            <a:endParaRPr/>
          </a:p>
        </p:txBody>
      </p:sp>
      <p:pic>
        <p:nvPicPr>
          <p:cNvPr id="384" name="Google Shape;384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736" y="1780674"/>
            <a:ext cx="10204062" cy="422503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1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Data hazards</a:t>
            </a:r>
            <a:endParaRPr/>
          </a:p>
        </p:txBody>
      </p:sp>
      <p:sp>
        <p:nvSpPr>
          <p:cNvPr id="391" name="Google Shape;391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 after Write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Instruction 1 writes a value used later by instruction 2. I1 must come first.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after Read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Instruction 1 reads a location that is later overwritten by Instruction 2. Instruction 1 must come first, or it will read the new value instead of the old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after Write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Two instructions both write the same location. They must occur in their original order</a:t>
            </a:r>
            <a:br>
              <a:rPr lang="en-US"/>
            </a:br>
            <a:endParaRPr/>
          </a:p>
        </p:txBody>
      </p:sp>
      <p:sp>
        <p:nvSpPr>
          <p:cNvPr id="392" name="Google Shape;392;p22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Scheduling algorithm inputs</a:t>
            </a:r>
            <a:endParaRPr/>
          </a:p>
        </p:txBody>
      </p:sp>
      <p:sp>
        <p:nvSpPr>
          <p:cNvPr id="398" name="Google Shape;398;p2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details, including: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Micro-ops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Latencies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Resource cycles</a:t>
            </a:r>
            <a:endParaRPr/>
          </a:p>
        </p:txBody>
      </p:sp>
      <p:sp>
        <p:nvSpPr>
          <p:cNvPr id="399" name="Google Shape;399;p23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Scheduling algorithm</a:t>
            </a:r>
            <a:endParaRPr/>
          </a:p>
        </p:txBody>
      </p:sp>
      <p:sp>
        <p:nvSpPr>
          <p:cNvPr id="405" name="Google Shape;405;p2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Build dependency graph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Apply topology sort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target-specific heuristics to schedule instructions</a:t>
            </a:r>
            <a:endParaRPr/>
          </a:p>
        </p:txBody>
      </p:sp>
      <p:sp>
        <p:nvSpPr>
          <p:cNvPr id="406" name="Google Shape;406;p24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List scheduling algorithm</a:t>
            </a:r>
            <a:endParaRPr/>
          </a:p>
        </p:txBody>
      </p:sp>
      <p:sp>
        <p:nvSpPr>
          <p:cNvPr id="412" name="Google Shape;412;p2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Input: list of jobs that should be executed on a set of m machines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Take first job in the list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 machine that is available for executing job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 machine is found, schedule the job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Otherwise, select the next job</a:t>
            </a:r>
            <a:endParaRPr/>
          </a:p>
        </p:txBody>
      </p:sp>
      <p:sp>
        <p:nvSpPr>
          <p:cNvPr id="413" name="Google Shape;413;p25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c81fcb20f4_1_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emission</a:t>
            </a:r>
            <a:endParaRPr/>
          </a:p>
        </p:txBody>
      </p:sp>
      <p:sp>
        <p:nvSpPr>
          <p:cNvPr id="420" name="Google Shape;420;g2c81fcb20f4_1_2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asm emission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object file generation</a:t>
            </a:r>
            <a:endParaRPr/>
          </a:p>
        </p:txBody>
      </p:sp>
      <p:sp>
        <p:nvSpPr>
          <p:cNvPr id="421" name="Google Shape;421;g2c81fcb20f4_1_2"/>
          <p:cNvSpPr/>
          <p:nvPr/>
        </p:nvSpPr>
        <p:spPr>
          <a:xfrm>
            <a:off x="7265875" y="398175"/>
            <a:ext cx="2461500" cy="85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Calibri"/>
                <a:ea typeface="Calibri"/>
                <a:cs typeface="Calibri"/>
                <a:sym typeface="Calibri"/>
              </a:rPr>
              <a:t>IR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2c81fcb20f4_1_2"/>
          <p:cNvSpPr/>
          <p:nvPr/>
        </p:nvSpPr>
        <p:spPr>
          <a:xfrm>
            <a:off x="5873050" y="2404275"/>
            <a:ext cx="2461500" cy="85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Calibri"/>
                <a:ea typeface="Calibri"/>
                <a:cs typeface="Calibri"/>
                <a:sym typeface="Calibri"/>
              </a:rPr>
              <a:t>obj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2c81fcb20f4_1_2"/>
          <p:cNvSpPr/>
          <p:nvPr/>
        </p:nvSpPr>
        <p:spPr>
          <a:xfrm>
            <a:off x="8695050" y="2404275"/>
            <a:ext cx="2461500" cy="85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Calibri"/>
                <a:ea typeface="Calibri"/>
                <a:cs typeface="Calibri"/>
                <a:sym typeface="Calibri"/>
              </a:rPr>
              <a:t>asm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g2c81fcb20f4_1_2"/>
          <p:cNvCxnSpPr>
            <a:stCxn id="421" idx="2"/>
            <a:endCxn id="422" idx="0"/>
          </p:cNvCxnSpPr>
          <p:nvPr/>
        </p:nvCxnSpPr>
        <p:spPr>
          <a:xfrm flipH="1">
            <a:off x="7103725" y="1248975"/>
            <a:ext cx="1392900" cy="11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g2c81fcb20f4_1_2"/>
          <p:cNvCxnSpPr>
            <a:stCxn id="421" idx="2"/>
            <a:endCxn id="423" idx="0"/>
          </p:cNvCxnSpPr>
          <p:nvPr/>
        </p:nvCxnSpPr>
        <p:spPr>
          <a:xfrm>
            <a:off x="8496625" y="1248975"/>
            <a:ext cx="1429200" cy="11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6" name="Google Shape;426;g2c81fcb20f4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325" y="3466750"/>
            <a:ext cx="5245821" cy="33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2c81fcb20f4_1_2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81fcb20f4_2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 specific passes</a:t>
            </a:r>
            <a:endParaRPr/>
          </a:p>
        </p:txBody>
      </p:sp>
      <p:sp>
        <p:nvSpPr>
          <p:cNvPr id="434" name="Google Shape;434;g2c81fcb20f4_2_8"/>
          <p:cNvSpPr txBox="1"/>
          <p:nvPr>
            <p:ph idx="1" type="body"/>
          </p:nvPr>
        </p:nvSpPr>
        <p:spPr>
          <a:xfrm>
            <a:off x="571375" y="1356175"/>
            <a:ext cx="11010900" cy="55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Instruction selection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Register allocation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Peephole optimizations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Loop optimizations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Vectorizer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Machine Code optimizations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Fine-tunes machine code, including adjusting alignment, optimizing branch instructions, and applying target-specific tweaks to increase efficiency.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Link-Time optimizations (LTO)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Performs optimizations across multiple compilation units or modules at the link stage, enabling more global optimizations that are not possible when compiling files separately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Profile-Guided Optimization (PGO)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Uses runtime profiling information to guide optimization decisions, such as which branches to prioritize for speed or which loops to optimize for unrolling</a:t>
            </a:r>
            <a:endParaRPr/>
          </a:p>
        </p:txBody>
      </p:sp>
      <p:sp>
        <p:nvSpPr>
          <p:cNvPr id="435" name="Google Shape;435;g2c81fcb20f4_2_8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ce01a8fcf_1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441" name="Google Shape;441;g26ce01a8fcf_1_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LLVM backend overview</a:t>
            </a:r>
            <a:endParaRPr/>
          </a:p>
        </p:txBody>
      </p:sp>
      <p:sp>
        <p:nvSpPr>
          <p:cNvPr id="442" name="Google Shape;442;g26ce01a8fcf_1_5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c7e46875cf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48" name="Google Shape;448;g2c7e46875cf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https://forms.gle/Y5EggA67Reh7hfSR9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449" name="Google Shape;449;g2c7e46875cf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50" name="Google Shape;450;g2c7e46875c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0225" y="1284025"/>
            <a:ext cx="30480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474fa1927f_0_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56" name="Google Shape;456;g3474fa1927f_0_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https://forms.gle/LZZZYDejbnUV19zY7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457" name="Google Shape;457;g3474fa1927f_0_6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58" name="Google Shape;458;g3474fa1927f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525" y="1436650"/>
            <a:ext cx="29908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474fa1927f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850" y="2643700"/>
            <a:ext cx="7937974" cy="4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374e66f23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65" name="Google Shape;465;g3d374e66f23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https://forms.gle/pWLeGMzx5S18mtPz7</a:t>
            </a:r>
            <a:r>
              <a:rPr lang="en-US"/>
              <a:t> 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466" name="Google Shape;466;g3d374e66f23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67" name="Google Shape;467;g3d374e66f2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9850" y="1595625"/>
            <a:ext cx="32766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d374e66f2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763501"/>
            <a:ext cx="7788926" cy="37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6ce01a8fcf_1_10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474" name="Google Shape;474;g26ce01a8fcf_1_10"/>
          <p:cNvSpPr txBox="1"/>
          <p:nvPr>
            <p:ph idx="1" type="body"/>
          </p:nvPr>
        </p:nvSpPr>
        <p:spPr>
          <a:xfrm>
            <a:off x="571500" y="1673402"/>
            <a:ext cx="108378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LLVM Developers’ Meeting: J. Bogner &amp; A. Nandakumar &amp; D. Sanders “Tutorial: GlobalISel ”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https://www.youtube.com/watch?v=Zh4R40ZyJ2k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Tutorial: Creating an LLVM Backend for the Cpu0 Architecture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https://jonathan2251.github.io/lbd/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https://llvm.org/devmtg/2014-04/PDFs/Talks/Building%20an%20LLVM%20backend.pdf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Writing an LLVM backend: 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https://llvm.org/docs/WritingAnLLVMBackend.html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Welcome to the Back End: The LLVM Machine Representation: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https://llvm.org/devmtg/2017-10/slides/Braun-Welcome%20to%20the%20Back%20End.pdf</a:t>
            </a:r>
            <a:r>
              <a:rPr lang="en-US" sz="1600"/>
              <a:t> </a:t>
            </a:r>
            <a:endParaRPr sz="1600"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475" name="Google Shape;475;g26ce01a8fcf_1_10"/>
          <p:cNvSpPr txBox="1"/>
          <p:nvPr>
            <p:ph idx="4294967295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2022-04-12T07:39:01Z</dcterms:created>
  <dc:creator>Александр Баташев</dc:creator>
</cp:coreProperties>
</file>