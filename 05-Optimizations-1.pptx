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Helvetica Neue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hq48KSAnsrsOKLPorOUhQb2OZQ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regular.fntdata"/><Relationship Id="rId50" Type="http://schemas.openxmlformats.org/officeDocument/2006/relationships/slide" Target="slides/slide44.xml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HelveticaNeue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fb8797418_0_2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3fb8797418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6b567fb686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6b567fb686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e7a0850ff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e7a0850ff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6b567fb686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6b567fb686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6b567fb686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6b567fb686_0_2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3fb8797418_0_4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3fb8797418_0_4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bee4b26bf1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bee4b26bf1_0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bee4b26bf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2bee4b26bf1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bee4b26bf1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2bee4b26bf1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bee4b26bf1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bee4b26bf1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bee4b26bf1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bee4b26bf1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fb8797418_0_4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fb8797418_0_4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3fb8797418_0_4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3fb8797418_0_4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3fb8797418_0_4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3fb8797418_0_4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bee4b26bf1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bee4b26bf1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3fb8797418_0_4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3fb8797418_0_4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ce7a0850ff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ce7a0850ff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30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4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4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34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4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4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" name="Google Shape;30;p34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31" name="Google Shape;31;p34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4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4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4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5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5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35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5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5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8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38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9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39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39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9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9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40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41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3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43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3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81" name="Google Shape;8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3" name="Google Shape;83;p4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4" name="Google Shape;84;p43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43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4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5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1" name="Google Shape;91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4" name="Google Shape;94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5" name="Google Shape;95;p45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7" name="Google Shape;97;p45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6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46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01" name="Google Shape;10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6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5" name="Google Shape;105;p4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6" name="Google Shape;106;p46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7" name="Google Shape;107;p46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7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7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7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7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7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4" name="Google Shape;11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7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8" name="Google Shape;118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9" name="Google Shape;119;p47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20" name="Google Shape;120;p47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8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8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8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8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8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7" name="Google Shape;12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8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30" name="Google Shape;130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31" name="Google Shape;131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2" name="Google Shape;132;p48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9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7" name="Google Shape;137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9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9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9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9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9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4" name="Google Shape;144;p4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5" name="Google Shape;145;p4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6" name="Google Shape;146;p49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49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0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0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0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0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50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p50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5" name="Google Shape;155;p50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1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51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9" name="Google Shape;159;p51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51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1" name="Google Shape;161;p51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3" name="Google Shape;163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5" name="Google Shape;165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6" name="Google Shape;166;p51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2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52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52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71" name="Google Shape;171;p52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52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3" name="Google Shape;173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2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5" name="Google Shape;175;p52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6" name="Google Shape;176;p52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53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9" name="Google Shape;179;p53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0" name="Google Shape;180;p53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53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4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4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5" name="Google Shape;185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4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9" name="Google Shape;189;p5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0" name="Google Shape;190;p54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5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5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4" name="Google Shape;194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55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8" name="Google Shape;198;p5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9" name="Google Shape;199;p55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fb8797418_0_230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06" name="Google Shape;206;g33fb8797418_0_230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07" name="Google Shape;207;g33fb8797418_0_230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fb8797418_0_23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0" name="Google Shape;210;g33fb8797418_0_23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fb8797418_0_237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3" name="Google Shape;213;g33fb8797418_0_237"/>
          <p:cNvSpPr txBox="1"/>
          <p:nvPr>
            <p:ph idx="1" type="body"/>
          </p:nvPr>
        </p:nvSpPr>
        <p:spPr>
          <a:xfrm>
            <a:off x="571500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14" name="Google Shape;214;g33fb8797418_0_237"/>
          <p:cNvSpPr txBox="1"/>
          <p:nvPr>
            <p:ph idx="2" type="body"/>
          </p:nvPr>
        </p:nvSpPr>
        <p:spPr>
          <a:xfrm>
            <a:off x="6289113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fb8797418_0_241"/>
          <p:cNvSpPr/>
          <p:nvPr/>
        </p:nvSpPr>
        <p:spPr>
          <a:xfrm>
            <a:off x="1469360" y="0"/>
            <a:ext cx="3430800" cy="539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3fb8797418_0_241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18" name="Google Shape;218;g33fb8797418_0_241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g33fb8797418_0_241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20" name="Google Shape;220;g33fb8797418_0_241"/>
          <p:cNvSpPr/>
          <p:nvPr/>
        </p:nvSpPr>
        <p:spPr>
          <a:xfrm>
            <a:off x="861107" y="5390896"/>
            <a:ext cx="607200" cy="607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3fb8797418_0_241"/>
          <p:cNvSpPr/>
          <p:nvPr/>
        </p:nvSpPr>
        <p:spPr>
          <a:xfrm>
            <a:off x="576067" y="5108797"/>
            <a:ext cx="286800" cy="28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33fb8797418_0_241"/>
          <p:cNvSpPr/>
          <p:nvPr/>
        </p:nvSpPr>
        <p:spPr>
          <a:xfrm>
            <a:off x="861107" y="4952474"/>
            <a:ext cx="157500" cy="1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3" name="Google Shape;223;g33fb8797418_0_241"/>
          <p:cNvGrpSpPr/>
          <p:nvPr/>
        </p:nvGrpSpPr>
        <p:grpSpPr>
          <a:xfrm>
            <a:off x="1468453" y="5995943"/>
            <a:ext cx="1059794" cy="396816"/>
            <a:chOff x="1314450" y="6391094"/>
            <a:chExt cx="1123377" cy="420623"/>
          </a:xfrm>
        </p:grpSpPr>
        <p:sp>
          <p:nvSpPr>
            <p:cNvPr id="224" name="Google Shape;224;g33fb8797418_0_241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g33fb8797418_0_241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3fb8797418_0_241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3fb8797418_0_241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fb8797418_0_254"/>
          <p:cNvSpPr/>
          <p:nvPr/>
        </p:nvSpPr>
        <p:spPr>
          <a:xfrm>
            <a:off x="1466513" y="-28456"/>
            <a:ext cx="3430800" cy="5421600"/>
          </a:xfrm>
          <a:prstGeom prst="rect">
            <a:avLst/>
          </a:prstGeom>
          <a:solidFill>
            <a:srgbClr val="E7E7E7">
              <a:alpha val="3882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3fb8797418_0_254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31" name="Google Shape;231;g33fb8797418_0_254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2" name="Google Shape;232;g33fb8797418_0_254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g33fb8797418_0_254"/>
          <p:cNvSpPr/>
          <p:nvPr/>
        </p:nvSpPr>
        <p:spPr>
          <a:xfrm>
            <a:off x="861107" y="5390896"/>
            <a:ext cx="607200" cy="607200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3fb8797418_0_254"/>
          <p:cNvSpPr/>
          <p:nvPr/>
        </p:nvSpPr>
        <p:spPr>
          <a:xfrm>
            <a:off x="576067" y="5108797"/>
            <a:ext cx="286800" cy="282000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3fb8797418_0_254"/>
          <p:cNvSpPr/>
          <p:nvPr/>
        </p:nvSpPr>
        <p:spPr>
          <a:xfrm>
            <a:off x="861107" y="4952474"/>
            <a:ext cx="157500" cy="157500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g33fb8797418_0_2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3fb8797418_0_26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fb8797418_0_26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g33fb8797418_0_265"/>
          <p:cNvSpPr txBox="1"/>
          <p:nvPr>
            <p:ph idx="1" type="body"/>
          </p:nvPr>
        </p:nvSpPr>
        <p:spPr>
          <a:xfrm>
            <a:off x="571370" y="2139953"/>
            <a:ext cx="11010900" cy="41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2" name="Google Shape;242;g33fb8797418_0_265"/>
          <p:cNvSpPr txBox="1"/>
          <p:nvPr>
            <p:ph idx="2" type="body"/>
          </p:nvPr>
        </p:nvSpPr>
        <p:spPr>
          <a:xfrm>
            <a:off x="571370" y="1612901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fb8797418_0_269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5" name="Google Shape;245;g33fb8797418_0_269"/>
          <p:cNvSpPr txBox="1"/>
          <p:nvPr>
            <p:ph idx="1" type="body"/>
          </p:nvPr>
        </p:nvSpPr>
        <p:spPr>
          <a:xfrm>
            <a:off x="571500" y="2139951"/>
            <a:ext cx="52884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6" name="Google Shape;246;g33fb8797418_0_269"/>
          <p:cNvSpPr txBox="1"/>
          <p:nvPr>
            <p:ph idx="2" type="body"/>
          </p:nvPr>
        </p:nvSpPr>
        <p:spPr>
          <a:xfrm>
            <a:off x="6289113" y="2139951"/>
            <a:ext cx="52884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g33fb8797418_0_269"/>
          <p:cNvSpPr txBox="1"/>
          <p:nvPr>
            <p:ph idx="3" type="body"/>
          </p:nvPr>
        </p:nvSpPr>
        <p:spPr>
          <a:xfrm>
            <a:off x="571500" y="1612901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fb8797418_0_274"/>
          <p:cNvSpPr txBox="1"/>
          <p:nvPr>
            <p:ph type="title"/>
          </p:nvPr>
        </p:nvSpPr>
        <p:spPr>
          <a:xfrm>
            <a:off x="571500" y="567227"/>
            <a:ext cx="57558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50" name="Google Shape;250;g33fb8797418_0_274"/>
          <p:cNvSpPr txBox="1"/>
          <p:nvPr>
            <p:ph idx="1" type="body"/>
          </p:nvPr>
        </p:nvSpPr>
        <p:spPr>
          <a:xfrm>
            <a:off x="6609331" y="2978828"/>
            <a:ext cx="4668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g33fb8797418_0_274"/>
          <p:cNvSpPr txBox="1"/>
          <p:nvPr>
            <p:ph idx="2" type="body"/>
          </p:nvPr>
        </p:nvSpPr>
        <p:spPr>
          <a:xfrm>
            <a:off x="6609331" y="5929172"/>
            <a:ext cx="4668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2" name="Google Shape;252;g33fb8797418_0_274"/>
          <p:cNvSpPr/>
          <p:nvPr>
            <p:ph idx="3" type="pic"/>
          </p:nvPr>
        </p:nvSpPr>
        <p:spPr>
          <a:xfrm>
            <a:off x="6609331" y="571500"/>
            <a:ext cx="4668900" cy="238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g33fb8797418_0_274"/>
          <p:cNvSpPr/>
          <p:nvPr>
            <p:ph idx="4" type="pic"/>
          </p:nvPr>
        </p:nvSpPr>
        <p:spPr>
          <a:xfrm>
            <a:off x="6609331" y="3537061"/>
            <a:ext cx="4668900" cy="23814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g33fb8797418_0_274"/>
          <p:cNvSpPr txBox="1"/>
          <p:nvPr>
            <p:ph idx="5" type="body"/>
          </p:nvPr>
        </p:nvSpPr>
        <p:spPr>
          <a:xfrm>
            <a:off x="571500" y="2139952"/>
            <a:ext cx="57690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g33fb8797418_0_274"/>
          <p:cNvSpPr txBox="1"/>
          <p:nvPr>
            <p:ph idx="6" type="body"/>
          </p:nvPr>
        </p:nvSpPr>
        <p:spPr>
          <a:xfrm>
            <a:off x="571500" y="1612901"/>
            <a:ext cx="576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fb8797418_0_282"/>
          <p:cNvSpPr/>
          <p:nvPr>
            <p:ph idx="2" type="pic"/>
          </p:nvPr>
        </p:nvSpPr>
        <p:spPr>
          <a:xfrm>
            <a:off x="6615046" y="0"/>
            <a:ext cx="5129400" cy="641610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g33fb8797418_0_282"/>
          <p:cNvSpPr txBox="1"/>
          <p:nvPr>
            <p:ph type="title"/>
          </p:nvPr>
        </p:nvSpPr>
        <p:spPr>
          <a:xfrm>
            <a:off x="571500" y="567227"/>
            <a:ext cx="57471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g33fb8797418_0_282"/>
          <p:cNvSpPr txBox="1"/>
          <p:nvPr>
            <p:ph idx="1" type="body"/>
          </p:nvPr>
        </p:nvSpPr>
        <p:spPr>
          <a:xfrm>
            <a:off x="571500" y="2139952"/>
            <a:ext cx="5769000" cy="41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60" name="Google Shape;260;g33fb8797418_0_282"/>
          <p:cNvSpPr txBox="1"/>
          <p:nvPr>
            <p:ph idx="3" type="body"/>
          </p:nvPr>
        </p:nvSpPr>
        <p:spPr>
          <a:xfrm>
            <a:off x="571500" y="1612901"/>
            <a:ext cx="5769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fb8797418_0_287"/>
          <p:cNvSpPr/>
          <p:nvPr>
            <p:ph idx="2" type="pic"/>
          </p:nvPr>
        </p:nvSpPr>
        <p:spPr>
          <a:xfrm>
            <a:off x="-11286" y="0"/>
            <a:ext cx="11744400" cy="6401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g33fb8797418_0_287"/>
          <p:cNvSpPr txBox="1"/>
          <p:nvPr>
            <p:ph type="title"/>
          </p:nvPr>
        </p:nvSpPr>
        <p:spPr>
          <a:xfrm>
            <a:off x="571500" y="571500"/>
            <a:ext cx="110109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fb8797418_0_290"/>
          <p:cNvSpPr txBox="1"/>
          <p:nvPr>
            <p:ph type="title"/>
          </p:nvPr>
        </p:nvSpPr>
        <p:spPr>
          <a:xfrm>
            <a:off x="571501" y="571501"/>
            <a:ext cx="110220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66" name="Google Shape;266;g33fb8797418_0_290"/>
          <p:cNvSpPr txBox="1"/>
          <p:nvPr>
            <p:ph idx="1" type="body"/>
          </p:nvPr>
        </p:nvSpPr>
        <p:spPr>
          <a:xfrm>
            <a:off x="571500" y="1592529"/>
            <a:ext cx="110109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67" name="Google Shape;267;g33fb8797418_0_290"/>
          <p:cNvSpPr txBox="1"/>
          <p:nvPr>
            <p:ph idx="2" type="body"/>
          </p:nvPr>
        </p:nvSpPr>
        <p:spPr>
          <a:xfrm>
            <a:off x="571500" y="5461818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fb8797418_0_294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g33fb8797418_0_294"/>
          <p:cNvSpPr/>
          <p:nvPr/>
        </p:nvSpPr>
        <p:spPr>
          <a:xfrm>
            <a:off x="11741697" y="6407185"/>
            <a:ext cx="450000" cy="450000"/>
          </a:xfrm>
          <a:prstGeom prst="rect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3fb8797418_0_294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3fb8797418_0_294"/>
          <p:cNvSpPr txBox="1"/>
          <p:nvPr>
            <p:ph type="title"/>
          </p:nvPr>
        </p:nvSpPr>
        <p:spPr>
          <a:xfrm>
            <a:off x="571501" y="571501"/>
            <a:ext cx="11022000" cy="8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73" name="Google Shape;273;g33fb8797418_0_294"/>
          <p:cNvSpPr txBox="1"/>
          <p:nvPr>
            <p:ph idx="1" type="body"/>
          </p:nvPr>
        </p:nvSpPr>
        <p:spPr>
          <a:xfrm>
            <a:off x="571500" y="1599816"/>
            <a:ext cx="11010900" cy="3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274" name="Google Shape;274;g33fb8797418_0_2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3fb8797418_0_294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76" name="Google Shape;276;g33fb8797418_0_294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77" name="Google Shape;277;g33fb8797418_0_294"/>
          <p:cNvSpPr txBox="1"/>
          <p:nvPr>
            <p:ph idx="2" type="body"/>
          </p:nvPr>
        </p:nvSpPr>
        <p:spPr>
          <a:xfrm>
            <a:off x="571500" y="5476099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78" name="Google Shape;278;g33fb8797418_0_294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fb8797418_0_305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81" name="Google Shape;281;g33fb8797418_0_305"/>
          <p:cNvSpPr txBox="1"/>
          <p:nvPr>
            <p:ph idx="1" type="body"/>
          </p:nvPr>
        </p:nvSpPr>
        <p:spPr>
          <a:xfrm>
            <a:off x="571500" y="3939750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fb8797418_0_308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284" name="Google Shape;284;g33fb8797418_0_3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33fb8797418_0_308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33fb8797418_0_308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87" name="Google Shape;287;g33fb8797418_0_308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88" name="Google Shape;288;g33fb8797418_0_308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89" name="Google Shape;289;g33fb8797418_0_308"/>
          <p:cNvSpPr txBox="1"/>
          <p:nvPr>
            <p:ph idx="1" type="body"/>
          </p:nvPr>
        </p:nvSpPr>
        <p:spPr>
          <a:xfrm>
            <a:off x="571500" y="3948942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90" name="Google Shape;290;g33fb8797418_0_308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3fb8797418_0_317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3" name="Google Shape;293;g33fb8797418_0_317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294" name="Google Shape;294;g33fb8797418_0_3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3fb8797418_0_317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3fb8797418_0_317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3fb8797418_0_317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298" name="Google Shape;298;g33fb8797418_0_317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299" name="Google Shape;299;g33fb8797418_0_317"/>
          <p:cNvSpPr txBox="1"/>
          <p:nvPr>
            <p:ph type="title"/>
          </p:nvPr>
        </p:nvSpPr>
        <p:spPr>
          <a:xfrm>
            <a:off x="571370" y="2140785"/>
            <a:ext cx="11010900" cy="16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00" name="Google Shape;300;g33fb8797418_0_317"/>
          <p:cNvSpPr txBox="1"/>
          <p:nvPr>
            <p:ph idx="1" type="body"/>
          </p:nvPr>
        </p:nvSpPr>
        <p:spPr>
          <a:xfrm>
            <a:off x="571500" y="3964420"/>
            <a:ext cx="110220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fb8797418_0_327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3fb8797418_0_327"/>
          <p:cNvSpPr/>
          <p:nvPr/>
        </p:nvSpPr>
        <p:spPr>
          <a:xfrm>
            <a:off x="709974" y="2295859"/>
            <a:ext cx="318600" cy="318600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3fb8797418_0_327"/>
          <p:cNvSpPr/>
          <p:nvPr/>
        </p:nvSpPr>
        <p:spPr>
          <a:xfrm>
            <a:off x="536812" y="2122317"/>
            <a:ext cx="174300" cy="1743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3fb8797418_0_327"/>
          <p:cNvSpPr/>
          <p:nvPr/>
        </p:nvSpPr>
        <p:spPr>
          <a:xfrm>
            <a:off x="709974" y="2023075"/>
            <a:ext cx="98700" cy="9870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33fb8797418_0_327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07" name="Google Shape;307;g33fb8797418_0_3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3fb8797418_0_327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3fb8797418_0_327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10" name="Google Shape;310;g33fb8797418_0_327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11" name="Google Shape;311;g33fb8797418_0_327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12" name="Google Shape;312;g33fb8797418_0_327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13" name="Google Shape;313;g33fb8797418_0_327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3fb8797418_0_340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3fb8797418_0_340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3fb8797418_0_340"/>
          <p:cNvSpPr/>
          <p:nvPr/>
        </p:nvSpPr>
        <p:spPr>
          <a:xfrm>
            <a:off x="707513" y="2295859"/>
            <a:ext cx="318600" cy="31860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3fb8797418_0_340"/>
          <p:cNvSpPr/>
          <p:nvPr/>
        </p:nvSpPr>
        <p:spPr>
          <a:xfrm>
            <a:off x="533946" y="2122317"/>
            <a:ext cx="174300" cy="174300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3fb8797418_0_340"/>
          <p:cNvSpPr/>
          <p:nvPr/>
        </p:nvSpPr>
        <p:spPr>
          <a:xfrm>
            <a:off x="707513" y="2023075"/>
            <a:ext cx="98700" cy="98700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20" name="Google Shape;320;g33fb8797418_0_3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3fb8797418_0_340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3fb8797418_0_340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23" name="Google Shape;323;g33fb8797418_0_340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24" name="Google Shape;324;g33fb8797418_0_340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25" name="Google Shape;325;g33fb8797418_0_340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26" name="Google Shape;326;g33fb8797418_0_340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3fb8797418_0_353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33fb8797418_0_353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30" name="Google Shape;330;g33fb8797418_0_3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3fb8797418_0_353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3fb8797418_0_353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3fb8797418_0_353"/>
          <p:cNvSpPr/>
          <p:nvPr/>
        </p:nvSpPr>
        <p:spPr>
          <a:xfrm>
            <a:off x="707513" y="2295859"/>
            <a:ext cx="318600" cy="318600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3fb8797418_0_353"/>
          <p:cNvSpPr/>
          <p:nvPr/>
        </p:nvSpPr>
        <p:spPr>
          <a:xfrm>
            <a:off x="533946" y="2122317"/>
            <a:ext cx="174300" cy="174300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3fb8797418_0_353"/>
          <p:cNvSpPr/>
          <p:nvPr/>
        </p:nvSpPr>
        <p:spPr>
          <a:xfrm>
            <a:off x="707513" y="2023075"/>
            <a:ext cx="98700" cy="98700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3fb8797418_0_353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37" name="Google Shape;337;g33fb8797418_0_353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38" name="Google Shape;338;g33fb8797418_0_353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39" name="Google Shape;339;g33fb8797418_0_353"/>
          <p:cNvSpPr txBox="1"/>
          <p:nvPr>
            <p:ph type="title"/>
          </p:nvPr>
        </p:nvSpPr>
        <p:spPr>
          <a:xfrm>
            <a:off x="1014757" y="2545222"/>
            <a:ext cx="47856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40" name="Google Shape;340;g33fb8797418_0_353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3fb8797418_0_367"/>
          <p:cNvSpPr/>
          <p:nvPr/>
        </p:nvSpPr>
        <p:spPr>
          <a:xfrm>
            <a:off x="11741697" y="6405280"/>
            <a:ext cx="450000" cy="45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3fb8797418_0_367"/>
          <p:cNvSpPr/>
          <p:nvPr/>
        </p:nvSpPr>
        <p:spPr>
          <a:xfrm>
            <a:off x="5814183" y="402558"/>
            <a:ext cx="5927400" cy="600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3fb8797418_0_367"/>
          <p:cNvSpPr/>
          <p:nvPr/>
        </p:nvSpPr>
        <p:spPr>
          <a:xfrm>
            <a:off x="5815052" y="401865"/>
            <a:ext cx="5927400" cy="600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3fb8797418_0_367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46" name="Google Shape;346;g33fb8797418_0_367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47" name="Google Shape;347;g33fb8797418_0_367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48" name="Google Shape;348;g33fb8797418_0_367"/>
          <p:cNvSpPr txBox="1"/>
          <p:nvPr/>
        </p:nvSpPr>
        <p:spPr>
          <a:xfrm>
            <a:off x="11908632" y="6579173"/>
            <a:ext cx="12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3fb8797418_0_375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51" name="Google Shape;351;g33fb8797418_0_375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52" name="Google Shape;352;g33fb8797418_0_375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53" name="Google Shape;353;g33fb8797418_0_375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4" name="Google Shape;354;g33fb8797418_0_375"/>
          <p:cNvSpPr/>
          <p:nvPr/>
        </p:nvSpPr>
        <p:spPr>
          <a:xfrm>
            <a:off x="11741697" y="6407185"/>
            <a:ext cx="450000" cy="450000"/>
          </a:xfrm>
          <a:prstGeom prst="rect">
            <a:avLst/>
          </a:prstGeom>
          <a:solidFill>
            <a:schemeClr val="accent1">
              <a:alpha val="49800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33fb8797418_0_375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56" name="Google Shape;356;g33fb8797418_0_3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33fb8797418_0_375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58" name="Google Shape;358;g33fb8797418_0_375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59" name="Google Shape;359;g33fb8797418_0_375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fb8797418_0_386"/>
          <p:cNvSpPr txBox="1"/>
          <p:nvPr>
            <p:ph idx="1" type="body"/>
          </p:nvPr>
        </p:nvSpPr>
        <p:spPr>
          <a:xfrm>
            <a:off x="6394450" y="1974850"/>
            <a:ext cx="48531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62" name="Google Shape;362;g33fb8797418_0_386"/>
          <p:cNvSpPr txBox="1"/>
          <p:nvPr>
            <p:ph type="title"/>
          </p:nvPr>
        </p:nvSpPr>
        <p:spPr>
          <a:xfrm>
            <a:off x="554183" y="2545222"/>
            <a:ext cx="4765800" cy="24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63" name="Google Shape;363;g33fb8797418_0_386"/>
          <p:cNvSpPr txBox="1"/>
          <p:nvPr>
            <p:ph idx="2" type="body"/>
          </p:nvPr>
        </p:nvSpPr>
        <p:spPr>
          <a:xfrm>
            <a:off x="6394450" y="740229"/>
            <a:ext cx="4865100" cy="10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64" name="Google Shape;364;g33fb8797418_0_386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5" name="Google Shape;365;g33fb8797418_0_386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66" name="Google Shape;366;g33fb8797418_0_3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3fb8797418_0_386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68" name="Google Shape;368;g33fb8797418_0_386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69" name="Google Shape;369;g33fb8797418_0_386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g33fb8797418_0_3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1593" y="1799047"/>
            <a:ext cx="3472200" cy="402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3fb8797418_0_396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73" name="Google Shape;373;g33fb8797418_0_396"/>
          <p:cNvSpPr/>
          <p:nvPr/>
        </p:nvSpPr>
        <p:spPr>
          <a:xfrm>
            <a:off x="0" y="0"/>
            <a:ext cx="11736900" cy="4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4" name="Google Shape;374;g33fb8797418_0_396"/>
          <p:cNvSpPr/>
          <p:nvPr/>
        </p:nvSpPr>
        <p:spPr>
          <a:xfrm rot="5400000">
            <a:off x="-2978451" y="2978403"/>
            <a:ext cx="6407400" cy="450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fb8797418_0_401"/>
          <p:cNvSpPr/>
          <p:nvPr/>
        </p:nvSpPr>
        <p:spPr>
          <a:xfrm>
            <a:off x="471054" y="464127"/>
            <a:ext cx="11272500" cy="594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3fb8797418_0_401"/>
          <p:cNvSpPr/>
          <p:nvPr/>
        </p:nvSpPr>
        <p:spPr>
          <a:xfrm>
            <a:off x="11743603" y="6405281"/>
            <a:ext cx="448500" cy="45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78" name="Google Shape;378;g33fb8797418_0_4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g33fb8797418_0_401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3fb8797418_0_401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3fb8797418_0_401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82" name="Google Shape;382;g33fb8797418_0_401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83" name="Google Shape;383;g33fb8797418_0_401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3fb8797418_0_410"/>
          <p:cNvSpPr/>
          <p:nvPr/>
        </p:nvSpPr>
        <p:spPr>
          <a:xfrm>
            <a:off x="471054" y="464127"/>
            <a:ext cx="11272500" cy="59448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3fb8797418_0_410"/>
          <p:cNvSpPr/>
          <p:nvPr/>
        </p:nvSpPr>
        <p:spPr>
          <a:xfrm>
            <a:off x="11743603" y="6405281"/>
            <a:ext cx="448500" cy="45270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387" name="Google Shape;387;g33fb8797418_0_4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33fb8797418_0_410"/>
          <p:cNvSpPr txBox="1"/>
          <p:nvPr/>
        </p:nvSpPr>
        <p:spPr>
          <a:xfrm>
            <a:off x="11942955" y="6538004"/>
            <a:ext cx="513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g33fb8797418_0_410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33fb8797418_0_410"/>
          <p:cNvSpPr/>
          <p:nvPr/>
        </p:nvSpPr>
        <p:spPr>
          <a:xfrm>
            <a:off x="5503530" y="6562504"/>
            <a:ext cx="1185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391" name="Google Shape;391;g33fb8797418_0_410"/>
          <p:cNvSpPr/>
          <p:nvPr/>
        </p:nvSpPr>
        <p:spPr>
          <a:xfrm>
            <a:off x="483010" y="6562504"/>
            <a:ext cx="17667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392" name="Google Shape;392;g33fb8797418_0_410"/>
          <p:cNvSpPr txBox="1"/>
          <p:nvPr>
            <p:ph type="title"/>
          </p:nvPr>
        </p:nvSpPr>
        <p:spPr>
          <a:xfrm>
            <a:off x="1444480" y="1917036"/>
            <a:ext cx="9303000" cy="30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3fb8797418_0_4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9949" y="2409775"/>
            <a:ext cx="4080108" cy="152139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3fb8797418_0_419"/>
          <p:cNvSpPr txBox="1"/>
          <p:nvPr/>
        </p:nvSpPr>
        <p:spPr>
          <a:xfrm>
            <a:off x="11881866" y="6268286"/>
            <a:ext cx="20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3fb8797418_0_419"/>
          <p:cNvSpPr/>
          <p:nvPr/>
        </p:nvSpPr>
        <p:spPr>
          <a:xfrm>
            <a:off x="0" y="6407451"/>
            <a:ext cx="117369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97" name="Google Shape;397;g33fb8797418_0_419"/>
          <p:cNvSpPr/>
          <p:nvPr/>
        </p:nvSpPr>
        <p:spPr>
          <a:xfrm rot="5400000">
            <a:off x="8758537" y="2978403"/>
            <a:ext cx="6407400" cy="450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1.xml"/><Relationship Id="rId27" Type="http://schemas.openxmlformats.org/officeDocument/2006/relationships/theme" Target="../theme/theme3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29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fb8797418_0_226"/>
          <p:cNvSpPr txBox="1"/>
          <p:nvPr>
            <p:ph idx="1" type="body"/>
          </p:nvPr>
        </p:nvSpPr>
        <p:spPr>
          <a:xfrm>
            <a:off x="592915" y="15240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2" name="Google Shape;202;g33fb8797418_0_226"/>
          <p:cNvSpPr txBox="1"/>
          <p:nvPr>
            <p:ph type="title"/>
          </p:nvPr>
        </p:nvSpPr>
        <p:spPr>
          <a:xfrm>
            <a:off x="592916" y="571500"/>
            <a:ext cx="10972800" cy="8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3" name="Google Shape;203;g33fb8797418_0_226"/>
          <p:cNvSpPr txBox="1"/>
          <p:nvPr/>
        </p:nvSpPr>
        <p:spPr>
          <a:xfrm>
            <a:off x="11908632" y="6579173"/>
            <a:ext cx="128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hyperlink" Target="https://godbolt.org/z/x6bf1fxxv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hyperlink" Target="https://ucsd-pl.github.io/cse231/wi18/part3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hyperlink" Target="https://blog.rawpointer.com/llvm/tech/2019/02/14/ssa-form-and-phi-nodes.html" TargetMode="External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hyperlink" Target="https://egorbo.com/opt-for-llvm-guide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lvm.org/docs/NewPassManager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hyperlink" Target="https://www.alibabacloud.com/blog/598408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llvm.org/docs/Passes.html#always-inline-inliner-for-always-inline-functions" TargetMode="External"/><Relationship Id="rId4" Type="http://schemas.openxmlformats.org/officeDocument/2006/relationships/hyperlink" Target="https://llvm.org/docs/Passes.html#inline-function-integration-inlin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llvm.org/docs/Passes.html#dce-dead-code-elimination" TargetMode="External"/><Relationship Id="rId4" Type="http://schemas.openxmlformats.org/officeDocument/2006/relationships/hyperlink" Target="https://llvm.org/docs/Passes.html#globaldce-dead-global-elimination" TargetMode="External"/><Relationship Id="rId5" Type="http://schemas.openxmlformats.org/officeDocument/2006/relationships/hyperlink" Target="https://llvm.org/docs/Passes.html#adce-aggressive-dead-code-elimination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hyperlink" Target="https://en.wikipedia.org/wiki/Live_variable_analysi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lvm.org/docs/Passes.html#dse-dead-store-elimination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lvm.org/docs/Passes.html#mem2reg-promote-memory-to-register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llvm.org/docs/Passes.html#reg2mem-demote-all-values-to-stack-slots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lvm.org/docs/Passes.html#instcombine-combine-redundant-instructions" TargetMode="External"/><Relationship Id="rId4" Type="http://schemas.openxmlformats.org/officeDocument/2006/relationships/hyperlink" Target="https://llvm.org/docs/Passes.html#aggressive-instcombine-combine-expression-patterns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llvm.org/docs/Passes.html#gvn-global-value-numberin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hyperlink" Target="https://godbolt.org/z/odsKjnxra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llvm.org/docs/Passes.html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hyperlink" Target="https://godbolt.org/z/ceW9oax1v" TargetMode="External"/><Relationship Id="rId5" Type="http://schemas.openxmlformats.org/officeDocument/2006/relationships/hyperlink" Target="https://godbolt.org/z/eE9ojh5n1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forms.gle/EyGD924P98iMSJP26" TargetMode="External"/><Relationship Id="rId4" Type="http://schemas.openxmlformats.org/officeDocument/2006/relationships/image" Target="../media/image17.png"/><Relationship Id="rId5" Type="http://schemas.openxmlformats.org/officeDocument/2006/relationships/hyperlink" Target="mailto:me@gooddoog.ru" TargetMode="External"/><Relationship Id="rId6" Type="http://schemas.openxmlformats.org/officeDocument/2006/relationships/image" Target="../media/image2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VaqaruCTsACXQ6zf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2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forms.gle/bUGqdtKfdK6mJ1PW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llvm.org/docs/LangRef.html" TargetMode="External"/><Relationship Id="rId4" Type="http://schemas.openxmlformats.org/officeDocument/2006/relationships/hyperlink" Target="https://mapping-high-level-constructs-to-llvm-ir.readthedocs.io/en/latest/control-structures/ssa-phi.html" TargetMode="External"/><Relationship Id="rId5" Type="http://schemas.openxmlformats.org/officeDocument/2006/relationships/hyperlink" Target="https://www.youtube.com/watch?v=ar7cJl2aBuU" TargetMode="External"/><Relationship Id="rId6" Type="http://schemas.openxmlformats.org/officeDocument/2006/relationships/hyperlink" Target="https://llvm.org/docs/Passes.html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403" name="Google Shape;403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Optimizations – Part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409" name="Google Shape;409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0" name="Google Shape;410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1" name="Google Shape;411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2" name="Google Shape;412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3" name="Google Shape;413;p2"/>
          <p:cNvSpPr/>
          <p:nvPr/>
        </p:nvSpPr>
        <p:spPr>
          <a:xfrm>
            <a:off x="855402" y="3774634"/>
            <a:ext cx="2861100" cy="471900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4" name="Google Shape;414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415" name="Google Shape;415;p2"/>
          <p:cNvSpPr/>
          <p:nvPr/>
        </p:nvSpPr>
        <p:spPr>
          <a:xfrm>
            <a:off x="855401" y="4336066"/>
            <a:ext cx="2861100" cy="471900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B39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6" name="Google Shape;416;p2"/>
          <p:cNvSpPr/>
          <p:nvPr/>
        </p:nvSpPr>
        <p:spPr>
          <a:xfrm>
            <a:off x="855438" y="5458947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7" name="Google Shape;417;p2"/>
          <p:cNvSpPr/>
          <p:nvPr/>
        </p:nvSpPr>
        <p:spPr>
          <a:xfrm>
            <a:off x="855424" y="4897528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18" name="Google Shape;418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B394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25400">
            <a:solidFill>
              <a:srgbClr val="657E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425" name="Google Shape;425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Local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3fb8797418_0_21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Memory SSA</a:t>
            </a:r>
            <a:endParaRPr/>
          </a:p>
        </p:txBody>
      </p:sp>
      <p:pic>
        <p:nvPicPr>
          <p:cNvPr id="431" name="Google Shape;431;g33fb8797418_0_2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650" y="1566602"/>
            <a:ext cx="3705600" cy="37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3fb8797418_0_2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671" y="18175"/>
            <a:ext cx="5744377" cy="626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g33fb8797418_0_212"/>
          <p:cNvCxnSpPr/>
          <p:nvPr/>
        </p:nvCxnSpPr>
        <p:spPr>
          <a:xfrm flipH="1" rot="10800000">
            <a:off x="3674378" y="461521"/>
            <a:ext cx="1946100" cy="2189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4" name="Google Shape;434;g33fb8797418_0_212"/>
          <p:cNvCxnSpPr/>
          <p:nvPr/>
        </p:nvCxnSpPr>
        <p:spPr>
          <a:xfrm flipH="1" rot="10800000">
            <a:off x="4490548" y="2876248"/>
            <a:ext cx="1130100" cy="4977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5" name="Google Shape;435;g33fb8797418_0_212"/>
          <p:cNvCxnSpPr/>
          <p:nvPr/>
        </p:nvCxnSpPr>
        <p:spPr>
          <a:xfrm>
            <a:off x="4870392" y="4041604"/>
            <a:ext cx="825600" cy="4548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36" name="Google Shape;436;g33fb8797418_0_212"/>
          <p:cNvCxnSpPr/>
          <p:nvPr/>
        </p:nvCxnSpPr>
        <p:spPr>
          <a:xfrm>
            <a:off x="3818862" y="4734892"/>
            <a:ext cx="1801800" cy="8904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37" name="Google Shape;437;g33fb8797418_0_212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38" name="Google Shape;438;g33fb8797418_0_212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39" name="Google Shape;439;g33fb8797418_0_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0" name="Google Shape;440;g33fb8797418_0_212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6b567fb686_0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What are PHI nodes?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26b567fb686_0_5"/>
          <p:cNvSpPr txBox="1"/>
          <p:nvPr>
            <p:ph idx="1" type="body"/>
          </p:nvPr>
        </p:nvSpPr>
        <p:spPr>
          <a:xfrm>
            <a:off x="526675" y="1524000"/>
            <a:ext cx="5498100" cy="22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</a:t>
            </a:r>
            <a:r>
              <a:rPr lang="en-US"/>
              <a:t>n LLVM IR, a phi node is a special instruction used to </a:t>
            </a:r>
            <a:r>
              <a:rPr b="1" lang="en-US"/>
              <a:t>select</a:t>
            </a:r>
            <a:r>
              <a:rPr lang="en-US"/>
              <a:t> a value </a:t>
            </a:r>
            <a:r>
              <a:rPr b="1" lang="en-US"/>
              <a:t>based on</a:t>
            </a:r>
            <a:r>
              <a:rPr lang="en-US"/>
              <a:t> which </a:t>
            </a:r>
            <a:r>
              <a:rPr b="1" lang="en-US"/>
              <a:t>predecessor</a:t>
            </a:r>
            <a:r>
              <a:rPr lang="en-US"/>
              <a:t> basic block the control flow is coming from</a:t>
            </a:r>
            <a:endParaRPr/>
          </a:p>
        </p:txBody>
      </p:sp>
      <p:pic>
        <p:nvPicPr>
          <p:cNvPr id="447" name="Google Shape;447;g26b567fb68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299" y="610775"/>
            <a:ext cx="5326974" cy="563645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g26b567fb686_0_5"/>
          <p:cNvSpPr txBox="1"/>
          <p:nvPr/>
        </p:nvSpPr>
        <p:spPr>
          <a:xfrm>
            <a:off x="7017288" y="6200700"/>
            <a:ext cx="390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https://ucsd-pl.github.io/cse231/wi18/part3.html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e7a0850ff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PHI illustration</a:t>
            </a:r>
            <a:endParaRPr/>
          </a:p>
        </p:txBody>
      </p:sp>
      <p:pic>
        <p:nvPicPr>
          <p:cNvPr id="454" name="Google Shape;454;g3ce7a0850f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326" y="2033075"/>
            <a:ext cx="8972124" cy="442472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g3ce7a0850ff_0_1"/>
          <p:cNvSpPr txBox="1"/>
          <p:nvPr/>
        </p:nvSpPr>
        <p:spPr>
          <a:xfrm>
            <a:off x="2892025" y="6457800"/>
            <a:ext cx="63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https://blog.rawpointer.com/llvm/tech/2019/02/14/ssa-form-and-phi-nodes.html</a:t>
            </a:r>
            <a:r>
              <a:rPr lang="en-US"/>
              <a:t> </a:t>
            </a:r>
            <a:endParaRPr/>
          </a:p>
        </p:txBody>
      </p:sp>
      <p:pic>
        <p:nvPicPr>
          <p:cNvPr id="456" name="Google Shape;456;g3ce7a0850ff_0_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18925" y="-1"/>
            <a:ext cx="5373076" cy="211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6b567fb686_0_1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</a:t>
            </a:r>
            <a:r>
              <a:rPr lang="en-US"/>
              <a:t> PHI nodes?</a:t>
            </a:r>
            <a:endParaRPr/>
          </a:p>
        </p:txBody>
      </p:sp>
      <p:sp>
        <p:nvSpPr>
          <p:cNvPr id="462" name="Google Shape;462;g26b567fb686_0_11"/>
          <p:cNvSpPr txBox="1"/>
          <p:nvPr>
            <p:ph idx="1" type="body"/>
          </p:nvPr>
        </p:nvSpPr>
        <p:spPr>
          <a:xfrm>
            <a:off x="571370" y="126490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 are essential for representing variable values that depend on the control flow in 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They solve the problem of SSA (Static Single Assignment) form constraints, where each variable is assigned exactly once but used multiple times in different control flow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PHI nodes effectively resolve the issue of variable assignments in loops and conditional branches, where the exact value of a variable can depend on the path taken through the program.</a:t>
            </a:r>
            <a:endParaRPr/>
          </a:p>
        </p:txBody>
      </p:sp>
      <p:sp>
        <p:nvSpPr>
          <p:cNvPr id="463" name="Google Shape;463;g26b567fb686_0_11"/>
          <p:cNvSpPr txBox="1"/>
          <p:nvPr/>
        </p:nvSpPr>
        <p:spPr>
          <a:xfrm>
            <a:off x="2422750" y="4728300"/>
            <a:ext cx="8118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condition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Value assigned in the 'true' branch</a:t>
            </a:r>
            <a:endParaRPr b="1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b="1">
              <a:solidFill>
                <a:srgbClr val="AF00D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value2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Value assigned in the 'false' branch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After the merge point</a:t>
            </a:r>
            <a:endParaRPr b="1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x3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PHI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 // x3 takes the value of x1 or x2 depending on the path take</a:t>
            </a: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b="1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6b567fb686_0_211"/>
          <p:cNvSpPr txBox="1"/>
          <p:nvPr/>
        </p:nvSpPr>
        <p:spPr>
          <a:xfrm>
            <a:off x="286588" y="6153075"/>
            <a:ext cx="560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PHI nodes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69" name="Google Shape;469;g26b567fb686_0_211"/>
          <p:cNvSpPr txBox="1"/>
          <p:nvPr/>
        </p:nvSpPr>
        <p:spPr>
          <a:xfrm>
            <a:off x="6330988" y="6153075"/>
            <a:ext cx="560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Memory SSA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470" name="Google Shape;470;g26b567fb686_0_211"/>
          <p:cNvSpPr txBox="1"/>
          <p:nvPr/>
        </p:nvSpPr>
        <p:spPr>
          <a:xfrm>
            <a:off x="7561000" y="1435625"/>
            <a:ext cx="2445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2"/>
                </a:solidFill>
              </a:rPr>
              <a:t>Original C++ code with condition</a:t>
            </a:r>
            <a:endParaRPr sz="2100">
              <a:solidFill>
                <a:schemeClr val="lt2"/>
              </a:solidFill>
            </a:endParaRPr>
          </a:p>
        </p:txBody>
      </p:sp>
      <p:sp>
        <p:nvSpPr>
          <p:cNvPr id="471" name="Google Shape;471;g26b567fb686_0_211"/>
          <p:cNvSpPr/>
          <p:nvPr/>
        </p:nvSpPr>
        <p:spPr>
          <a:xfrm>
            <a:off x="5118475" y="3175000"/>
            <a:ext cx="351600" cy="371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2" name="Google Shape;472;g26b567fb686_0_211"/>
          <p:cNvSpPr/>
          <p:nvPr/>
        </p:nvSpPr>
        <p:spPr>
          <a:xfrm>
            <a:off x="6548675" y="3175000"/>
            <a:ext cx="351600" cy="371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g26b567fb686_0_211"/>
          <p:cNvSpPr txBox="1"/>
          <p:nvPr/>
        </p:nvSpPr>
        <p:spPr>
          <a:xfrm>
            <a:off x="5076075" y="1051000"/>
            <a:ext cx="2325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cond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g26b567fb686_0_211"/>
          <p:cNvSpPr txBox="1"/>
          <p:nvPr/>
        </p:nvSpPr>
        <p:spPr>
          <a:xfrm>
            <a:off x="-68400" y="3597975"/>
            <a:ext cx="6193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@func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if.then: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%if.end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if.else: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%if.end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if.end: 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%if.else, %if.then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phi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[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], [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]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rgbClr val="00108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5" name="Google Shape;475;g26b567fb686_0_211"/>
          <p:cNvSpPr txBox="1"/>
          <p:nvPr/>
        </p:nvSpPr>
        <p:spPr>
          <a:xfrm>
            <a:off x="6125300" y="3546100"/>
            <a:ext cx="62133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@func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%cond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%if.then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%if.else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if.then: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%merge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if.else: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%entry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br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label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%merge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merge:                                            </a:t>
            </a:r>
            <a:r>
              <a:rPr b="1" lang="en-US" sz="11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; preds = %if.else, %if.then</a:t>
            </a:r>
            <a:endParaRPr b="1" sz="11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%x.addr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11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%x</a:t>
            </a:r>
            <a:endParaRPr b="1" sz="11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6" name="Google Shape;476;g26b567fb686_0_21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Comparing PHI and memory SSA</a:t>
            </a:r>
            <a:endParaRPr/>
          </a:p>
        </p:txBody>
      </p:sp>
      <p:cxnSp>
        <p:nvCxnSpPr>
          <p:cNvPr id="477" name="Google Shape;477;g26b567fb686_0_211"/>
          <p:cNvCxnSpPr/>
          <p:nvPr/>
        </p:nvCxnSpPr>
        <p:spPr>
          <a:xfrm>
            <a:off x="6076825" y="3546100"/>
            <a:ext cx="0" cy="324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Working with LLVM IR</a:t>
            </a:r>
            <a:endParaRPr/>
          </a:p>
        </p:txBody>
      </p:sp>
      <p:sp>
        <p:nvSpPr>
          <p:cNvPr id="483" name="Google Shape;483;p4"/>
          <p:cNvSpPr txBox="1"/>
          <p:nvPr>
            <p:ph idx="1" type="body"/>
          </p:nvPr>
        </p:nvSpPr>
        <p:spPr>
          <a:xfrm>
            <a:off x="571375" y="1673450"/>
            <a:ext cx="110109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framework provides means to walk through and process IR (LLVM IR in particular) called </a:t>
            </a:r>
            <a:r>
              <a:rPr b="1" lang="en-US"/>
              <a:t>passes</a:t>
            </a:r>
            <a:endParaRPr b="1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We usually want to work with particular abstractions in IR: functions, loops, etc.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LLVM provides that too through analysis passes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To run multiple passes on </a:t>
            </a:r>
            <a:r>
              <a:rPr lang="en-US"/>
              <a:t>IR,</a:t>
            </a:r>
            <a:r>
              <a:rPr lang="en-US"/>
              <a:t> you need a pass manager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3fb8797418_0_44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</a:t>
            </a:r>
            <a:endParaRPr/>
          </a:p>
        </p:txBody>
      </p:sp>
      <p:sp>
        <p:nvSpPr>
          <p:cNvPr id="489" name="Google Shape;489;g33fb8797418_0_44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 pass in a compiler refers to a complete traversal of the source code or intermediate representation (IR) to perform specific processing tasks, such as lexical analysis, syntax analysis, optimization, or code generation.</a:t>
            </a:r>
            <a:endParaRPr/>
          </a:p>
        </p:txBody>
      </p:sp>
      <p:pic>
        <p:nvPicPr>
          <p:cNvPr id="490" name="Google Shape;490;g33fb8797418_0_4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600" y="3616563"/>
            <a:ext cx="9696450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33fb8797418_0_440"/>
          <p:cNvSpPr txBox="1"/>
          <p:nvPr/>
        </p:nvSpPr>
        <p:spPr>
          <a:xfrm>
            <a:off x="3842900" y="6248450"/>
            <a:ext cx="38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https://egorbo.com/opt-for-llvm-guide.html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bee4b26bf1_0_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pass</a:t>
            </a:r>
            <a:endParaRPr/>
          </a:p>
        </p:txBody>
      </p:sp>
      <p:sp>
        <p:nvSpPr>
          <p:cNvPr id="497" name="Google Shape;497;g2bee4b26bf1_0_8"/>
          <p:cNvSpPr txBox="1"/>
          <p:nvPr>
            <p:ph idx="1" type="body"/>
          </p:nvPr>
        </p:nvSpPr>
        <p:spPr>
          <a:xfrm>
            <a:off x="571375" y="1406775"/>
            <a:ext cx="11010900" cy="524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K</a:t>
            </a:r>
            <a:r>
              <a:rPr lang="en-US"/>
              <a:t>inds of passes:</a:t>
            </a:r>
            <a:endParaRPr/>
          </a:p>
          <a:p>
            <a:pPr indent="-228600" lvl="0" marL="2286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Analysis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Examples: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Loop Analysis (loop-analysis): This group of analysis passes provides detailed information about loops, including their nesting structure, induction variables, and trip counts.</a:t>
            </a:r>
            <a:endParaRPr/>
          </a:p>
          <a:p>
            <a:pPr indent="-203200" lvl="1" marL="4318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Basic Alias Analysis (basicaa): This pass provides a very basic Alias Analysis implementation that can answer alias queries based on simple pointer analysis. It's a foundation for more complex analyses.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Transformation</a:t>
            </a:r>
            <a:endParaRPr/>
          </a:p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Utility - for utility functions like printing the IR to a file for debugging purposes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bee4b26bf1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 types</a:t>
            </a:r>
            <a:endParaRPr/>
          </a:p>
        </p:txBody>
      </p:sp>
      <p:sp>
        <p:nvSpPr>
          <p:cNvPr id="503" name="Google Shape;503;g2bee4b26bf1_0_1"/>
          <p:cNvSpPr txBox="1"/>
          <p:nvPr>
            <p:ph idx="1" type="body"/>
          </p:nvPr>
        </p:nvSpPr>
        <p:spPr>
          <a:xfrm>
            <a:off x="571375" y="1673450"/>
            <a:ext cx="11010900" cy="48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Passes are split by types: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ModulePass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operates on the whole compilation unit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optimizations or analyses that need to consider multiple functions at once or need to deal with global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FunctionPass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operates on one function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optimizations or analyses that are local to a function, such as dead code elimination, constant propagation, or loop optimizations. These passes can run independently on each function, making them suitable for parallel execution.</a:t>
            </a:r>
            <a:endParaRPr/>
          </a:p>
        </p:txBody>
      </p:sp>
      <p:pic>
        <p:nvPicPr>
          <p:cNvPr id="504" name="Google Shape;504;g2bee4b26bf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0575" y="136350"/>
            <a:ext cx="5514675" cy="25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bee4b26bf1_0_1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types of passes</a:t>
            </a:r>
            <a:endParaRPr/>
          </a:p>
        </p:txBody>
      </p:sp>
      <p:sp>
        <p:nvSpPr>
          <p:cNvPr id="510" name="Google Shape;510;g2bee4b26bf1_0_14"/>
          <p:cNvSpPr txBox="1"/>
          <p:nvPr>
            <p:ph idx="1" type="body"/>
          </p:nvPr>
        </p:nvSpPr>
        <p:spPr>
          <a:xfrm>
            <a:off x="571375" y="1163225"/>
            <a:ext cx="11010900" cy="56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LoopPass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Specifically designed to operate on loops within a function. A LoopPass runs on each loop in a function, making it suitable for loop transformations and analysis.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Examples: loop unrolling, vectorization, or loop-invariant code motion.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▪"/>
            </a:pPr>
            <a:r>
              <a:rPr lang="en-US">
                <a:solidFill>
                  <a:srgbClr val="999999"/>
                </a:solidFill>
              </a:rPr>
              <a:t>CallGraphSCCPass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Operates on strongly connected components (SCCs) in the call graph. An SCC is a subset of functions that are mutually recursive. This pass allows optimizations that need to consider recursion and how functions interrelate more deeply than simple function-to-function calls.</a:t>
            </a:r>
            <a:endParaRPr>
              <a:solidFill>
                <a:srgbClr val="99999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In practice used in AMD passes</a:t>
            </a:r>
            <a:endParaRPr>
              <a:solidFill>
                <a:srgbClr val="99999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▪"/>
            </a:pPr>
            <a:r>
              <a:rPr lang="en-US">
                <a:solidFill>
                  <a:srgbClr val="999999"/>
                </a:solidFill>
              </a:rPr>
              <a:t>RegionPass</a:t>
            </a:r>
            <a:endParaRPr>
              <a:solidFill>
                <a:srgbClr val="999999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Targets a control-flow region within a function. A region can be a single basic block up to the entire function.</a:t>
            </a:r>
            <a:r>
              <a:rPr lang="en-US">
                <a:solidFill>
                  <a:srgbClr val="999999"/>
                </a:solidFill>
              </a:rPr>
              <a:t> Region passes allow for optimizations and analyses on these intermediate structures, which can be particularly useful for certain kinds of control flow and data flow optimizations.</a:t>
            </a:r>
            <a:endParaRPr>
              <a:solidFill>
                <a:srgbClr val="999999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Char char="•"/>
            </a:pPr>
            <a:r>
              <a:rPr lang="en-US">
                <a:solidFill>
                  <a:srgbClr val="999999"/>
                </a:solidFill>
              </a:rPr>
              <a:t>Used in some control flow graph passes</a:t>
            </a:r>
            <a:endParaRPr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Legacy vs new pass managers (PM)</a:t>
            </a:r>
            <a:endParaRPr/>
          </a:p>
        </p:txBody>
      </p:sp>
      <p:sp>
        <p:nvSpPr>
          <p:cNvPr id="516" name="Google Shape;516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Legacy PM has been deprecated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Note: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are a lot of old information relative to old pass manager on the Internet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 reading carefully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</a:t>
            </a:r>
            <a:r>
              <a:rPr lang="en-US"/>
              <a:t>fficial docs are still based on the legacy PM in some places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Suitable entrypoint for reading the docs: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https://llvm.org/docs/NewPassManager.html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Analysis vs Transformation</a:t>
            </a:r>
            <a:endParaRPr/>
          </a:p>
        </p:txBody>
      </p:sp>
      <p:sp>
        <p:nvSpPr>
          <p:cNvPr id="522" name="Google Shape;522;p6"/>
          <p:cNvSpPr txBox="1"/>
          <p:nvPr>
            <p:ph idx="1" type="body"/>
          </p:nvPr>
        </p:nvSpPr>
        <p:spPr>
          <a:xfrm>
            <a:off x="571375" y="1465375"/>
            <a:ext cx="11010900" cy="53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Passes run on some piece of IR (module, function, etc)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Analysis passes produce results lazily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Passes need to request the result first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Results are cached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Transformation passes modify the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Writing a pass</a:t>
            </a:r>
            <a:endParaRPr/>
          </a:p>
        </p:txBody>
      </p:sp>
      <p:sp>
        <p:nvSpPr>
          <p:cNvPr id="528" name="Google Shape;528;p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llvm::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PassInfoMixin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PreservedAnalyses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run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FunctionAnalysisManager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FAM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dbgs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&lt;&lt; </a:t>
            </a:r>
            <a:r>
              <a:rPr lang="en-US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getName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&lt;&lt; “\</a:t>
            </a:r>
            <a:r>
              <a:rPr lang="en-US" sz="24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”;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llvm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PreservedAnalyses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24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Registering a pass</a:t>
            </a:r>
            <a:endParaRPr/>
          </a:p>
        </p:txBody>
      </p:sp>
      <p:sp>
        <p:nvSpPr>
          <p:cNvPr id="534" name="Google Shape;534;p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ModulePassManager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MPM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FunctionPassManager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addPass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HelloWorld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MPM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addPass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createModuleToFunctionPassAdaptor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FPM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Why optimizing IR?</a:t>
            </a:r>
            <a:endParaRPr/>
          </a:p>
        </p:txBody>
      </p:sp>
      <p:sp>
        <p:nvSpPr>
          <p:cNvPr id="540" name="Google Shape;540;p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 generation produces a lot of redundant code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Programmers are lazy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IR-level optimizations are mostly target-independent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IR still preserves enough structure for effective analysis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Optimizing IR removes unnecessary work before code generation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Better IR usually leads to better final machine code</a:t>
            </a:r>
            <a:endParaRPr/>
          </a:p>
        </p:txBody>
      </p:sp>
      <p:pic>
        <p:nvPicPr>
          <p:cNvPr id="541" name="Google Shape;54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1975" y="4289630"/>
            <a:ext cx="7029952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9"/>
          <p:cNvSpPr/>
          <p:nvPr/>
        </p:nvSpPr>
        <p:spPr>
          <a:xfrm>
            <a:off x="4191000" y="4915825"/>
            <a:ext cx="2315400" cy="1211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3" name="Google Shape;543;p9"/>
          <p:cNvSpPr txBox="1"/>
          <p:nvPr/>
        </p:nvSpPr>
        <p:spPr>
          <a:xfrm>
            <a:off x="3868600" y="6400800"/>
            <a:ext cx="384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https://www.alibabacloud.com/blog/598408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549" name="Google Shape;549;p1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Optimizer should not change observable behavior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Optimizations should not regress code performance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Optimized code must be of reasonable size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Almost all interesting optimizations are NP-hard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Optimization goals may conflict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Compilation time matters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Optimization targets</a:t>
            </a:r>
            <a:endParaRPr/>
          </a:p>
        </p:txBody>
      </p:sp>
      <p:sp>
        <p:nvSpPr>
          <p:cNvPr id="555" name="Google Shape;555;p11"/>
          <p:cNvSpPr txBox="1"/>
          <p:nvPr>
            <p:ph idx="1" type="body"/>
          </p:nvPr>
        </p:nvSpPr>
        <p:spPr>
          <a:xfrm>
            <a:off x="571375" y="1673450"/>
            <a:ext cx="11163300" cy="5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do we want to optimize the most during the process?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Runtime – make programs run faster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Memory usage – make programs use less memory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Code size – produce smaller programs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Power consumption – select instructions that use less power at the cost of performance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Different optimization targets </a:t>
            </a:r>
            <a:r>
              <a:rPr lang="en-US"/>
              <a:t>mean slightly</a:t>
            </a:r>
            <a:r>
              <a:rPr lang="en-US"/>
              <a:t> different pass pipelines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bee4b26bf1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-O&lt;level&gt; clang flags (1)</a:t>
            </a:r>
            <a:endParaRPr/>
          </a:p>
        </p:txBody>
      </p:sp>
      <p:sp>
        <p:nvSpPr>
          <p:cNvPr id="561" name="Google Shape;561;g2bee4b26bf1_0_19"/>
          <p:cNvSpPr txBox="1"/>
          <p:nvPr>
            <p:ph idx="1" type="body"/>
          </p:nvPr>
        </p:nvSpPr>
        <p:spPr>
          <a:xfrm>
            <a:off x="202300" y="1183450"/>
            <a:ext cx="11875200" cy="56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-O0, -O1, -O2, -O3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-O0: </a:t>
            </a:r>
            <a:r>
              <a:rPr lang="en-US"/>
              <a:t>This level applies no optimizations; it aims for the fastest compilation time.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-O1: This level applies a minimal set of optimizations that reduce code size and execution time without significantly increasing the compilation time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-O2: Applies a broad set of optimizations that aim to improve code execution speed without incurring excessive compilation time. It does not perform optimizations that increase the size of the code significantly.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-O3: This level enables more aggressive optimizations than -O2, including optimizations that may significantly increase code size (e.g., loop unrolling). It aims for the highest execution speed, regardless of compilation time or code size.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bee4b26bf1_0_2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-O&lt;level&gt; clang flags (2)</a:t>
            </a:r>
            <a:endParaRPr/>
          </a:p>
        </p:txBody>
      </p:sp>
      <p:sp>
        <p:nvSpPr>
          <p:cNvPr id="567" name="Google Shape;567;g2bee4b26bf1_0_29"/>
          <p:cNvSpPr txBox="1"/>
          <p:nvPr>
            <p:ph idx="1" type="body"/>
          </p:nvPr>
        </p:nvSpPr>
        <p:spPr>
          <a:xfrm>
            <a:off x="202300" y="1183450"/>
            <a:ext cx="11875200" cy="56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Optimizes for code size without significantly compromising execution speed.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Good for systems with limited memory or when distributing smaller binaries is desirable.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-Oz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Similar to -Os but more aggressive in reducing code size, possibly at a greater cost to execution speed.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Used for applications where the smallest possible code size is paramount, such as embedded systems with very limited memory resources.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-Ofast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</a:t>
            </a:r>
            <a:r>
              <a:rPr lang="en-US"/>
              <a:t>ll the optimizations from -O3 + optimizations that are not standard-compliant but are likely benefit performance. E.g., enables aggressive math optimizations.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Case: Suitable for applications where execution performance is top priority and where deviations from standard math behavior are acceptable.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-Og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Provides a good opt level while maintaining reasonable debug capabilities.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Semantics-preserving optimizations</a:t>
            </a:r>
            <a:endParaRPr/>
          </a:p>
        </p:txBody>
      </p:sp>
      <p:sp>
        <p:nvSpPr>
          <p:cNvPr id="573" name="Google Shape;573;p1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An optimization is called semantics-preserving if it does not alter the semantics of the original program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Examples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Dead code elimination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Loop invariant code motion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Non-examples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Replace bubble sort with quick sort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 inlining</a:t>
            </a:r>
            <a:endParaRPr/>
          </a:p>
        </p:txBody>
      </p:sp>
      <p:sp>
        <p:nvSpPr>
          <p:cNvPr id="579" name="Google Shape;579;p13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Simply insert function body at call site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Not always profitable: there are heuristics to only inline small functions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‘inline’ </a:t>
            </a:r>
            <a:r>
              <a:rPr lang="en-US"/>
              <a:t>keyword</a:t>
            </a:r>
            <a:r>
              <a:rPr lang="en-US"/>
              <a:t> in C/C++ only suggests compiler to inline function, not guarantees that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__attribute__((always_inline))</a:t>
            </a:r>
            <a:r>
              <a:rPr lang="en-US"/>
              <a:t> used for guaranteed inlining by the compiler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Usually more aggressive on GPUs and less aggressive on FPGAs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Note: there </a:t>
            </a:r>
            <a:r>
              <a:rPr lang="en-US" sz="1800"/>
              <a:t>is an </a:t>
            </a: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__attribute__((noinline))</a:t>
            </a:r>
            <a:r>
              <a:rPr lang="en-US" sz="1800"/>
              <a:t> that can be used to explicitly prevent function inlining, ensuring that the function call remains as a normal function call instead of being inlined by the compiler</a:t>
            </a:r>
            <a:endParaRPr sz="1800"/>
          </a:p>
        </p:txBody>
      </p:sp>
      <p:sp>
        <p:nvSpPr>
          <p:cNvPr id="580" name="Google Shape;580;p13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https://llvm.org/docs/Passes.html#always-inline-inliner-for-always-inline-functions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https://llvm.org/docs/Passes.html#inline-function-integration-inlining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Dead instruction elimination</a:t>
            </a:r>
            <a:endParaRPr/>
          </a:p>
        </p:txBody>
      </p:sp>
      <p:sp>
        <p:nvSpPr>
          <p:cNvPr id="586" name="Google Shape;586;p1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i32 %arg0, %arg1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sub i32 %arg0, %arg1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ret %1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; %0 is not used on RHS</a:t>
            </a:r>
            <a:endParaRPr/>
          </a:p>
        </p:txBody>
      </p:sp>
      <p:sp>
        <p:nvSpPr>
          <p:cNvPr id="587" name="Google Shape;587;p14"/>
          <p:cNvSpPr txBox="1"/>
          <p:nvPr/>
        </p:nvSpPr>
        <p:spPr>
          <a:xfrm>
            <a:off x="6906650" y="0"/>
            <a:ext cx="5285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https://llvm.org/docs/Passes.html#dce-dead-code-elimination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https://llvm.org/docs/Passes.html#globaldce-dead-global-elimination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5"/>
              </a:rPr>
              <a:t>https://llvm.org/docs/Passes.html#adce-aggressive-dead-code-elimination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Liveness analysis</a:t>
            </a:r>
            <a:endParaRPr/>
          </a:p>
        </p:txBody>
      </p:sp>
      <p:sp>
        <p:nvSpPr>
          <p:cNvPr id="593" name="Google Shape;593;p15"/>
          <p:cNvSpPr txBox="1"/>
          <p:nvPr>
            <p:ph idx="1" type="body"/>
          </p:nvPr>
        </p:nvSpPr>
        <p:spPr>
          <a:xfrm>
            <a:off x="571370" y="1673455"/>
            <a:ext cx="11010900" cy="175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A variable is live at some point if it holds a value that may be needed in the future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Analysis is performed from the end of the function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▪"/>
            </a:pPr>
            <a:r>
              <a:rPr lang="en-US"/>
              <a:t>Given block s:</a:t>
            </a:r>
            <a:endParaRPr/>
          </a:p>
        </p:txBody>
      </p:sp>
      <p:pic>
        <p:nvPicPr>
          <p:cNvPr id="594" name="Google Shape;5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9522" y="3428999"/>
            <a:ext cx="5772956" cy="2448267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15"/>
          <p:cNvSpPr txBox="1"/>
          <p:nvPr/>
        </p:nvSpPr>
        <p:spPr>
          <a:xfrm>
            <a:off x="2422382" y="6001264"/>
            <a:ext cx="7308791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https://en.wikipedia.org/wiki/Live_variable_analysis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Dead store elimination</a:t>
            </a:r>
            <a:endParaRPr/>
          </a:p>
        </p:txBody>
      </p:sp>
      <p:sp>
        <p:nvSpPr>
          <p:cNvPr id="601" name="Google Shape;601;p1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Removes stores to local variables, that are never read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variant only considers a single basic block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0, i32* %ptr    &lt;-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going to be removed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42, i32*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2" name="Google Shape;602;p16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https://llvm.org/docs/Passes.html#dse-dead-store-elimination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Store to load forwarding</a:t>
            </a:r>
            <a:endParaRPr/>
          </a:p>
        </p:txBody>
      </p:sp>
      <p:sp>
        <p:nvSpPr>
          <p:cNvPr id="608" name="Google Shape;608;p17"/>
          <p:cNvSpPr txBox="1"/>
          <p:nvPr>
            <p:ph idx="1" type="body"/>
          </p:nvPr>
        </p:nvSpPr>
        <p:spPr>
          <a:xfrm>
            <a:off x="571375" y="1673450"/>
            <a:ext cx="11010900" cy="50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Replace loads from memory with SSA values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store i32 42, i32*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load i32* %ptr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i32 %0,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Replace with: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add i32 42, 1</a:t>
            </a:r>
            <a:endParaRPr/>
          </a:p>
        </p:txBody>
      </p:sp>
      <p:sp>
        <p:nvSpPr>
          <p:cNvPr id="609" name="Google Shape;609;p17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https://llvm.org/docs/Passes.html#mem2reg-promote-memory-to-register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3fb8797418_0_46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Spilling registers on stack</a:t>
            </a:r>
            <a:endParaRPr/>
          </a:p>
        </p:txBody>
      </p:sp>
      <p:sp>
        <p:nvSpPr>
          <p:cNvPr id="615" name="Google Shape;615;g33fb8797418_0_466"/>
          <p:cNvSpPr txBox="1"/>
          <p:nvPr>
            <p:ph idx="1" type="body"/>
          </p:nvPr>
        </p:nvSpPr>
        <p:spPr>
          <a:xfrm>
            <a:off x="571372" y="1673453"/>
            <a:ext cx="5070600" cy="6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I</a:t>
            </a:r>
            <a:r>
              <a:rPr lang="en-US"/>
              <a:t>nverse of mem2reg pass</a:t>
            </a:r>
            <a:endParaRPr/>
          </a:p>
        </p:txBody>
      </p:sp>
      <p:sp>
        <p:nvSpPr>
          <p:cNvPr id="616" name="Google Shape;616;g33fb8797418_0_466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https://llvm.org/docs/Passes.html#reg2mem-demote-all-values-to-stack-slots</a:t>
            </a:r>
            <a:r>
              <a:rPr lang="en-US" sz="1000"/>
              <a:t> </a:t>
            </a:r>
            <a:endParaRPr sz="1000"/>
          </a:p>
        </p:txBody>
      </p:sp>
      <p:sp>
        <p:nvSpPr>
          <p:cNvPr id="617" name="Google Shape;617;g33fb8797418_0_466"/>
          <p:cNvSpPr txBox="1"/>
          <p:nvPr/>
        </p:nvSpPr>
        <p:spPr>
          <a:xfrm>
            <a:off x="155225" y="4727650"/>
            <a:ext cx="6216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Why?</a:t>
            </a:r>
            <a:endParaRPr sz="28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For memory sanitizing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Converting SSA to Non-SSA for Legacy Compilers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Software Fault Injection &amp; Fuzzing</a:t>
            </a:r>
            <a:endParaRPr sz="1500">
              <a:solidFill>
                <a:schemeClr val="lt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Char char="●"/>
            </a:pPr>
            <a:r>
              <a:rPr lang="en-US" sz="1500">
                <a:solidFill>
                  <a:schemeClr val="lt2"/>
                </a:solidFill>
              </a:rPr>
              <a:t>Lowering for Stack-Based Architectures</a:t>
            </a:r>
            <a:endParaRPr sz="1500">
              <a:solidFill>
                <a:schemeClr val="lt2"/>
              </a:solidFill>
            </a:endParaRPr>
          </a:p>
        </p:txBody>
      </p:sp>
      <p:sp>
        <p:nvSpPr>
          <p:cNvPr id="618" name="Google Shape;618;g33fb8797418_0_466"/>
          <p:cNvSpPr txBox="1"/>
          <p:nvPr/>
        </p:nvSpPr>
        <p:spPr>
          <a:xfrm>
            <a:off x="571375" y="2539875"/>
            <a:ext cx="4806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9" name="Google Shape;619;g33fb8797418_0_466"/>
          <p:cNvSpPr txBox="1"/>
          <p:nvPr/>
        </p:nvSpPr>
        <p:spPr>
          <a:xfrm>
            <a:off x="6511675" y="1045300"/>
            <a:ext cx="5070600" cy="57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alloca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%b_addr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%b_val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store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%sum_val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%result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i32*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%result</a:t>
            </a:r>
            <a:endParaRPr b="1" sz="20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g33fb8797418_0_466"/>
          <p:cNvSpPr/>
          <p:nvPr/>
        </p:nvSpPr>
        <p:spPr>
          <a:xfrm>
            <a:off x="742450" y="3223850"/>
            <a:ext cx="3106500" cy="3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1" name="Google Shape;621;g33fb8797418_0_466"/>
          <p:cNvSpPr/>
          <p:nvPr/>
        </p:nvSpPr>
        <p:spPr>
          <a:xfrm>
            <a:off x="6736850" y="4773250"/>
            <a:ext cx="4673700" cy="38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Constant folding</a:t>
            </a:r>
            <a:endParaRPr/>
          </a:p>
        </p:txBody>
      </p:sp>
      <p:sp>
        <p:nvSpPr>
          <p:cNvPr id="627" name="Google Shape;627;p18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42,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i32 %arg0, %0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add i32 %arg0, 43</a:t>
            </a:r>
            <a:endParaRPr/>
          </a:p>
        </p:txBody>
      </p:sp>
      <p:sp>
        <p:nvSpPr>
          <p:cNvPr id="628" name="Google Shape;628;p18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r>
              <a:rPr lang="en-US" sz="1000"/>
              <a:t> 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Arithmetic simplification</a:t>
            </a:r>
            <a:endParaRPr/>
          </a:p>
        </p:txBody>
      </p:sp>
      <p:sp>
        <p:nvSpPr>
          <p:cNvPr id="634" name="Google Shape;634;p1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mul %arg0, 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%0 = shl %arg0, 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5" name="Google Shape;635;p19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Combine redundant instructions</a:t>
            </a:r>
            <a:endParaRPr/>
          </a:p>
        </p:txBody>
      </p:sp>
      <p:sp>
        <p:nvSpPr>
          <p:cNvPr id="641" name="Google Shape;641;p2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Implementation is rules based in LLVM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A variation of arithmetic simplification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Often called </a:t>
            </a:r>
            <a:r>
              <a:rPr lang="en-US"/>
              <a:t>peephole</a:t>
            </a:r>
            <a:r>
              <a:rPr lang="en-US"/>
              <a:t> optimization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i32 %0,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%2 = add i32 %1,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/>
              <a:t>Equivalent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%1 = add i32 %0, 2</a:t>
            </a:r>
            <a:endParaRPr/>
          </a:p>
        </p:txBody>
      </p:sp>
      <p:sp>
        <p:nvSpPr>
          <p:cNvPr id="642" name="Google Shape;642;p20"/>
          <p:cNvSpPr txBox="1"/>
          <p:nvPr/>
        </p:nvSpPr>
        <p:spPr>
          <a:xfrm>
            <a:off x="6906650" y="0"/>
            <a:ext cx="528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https://llvm.org/docs/Passes.html#instcombine-combine-redundant-instructions</a:t>
            </a:r>
            <a:endParaRPr sz="10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4"/>
              </a:rPr>
              <a:t>https://llvm.org/docs/Passes.html#aggressive-instcombine-combine-expression-patterns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Common subexpression elimination (CSE)</a:t>
            </a:r>
            <a:endParaRPr/>
          </a:p>
        </p:txBody>
      </p:sp>
      <p:sp>
        <p:nvSpPr>
          <p:cNvPr id="648" name="Google Shape;648;p21"/>
          <p:cNvSpPr txBox="1"/>
          <p:nvPr>
            <p:ph idx="1" type="body"/>
          </p:nvPr>
        </p:nvSpPr>
        <p:spPr>
          <a:xfrm>
            <a:off x="571375" y="1673450"/>
            <a:ext cx="11010900" cy="51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= b + c + 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 = b + c + 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 = b + 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= t + 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e = t + f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Principle: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An expression a op b is available at a point p in a program if: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Every path from the initial node to p evaluates a * b before reaching p</a:t>
            </a:r>
            <a:endParaRPr/>
          </a:p>
          <a:p>
            <a:pPr indent="-197644" lvl="2" marL="686594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/>
              <a:t>There are no assignments (stores) to a or b after the evaluation but before p</a:t>
            </a:r>
            <a:endParaRPr/>
          </a:p>
        </p:txBody>
      </p:sp>
      <p:sp>
        <p:nvSpPr>
          <p:cNvPr id="649" name="Google Shape;649;p21"/>
          <p:cNvSpPr txBox="1"/>
          <p:nvPr/>
        </p:nvSpPr>
        <p:spPr>
          <a:xfrm>
            <a:off x="4386400" y="2217625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original (4 additions)</a:t>
            </a:r>
            <a:endParaRPr sz="2800">
              <a:solidFill>
                <a:schemeClr val="lt2"/>
              </a:solidFill>
            </a:endParaRPr>
          </a:p>
        </p:txBody>
      </p:sp>
      <p:sp>
        <p:nvSpPr>
          <p:cNvPr id="650" name="Google Shape;650;p21"/>
          <p:cNvSpPr txBox="1"/>
          <p:nvPr/>
        </p:nvSpPr>
        <p:spPr>
          <a:xfrm>
            <a:off x="4386400" y="3727950"/>
            <a:ext cx="45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transformed</a:t>
            </a:r>
            <a:r>
              <a:rPr lang="en-US" sz="2800">
                <a:solidFill>
                  <a:schemeClr val="lt2"/>
                </a:solidFill>
              </a:rPr>
              <a:t> (3 additions)</a:t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Global value numbering</a:t>
            </a:r>
            <a:endParaRPr/>
          </a:p>
        </p:txBody>
      </p:sp>
      <p:sp>
        <p:nvSpPr>
          <p:cNvPr id="656" name="Google Shape;656;p22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GVN is a technique of determining equivalent computations in program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GVN works by assigning a numeric value to expressions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Two expressions have equal values if they are provably equal (thus algorithm requires SSA)</a:t>
            </a:r>
            <a:endParaRPr/>
          </a:p>
        </p:txBody>
      </p:sp>
      <p:sp>
        <p:nvSpPr>
          <p:cNvPr id="657" name="Google Shape;657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2"/>
          <p:cNvSpPr txBox="1"/>
          <p:nvPr/>
        </p:nvSpPr>
        <p:spPr>
          <a:xfrm>
            <a:off x="6906650" y="0"/>
            <a:ext cx="528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hlinkClick r:id="rId3"/>
              </a:rPr>
              <a:t>https://llvm.org/docs/Passes.html#gvn-global-value-numbering</a:t>
            </a:r>
            <a:endParaRPr sz="1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Memcpy optimizations</a:t>
            </a:r>
            <a:endParaRPr/>
          </a:p>
        </p:txBody>
      </p:sp>
      <p:sp>
        <p:nvSpPr>
          <p:cNvPr id="664" name="Google Shape;664;p2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Eliminates memcpy calls and replaces sets of stores with memset</a:t>
            </a:r>
            <a:endParaRPr/>
          </a:p>
        </p:txBody>
      </p:sp>
      <p:pic>
        <p:nvPicPr>
          <p:cNvPr id="665" name="Google Shape;66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98557"/>
            <a:ext cx="5058481" cy="1657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7090" y="3253242"/>
            <a:ext cx="9255096" cy="31446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7" name="Google Shape;667;p23"/>
          <p:cNvCxnSpPr/>
          <p:nvPr/>
        </p:nvCxnSpPr>
        <p:spPr>
          <a:xfrm>
            <a:off x="2854295" y="5101839"/>
            <a:ext cx="8727975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8" name="Google Shape;668;p23"/>
          <p:cNvGrpSpPr/>
          <p:nvPr/>
        </p:nvGrpSpPr>
        <p:grpSpPr>
          <a:xfrm>
            <a:off x="6081013" y="6335913"/>
            <a:ext cx="5188500" cy="445275"/>
            <a:chOff x="289925" y="5611838"/>
            <a:chExt cx="5188500" cy="445275"/>
          </a:xfrm>
        </p:grpSpPr>
        <p:sp>
          <p:nvSpPr>
            <p:cNvPr id="669" name="Google Shape;669;p23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670" name="Google Shape;670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23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https://godbolt.org/z/odsKjnxra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3fb8797418_0_48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Many more…</a:t>
            </a:r>
            <a:endParaRPr/>
          </a:p>
        </p:txBody>
      </p:sp>
      <p:sp>
        <p:nvSpPr>
          <p:cNvPr id="677" name="Google Shape;677;g33fb8797418_0_485"/>
          <p:cNvSpPr txBox="1"/>
          <p:nvPr>
            <p:ph idx="1" type="body"/>
          </p:nvPr>
        </p:nvSpPr>
        <p:spPr>
          <a:xfrm>
            <a:off x="6721050" y="1820000"/>
            <a:ext cx="5226600" cy="11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Available common passes list: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https://llvm.org/docs/Passes.html</a:t>
            </a:r>
            <a:r>
              <a:rPr lang="en-US"/>
              <a:t> </a:t>
            </a:r>
            <a:endParaRPr/>
          </a:p>
        </p:txBody>
      </p:sp>
      <p:pic>
        <p:nvPicPr>
          <p:cNvPr id="678" name="Google Shape;678;g33fb8797418_0_4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151" y="1177050"/>
            <a:ext cx="6137823" cy="56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3fb8797418_0_4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4925" y="3127575"/>
            <a:ext cx="5627076" cy="4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3fb8797418_0_485"/>
          <p:cNvSpPr txBox="1"/>
          <p:nvPr/>
        </p:nvSpPr>
        <p:spPr>
          <a:xfrm>
            <a:off x="6833450" y="3868625"/>
            <a:ext cx="53535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List of available common passes on the current LLVM revision:</a:t>
            </a:r>
            <a:br>
              <a:rPr lang="en-US" sz="2800">
                <a:solidFill>
                  <a:schemeClr val="lt2"/>
                </a:solidFill>
              </a:rPr>
            </a:br>
            <a:r>
              <a:rPr lang="en-US" sz="28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 sz="28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fb8797418_0_49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notes on passes</a:t>
            </a:r>
            <a:endParaRPr/>
          </a:p>
        </p:txBody>
      </p:sp>
      <p:sp>
        <p:nvSpPr>
          <p:cNvPr id="686" name="Google Shape;686;g33fb8797418_0_494"/>
          <p:cNvSpPr txBox="1"/>
          <p:nvPr>
            <p:ph idx="1" type="body"/>
          </p:nvPr>
        </p:nvSpPr>
        <p:spPr>
          <a:xfrm>
            <a:off x="571375" y="1673450"/>
            <a:ext cx="111633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There is no silver </a:t>
            </a:r>
            <a:r>
              <a:rPr lang="en-US"/>
              <a:t>bullet pass or pass pipeline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target architectures, programming domains have different demands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Different targets require different optimizations: what (and what for) do we optimize?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Pass execution order matters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passes have prerequisites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 passes are useless after other passes have been applied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Reuse of already known implementations and concepts is important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But implementing something new may still be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Running optimizations</a:t>
            </a:r>
            <a:endParaRPr/>
          </a:p>
        </p:txBody>
      </p:sp>
      <p:sp>
        <p:nvSpPr>
          <p:cNvPr id="692" name="Google Shape;692;p24"/>
          <p:cNvSpPr txBox="1"/>
          <p:nvPr>
            <p:ph idx="1" type="body"/>
          </p:nvPr>
        </p:nvSpPr>
        <p:spPr>
          <a:xfrm>
            <a:off x="571375" y="1308500"/>
            <a:ext cx="11010900" cy="17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Use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</a:t>
            </a:r>
            <a:r>
              <a:rPr lang="en-US"/>
              <a:t> tool</a:t>
            </a:r>
            <a:endParaRPr/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-print-passes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--help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p24"/>
          <p:cNvSpPr txBox="1"/>
          <p:nvPr/>
        </p:nvSpPr>
        <p:spPr>
          <a:xfrm>
            <a:off x="241300" y="3173800"/>
            <a:ext cx="118230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</a:rPr>
              <a:t>Typical workflow:</a:t>
            </a:r>
            <a:endParaRPr sz="2300">
              <a:solidFill>
                <a:schemeClr val="lt2"/>
              </a:solidFill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00"/>
              <a:buAutoNum type="arabicPeriod"/>
            </a:pPr>
            <a:r>
              <a:rPr lang="en-US" sz="2300">
                <a:solidFill>
                  <a:schemeClr val="lt2"/>
                </a:solidFill>
              </a:rPr>
              <a:t>Get LLVM IR (text or bitcode):</a:t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clang -S -emit-llvm example.c -o example.ll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746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300"/>
              <a:buAutoNum type="arabicPeriod"/>
            </a:pPr>
            <a:r>
              <a:rPr lang="en-US" sz="2300">
                <a:solidFill>
                  <a:schemeClr val="lt2"/>
                </a:solidFill>
              </a:rPr>
              <a:t>Apply optimizations</a:t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-S -mem2reg example.ll -o optimized.ll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30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rPr>
              <a:t>opt -S -loop-unroll -instcombine -simplifycfg example.ll -o optimized.ll</a:t>
            </a:r>
            <a:endParaRPr sz="2300">
              <a:solidFill>
                <a:schemeClr val="l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94" name="Google Shape;694;p24"/>
          <p:cNvGrpSpPr/>
          <p:nvPr/>
        </p:nvGrpSpPr>
        <p:grpSpPr>
          <a:xfrm>
            <a:off x="5074788" y="1881138"/>
            <a:ext cx="5188500" cy="445275"/>
            <a:chOff x="289925" y="5611838"/>
            <a:chExt cx="5188500" cy="445275"/>
          </a:xfrm>
        </p:grpSpPr>
        <p:sp>
          <p:nvSpPr>
            <p:cNvPr id="695" name="Google Shape;695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696" name="Google Shape;69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https://godbolt.org/z/ceW9oax1v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698" name="Google Shape;698;p24"/>
          <p:cNvGrpSpPr/>
          <p:nvPr/>
        </p:nvGrpSpPr>
        <p:grpSpPr>
          <a:xfrm>
            <a:off x="5074788" y="2453613"/>
            <a:ext cx="5188500" cy="445275"/>
            <a:chOff x="289925" y="5611838"/>
            <a:chExt cx="5188500" cy="445275"/>
          </a:xfrm>
        </p:grpSpPr>
        <p:sp>
          <p:nvSpPr>
            <p:cNvPr id="699" name="Google Shape;699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700" name="Google Shape;70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1" name="Google Shape;701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https://godbolt.org/z/eE9ojh5n1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707" name="Google Shape;707;p2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Loop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bee4b26bf1_0_3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13" name="Google Shape;713;g2bee4b26bf1_0_3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https://forms.gle/EyGD924P98iMSJP26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pic>
        <p:nvPicPr>
          <p:cNvPr id="714" name="Google Shape;714;g2bee4b26bf1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625" y="2074025"/>
            <a:ext cx="30670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g2bee4b26bf1_0_34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16" name="Google Shape;716;g2bee4b26bf1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2750" y="2994722"/>
            <a:ext cx="7605850" cy="285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fb8797418_0_42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22" name="Google Shape;722;g33fb8797418_0_42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https://forms.gle/VaqaruCTsACXQ6zf7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723" name="Google Shape;723;g33fb8797418_0_429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24" name="Google Shape;724;g33fb8797418_0_4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77825" y="1981200"/>
            <a:ext cx="30099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5" name="Google Shape;725;g33fb8797418_0_4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8025" y="2712525"/>
            <a:ext cx="7169299" cy="40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e7a0850ff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731" name="Google Shape;731;g3ce7a0850ff_0_1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https://forms.gle/bUGqdtKfdK6mJ1PW6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Submission time: </a:t>
            </a:r>
            <a:r>
              <a:rPr b="1" lang="en-US"/>
              <a:t>10 minutes</a:t>
            </a:r>
            <a:r>
              <a:rPr lang="en-US"/>
              <a:t> </a:t>
            </a:r>
            <a:endParaRPr/>
          </a:p>
        </p:txBody>
      </p:sp>
      <p:sp>
        <p:nvSpPr>
          <p:cNvPr id="732" name="Google Shape;732;g3ce7a0850ff_0_1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733" name="Google Shape;733;g3ce7a0850ff_0_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3075" y="1854950"/>
            <a:ext cx="302895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g3ce7a0850ff_0_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0" y="2651375"/>
            <a:ext cx="7324449" cy="41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740" name="Google Shape;740;p27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LLVM IR language reference - </a:t>
            </a:r>
            <a:r>
              <a:rPr lang="en-US" sz="1600" u="sng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https://llvm.org/docs/LangRef.html</a:t>
            </a:r>
            <a:endParaRPr sz="1600"/>
          </a:p>
          <a:p>
            <a:pPr indent="-215900" lvl="0" marL="228600" rtl="0" algn="l">
              <a:spcBef>
                <a:spcPts val="0"/>
              </a:spcBef>
              <a:spcAft>
                <a:spcPts val="0"/>
              </a:spcAft>
              <a:buSzPts val="1600"/>
              <a:buChar char="▪"/>
            </a:pPr>
            <a:r>
              <a:rPr lang="en-US" sz="1600"/>
              <a:t>Single-Static Assignment Form and PHI - </a:t>
            </a:r>
            <a:r>
              <a:rPr lang="en-US" sz="1600" u="sng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https://mapping-high-level-constructs-to-llvm-ir.readthedocs.io/en/latest/control-structures/ssa-phi.html</a:t>
            </a:r>
            <a:r>
              <a:rPr lang="en-US" sz="1600"/>
              <a:t> </a:t>
            </a:r>
            <a:endParaRPr sz="1600"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Developers’ Meeting: A. Warzynski “Writing an LLVM Pass: 101”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https://www.youtube.com/watch?v=ar7cJl2aBuU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List of LLVM Analyses and Transformations - </a:t>
            </a:r>
            <a:r>
              <a:rPr lang="en-US" sz="1600" u="sng">
                <a:solidFill>
                  <a:schemeClr val="hlink"/>
                </a:solidFill>
                <a:hlinkClick r:id="rId6"/>
              </a:rPr>
              <a:t>https://llvm.org/docs/Passes.html</a:t>
            </a:r>
            <a:r>
              <a:rPr lang="en-US" sz="1600"/>
              <a:t> </a:t>
            </a:r>
            <a:endParaRPr/>
          </a:p>
          <a:p>
            <a:pPr indent="-1270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