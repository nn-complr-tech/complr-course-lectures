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6858000" cx="12192000"/>
  <p:notesSz cx="6858000" cy="9144000"/>
  <p:embeddedFontLst>
    <p:embeddedFont>
      <p:font typeface="Roboto"/>
      <p:regular r:id="rId54"/>
      <p:bold r:id="rId55"/>
      <p:italic r:id="rId56"/>
      <p:boldItalic r:id="rId57"/>
    </p:embeddedFont>
    <p:embeddedFont>
      <p:font typeface="Helvetica Neue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2" roundtripDataSignature="AMtx7miYMOv2OgJ5G8ZYPc+KvVVUdxDX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customschemas.google.com/relationships/presentationmetadata" Target="metadata"/><Relationship Id="rId61" Type="http://schemas.openxmlformats.org/officeDocument/2006/relationships/font" Target="fonts/HelveticaNeue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HelveticaNeue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-bold.fntdata"/><Relationship Id="rId10" Type="http://schemas.openxmlformats.org/officeDocument/2006/relationships/slide" Target="slides/slide5.xml"/><Relationship Id="rId54" Type="http://schemas.openxmlformats.org/officeDocument/2006/relationships/font" Target="fonts/Roboto-regular.fntdata"/><Relationship Id="rId13" Type="http://schemas.openxmlformats.org/officeDocument/2006/relationships/slide" Target="slides/slide8.xml"/><Relationship Id="rId57" Type="http://schemas.openxmlformats.org/officeDocument/2006/relationships/font" Target="fonts/Roboto-boldItalic.fntdata"/><Relationship Id="rId12" Type="http://schemas.openxmlformats.org/officeDocument/2006/relationships/slide" Target="slides/slide7.xml"/><Relationship Id="rId56" Type="http://schemas.openxmlformats.org/officeDocument/2006/relationships/font" Target="fonts/Roboto-italic.fntdata"/><Relationship Id="rId15" Type="http://schemas.openxmlformats.org/officeDocument/2006/relationships/slide" Target="slides/slide10.xml"/><Relationship Id="rId59" Type="http://schemas.openxmlformats.org/officeDocument/2006/relationships/font" Target="fonts/HelveticaNeue-bold.fntdata"/><Relationship Id="rId14" Type="http://schemas.openxmlformats.org/officeDocument/2006/relationships/slide" Target="slides/slide9.xml"/><Relationship Id="rId58" Type="http://schemas.openxmlformats.org/officeDocument/2006/relationships/font" Target="fonts/HelveticaNeue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babe9c6b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4babe9c6b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cbe4714c21_0_3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2cbe4714c21_0_3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babe9c6b1_0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babe9c6b1_0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4babe9c6b1_0_1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d18c1562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3d18c1562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3d18c1562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6d2aa414b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6d2aa414b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6d2aa414b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d2aa414b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6d2aa414b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26d2aa414bf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5fc5eb8fc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d5fc5eb8fc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d5fc5eb8fc_0_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bd4d23c012_2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bd4d23c012_2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bd4d23c012_2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bd4d23c012_2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bd4d23c012_2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bd4d23c012_2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bd4d23c012_2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bd4d23c012_2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2bd4d23c012_2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5fc5eb8fc_0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5fc5eb8fc_0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d5fc5eb8fc_0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bd4d23c012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bd4d23c012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bd4d23c012_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ecb71bee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cecb71bee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cecb71bee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cecb71bee9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cecb71bee9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2cecb71bee9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5fc5eb8fc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d5fc5eb8fc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d5fc5eb8fc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bd4d23c012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bd4d23c012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2bd4d23c012_2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bd4d23c012_2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bd4d23c012_2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2bd4d23c012_2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bd4d23c012_2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bd4d23c012_2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2bd4d23c012_2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cecb71bee9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cecb71bee9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2cecb71bee9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d5fc5eb8fc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d5fc5eb8fc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d5fc5eb8fc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4babe9c6b1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4babe9c6b1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4babe9c6b1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bd4d23c012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bd4d23c012_2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2bd4d23c012_2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bd4d23c012_2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bd4d23c012_2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2bd4d23c012_2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3d18c1562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f3d18c1562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f3d18c1562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bd4d23c012_2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bd4d23c012_2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2bd4d23c012_2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babe9c6b1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babe9c6b1_0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4babe9c6b1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f3d18c156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f3d18c156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3f3d18c1562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bd4d23c012_2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bd4d23c012_2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g2bd4d23c012_2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f3d18c1562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f3d18c1562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f3d18c1562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a9975e74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a9975e74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g3a9975e749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d5fc5eb8fc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d5fc5eb8fc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d5fc5eb8fc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cbe4714c21_0_4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cbe4714c21_0_4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g2cbe4714c21_0_4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cbe4714c2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2cbe4714c2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2cbe4714c2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cbe4714c21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cbe4714c21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g2cbe4714c21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d5fc5eb8fc_0_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d5fc5eb8fc_0_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g3d5fc5eb8fc_0_1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4babe9c6b1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4babe9c6b1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g34babe9c6b1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babe9c6b1_0_91"/>
          <p:cNvSpPr txBox="1"/>
          <p:nvPr>
            <p:ph type="title"/>
          </p:nvPr>
        </p:nvSpPr>
        <p:spPr>
          <a:xfrm>
            <a:off x="1895475" y="3585279"/>
            <a:ext cx="109728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g34babe9c6b1_0_91"/>
          <p:cNvSpPr txBox="1"/>
          <p:nvPr>
            <p:ph idx="1" type="body"/>
          </p:nvPr>
        </p:nvSpPr>
        <p:spPr>
          <a:xfrm>
            <a:off x="1895475" y="3182315"/>
            <a:ext cx="1029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g34babe9c6b1_0_91"/>
          <p:cNvSpPr txBox="1"/>
          <p:nvPr>
            <p:ph idx="2" type="body"/>
          </p:nvPr>
        </p:nvSpPr>
        <p:spPr>
          <a:xfrm>
            <a:off x="1908348" y="4778609"/>
            <a:ext cx="102837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be4714c21_0_33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2cbe4714c21_0_33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4" name="Google Shape;104;g2cbe4714c21_0_3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g2cbe4714c21_0_3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2cbe4714c21_0_3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be4714c21_0_33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2cbe4714c21_0_337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be4714c21_0_340"/>
          <p:cNvSpPr txBox="1"/>
          <p:nvPr>
            <p:ph type="title"/>
          </p:nvPr>
        </p:nvSpPr>
        <p:spPr>
          <a:xfrm>
            <a:off x="571500" y="571501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  <a:defRPr sz="4000">
                <a:solidFill>
                  <a:srgbClr val="52525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g2cbe4714c21_0_340"/>
          <p:cNvSpPr txBox="1"/>
          <p:nvPr>
            <p:ph idx="1" type="body"/>
          </p:nvPr>
        </p:nvSpPr>
        <p:spPr>
          <a:xfrm>
            <a:off x="571500" y="1673402"/>
            <a:ext cx="52884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g2cbe4714c21_0_340"/>
          <p:cNvSpPr txBox="1"/>
          <p:nvPr>
            <p:ph idx="2" type="body"/>
          </p:nvPr>
        </p:nvSpPr>
        <p:spPr>
          <a:xfrm>
            <a:off x="6289113" y="1673402"/>
            <a:ext cx="5288400" cy="45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cbe4714c21_0_3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2cbe4714c21_0_34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g2cbe4714c21_0_34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g2cbe4714c21_0_3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2cbe4714c21_0_3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be4714c21_0_350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2cbe4714c21_0_350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3" name="Google Shape;123;g2cbe4714c21_0_35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g2cbe4714c21_0_35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g2cbe4714c21_0_3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cbe4714c21_0_35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2cbe4714c21_0_35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g2cbe4714c21_0_35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g2cbe4714c21_0_35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2cbe4714c21_0_35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2cbe4714c21_0_3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be4714c21_0_363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2cbe4714c21_0_363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6" name="Google Shape;136;g2cbe4714c21_0_363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g2cbe4714c21_0_363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8" name="Google Shape;138;g2cbe4714c21_0_363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g2cbe4714c21_0_36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2cbe4714c21_0_36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2cbe4714c21_0_3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be4714c21_0_3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g2cbe4714c21_0_37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2cbe4714c21_0_37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g2cbe4714c21_0_3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be4714c21_0_37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g2cbe4714c21_0_37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g2cbe4714c21_0_37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cbe4714c21_0_381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2cbe4714c21_0_381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4" name="Google Shape;154;g2cbe4714c21_0_381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5" name="Google Shape;155;g2cbe4714c21_0_38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g2cbe4714c21_0_38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g2cbe4714c21_0_3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be4714c21_0_388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g2cbe4714c21_0_388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g2cbe4714c21_0_388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2" name="Google Shape;162;g2cbe4714c21_0_38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2cbe4714c21_0_38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g2cbe4714c21_0_38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cbe4714c21_0_39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g2cbe4714c21_0_395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g2cbe4714c21_0_39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g2cbe4714c21_0_39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2cbe4714c21_0_39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be4714c21_0_401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2cbe4714c21_0_401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g2cbe4714c21_0_40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g2cbe4714c21_0_40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2cbe4714c21_0_40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cbe4714c21_0_3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7" name="Google Shape;97;g2cbe4714c21_0_32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g2cbe4714c21_0_3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g2cbe4714c21_0_3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g2cbe4714c21_0_3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llvm-hpc-2020-workshop.github.io/presentations/llvmhpc2020-amini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hyperlink" Target="https://llvm-hpc-2020-workshop.github.io/presentations/llvmhpc2020-amini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blog.google/technology/ai/mlir-accelerating-ai-open-source-infrastructure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://lastweek.io/notes/MLIR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lir.llvm.org/" TargetMode="External"/><Relationship Id="rId4" Type="http://schemas.openxmlformats.org/officeDocument/2006/relationships/hyperlink" Target="https://nondot.org/sabre/" TargetMode="External"/><Relationship Id="rId5" Type="http://schemas.openxmlformats.org/officeDocument/2006/relationships/hyperlink" Target="https://mlir.llvm.org/" TargetMode="External"/><Relationship Id="rId6" Type="http://schemas.openxmlformats.org/officeDocument/2006/relationships/image" Target="../media/image9.png"/><Relationship Id="rId7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hyperlink" Target="https://blog.google/technology/ai/mlir-accelerating-ai-open-source-infrastructure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lvm-hpc-2020-workshop.github.io/presentations/llvmhpc2020-amini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40" Type="http://schemas.openxmlformats.org/officeDocument/2006/relationships/hyperlink" Target="https://mlir.llvm.org/docs/Dialects/TensorOps/" TargetMode="External"/><Relationship Id="rId42" Type="http://schemas.openxmlformats.org/officeDocument/2006/relationships/hyperlink" Target="https://mlir.llvm.org/docs/Dialects/VCIXDialect/" TargetMode="External"/><Relationship Id="rId41" Type="http://schemas.openxmlformats.org/officeDocument/2006/relationships/hyperlink" Target="https://mlir.llvm.org/docs/Dialects/UBOps/" TargetMode="External"/><Relationship Id="rId44" Type="http://schemas.openxmlformats.org/officeDocument/2006/relationships/hyperlink" Target="https://mlir.llvm.org/docs/Dialects/WasmSSAOps/" TargetMode="External"/><Relationship Id="rId43" Type="http://schemas.openxmlformats.org/officeDocument/2006/relationships/hyperlink" Target="https://mlir.llvm.org/docs/Dialects/Vector/" TargetMode="External"/><Relationship Id="rId46" Type="http://schemas.openxmlformats.org/officeDocument/2006/relationships/hyperlink" Target="https://mlir.llvm.org/docs/Dialects/XeGPU/" TargetMode="External"/><Relationship Id="rId45" Type="http://schemas.openxmlformats.org/officeDocument/2006/relationships/hyperlink" Target="https://mlir.llvm.org/docs/Dialects/X86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mlir.llvm.org/docs/Dialects/" TargetMode="External"/><Relationship Id="rId4" Type="http://schemas.openxmlformats.org/officeDocument/2006/relationships/hyperlink" Target="https://mlir.llvm.org/docs/Dialects/OpenACCDialect/" TargetMode="External"/><Relationship Id="rId9" Type="http://schemas.openxmlformats.org/officeDocument/2006/relationships/hyperlink" Target="https://mlir.llvm.org/docs/Dialects/ArmSVE/" TargetMode="External"/><Relationship Id="rId48" Type="http://schemas.openxmlformats.org/officeDocument/2006/relationships/hyperlink" Target="https://mlir.llvm.org/docs/Dialects/Builtin/" TargetMode="External"/><Relationship Id="rId47" Type="http://schemas.openxmlformats.org/officeDocument/2006/relationships/hyperlink" Target="https://mlir.llvm.org/docs/Dialects/XeVMDialect/" TargetMode="External"/><Relationship Id="rId49" Type="http://schemas.openxmlformats.org/officeDocument/2006/relationships/hyperlink" Target="https://mlir.llvm.org/docs/Dialects/MatchOpInterfaces/" TargetMode="External"/><Relationship Id="rId5" Type="http://schemas.openxmlformats.org/officeDocument/2006/relationships/hyperlink" Target="https://mlir.llvm.org/docs/Dialects/Affine/" TargetMode="External"/><Relationship Id="rId6" Type="http://schemas.openxmlformats.org/officeDocument/2006/relationships/hyperlink" Target="https://mlir.llvm.org/docs/Dialects/AMDGPU/" TargetMode="External"/><Relationship Id="rId7" Type="http://schemas.openxmlformats.org/officeDocument/2006/relationships/hyperlink" Target="https://mlir.llvm.org/docs/Dialects/ArithOps/" TargetMode="External"/><Relationship Id="rId8" Type="http://schemas.openxmlformats.org/officeDocument/2006/relationships/hyperlink" Target="https://mlir.llvm.org/docs/Dialects/ArmNeon/" TargetMode="External"/><Relationship Id="rId31" Type="http://schemas.openxmlformats.org/officeDocument/2006/relationships/hyperlink" Target="https://mlir.llvm.org/docs/Dialects/PDLOps/" TargetMode="External"/><Relationship Id="rId30" Type="http://schemas.openxmlformats.org/officeDocument/2006/relationships/hyperlink" Target="https://mlir.llvm.org/docs/Dialects/PDLInterpOps/" TargetMode="External"/><Relationship Id="rId33" Type="http://schemas.openxmlformats.org/officeDocument/2006/relationships/hyperlink" Target="https://mlir.llvm.org/docs/Dialects/QuantDialect/" TargetMode="External"/><Relationship Id="rId32" Type="http://schemas.openxmlformats.org/officeDocument/2006/relationships/hyperlink" Target="https://mlir.llvm.org/docs/Dialects/PtrOps/" TargetMode="External"/><Relationship Id="rId35" Type="http://schemas.openxmlformats.org/officeDocument/2006/relationships/hyperlink" Target="https://mlir.llvm.org/docs/Dialects/SCFDialect/" TargetMode="External"/><Relationship Id="rId34" Type="http://schemas.openxmlformats.org/officeDocument/2006/relationships/hyperlink" Target="https://mlir.llvm.org/docs/Dialects/ROCDLDialect/" TargetMode="External"/><Relationship Id="rId37" Type="http://schemas.openxmlformats.org/officeDocument/2006/relationships/hyperlink" Target="https://mlir.llvm.org/docs/Dialects/Shard/" TargetMode="External"/><Relationship Id="rId36" Type="http://schemas.openxmlformats.org/officeDocument/2006/relationships/hyperlink" Target="https://mlir.llvm.org/docs/Dialects/ShapeDialect/" TargetMode="External"/><Relationship Id="rId39" Type="http://schemas.openxmlformats.org/officeDocument/2006/relationships/hyperlink" Target="https://mlir.llvm.org/docs/Dialects/SparseTensorOps/" TargetMode="External"/><Relationship Id="rId38" Type="http://schemas.openxmlformats.org/officeDocument/2006/relationships/hyperlink" Target="https://mlir.llvm.org/docs/Dialects/SMT/" TargetMode="External"/><Relationship Id="rId20" Type="http://schemas.openxmlformats.org/officeDocument/2006/relationships/hyperlink" Target="https://mlir.llvm.org/docs/Dialects/IRDL/" TargetMode="External"/><Relationship Id="rId22" Type="http://schemas.openxmlformats.org/officeDocument/2006/relationships/hyperlink" Target="https://mlir.llvm.org/docs/Dialects/LLVM/" TargetMode="External"/><Relationship Id="rId21" Type="http://schemas.openxmlformats.org/officeDocument/2006/relationships/hyperlink" Target="https://mlir.llvm.org/docs/Dialects/Linalg/" TargetMode="External"/><Relationship Id="rId24" Type="http://schemas.openxmlformats.org/officeDocument/2006/relationships/hyperlink" Target="https://mlir.llvm.org/docs/Dialects/MemRef/" TargetMode="External"/><Relationship Id="rId23" Type="http://schemas.openxmlformats.org/officeDocument/2006/relationships/hyperlink" Target="https://mlir.llvm.org/docs/Dialects/MathOps/" TargetMode="External"/><Relationship Id="rId26" Type="http://schemas.openxmlformats.org/officeDocument/2006/relationships/hyperlink" Target="https://mlir.llvm.org/docs/Dialects/MPI/" TargetMode="External"/><Relationship Id="rId25" Type="http://schemas.openxmlformats.org/officeDocument/2006/relationships/hyperlink" Target="https://mlir.llvm.org/docs/Dialects/MLProgramOps/" TargetMode="External"/><Relationship Id="rId28" Type="http://schemas.openxmlformats.org/officeDocument/2006/relationships/hyperlink" Target="https://mlir.llvm.org/docs/Dialects/NVVMDialect/" TargetMode="External"/><Relationship Id="rId27" Type="http://schemas.openxmlformats.org/officeDocument/2006/relationships/hyperlink" Target="https://mlir.llvm.org/docs/Dialects/NVGPU/" TargetMode="External"/><Relationship Id="rId29" Type="http://schemas.openxmlformats.org/officeDocument/2006/relationships/hyperlink" Target="https://mlir.llvm.org/docs/Dialects/OpenMPDialect/" TargetMode="External"/><Relationship Id="rId51" Type="http://schemas.openxmlformats.org/officeDocument/2006/relationships/hyperlink" Target="https://mlir.llvm.org/docs/Dialects/TOSA/" TargetMode="External"/><Relationship Id="rId50" Type="http://schemas.openxmlformats.org/officeDocument/2006/relationships/hyperlink" Target="https://mlir.llvm.org/docs/Dialects/SPIR-V/" TargetMode="External"/><Relationship Id="rId52" Type="http://schemas.openxmlformats.org/officeDocument/2006/relationships/hyperlink" Target="https://mlir.llvm.org/docs/Dialects/Transform/" TargetMode="External"/><Relationship Id="rId11" Type="http://schemas.openxmlformats.org/officeDocument/2006/relationships/hyperlink" Target="https://mlir.llvm.org/docs/Dialects/AsyncDialect/" TargetMode="External"/><Relationship Id="rId10" Type="http://schemas.openxmlformats.org/officeDocument/2006/relationships/hyperlink" Target="https://mlir.llvm.org/docs/Dialects/ArmSME/" TargetMode="External"/><Relationship Id="rId13" Type="http://schemas.openxmlformats.org/officeDocument/2006/relationships/hyperlink" Target="https://mlir.llvm.org/docs/Dialects/ControlFlowDialect/" TargetMode="External"/><Relationship Id="rId12" Type="http://schemas.openxmlformats.org/officeDocument/2006/relationships/hyperlink" Target="https://mlir.llvm.org/docs/Dialects/BufferizationOps/" TargetMode="External"/><Relationship Id="rId15" Type="http://schemas.openxmlformats.org/officeDocument/2006/relationships/hyperlink" Target="https://mlir.llvm.org/docs/Dialects/DLTIDialect/" TargetMode="External"/><Relationship Id="rId14" Type="http://schemas.openxmlformats.org/officeDocument/2006/relationships/hyperlink" Target="https://mlir.llvm.org/docs/Dialects/ComplexOps/" TargetMode="External"/><Relationship Id="rId17" Type="http://schemas.openxmlformats.org/officeDocument/2006/relationships/hyperlink" Target="https://mlir.llvm.org/docs/Dialects/Func/" TargetMode="External"/><Relationship Id="rId16" Type="http://schemas.openxmlformats.org/officeDocument/2006/relationships/hyperlink" Target="https://mlir.llvm.org/docs/Dialects/EmitC/" TargetMode="External"/><Relationship Id="rId19" Type="http://schemas.openxmlformats.org/officeDocument/2006/relationships/hyperlink" Target="https://mlir.llvm.org/docs/Dialects/IndexOps/" TargetMode="External"/><Relationship Id="rId18" Type="http://schemas.openxmlformats.org/officeDocument/2006/relationships/hyperlink" Target="https://mlir.llvm.org/docs/Dialects/GPU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hyperlink" Target="https://godbolt.org/z/P7KTrW665" TargetMode="External"/><Relationship Id="rId5" Type="http://schemas.openxmlformats.org/officeDocument/2006/relationships/hyperlink" Target="https://godbolt.org/z/oj1TErxv9" TargetMode="External"/><Relationship Id="rId6" Type="http://schemas.openxmlformats.org/officeDocument/2006/relationships/hyperlink" Target="https://godbolt.org/z/o883bEjr7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hyperlink" Target="https://godbolt.org/z/zcYnsTEvz" TargetMode="External"/><Relationship Id="rId5" Type="http://schemas.openxmlformats.org/officeDocument/2006/relationships/hyperlink" Target="https://godbolt.org/z/95o1nvrsM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hyperlink" Target="https://discourse.llvm.org/t/rfc-updated-mlir-dialect-overview-diagram/64266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hyperlink" Target="https://llvm.org/devmtg/2019-10/talk-abstracts.html#tech19" TargetMode="External"/><Relationship Id="rId5" Type="http://schemas.openxmlformats.org/officeDocument/2006/relationships/hyperlink" Target="https://www.youtube.com/watch?v=ff3ngdvUan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hyperlink" Target="https://godbolt.org/z/cfjY375z7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mlir.llvm.org/docs/Passes/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s://godbolt.org/z/YYaE3hY3q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hyperlink" Target="https://godbolt.org/z/86YGo1o5E" TargetMode="External"/><Relationship Id="rId5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mlir.llvm.org/users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hyperlink" Target="https://llvm.org/devmtg/2019-10/talk-abstracts.html#tech19" TargetMode="External"/><Relationship Id="rId5" Type="http://schemas.openxmlformats.org/officeDocument/2006/relationships/hyperlink" Target="https://www.youtube.com/watch?v=ff3ngdvUang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hyperlink" Target="https://c.wsmoses.com/presentations/Polygeist_GroupMtg.pdf" TargetMode="External"/><Relationship Id="rId6" Type="http://schemas.openxmlformats.org/officeDocument/2006/relationships/hyperlink" Target="https://polygeist.llvm.org/" TargetMode="External"/><Relationship Id="rId7" Type="http://schemas.openxmlformats.org/officeDocument/2006/relationships/hyperlink" Target="https://github.com/llvm/Polygeist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ithub.com/llvm/clangir" TargetMode="External"/><Relationship Id="rId4" Type="http://schemas.openxmlformats.org/officeDocument/2006/relationships/hyperlink" Target="https://llvm.github.io/clangir/" TargetMode="External"/><Relationship Id="rId5" Type="http://schemas.openxmlformats.org/officeDocument/2006/relationships/hyperlink" Target="https://llvm.org/devmtg/2025-10/slides/keynotes/kaylor_lopes.pdf" TargetMode="External"/><Relationship Id="rId6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llvm.github.io/clangir/GettingStarted/examples.html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godbolt.org/z/1Ke8TKe7G" TargetMode="External"/><Relationship Id="rId5" Type="http://schemas.openxmlformats.org/officeDocument/2006/relationships/hyperlink" Target="https://godbolt.org/z/1Ke8TKe7G" TargetMode="External"/><Relationship Id="rId6" Type="http://schemas.openxmlformats.org/officeDocument/2006/relationships/image" Target="../media/image10.png"/><Relationship Id="rId7" Type="http://schemas.openxmlformats.org/officeDocument/2006/relationships/hyperlink" Target="https://godbolt.org/z/Gj336Yvos" TargetMode="External"/><Relationship Id="rId8" Type="http://schemas.openxmlformats.org/officeDocument/2006/relationships/hyperlink" Target="https://godbolt.org/z/KsGGWjEbq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www.modular.com/" TargetMode="External"/><Relationship Id="rId4" Type="http://schemas.openxmlformats.org/officeDocument/2006/relationships/hyperlink" Target="https://www.modular.com/blog/a-unified-extensible-platform-to-superpower-your-ai" TargetMode="External"/><Relationship Id="rId9" Type="http://schemas.openxmlformats.org/officeDocument/2006/relationships/hyperlink" Target="https://github.com/modular/modular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hyperlink" Target="https://www.modular.com/open-source/mojo" TargetMode="External"/><Relationship Id="rId8" Type="http://schemas.openxmlformats.org/officeDocument/2006/relationships/hyperlink" Target="https://mojolang.org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Relationship Id="rId4" Type="http://schemas.openxmlformats.org/officeDocument/2006/relationships/hyperlink" Target="https://llvm.org/devmtg/2025-10/slides/lightning_talks/chen_dakkak.pdf" TargetMode="External"/><Relationship Id="rId5" Type="http://schemas.openxmlformats.org/officeDocument/2006/relationships/hyperlink" Target="https://www.youtube.com/watch?v=aY6I76b8rLY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Relationship Id="rId4" Type="http://schemas.openxmlformats.org/officeDocument/2006/relationships/hyperlink" Target="https://iree.dev/#project-architecture" TargetMode="External"/><Relationship Id="rId5" Type="http://schemas.openxmlformats.org/officeDocument/2006/relationships/hyperlink" Target="https://iree.dev/" TargetMode="External"/><Relationship Id="rId6" Type="http://schemas.openxmlformats.org/officeDocument/2006/relationships/hyperlink" Target="https://github.com/iree-org/ire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Relationship Id="rId4" Type="http://schemas.openxmlformats.org/officeDocument/2006/relationships/hyperlink" Target="https://kokkos.org/about/overview/" TargetMode="External"/><Relationship Id="rId5" Type="http://schemas.openxmlformats.org/officeDocument/2006/relationships/hyperlink" Target="https://github.com/kokkos/kokkos" TargetMode="External"/><Relationship Id="rId6" Type="http://schemas.openxmlformats.org/officeDocument/2006/relationships/hyperlink" Target="https://kokkos.org/about/overview/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png"/><Relationship Id="rId4" Type="http://schemas.openxmlformats.org/officeDocument/2006/relationships/hyperlink" Target="https://circt.llvm.org/" TargetMode="External"/><Relationship Id="rId5" Type="http://schemas.openxmlformats.org/officeDocument/2006/relationships/hyperlink" Target="https://github.com/llvm/circt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Relationship Id="rId4" Type="http://schemas.openxmlformats.org/officeDocument/2006/relationships/hyperlink" Target="https://mlir.llvm.org/docs/Tutorials/Toy/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forms.gle/nStZ9wudh2gAmJCG7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forms.gle/bR6K58M7p9YH6QxS8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23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forms.gle/vXwUZURGAZ3ABg8b7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24.png"/><Relationship Id="rId6" Type="http://schemas.openxmlformats.org/officeDocument/2006/relationships/image" Target="../media/image1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mlir.llvm.org/docs/" TargetMode="External"/><Relationship Id="rId4" Type="http://schemas.openxmlformats.org/officeDocument/2006/relationships/hyperlink" Target="https://www.youtube.com/watch?v=0bxyZDGs-aA" TargetMode="External"/><Relationship Id="rId9" Type="http://schemas.openxmlformats.org/officeDocument/2006/relationships/hyperlink" Target="https://discourse.llvm.org/t/rfc-tutorial-a-beginner-friendly-end-to-end-mlir-compiler-pipeline/89788" TargetMode="External"/><Relationship Id="rId5" Type="http://schemas.openxmlformats.org/officeDocument/2006/relationships/hyperlink" Target="https://mlir.llvm.org/pubs/" TargetMode="External"/><Relationship Id="rId6" Type="http://schemas.openxmlformats.org/officeDocument/2006/relationships/hyperlink" Target="https://mlir.llvm.org/talks/" TargetMode="External"/><Relationship Id="rId7" Type="http://schemas.openxmlformats.org/officeDocument/2006/relationships/hyperlink" Target="https://mlir.llvm.org/docs/Tutorials/Toy/Ch-1/" TargetMode="External"/><Relationship Id="rId8" Type="http://schemas.openxmlformats.org/officeDocument/2006/relationships/hyperlink" Target="https://www.youtube.com/watch?v=LPlRLt9w4b0" TargetMode="External"/><Relationship Id="rId11" Type="http://schemas.openxmlformats.org/officeDocument/2006/relationships/hyperlink" Target="https://iree.dev/community/blog/2024-01-29-iree-mlir-linalg-tutorial/" TargetMode="External"/><Relationship Id="rId10" Type="http://schemas.openxmlformats.org/officeDocument/2006/relationships/hyperlink" Target="https://github.com/Groverkss/mlir-tutor" TargetMode="External"/><Relationship Id="rId13" Type="http://schemas.openxmlformats.org/officeDocument/2006/relationships/hyperlink" Target="https://www.youtube.com/watch?v=aY6I76b8rLY" TargetMode="External"/><Relationship Id="rId12" Type="http://schemas.openxmlformats.org/officeDocument/2006/relationships/hyperlink" Target="https://www.youtube.com/watch?v=mQXE_y1T6H0" TargetMode="External"/><Relationship Id="rId14" Type="http://schemas.openxmlformats.org/officeDocument/2006/relationships/hyperlink" Target="https://ruhati.net/mojo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4babe9c6b1_0_0"/>
          <p:cNvSpPr txBox="1"/>
          <p:nvPr>
            <p:ph type="title"/>
          </p:nvPr>
        </p:nvSpPr>
        <p:spPr>
          <a:xfrm>
            <a:off x="1895475" y="3585275"/>
            <a:ext cx="61923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182" name="Google Shape;182;g34babe9c6b1_0_0"/>
          <p:cNvSpPr txBox="1"/>
          <p:nvPr>
            <p:ph idx="2" type="body"/>
          </p:nvPr>
        </p:nvSpPr>
        <p:spPr>
          <a:xfrm>
            <a:off x="1908350" y="4778600"/>
            <a:ext cx="82260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MLIR - Part 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cbe4714c21_0_310"/>
          <p:cNvSpPr/>
          <p:nvPr/>
        </p:nvSpPr>
        <p:spPr>
          <a:xfrm>
            <a:off x="6945675" y="1441750"/>
            <a:ext cx="3000300" cy="452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2cbe4714c21_0_31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Compilation flow</a:t>
            </a:r>
            <a:endParaRPr/>
          </a:p>
        </p:txBody>
      </p:sp>
      <p:sp>
        <p:nvSpPr>
          <p:cNvPr id="189" name="Google Shape;189;g2cbe4714c21_0_310"/>
          <p:cNvSpPr/>
          <p:nvPr/>
        </p:nvSpPr>
        <p:spPr>
          <a:xfrm>
            <a:off x="7018655" y="1524008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0" name="Google Shape;190;g2cbe4714c21_0_310"/>
          <p:cNvSpPr/>
          <p:nvPr/>
        </p:nvSpPr>
        <p:spPr>
          <a:xfrm>
            <a:off x="7018654" y="2077564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1" name="Google Shape;191;g2cbe4714c21_0_310"/>
          <p:cNvSpPr/>
          <p:nvPr/>
        </p:nvSpPr>
        <p:spPr>
          <a:xfrm>
            <a:off x="7018653" y="2631120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g2cbe4714c21_0_310"/>
          <p:cNvSpPr/>
          <p:nvPr/>
        </p:nvSpPr>
        <p:spPr>
          <a:xfrm>
            <a:off x="7018655" y="3192552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3" name="Google Shape;193;g2cbe4714c21_0_310"/>
          <p:cNvSpPr/>
          <p:nvPr/>
        </p:nvSpPr>
        <p:spPr>
          <a:xfrm>
            <a:off x="7018652" y="3753984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g2cbe4714c21_0_310"/>
          <p:cNvSpPr/>
          <p:nvPr/>
        </p:nvSpPr>
        <p:spPr>
          <a:xfrm>
            <a:off x="7018651" y="4315416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g2cbe4714c21_0_310"/>
          <p:cNvSpPr/>
          <p:nvPr/>
        </p:nvSpPr>
        <p:spPr>
          <a:xfrm>
            <a:off x="7018650" y="5438322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g2cbe4714c21_0_310"/>
          <p:cNvSpPr/>
          <p:nvPr/>
        </p:nvSpPr>
        <p:spPr>
          <a:xfrm>
            <a:off x="7018649" y="4876878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7" name="Google Shape;197;g2cbe4714c21_0_310"/>
          <p:cNvSpPr/>
          <p:nvPr/>
        </p:nvSpPr>
        <p:spPr>
          <a:xfrm>
            <a:off x="7018655" y="852658"/>
            <a:ext cx="2861100" cy="471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C/C++ file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g2cbe4714c21_0_310"/>
          <p:cNvSpPr/>
          <p:nvPr/>
        </p:nvSpPr>
        <p:spPr>
          <a:xfrm>
            <a:off x="7018655" y="6038183"/>
            <a:ext cx="2861100" cy="471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 file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g2cbe4714c21_0_310"/>
          <p:cNvSpPr txBox="1"/>
          <p:nvPr/>
        </p:nvSpPr>
        <p:spPr>
          <a:xfrm>
            <a:off x="615325" y="1677275"/>
            <a:ext cx="5716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that it?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have different inputs?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there a chance for an alternative flow?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babe9c6b1_0_16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06" name="Google Shape;206;g34babe9c6b1_0_161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 MLIR?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MLIR history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MLIR description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Usage scenarios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3d18c1562_1_4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Typical HPC Setup</a:t>
            </a:r>
            <a:endParaRPr/>
          </a:p>
        </p:txBody>
      </p:sp>
      <p:sp>
        <p:nvSpPr>
          <p:cNvPr id="213" name="Google Shape;213;g3f3d18c1562_1_44"/>
          <p:cNvSpPr txBox="1"/>
          <p:nvPr>
            <p:ph idx="1" type="body"/>
          </p:nvPr>
        </p:nvSpPr>
        <p:spPr>
          <a:xfrm>
            <a:off x="4523826" y="1673450"/>
            <a:ext cx="70584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 general you start with a machine with many CPU cores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An important change is that the use of HW accelerators is now common, mostly because general purpose GPUs are ubiquitous</a:t>
            </a:r>
            <a:endParaRPr/>
          </a:p>
        </p:txBody>
      </p:sp>
      <p:pic>
        <p:nvPicPr>
          <p:cNvPr id="214" name="Google Shape;214;g3f3d18c1562_1_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900" y="1673450"/>
            <a:ext cx="2700600" cy="261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f3d18c1562_1_44"/>
          <p:cNvSpPr txBox="1"/>
          <p:nvPr/>
        </p:nvSpPr>
        <p:spPr>
          <a:xfrm>
            <a:off x="426056" y="6471138"/>
            <a:ext cx="1134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https://llvm-hpc-2020-workshop.github.io/presentations/llvmhpc2020-amini.pdf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21" name="Google Shape;22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057" y="102874"/>
            <a:ext cx="11340000" cy="63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"/>
          <p:cNvSpPr txBox="1"/>
          <p:nvPr/>
        </p:nvSpPr>
        <p:spPr>
          <a:xfrm>
            <a:off x="426056" y="6471138"/>
            <a:ext cx="113398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https://llvm-hpc-2020-workshop.github.io/presentations/llvmhpc2020-amini.pdf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6600" y="3020025"/>
            <a:ext cx="5117275" cy="383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What is MLIR?</a:t>
            </a:r>
            <a:endParaRPr/>
          </a:p>
        </p:txBody>
      </p:sp>
      <p:sp>
        <p:nvSpPr>
          <p:cNvPr id="229" name="Google Shape;229;p3"/>
          <p:cNvSpPr txBox="1"/>
          <p:nvPr>
            <p:ph idx="1" type="body"/>
          </p:nvPr>
        </p:nvSpPr>
        <p:spPr>
          <a:xfrm>
            <a:off x="571320" y="152400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 stands for </a:t>
            </a:r>
            <a:r>
              <a:rPr lang="en-US"/>
              <a:t>Multi-Level Intermediate Representation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MLIR is a framework for building custom intermediate representations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Collection of basic algorithms for general-purpose IR transformations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 data structures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Custom parsers and printers</a:t>
            </a:r>
            <a:endParaRPr/>
          </a:p>
        </p:txBody>
      </p:sp>
      <p:sp>
        <p:nvSpPr>
          <p:cNvPr id="230" name="Google Shape;230;p3"/>
          <p:cNvSpPr txBox="1"/>
          <p:nvPr/>
        </p:nvSpPr>
        <p:spPr>
          <a:xfrm>
            <a:off x="1334600" y="6409900"/>
            <a:ext cx="651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https://blog.google/technology/ai/mlir-accelerating-ai-open-source-infrastructure/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6d2aa414bf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</a:t>
            </a:r>
            <a:endParaRPr/>
          </a:p>
        </p:txBody>
      </p:sp>
      <p:pic>
        <p:nvPicPr>
          <p:cNvPr id="237" name="Google Shape;237;g26d2aa414bf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75" y="1524000"/>
            <a:ext cx="11769575" cy="433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26d2aa414bf_0_0"/>
          <p:cNvSpPr txBox="1"/>
          <p:nvPr/>
        </p:nvSpPr>
        <p:spPr>
          <a:xfrm>
            <a:off x="4576825" y="6015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http://lastweek.io/notes/MLIR/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6d2aa414bf_0_1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</a:t>
            </a:r>
            <a:endParaRPr/>
          </a:p>
        </p:txBody>
      </p:sp>
      <p:sp>
        <p:nvSpPr>
          <p:cNvPr id="245" name="Google Shape;245;g26d2aa414bf_0_1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4500" lvl="0" marL="457200" rtl="0" algn="l">
              <a:spcBef>
                <a:spcPts val="1000"/>
              </a:spcBef>
              <a:spcAft>
                <a:spcPts val="0"/>
              </a:spcAft>
              <a:buSzPts val="3400"/>
              <a:buChar char="•"/>
            </a:pPr>
            <a:r>
              <a:rPr lang="en-US" sz="3400"/>
              <a:t>Supports diverse domains</a:t>
            </a:r>
            <a:endParaRPr sz="34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Machine Learning, AI, …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Custom Domain Specific Languages (DSL)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Everything that is covered by LLVM IR</a:t>
            </a:r>
            <a:endParaRPr sz="30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Hardware development</a:t>
            </a:r>
            <a:endParaRPr sz="3000"/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Char char="•"/>
            </a:pPr>
            <a:r>
              <a:rPr lang="en-US" sz="3400"/>
              <a:t>Provides a view on the source code from different levels</a:t>
            </a:r>
            <a:endParaRPr sz="3400"/>
          </a:p>
          <a:p>
            <a:pPr indent="-444500" lvl="0" marL="457200" rtl="0" algn="l">
              <a:spcBef>
                <a:spcPts val="0"/>
              </a:spcBef>
              <a:spcAft>
                <a:spcPts val="0"/>
              </a:spcAft>
              <a:buSzPts val="3400"/>
              <a:buChar char="•"/>
            </a:pPr>
            <a:r>
              <a:rPr lang="en-US" sz="3400"/>
              <a:t>Encourages reusable compiler infrastructure</a:t>
            </a:r>
            <a:endParaRPr sz="3400"/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3000"/>
              <a:t>Common analyses, transformations, optimizations, and code generation components can be shared across domains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5fc5eb8fc_0_9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creator of MLIR about MLIR</a:t>
            </a:r>
            <a:endParaRPr/>
          </a:p>
        </p:txBody>
      </p:sp>
      <p:sp>
        <p:nvSpPr>
          <p:cNvPr id="252" name="Google Shape;252;g3d5fc5eb8fc_0_93"/>
          <p:cNvSpPr txBox="1"/>
          <p:nvPr/>
        </p:nvSpPr>
        <p:spPr>
          <a:xfrm>
            <a:off x="293625" y="1846650"/>
            <a:ext cx="8210700" cy="3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created and built the </a:t>
            </a:r>
            <a:r>
              <a:rPr lang="en-US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MLIR Compiler Infrastructure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 small-but-amazing team of compiler engineers at Google, starting from a whitepaper in April 2018. The TensorFlow product (and machine learning in general) needs compilers of many different kinds for a wide range of graph-level problems, accelerators of all kinds, and a lot of 'glue' tools to tie everything together. Because existing solutions existed, we took time to build a world-class system, getting the core abstractions right, and investing in building great infrastructure and a team culture that valued engineering excellence.”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Chris Lattner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d5fc5eb8fc_0_93"/>
          <p:cNvSpPr txBox="1"/>
          <p:nvPr/>
        </p:nvSpPr>
        <p:spPr>
          <a:xfrm>
            <a:off x="10031700" y="6242400"/>
            <a:ext cx="216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https://nondot.org/sabre/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https://mlir.llvm.org/</a:t>
            </a:r>
            <a:r>
              <a:rPr lang="en-US"/>
              <a:t> </a:t>
            </a:r>
            <a:r>
              <a:rPr lang="en-US"/>
              <a:t> </a:t>
            </a:r>
            <a:endParaRPr/>
          </a:p>
        </p:txBody>
      </p:sp>
      <p:pic>
        <p:nvPicPr>
          <p:cNvPr id="254" name="Google Shape;254;g3d5fc5eb8fc_0_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30100" y="1748050"/>
            <a:ext cx="3361900" cy="336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g3d5fc5eb8fc_0_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68000" y="0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bd4d23c012_2_5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 history: pre-historic era</a:t>
            </a:r>
            <a:endParaRPr/>
          </a:p>
        </p:txBody>
      </p:sp>
      <p:sp>
        <p:nvSpPr>
          <p:cNvPr id="262" name="Google Shape;262;g2bd4d23c012_2_53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Before MLIR was conceived, the LLVM project already had a powerful intermediate representation (IR) that was highly effective for optimizing and generating machine code for CPUs.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However, as the landscape of computing hardware grew to include GPUs, TPUs, and other accelerators, it became apparent that LLVM IR was not ideally suited for representing the high-level, domain-specific abstractions needed by these new architectures.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bd4d23c012_2_6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 history: beginning</a:t>
            </a:r>
            <a:endParaRPr/>
          </a:p>
        </p:txBody>
      </p:sp>
      <p:sp>
        <p:nvSpPr>
          <p:cNvPr id="269" name="Google Shape;269;g2bd4d23c012_2_6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MLIR was officially announced and open-sourced by Google in April 2019, but its development started much earlier, around 2018, as a collaboration between different teams within Google and eventually with external contributors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project was born out of the need for an infrastructure that could bridge the gap between high-level, domain-specific representations of programs and the low-level, hardware-specific code required to execute them efficiently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bd4d23c012_2_6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MLIR history: nowadays</a:t>
            </a:r>
            <a:endParaRPr/>
          </a:p>
        </p:txBody>
      </p:sp>
      <p:pic>
        <p:nvPicPr>
          <p:cNvPr id="276" name="Google Shape;276;g2bd4d23c012_2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0425" y="1267875"/>
            <a:ext cx="7453450" cy="55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2bd4d23c012_2_67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MLIR i</a:t>
            </a:r>
            <a:r>
              <a:rPr lang="en-US"/>
              <a:t>nfrastructure</a:t>
            </a:r>
            <a:r>
              <a:rPr lang="en-US"/>
              <a:t> is being developed rapidly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Top industry companies use that: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Google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ARM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AMD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NVIDIA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others…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2bd4d23c012_2_67"/>
          <p:cNvSpPr txBox="1"/>
          <p:nvPr/>
        </p:nvSpPr>
        <p:spPr>
          <a:xfrm>
            <a:off x="1334600" y="6409900"/>
            <a:ext cx="6516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https://blog.google/technology/ai/mlir-accelerating-ai-open-source-infrastructure/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5fc5eb8fc_0_8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 goal</a:t>
            </a:r>
            <a:endParaRPr/>
          </a:p>
        </p:txBody>
      </p:sp>
      <p:sp>
        <p:nvSpPr>
          <p:cNvPr id="285" name="Google Shape;285;g3d5fc5eb8fc_0_81"/>
          <p:cNvSpPr txBox="1"/>
          <p:nvPr>
            <p:ph idx="1" type="body"/>
          </p:nvPr>
        </p:nvSpPr>
        <p:spPr>
          <a:xfrm>
            <a:off x="571375" y="1673450"/>
            <a:ext cx="11010900" cy="43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/>
              <a:t>Changing the paradigm for compiler design</a:t>
            </a:r>
            <a:endParaRPr sz="3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lang="en-US" sz="3200"/>
              <a:t>Software libraries are reusable, composable, …</a:t>
            </a:r>
            <a:endParaRPr sz="3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software development is agile</a:t>
            </a:r>
            <a:r>
              <a:rPr lang="en-US" sz="2800"/>
              <a:t>!</a:t>
            </a:r>
            <a:endParaRPr sz="2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3200"/>
              <a:t>Can we have compiler IR and abstractions that are easily reusable and composable?</a:t>
            </a:r>
            <a:endParaRPr sz="3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MLIR Dialects can make heterogeneous compiler development agile</a:t>
            </a:r>
            <a:endParaRPr sz="28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3200"/>
              <a:t>No silver bullet:</a:t>
            </a:r>
            <a:endParaRPr sz="32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composability is never perfect, assembling an entire toolchain is still a work,</a:t>
            </a:r>
            <a:endParaRPr sz="2800"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but just like assembling a large project by reusing libraries</a:t>
            </a:r>
            <a:endParaRPr sz="2800"/>
          </a:p>
        </p:txBody>
      </p:sp>
      <p:sp>
        <p:nvSpPr>
          <p:cNvPr id="286" name="Google Shape;286;g3d5fc5eb8fc_0_81"/>
          <p:cNvSpPr txBox="1"/>
          <p:nvPr/>
        </p:nvSpPr>
        <p:spPr>
          <a:xfrm>
            <a:off x="5617200" y="6457800"/>
            <a:ext cx="657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https://llvm-hpc-2020-workshop.github.io/presentations/llvmhpc2020-amini.pdf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2" name="Google Shape;29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8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Dialects</a:t>
            </a:r>
            <a:endParaRPr/>
          </a:p>
        </p:txBody>
      </p:sp>
      <p:sp>
        <p:nvSpPr>
          <p:cNvPr id="298" name="Google Shape;298;p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Extensible collections of operations and types that represent various levels of abstraction or domains.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Dialects represent modular structure of </a:t>
            </a:r>
            <a:r>
              <a:rPr lang="en-US"/>
              <a:t>combining</a:t>
            </a:r>
            <a:r>
              <a:rPr lang="en-US"/>
              <a:t> operations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Dialects are basically custom IRs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Custom data types, custom operations, custom syntax</a:t>
            </a:r>
            <a:endParaRPr/>
          </a:p>
          <a:p>
            <a:pPr indent="-2286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Examples: arith, affine, omp, spv, linalg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bd4d23c012_2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Dialects</a:t>
            </a:r>
            <a:endParaRPr/>
          </a:p>
        </p:txBody>
      </p:sp>
      <p:sp>
        <p:nvSpPr>
          <p:cNvPr id="305" name="Google Shape;305;g2bd4d23c012_2_1"/>
          <p:cNvSpPr txBox="1"/>
          <p:nvPr>
            <p:ph idx="1" type="body"/>
          </p:nvPr>
        </p:nvSpPr>
        <p:spPr>
          <a:xfrm>
            <a:off x="571373" y="1673450"/>
            <a:ext cx="55422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Documentation: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https://mlir.llvm.org/docs/Dialects/</a:t>
            </a:r>
            <a:endParaRPr/>
          </a:p>
        </p:txBody>
      </p:sp>
      <p:sp>
        <p:nvSpPr>
          <p:cNvPr id="306" name="Google Shape;306;g2bd4d23c012_2_1"/>
          <p:cNvSpPr txBox="1"/>
          <p:nvPr/>
        </p:nvSpPr>
        <p:spPr>
          <a:xfrm>
            <a:off x="6326500" y="223500"/>
            <a:ext cx="3165300" cy="6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'acc'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'affine'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'amdgpu'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'arith'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'arm_neon'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'arm_sve'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'ArmSME'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'async'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'bufferization'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'cf'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'complex'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'dlti'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'emitc'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'func'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'gpu'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'index'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'irdl'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'linalg'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'llvm'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'math'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'memref'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'ml_program'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'mpi'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'nvgpu'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'nvvm'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'omp'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2bd4d23c012_2_1"/>
          <p:cNvSpPr txBox="1"/>
          <p:nvPr/>
        </p:nvSpPr>
        <p:spPr>
          <a:xfrm>
            <a:off x="8929760" y="379050"/>
            <a:ext cx="3493500" cy="6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'pdl_interp'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'pdl'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'ptr'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'quant'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'rocdl'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'scf'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'shape'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'shard'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'smt'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3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'sparse_tensor'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'tensor'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'ub'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'vcix'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'vector'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'wasmssa'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'x86'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'xegpu'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'xevm'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Builtin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4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OpInterface definitions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5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SPIR-V Dialect</a:t>
            </a:r>
            <a:endParaRPr u="sng"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5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Tensor Operator Set Architecture (TOSA) Dialect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US" u="sng">
                <a:solidFill>
                  <a:srgbClr val="2E7EB3"/>
                </a:solidFill>
                <a:latin typeface="Calibri"/>
                <a:ea typeface="Calibri"/>
                <a:cs typeface="Calibri"/>
                <a:sym typeface="Calibri"/>
                <a:hlinkClick r:id="rId5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Transform Dialect</a:t>
            </a:r>
            <a:endParaRPr>
              <a:solidFill>
                <a:srgbClr val="2E7EB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cecb71bee9_0_0"/>
          <p:cNvSpPr txBox="1"/>
          <p:nvPr/>
        </p:nvSpPr>
        <p:spPr>
          <a:xfrm>
            <a:off x="4778700" y="4062250"/>
            <a:ext cx="74133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func.func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@vector_add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%A: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%B: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%C: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arith.constant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endParaRPr sz="1200">
              <a:solidFill>
                <a:srgbClr val="267F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arith.constant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endParaRPr sz="1200">
              <a:solidFill>
                <a:srgbClr val="267F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arith.constant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endParaRPr sz="1200">
              <a:solidFill>
                <a:srgbClr val="267F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scf.for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step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%c1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memref.load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memref.load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arith.addf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endParaRPr sz="1200">
              <a:solidFill>
                <a:srgbClr val="267F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  memref.store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return</a:t>
            </a:r>
            <a:endParaRPr sz="1200">
              <a:solidFill>
                <a:srgbClr val="0070C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4" name="Google Shape;314;g2cecb71bee9_0_0"/>
          <p:cNvSpPr txBox="1"/>
          <p:nvPr/>
        </p:nvSpPr>
        <p:spPr>
          <a:xfrm>
            <a:off x="0" y="2057613"/>
            <a:ext cx="7518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func.func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@vector_add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%A: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%B: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%C: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affine.for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to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affine.load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affine.load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arith.addf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endParaRPr sz="1200">
              <a:solidFill>
                <a:srgbClr val="267F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  affine.store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%i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memref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return</a:t>
            </a:r>
            <a:endParaRPr sz="1200">
              <a:solidFill>
                <a:srgbClr val="0070C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g2cecb71bee9_0_0"/>
          <p:cNvSpPr txBox="1"/>
          <p:nvPr>
            <p:ph type="title"/>
          </p:nvPr>
        </p:nvSpPr>
        <p:spPr>
          <a:xfrm>
            <a:off x="308345" y="84765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 level examples</a:t>
            </a:r>
            <a:endParaRPr/>
          </a:p>
        </p:txBody>
      </p:sp>
      <p:sp>
        <p:nvSpPr>
          <p:cNvPr id="316" name="Google Shape;316;g2cecb71bee9_0_0"/>
          <p:cNvSpPr txBox="1"/>
          <p:nvPr/>
        </p:nvSpPr>
        <p:spPr>
          <a:xfrm>
            <a:off x="1044100" y="3599645"/>
            <a:ext cx="350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Affine: </a:t>
            </a:r>
            <a:endParaRPr/>
          </a:p>
        </p:txBody>
      </p:sp>
      <p:sp>
        <p:nvSpPr>
          <p:cNvPr id="317" name="Google Shape;317;g2cecb71bee9_0_0"/>
          <p:cNvSpPr txBox="1"/>
          <p:nvPr/>
        </p:nvSpPr>
        <p:spPr>
          <a:xfrm>
            <a:off x="7104000" y="6457800"/>
            <a:ext cx="38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scf + memref: </a:t>
            </a:r>
            <a:endParaRPr/>
          </a:p>
        </p:txBody>
      </p:sp>
      <p:sp>
        <p:nvSpPr>
          <p:cNvPr id="318" name="Google Shape;318;g2cecb71bee9_0_0"/>
          <p:cNvSpPr txBox="1"/>
          <p:nvPr/>
        </p:nvSpPr>
        <p:spPr>
          <a:xfrm>
            <a:off x="6517300" y="847650"/>
            <a:ext cx="378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Vector: </a:t>
            </a:r>
            <a:endParaRPr/>
          </a:p>
        </p:txBody>
      </p:sp>
      <p:cxnSp>
        <p:nvCxnSpPr>
          <p:cNvPr id="319" name="Google Shape;319;g2cecb71bee9_0_0"/>
          <p:cNvCxnSpPr/>
          <p:nvPr/>
        </p:nvCxnSpPr>
        <p:spPr>
          <a:xfrm flipH="1">
            <a:off x="6354575" y="1363800"/>
            <a:ext cx="1058700" cy="73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g2cecb71bee9_0_0"/>
          <p:cNvCxnSpPr/>
          <p:nvPr/>
        </p:nvCxnSpPr>
        <p:spPr>
          <a:xfrm>
            <a:off x="5998125" y="3439475"/>
            <a:ext cx="1210800" cy="62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21" name="Google Shape;321;g2cecb71bee9_0_0"/>
          <p:cNvGrpSpPr/>
          <p:nvPr/>
        </p:nvGrpSpPr>
        <p:grpSpPr>
          <a:xfrm>
            <a:off x="1672069" y="3668421"/>
            <a:ext cx="3481263" cy="283596"/>
            <a:chOff x="289925" y="5611838"/>
            <a:chExt cx="5465949" cy="445275"/>
          </a:xfrm>
        </p:grpSpPr>
        <p:sp>
          <p:nvSpPr>
            <p:cNvPr id="322" name="Google Shape;322;g2cecb71bee9_0_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23" name="Google Shape;323;g2cecb71bee9_0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g2cecb71bee9_0_0"/>
            <p:cNvSpPr/>
            <p:nvPr/>
          </p:nvSpPr>
          <p:spPr>
            <a:xfrm>
              <a:off x="777374" y="5611845"/>
              <a:ext cx="497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1600" u="sng">
                  <a:solidFill>
                    <a:schemeClr val="hlink"/>
                  </a:solidFill>
                  <a:hlinkClick r:id="rId4"/>
                </a:rPr>
                <a:t>https://godbolt.org/z/P7KTrW665</a:t>
              </a:r>
              <a:endParaRPr sz="1600"/>
            </a:p>
          </p:txBody>
        </p:sp>
      </p:grpSp>
      <p:grpSp>
        <p:nvGrpSpPr>
          <p:cNvPr id="325" name="Google Shape;325;g2cecb71bee9_0_0"/>
          <p:cNvGrpSpPr/>
          <p:nvPr/>
        </p:nvGrpSpPr>
        <p:grpSpPr>
          <a:xfrm>
            <a:off x="7208769" y="905946"/>
            <a:ext cx="3481263" cy="283596"/>
            <a:chOff x="289925" y="5611838"/>
            <a:chExt cx="5465949" cy="445275"/>
          </a:xfrm>
        </p:grpSpPr>
        <p:sp>
          <p:nvSpPr>
            <p:cNvPr id="326" name="Google Shape;326;g2cecb71bee9_0_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27" name="Google Shape;327;g2cecb71bee9_0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g2cecb71bee9_0_0"/>
            <p:cNvSpPr/>
            <p:nvPr/>
          </p:nvSpPr>
          <p:spPr>
            <a:xfrm>
              <a:off x="777374" y="5611845"/>
              <a:ext cx="497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1600" u="sng">
                  <a:solidFill>
                    <a:schemeClr val="hlink"/>
                  </a:solidFill>
                  <a:hlinkClick r:id="rId5"/>
                </a:rPr>
                <a:t>https://godbolt.org/z/oj1TErxv9</a:t>
              </a:r>
              <a:endParaRPr sz="1600"/>
            </a:p>
          </p:txBody>
        </p:sp>
      </p:grpSp>
      <p:grpSp>
        <p:nvGrpSpPr>
          <p:cNvPr id="329" name="Google Shape;329;g2cecb71bee9_0_0"/>
          <p:cNvGrpSpPr/>
          <p:nvPr/>
        </p:nvGrpSpPr>
        <p:grpSpPr>
          <a:xfrm>
            <a:off x="8322044" y="6516096"/>
            <a:ext cx="3481263" cy="283596"/>
            <a:chOff x="289925" y="5611838"/>
            <a:chExt cx="5465949" cy="445275"/>
          </a:xfrm>
        </p:grpSpPr>
        <p:sp>
          <p:nvSpPr>
            <p:cNvPr id="330" name="Google Shape;330;g2cecb71bee9_0_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31" name="Google Shape;331;g2cecb71bee9_0_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g2cecb71bee9_0_0"/>
            <p:cNvSpPr/>
            <p:nvPr/>
          </p:nvSpPr>
          <p:spPr>
            <a:xfrm>
              <a:off x="777374" y="5611845"/>
              <a:ext cx="497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1600" u="sng">
                  <a:solidFill>
                    <a:schemeClr val="hlink"/>
                  </a:solidFill>
                  <a:hlinkClick r:id="rId6"/>
                </a:rPr>
                <a:t>https://godbolt.org/z/o883bEjr7</a:t>
              </a:r>
              <a:endParaRPr sz="1600"/>
            </a:p>
          </p:txBody>
        </p:sp>
      </p:grpSp>
      <p:sp>
        <p:nvSpPr>
          <p:cNvPr id="333" name="Google Shape;333;g2cecb71bee9_0_0"/>
          <p:cNvSpPr txBox="1"/>
          <p:nvPr/>
        </p:nvSpPr>
        <p:spPr>
          <a:xfrm>
            <a:off x="4865625" y="0"/>
            <a:ext cx="732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func.func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@vector_add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%A: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%B: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&gt;) -&gt;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arith.addf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return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%C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f32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cecb71bee9_0_2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 transformations</a:t>
            </a:r>
            <a:endParaRPr/>
          </a:p>
        </p:txBody>
      </p:sp>
      <p:sp>
        <p:nvSpPr>
          <p:cNvPr id="340" name="Google Shape;340;g2cecb71bee9_0_2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affine -&gt; scf: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scf -&gt; cf: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Affine - dialect is the part of MLIR used to represent and optimize computations with statically analyzable loop bounds, indices, and memory accesses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SCF - structured control flow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CF - control flow</a:t>
            </a:r>
            <a:endParaRPr/>
          </a:p>
        </p:txBody>
      </p:sp>
      <p:grpSp>
        <p:nvGrpSpPr>
          <p:cNvPr id="341" name="Google Shape;341;g2cecb71bee9_0_20"/>
          <p:cNvGrpSpPr/>
          <p:nvPr/>
        </p:nvGrpSpPr>
        <p:grpSpPr>
          <a:xfrm>
            <a:off x="2621000" y="1720988"/>
            <a:ext cx="5188500" cy="445275"/>
            <a:chOff x="289925" y="5611838"/>
            <a:chExt cx="5188500" cy="445275"/>
          </a:xfrm>
        </p:grpSpPr>
        <p:sp>
          <p:nvSpPr>
            <p:cNvPr id="342" name="Google Shape;342;g2cecb71bee9_0_2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43" name="Google Shape;343;g2cecb71bee9_0_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4" name="Google Shape;344;g2cecb71bee9_0_2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https://godbolt.org/z/zcYnsTEvz</a:t>
              </a:r>
              <a:r>
                <a:rPr lang="en-US" sz="2400"/>
                <a:t> </a:t>
              </a:r>
              <a:endParaRPr sz="2400"/>
            </a:p>
          </p:txBody>
        </p:sp>
      </p:grpSp>
      <p:grpSp>
        <p:nvGrpSpPr>
          <p:cNvPr id="345" name="Google Shape;345;g2cecb71bee9_0_20"/>
          <p:cNvGrpSpPr/>
          <p:nvPr/>
        </p:nvGrpSpPr>
        <p:grpSpPr>
          <a:xfrm>
            <a:off x="2621000" y="2224063"/>
            <a:ext cx="5188500" cy="445275"/>
            <a:chOff x="289925" y="5611838"/>
            <a:chExt cx="5188500" cy="445275"/>
          </a:xfrm>
        </p:grpSpPr>
        <p:sp>
          <p:nvSpPr>
            <p:cNvPr id="346" name="Google Shape;346;g2cecb71bee9_0_2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47" name="Google Shape;347;g2cecb71bee9_0_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g2cecb71bee9_0_2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https://godbolt.org/z/95o1nvrsM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g3d5fc5eb8fc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1200" y="1110125"/>
            <a:ext cx="8509224" cy="569496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d5fc5eb8fc_0_7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 dialect levels</a:t>
            </a:r>
            <a:endParaRPr/>
          </a:p>
        </p:txBody>
      </p:sp>
      <p:sp>
        <p:nvSpPr>
          <p:cNvPr id="356" name="Google Shape;356;g3d5fc5eb8fc_0_70"/>
          <p:cNvSpPr txBox="1"/>
          <p:nvPr/>
        </p:nvSpPr>
        <p:spPr>
          <a:xfrm>
            <a:off x="5816400" y="6457800"/>
            <a:ext cx="637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https://discourse.llvm.org/t/rfc-updated-mlir-dialect-overview-diagram/64266</a:t>
            </a:r>
            <a:r>
              <a:rPr lang="en-US"/>
              <a:t> </a:t>
            </a:r>
            <a:endParaRPr/>
          </a:p>
        </p:txBody>
      </p:sp>
      <p:sp>
        <p:nvSpPr>
          <p:cNvPr id="357" name="Google Shape;357;g3d5fc5eb8fc_0_70"/>
          <p:cNvSpPr txBox="1"/>
          <p:nvPr/>
        </p:nvSpPr>
        <p:spPr>
          <a:xfrm>
            <a:off x="8368025" y="1583425"/>
            <a:ext cx="38484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 is from 2022 but still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relevant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note that many more external projects were and are being built over time that are using this common dialects zoo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bd4d23c012_2_1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do we need dialects?</a:t>
            </a:r>
            <a:endParaRPr/>
          </a:p>
        </p:txBody>
      </p:sp>
      <p:sp>
        <p:nvSpPr>
          <p:cNvPr id="364" name="Google Shape;364;g2bd4d23c012_2_1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MLIR is suited to define IRs on different levels of abstractions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Built-in dialects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represent more or less generic operations (arith, scf, memref, llvm)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operations used in LLVM stack and needed in the community (x86vector, arm_sve)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provides an </a:t>
            </a:r>
            <a:r>
              <a:rPr lang="en-US"/>
              <a:t>infrastructure</a:t>
            </a:r>
            <a:r>
              <a:rPr lang="en-US"/>
              <a:t> to add different dialects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ML frameworks use that (PyTorch aten dialect, onnx dialect, tf dialect) to represent supported network layers for further lowering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70" name="Google Shape;370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4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Изображение выглядит как текст&#10;&#10;Автоматически созданное описание" id="376" name="Google Shape;376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1"/>
          <p:cNvSpPr txBox="1"/>
          <p:nvPr/>
        </p:nvSpPr>
        <p:spPr>
          <a:xfrm>
            <a:off x="7315800" y="6231000"/>
            <a:ext cx="487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https://llvm.org/devmtg/2019-10/talk-abstracts.html#tech19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https://www.youtube.com/watch?v=ff3ngdvUang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bd4d23c012_2_2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Block arguments</a:t>
            </a:r>
            <a:endParaRPr/>
          </a:p>
        </p:txBody>
      </p:sp>
      <p:sp>
        <p:nvSpPr>
          <p:cNvPr id="384" name="Google Shape;384;g2bd4d23c012_2_20"/>
          <p:cNvSpPr txBox="1"/>
          <p:nvPr/>
        </p:nvSpPr>
        <p:spPr>
          <a:xfrm>
            <a:off x="7717875" y="1395875"/>
            <a:ext cx="4491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Mechanism to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variables in a structured way that fit the similar purpose as PHI nodes in LLVM IR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2bd4d23c012_2_20"/>
          <p:cNvSpPr txBox="1"/>
          <p:nvPr/>
        </p:nvSpPr>
        <p:spPr>
          <a:xfrm>
            <a:off x="367025" y="1457599"/>
            <a:ext cx="73509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func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900">
                <a:solidFill>
                  <a:srgbClr val="795E26"/>
                </a:solidFill>
                <a:latin typeface="Consolas"/>
                <a:ea typeface="Consolas"/>
                <a:cs typeface="Consolas"/>
                <a:sym typeface="Consolas"/>
              </a:rPr>
              <a:t>@example_function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9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"some_operation"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: () -&gt; 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sz="1900">
              <a:solidFill>
                <a:srgbClr val="267F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9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"branch_conditional"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%0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({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9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Block 1: true branch</a:t>
            </a:r>
            <a:endParaRPr sz="19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9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^bb0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%arg0: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):  </a:t>
            </a:r>
            <a:r>
              <a:rPr lang="en-US" sz="19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%arg0 is a block argument</a:t>
            </a:r>
            <a:endParaRPr sz="19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19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"some_other_operation"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%arg0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: (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-&gt; 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endParaRPr sz="1900">
              <a:solidFill>
                <a:srgbClr val="267F9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9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"another_operation"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: (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-&gt; ()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9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"branch"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%1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: (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-&gt; ()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}, {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9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Block 2: false branch</a:t>
            </a:r>
            <a:endParaRPr sz="19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1900">
                <a:solidFill>
                  <a:srgbClr val="AF00DB"/>
                </a:solidFill>
                <a:latin typeface="Consolas"/>
                <a:ea typeface="Consolas"/>
                <a:cs typeface="Consolas"/>
                <a:sym typeface="Consolas"/>
              </a:rPr>
              <a:t>^bb1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%arg1: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):  </a:t>
            </a:r>
            <a:r>
              <a:rPr lang="en-US" sz="19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 %arg1 is a block argument</a:t>
            </a:r>
            <a:endParaRPr sz="1900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9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"yet_another_operation"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%arg1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: (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-&gt; ()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19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"branch"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/>
                <a:ea typeface="Consolas"/>
                <a:cs typeface="Consolas"/>
                <a:sym typeface="Consolas"/>
              </a:rPr>
              <a:t>%arg1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: (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-&gt; ()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}) : (</a:t>
            </a:r>
            <a:r>
              <a:rPr lang="en-US" sz="1900">
                <a:solidFill>
                  <a:srgbClr val="267F99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-&gt; ()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g2bd4d23c012_2_20"/>
          <p:cNvSpPr/>
          <p:nvPr/>
        </p:nvSpPr>
        <p:spPr>
          <a:xfrm>
            <a:off x="1499525" y="2705450"/>
            <a:ext cx="1363200" cy="335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2bd4d23c012_2_20"/>
          <p:cNvSpPr/>
          <p:nvPr/>
        </p:nvSpPr>
        <p:spPr>
          <a:xfrm>
            <a:off x="1499525" y="4420300"/>
            <a:ext cx="1363200" cy="335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bd4d23c012_2_4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Operations</a:t>
            </a:r>
            <a:endParaRPr/>
          </a:p>
        </p:txBody>
      </p:sp>
      <p:sp>
        <p:nvSpPr>
          <p:cNvPr id="394" name="Google Shape;394;g2bd4d23c012_2_47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Describe some 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Take arguments and return them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Have generic op representation and custom printers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 on the next slide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and here:</a:t>
            </a:r>
            <a:endParaRPr/>
          </a:p>
        </p:txBody>
      </p:sp>
      <p:grpSp>
        <p:nvGrpSpPr>
          <p:cNvPr id="395" name="Google Shape;395;g2bd4d23c012_2_47"/>
          <p:cNvGrpSpPr/>
          <p:nvPr/>
        </p:nvGrpSpPr>
        <p:grpSpPr>
          <a:xfrm>
            <a:off x="1805700" y="4224438"/>
            <a:ext cx="5188500" cy="445275"/>
            <a:chOff x="289925" y="5611838"/>
            <a:chExt cx="5188500" cy="445275"/>
          </a:xfrm>
        </p:grpSpPr>
        <p:sp>
          <p:nvSpPr>
            <p:cNvPr id="396" name="Google Shape;396;g2bd4d23c012_2_47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97" name="Google Shape;397;g2bd4d23c012_2_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g2bd4d23c012_2_47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https://godbolt.org/z/cfjY375z7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Изображение выглядит как текст&#10;&#10;Автоматически созданное описание" id="404" name="Google Shape;404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46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Pass infrastructure</a:t>
            </a:r>
            <a:endParaRPr/>
          </a:p>
        </p:txBody>
      </p:sp>
      <p:sp>
        <p:nvSpPr>
          <p:cNvPr id="410" name="Google Shape;410;p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MLIR provides a pass manager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Passes can be operation-agnostic or be run on specific operation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Pass manager is multithreaded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Independent operations can be processed simultaneously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Pass manager is dynamic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I.e., allows </a:t>
            </a:r>
            <a:r>
              <a:rPr lang="en-US"/>
              <a:t>running</a:t>
            </a:r>
            <a:r>
              <a:rPr lang="en-US"/>
              <a:t> another pass manager from within a pass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MLIR has built-in tools for reproducer generation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cecb71bee9_0_3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mlir-opt</a:t>
            </a:r>
            <a:endParaRPr/>
          </a:p>
        </p:txBody>
      </p:sp>
      <p:sp>
        <p:nvSpPr>
          <p:cNvPr id="417" name="Google Shape;417;g2cecb71bee9_0_34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 analog for MLIR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help: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MLIR Passes reference: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https://mlir.llvm.org/docs/Passes/</a:t>
            </a:r>
            <a:r>
              <a:rPr lang="en-US"/>
              <a:t> </a:t>
            </a:r>
            <a:endParaRPr/>
          </a:p>
        </p:txBody>
      </p:sp>
      <p:grpSp>
        <p:nvGrpSpPr>
          <p:cNvPr id="418" name="Google Shape;418;g2cecb71bee9_0_34"/>
          <p:cNvGrpSpPr/>
          <p:nvPr/>
        </p:nvGrpSpPr>
        <p:grpSpPr>
          <a:xfrm>
            <a:off x="1939100" y="2110663"/>
            <a:ext cx="5188500" cy="445275"/>
            <a:chOff x="289925" y="5611838"/>
            <a:chExt cx="5188500" cy="445275"/>
          </a:xfrm>
        </p:grpSpPr>
        <p:sp>
          <p:nvSpPr>
            <p:cNvPr id="419" name="Google Shape;419;g2cecb71bee9_0_34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20" name="Google Shape;420;g2cecb71bee9_0_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1" name="Google Shape;421;g2cecb71bee9_0_34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https://godbolt.org/z/YYaE3hY3q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Изображение выглядит как текст&#10;&#10;Автоматически созданное описание" id="427" name="Google Shape;42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126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5fc5eb8fc_0_4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mlir-translate</a:t>
            </a:r>
            <a:endParaRPr/>
          </a:p>
        </p:txBody>
      </p:sp>
      <p:sp>
        <p:nvSpPr>
          <p:cNvPr id="434" name="Google Shape;434;g3d5fc5eb8fc_0_45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command line utility that translates a file from/to MLIR using one of the registered translations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help: </a:t>
            </a:r>
            <a:endParaRPr/>
          </a:p>
        </p:txBody>
      </p:sp>
      <p:grpSp>
        <p:nvGrpSpPr>
          <p:cNvPr id="435" name="Google Shape;435;g3d5fc5eb8fc_0_45"/>
          <p:cNvGrpSpPr/>
          <p:nvPr/>
        </p:nvGrpSpPr>
        <p:grpSpPr>
          <a:xfrm>
            <a:off x="1939100" y="2477663"/>
            <a:ext cx="5188500" cy="445275"/>
            <a:chOff x="289925" y="5611838"/>
            <a:chExt cx="5188500" cy="445275"/>
          </a:xfrm>
        </p:grpSpPr>
        <p:sp>
          <p:nvSpPr>
            <p:cNvPr id="436" name="Google Shape;436;g3d5fc5eb8fc_0_45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37" name="Google Shape;437;g3d5fc5eb8fc_0_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g3d5fc5eb8fc_0_45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4"/>
                </a:rPr>
                <a:t>https://godbolt.org/z/86YGo1o5E</a:t>
              </a:r>
              <a:r>
                <a:rPr lang="en-US" sz="2400"/>
                <a:t> </a:t>
              </a:r>
              <a:endParaRPr sz="2400"/>
            </a:p>
          </p:txBody>
        </p:sp>
      </p:grpSp>
      <p:pic>
        <p:nvPicPr>
          <p:cNvPr id="439" name="Google Shape;439;g3d5fc5eb8fc_0_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160620"/>
            <a:ext cx="12191999" cy="3347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4babe9c6b1_0_15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r>
              <a:rPr lang="en-US"/>
              <a:t>dvantages of MLIR</a:t>
            </a:r>
            <a:endParaRPr/>
          </a:p>
        </p:txBody>
      </p:sp>
      <p:sp>
        <p:nvSpPr>
          <p:cNvPr id="446" name="Google Shape;446;g34babe9c6b1_0_153"/>
          <p:cNvSpPr txBox="1"/>
          <p:nvPr>
            <p:ph idx="1" type="body"/>
          </p:nvPr>
        </p:nvSpPr>
        <p:spPr>
          <a:xfrm>
            <a:off x="571375" y="1673449"/>
            <a:ext cx="11010900" cy="526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25755" lvl="0" marL="457200" rtl="0" algn="l">
              <a:spcBef>
                <a:spcPts val="100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Multi-level representation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Different abstraction levels can coexist within the same IR and even within the same module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Modularity and extensibility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Easy to introduce needed dialects, passes and </a:t>
            </a:r>
            <a:r>
              <a:rPr lang="en-US"/>
              <a:t>build the pipeline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Enables with better compiler development quality and rapid prototyping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Progressive lowering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Programs can be transformed gradually from high-level abstractions to low-level machine-oriented representations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Important semantic information is preserved longer during compilation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Support for generic and domain specific optimizations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Enhanced reusability and interoperability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Compiler components and transformations can be shared between projects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Integration with LLVM and other compiler ecosystems, C/C++/Python/… programming languages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Better compiler development productivity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Built-in parsing, printing, verification, pass management, and diagnostics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Supports rapid prototyping and easier compiler maintenance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64286"/>
              <a:buChar char="•"/>
            </a:pPr>
            <a:r>
              <a:rPr lang="en-US"/>
              <a:t>Facilitates </a:t>
            </a:r>
            <a:r>
              <a:rPr lang="en-US"/>
              <a:t>H</a:t>
            </a:r>
            <a:r>
              <a:rPr lang="en-US"/>
              <a:t>eterogeneous Hardware Support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rPr lang="en-US"/>
              <a:t>A common infrastructure for targeting CPUs, GPUs, accelerators, and other specialized devices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bd4d23c012_2_7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Disadvantages of MLIR</a:t>
            </a:r>
            <a:endParaRPr/>
          </a:p>
        </p:txBody>
      </p:sp>
      <p:sp>
        <p:nvSpPr>
          <p:cNvPr id="453" name="Google Shape;453;g2bd4d23c012_2_75"/>
          <p:cNvSpPr txBox="1"/>
          <p:nvPr>
            <p:ph idx="1" type="body"/>
          </p:nvPr>
        </p:nvSpPr>
        <p:spPr>
          <a:xfrm>
            <a:off x="571375" y="1673450"/>
            <a:ext cx="11010900" cy="513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Increased conceptual complexity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Multiple abstraction levels, dialects, regions, interfaces and rewrite frameworks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Steeper learning curve than a conventional single-level 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Lack of stable API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C++ API does not provide compatibility guarantees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Every commit to </a:t>
            </a:r>
            <a:r>
              <a:rPr lang="en-US"/>
              <a:t>LLVM repo</a:t>
            </a:r>
            <a:r>
              <a:rPr lang="en-US"/>
              <a:t> can potentially break the IR compatibility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“Dialects zoo”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Everyone comes up with their own dialect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Inter-dialect conversions and shared semantics require coordination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Lack of t</a:t>
            </a:r>
            <a:r>
              <a:rPr lang="en-US"/>
              <a:t>ooling and ecosystem maturity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While MLIR is continuously evolving, its ecosystem is still maturing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Potential compilation overhead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Multiple IR levels and iterative rewrite pipelines can increase compilation time and memory usage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bd4d23c012_2_3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MLIR is used?</a:t>
            </a:r>
            <a:endParaRPr/>
          </a:p>
        </p:txBody>
      </p:sp>
      <p:sp>
        <p:nvSpPr>
          <p:cNvPr id="460" name="Google Shape;460;g2bd4d23c012_2_32"/>
          <p:cNvSpPr txBox="1"/>
          <p:nvPr>
            <p:ph idx="1" type="body"/>
          </p:nvPr>
        </p:nvSpPr>
        <p:spPr>
          <a:xfrm>
            <a:off x="571375" y="1447100"/>
            <a:ext cx="11010900" cy="522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flang - Fortran compiler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clang-based MLIR codegen for C/C++: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Polygeist (C/C++/CUDA C++)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clangir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AI oriented projects: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Mojo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IREE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Kokkos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CIRCT Project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List of users updated by LLVM community: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https://mlir.llvm.org/users/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and many-many other projects…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466" name="Google Shape;466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0"/>
          <p:cNvSpPr txBox="1"/>
          <p:nvPr/>
        </p:nvSpPr>
        <p:spPr>
          <a:xfrm>
            <a:off x="7315800" y="6231000"/>
            <a:ext cx="487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https://llvm.org/devmtg/2019-10/talk-abstracts.html#tech19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https://www.youtube.com/watch?v=ff3ngdvUang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3d18c1562_0_22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MLIR in the C/C++ Compilation Pipeline</a:t>
            </a:r>
            <a:endParaRPr/>
          </a:p>
        </p:txBody>
      </p:sp>
      <p:sp>
        <p:nvSpPr>
          <p:cNvPr id="474" name="Google Shape;474;g3f3d18c1562_0_22"/>
          <p:cNvSpPr txBox="1"/>
          <p:nvPr/>
        </p:nvSpPr>
        <p:spPr>
          <a:xfrm>
            <a:off x="582700" y="1524000"/>
            <a:ext cx="11010900" cy="2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1A73E8"/>
                </a:solidFill>
              </a:rPr>
              <a:t>Traditional Clang pipeline</a:t>
            </a:r>
            <a:endParaRPr b="1" sz="1600">
              <a:solidFill>
                <a:srgbClr val="1A73E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202124"/>
                </a:solidFill>
              </a:rPr>
              <a:t>C/C++ source → Clang AST → LLVM IR → Machine code</a:t>
            </a:r>
            <a:endParaRPr b="1" sz="1600">
              <a:solidFill>
                <a:srgbClr val="20212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5F6368"/>
                </a:solidFill>
              </a:rPr>
              <a:t>LLVM IR is relatively low-level, so some high-level C/C++ information is lost before many optimizations are performed.</a:t>
            </a:r>
            <a:endParaRPr sz="1450">
              <a:solidFill>
                <a:srgbClr val="5F636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1A73E8"/>
                </a:solidFill>
              </a:rPr>
              <a:t>Pipeline with MLIR</a:t>
            </a:r>
            <a:endParaRPr b="1" sz="1600">
              <a:solidFill>
                <a:srgbClr val="1A73E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202124"/>
                </a:solidFill>
              </a:rPr>
              <a:t>C/C++ source → Clang AST → C/C++-level MLIR → MLIR dialects → LLVM dialect → LLVM IR → Machine code</a:t>
            </a:r>
            <a:endParaRPr b="1" sz="1600">
              <a:solidFill>
                <a:srgbClr val="20212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202124"/>
                </a:solidFill>
              </a:rPr>
              <a:t>Possible lowering flow: C/C++ operations → affine / scf / memref → vector / gpu / omp → llvm</a:t>
            </a:r>
            <a:endParaRPr b="1" sz="1450">
              <a:solidFill>
                <a:srgbClr val="20212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02124"/>
                </a:solidFill>
              </a:rPr>
              <a:t>MLIR acts as a multi-level middle end</a:t>
            </a:r>
            <a:r>
              <a:rPr lang="en-US" sz="1500">
                <a:solidFill>
                  <a:srgbClr val="202124"/>
                </a:solidFill>
              </a:rPr>
              <a:t> between the Clang frontend and the LLVM backend.</a:t>
            </a:r>
            <a:endParaRPr b="1" sz="1600">
              <a:solidFill>
                <a:srgbClr val="1A73E8"/>
              </a:solidFill>
            </a:endParaRPr>
          </a:p>
        </p:txBody>
      </p:sp>
      <p:sp>
        <p:nvSpPr>
          <p:cNvPr id="475" name="Google Shape;475;g3f3d18c1562_0_22"/>
          <p:cNvSpPr txBox="1"/>
          <p:nvPr/>
        </p:nvSpPr>
        <p:spPr>
          <a:xfrm>
            <a:off x="582700" y="3750225"/>
            <a:ext cx="5349000" cy="2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1A73E8"/>
                </a:solidFill>
              </a:rPr>
              <a:t>Why introduce MLIR?</a:t>
            </a:r>
            <a:endParaRPr b="1" sz="1500">
              <a:solidFill>
                <a:srgbClr val="1A73E8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202124"/>
              </a:buClr>
              <a:buSzPts val="1350"/>
              <a:buChar char="●"/>
            </a:pPr>
            <a:r>
              <a:rPr lang="en-US" sz="1350">
                <a:solidFill>
                  <a:srgbClr val="202124"/>
                </a:solidFill>
              </a:rPr>
              <a:t>Preserve high-level C/C++ semantics longer</a:t>
            </a:r>
            <a:endParaRPr sz="1350">
              <a:solidFill>
                <a:srgbClr val="202124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50"/>
              <a:buChar char="●"/>
            </a:pPr>
            <a:r>
              <a:rPr lang="en-US" sz="1350">
                <a:solidFill>
                  <a:srgbClr val="202124"/>
                </a:solidFill>
              </a:rPr>
              <a:t>Perform loop, memory, vectorization, and parallelism optimizations</a:t>
            </a:r>
            <a:endParaRPr sz="1350">
              <a:solidFill>
                <a:srgbClr val="202124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50"/>
              <a:buChar char="●"/>
            </a:pPr>
            <a:r>
              <a:rPr lang="en-US" sz="1350">
                <a:solidFill>
                  <a:srgbClr val="202124"/>
                </a:solidFill>
              </a:rPr>
              <a:t>Gradually lower abstractions instead of translating directly to LLVM IR</a:t>
            </a:r>
            <a:endParaRPr sz="1350">
              <a:solidFill>
                <a:srgbClr val="202124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50"/>
              <a:buChar char="●"/>
            </a:pPr>
            <a:r>
              <a:rPr lang="en-US" sz="1350">
                <a:solidFill>
                  <a:srgbClr val="202124"/>
                </a:solidFill>
              </a:rPr>
              <a:t>Reuse transformations across CPUs, GPUs, and accelerators</a:t>
            </a:r>
            <a:endParaRPr sz="1350">
              <a:solidFill>
                <a:srgbClr val="202124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350"/>
              <a:buChar char="●"/>
            </a:pPr>
            <a:r>
              <a:rPr lang="en-US" sz="1350">
                <a:solidFill>
                  <a:srgbClr val="202124"/>
                </a:solidFill>
              </a:rPr>
              <a:t>Add domain-specific optimizations through custom dialects</a:t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f3d18c1562_0_22"/>
          <p:cNvSpPr txBox="1"/>
          <p:nvPr/>
        </p:nvSpPr>
        <p:spPr>
          <a:xfrm>
            <a:off x="6275300" y="3750225"/>
            <a:ext cx="5318400" cy="2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A73E8"/>
                </a:solidFill>
              </a:rPr>
              <a:t>C/C++-related projects</a:t>
            </a:r>
            <a:endParaRPr b="1" sz="1800">
              <a:solidFill>
                <a:srgbClr val="1A73E8"/>
              </a:solidFill>
            </a:endParaRPr>
          </a:p>
          <a:p>
            <a:pPr indent="0" lvl="0" marL="0" rtl="0" algn="l">
              <a:lnSpc>
                <a:spcPct val="116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50">
                <a:solidFill>
                  <a:srgbClr val="202124"/>
                </a:solidFill>
              </a:rPr>
              <a:t>ClangIR / CIR</a:t>
            </a:r>
            <a:r>
              <a:rPr lang="en-US" sz="1650">
                <a:solidFill>
                  <a:srgbClr val="202124"/>
                </a:solidFill>
              </a:rPr>
              <a:t> — represents C/C++ semantics using MLIR before lowering to LLVM IR</a:t>
            </a:r>
            <a:endParaRPr sz="1650">
              <a:solidFill>
                <a:srgbClr val="202124"/>
              </a:solidFill>
            </a:endParaRPr>
          </a:p>
          <a:p>
            <a:pPr indent="0" lvl="0" marL="0" rtl="0" algn="l"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02124"/>
                </a:solidFill>
              </a:rPr>
              <a:t>Polygeist</a:t>
            </a:r>
            <a:r>
              <a:rPr lang="en-US" sz="1650">
                <a:solidFill>
                  <a:srgbClr val="202124"/>
                </a:solidFill>
              </a:rPr>
              <a:t> — translates C, C++, and CUDA C++ into MLIR for polyhedral and parallel optimizations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3d18c1562_0_22"/>
          <p:cNvSpPr txBox="1"/>
          <p:nvPr/>
        </p:nvSpPr>
        <p:spPr>
          <a:xfrm>
            <a:off x="582700" y="6110950"/>
            <a:ext cx="110109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202124"/>
                </a:solidFill>
              </a:rPr>
              <a:t>MLIR does not replace Clang AST or LLVM IR.</a:t>
            </a:r>
            <a:r>
              <a:rPr lang="en-US" sz="1150">
                <a:solidFill>
                  <a:srgbClr val="202124"/>
                </a:solidFill>
              </a:rPr>
              <a:t> It provides additional intermediate levels between them.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g2bd4d23c012_2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75" y="1289354"/>
            <a:ext cx="10961172" cy="2338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2bd4d23c012_2_26"/>
          <p:cNvSpPr txBox="1"/>
          <p:nvPr>
            <p:ph type="title"/>
          </p:nvPr>
        </p:nvSpPr>
        <p:spPr>
          <a:xfrm>
            <a:off x="571370" y="540041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Polygeist</a:t>
            </a:r>
            <a:endParaRPr/>
          </a:p>
        </p:txBody>
      </p:sp>
      <p:sp>
        <p:nvSpPr>
          <p:cNvPr id="485" name="Google Shape;485;g2bd4d23c012_2_26"/>
          <p:cNvSpPr txBox="1"/>
          <p:nvPr>
            <p:ph idx="1" type="body"/>
          </p:nvPr>
        </p:nvSpPr>
        <p:spPr>
          <a:xfrm>
            <a:off x="571375" y="3837975"/>
            <a:ext cx="8541300" cy="157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Convert C/C++/CUDA C++ to MLIR and apply polyhedral transformations to run it faster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Not actively maintained anymore: clangir supersedes this project</a:t>
            </a:r>
            <a:endParaRPr sz="2400"/>
          </a:p>
        </p:txBody>
      </p:sp>
      <p:pic>
        <p:nvPicPr>
          <p:cNvPr id="486" name="Google Shape;486;g2bd4d23c012_2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45400" y="3250725"/>
            <a:ext cx="2215900" cy="360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2bd4d23c012_2_26"/>
          <p:cNvSpPr/>
          <p:nvPr/>
        </p:nvSpPr>
        <p:spPr>
          <a:xfrm>
            <a:off x="571375" y="1289350"/>
            <a:ext cx="2626800" cy="62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2bd4d23c012_2_26"/>
          <p:cNvSpPr txBox="1"/>
          <p:nvPr/>
        </p:nvSpPr>
        <p:spPr>
          <a:xfrm>
            <a:off x="4687350" y="6457800"/>
            <a:ext cx="509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https://c.wsmoses.com/presentations/Polygeist_GroupMtg.pdf</a:t>
            </a:r>
            <a:r>
              <a:rPr lang="en-US"/>
              <a:t> </a:t>
            </a:r>
            <a:endParaRPr/>
          </a:p>
        </p:txBody>
      </p:sp>
      <p:sp>
        <p:nvSpPr>
          <p:cNvPr id="489" name="Google Shape;489;g2bd4d23c012_2_26"/>
          <p:cNvSpPr txBox="1"/>
          <p:nvPr/>
        </p:nvSpPr>
        <p:spPr>
          <a:xfrm>
            <a:off x="681600" y="5840850"/>
            <a:ext cx="360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https://polygeist.llvm.org/</a:t>
            </a:r>
            <a:r>
              <a:rPr lang="en-US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https://github.com/llvm/Polygeist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4babe9c6b1_0_16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clangir</a:t>
            </a:r>
            <a:endParaRPr/>
          </a:p>
        </p:txBody>
      </p:sp>
      <p:sp>
        <p:nvSpPr>
          <p:cNvPr id="496" name="Google Shape;496;g34babe9c6b1_0_167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ClangIR integrates Clang’s C/C++ front-end capabilities with the MLIR framework, enabling a layered approach to transforming and optimizing code</a:t>
            </a:r>
            <a:endParaRPr/>
          </a:p>
        </p:txBody>
      </p:sp>
      <p:sp>
        <p:nvSpPr>
          <p:cNvPr id="497" name="Google Shape;497;g34babe9c6b1_0_167"/>
          <p:cNvSpPr txBox="1"/>
          <p:nvPr/>
        </p:nvSpPr>
        <p:spPr>
          <a:xfrm>
            <a:off x="335575" y="599160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Links: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https://github.com/llvm/clangir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https://llvm.github.io/clangir/</a:t>
            </a:r>
            <a:r>
              <a:rPr lang="en-US"/>
              <a:t> </a:t>
            </a:r>
            <a:endParaRPr/>
          </a:p>
        </p:txBody>
      </p:sp>
      <p:sp>
        <p:nvSpPr>
          <p:cNvPr id="498" name="Google Shape;498;g34babe9c6b1_0_167"/>
          <p:cNvSpPr txBox="1"/>
          <p:nvPr/>
        </p:nvSpPr>
        <p:spPr>
          <a:xfrm>
            <a:off x="126625" y="4678550"/>
            <a:ext cx="3585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200">
                <a:solidFill>
                  <a:srgbClr val="3C454E"/>
                </a:solidFill>
                <a:highlight>
                  <a:srgbClr val="FFFFFF"/>
                </a:highlight>
              </a:rPr>
              <a:t>ClangIR is inspired in the success of other languages that greatly benefit from a middle-level IR, such as Swift and Rust. Particularly, optionally attaching AST nodes to CIR operations is inspired by SIL references to AST nodes in Swift.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99" name="Google Shape;499;g34babe9c6b1_0_167"/>
          <p:cNvSpPr txBox="1"/>
          <p:nvPr/>
        </p:nvSpPr>
        <p:spPr>
          <a:xfrm>
            <a:off x="83875" y="3049050"/>
            <a:ext cx="63021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short, an IR that captures higher-level C/C++ semantics enables a range of idiomatic diagnostics and performance optimizations that are difficult to achieve using either the Clang AST or LLVM IR.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00" name="Google Shape;500;g34babe9c6b1_0_167"/>
          <p:cNvSpPr txBox="1"/>
          <p:nvPr/>
        </p:nvSpPr>
        <p:spPr>
          <a:xfrm>
            <a:off x="6866875" y="6532925"/>
            <a:ext cx="532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https://llvm.org/devmtg/2025-10/slides/keynotes/kaylor_lopes.pdf</a:t>
            </a:r>
            <a:r>
              <a:rPr lang="en-US"/>
              <a:t> </a:t>
            </a:r>
            <a:endParaRPr/>
          </a:p>
        </p:txBody>
      </p:sp>
      <p:pic>
        <p:nvPicPr>
          <p:cNvPr id="501" name="Google Shape;501;g34babe9c6b1_0_1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8550" y="2698325"/>
            <a:ext cx="5750874" cy="365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3d18c1562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clangir usage in clang</a:t>
            </a:r>
            <a:endParaRPr/>
          </a:p>
        </p:txBody>
      </p:sp>
      <p:sp>
        <p:nvSpPr>
          <p:cNvPr id="508" name="Google Shape;508;g3f3d18c1562_0_1"/>
          <p:cNvSpPr txBox="1"/>
          <p:nvPr>
            <p:ph idx="1" type="body"/>
          </p:nvPr>
        </p:nvSpPr>
        <p:spPr>
          <a:xfrm>
            <a:off x="571375" y="1673450"/>
            <a:ext cx="5524500" cy="102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clangir is available in clang under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-Xclang -fclangir</a:t>
            </a:r>
            <a:r>
              <a:rPr lang="en-US"/>
              <a:t> option</a:t>
            </a:r>
            <a:endParaRPr/>
          </a:p>
        </p:txBody>
      </p:sp>
      <p:sp>
        <p:nvSpPr>
          <p:cNvPr id="509" name="Google Shape;509;g3f3d18c1562_0_1"/>
          <p:cNvSpPr txBox="1"/>
          <p:nvPr/>
        </p:nvSpPr>
        <p:spPr>
          <a:xfrm>
            <a:off x="0" y="6457800"/>
            <a:ext cx="47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https://llvm.github.io/clangir/GettingStarted/examples.html</a:t>
            </a:r>
            <a:r>
              <a:rPr lang="en-US"/>
              <a:t> </a:t>
            </a:r>
            <a:endParaRPr/>
          </a:p>
        </p:txBody>
      </p:sp>
      <p:grpSp>
        <p:nvGrpSpPr>
          <p:cNvPr id="510" name="Google Shape;510;g3f3d18c1562_0_1"/>
          <p:cNvGrpSpPr/>
          <p:nvPr/>
        </p:nvGrpSpPr>
        <p:grpSpPr>
          <a:xfrm>
            <a:off x="6603400" y="2827588"/>
            <a:ext cx="5188500" cy="445275"/>
            <a:chOff x="289925" y="5611838"/>
            <a:chExt cx="5188500" cy="445275"/>
          </a:xfrm>
        </p:grpSpPr>
        <p:sp>
          <p:nvSpPr>
            <p:cNvPr id="511" name="Google Shape;511;g3f3d18c1562_0_1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512" name="Google Shape;512;g3f3d18c1562_0_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3" name="Google Shape;513;g3f3d18c1562_0_1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https://godbolt.org/z/1Ke8TKe7G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514" name="Google Shape;514;g3f3d18c1562_0_1"/>
          <p:cNvSpPr txBox="1"/>
          <p:nvPr/>
        </p:nvSpPr>
        <p:spPr>
          <a:xfrm>
            <a:off x="6603400" y="2212000"/>
            <a:ext cx="245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3d18c1562_0_1"/>
          <p:cNvSpPr txBox="1"/>
          <p:nvPr/>
        </p:nvSpPr>
        <p:spPr>
          <a:xfrm>
            <a:off x="6603400" y="3272850"/>
            <a:ext cx="245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CIR: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6" name="Google Shape;516;g3f3d18c1562_0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675" y="2509250"/>
            <a:ext cx="6314477" cy="36780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7" name="Google Shape;517;g3f3d18c1562_0_1"/>
          <p:cNvGrpSpPr/>
          <p:nvPr/>
        </p:nvGrpSpPr>
        <p:grpSpPr>
          <a:xfrm>
            <a:off x="6603400" y="3791438"/>
            <a:ext cx="5188500" cy="445275"/>
            <a:chOff x="289925" y="5611838"/>
            <a:chExt cx="5188500" cy="445275"/>
          </a:xfrm>
        </p:grpSpPr>
        <p:sp>
          <p:nvSpPr>
            <p:cNvPr id="518" name="Google Shape;518;g3f3d18c1562_0_1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519" name="Google Shape;519;g3f3d18c1562_0_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g3f3d18c1562_0_1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7"/>
                </a:rPr>
                <a:t>https://godbolt.org/z/Gj336Yvos</a:t>
              </a:r>
              <a:endParaRPr sz="2400"/>
            </a:p>
          </p:txBody>
        </p:sp>
      </p:grpSp>
      <p:sp>
        <p:nvSpPr>
          <p:cNvPr id="521" name="Google Shape;521;g3f3d18c1562_0_1"/>
          <p:cNvSpPr txBox="1"/>
          <p:nvPr/>
        </p:nvSpPr>
        <p:spPr>
          <a:xfrm>
            <a:off x="6603400" y="4236700"/>
            <a:ext cx="2454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LLVM IR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2" name="Google Shape;522;g3f3d18c1562_0_1"/>
          <p:cNvGrpSpPr/>
          <p:nvPr/>
        </p:nvGrpSpPr>
        <p:grpSpPr>
          <a:xfrm>
            <a:off x="6603400" y="4755288"/>
            <a:ext cx="5188500" cy="445275"/>
            <a:chOff x="289925" y="5611838"/>
            <a:chExt cx="5188500" cy="445275"/>
          </a:xfrm>
        </p:grpSpPr>
        <p:sp>
          <p:nvSpPr>
            <p:cNvPr id="523" name="Google Shape;523;g3f3d18c1562_0_1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524" name="Google Shape;524;g3f3d18c1562_0_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5" name="Google Shape;525;g3f3d18c1562_0_1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8"/>
                </a:rPr>
                <a:t>https://godbolt.org/z/KsGGWjEbq</a:t>
              </a:r>
              <a:r>
                <a:rPr lang="en-US" sz="2400"/>
                <a:t> </a:t>
              </a:r>
              <a:endParaRPr sz="2400"/>
            </a:p>
          </p:txBody>
        </p:sp>
      </p:grpSp>
      <p:sp>
        <p:nvSpPr>
          <p:cNvPr id="526" name="Google Shape;526;g3f3d18c1562_0_1"/>
          <p:cNvSpPr txBox="1"/>
          <p:nvPr/>
        </p:nvSpPr>
        <p:spPr>
          <a:xfrm>
            <a:off x="6603400" y="5223450"/>
            <a:ext cx="497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LLVM IR (w/ optimizations):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7" name="Google Shape;527;g3f3d18c1562_0_1"/>
          <p:cNvGrpSpPr/>
          <p:nvPr/>
        </p:nvGrpSpPr>
        <p:grpSpPr>
          <a:xfrm>
            <a:off x="6603400" y="5742038"/>
            <a:ext cx="5188500" cy="445275"/>
            <a:chOff x="289925" y="5611838"/>
            <a:chExt cx="5188500" cy="445275"/>
          </a:xfrm>
        </p:grpSpPr>
        <p:sp>
          <p:nvSpPr>
            <p:cNvPr id="528" name="Google Shape;528;g3f3d18c1562_0_1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529" name="Google Shape;529;g3f3d18c1562_0_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0" name="Google Shape;530;g3f3d18c1562_0_1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9"/>
                </a:rPr>
                <a:t>https://godbolt.org/z/1Ke8TKe7G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bd4d23c012_2_38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Mojo🔥</a:t>
            </a:r>
            <a:r>
              <a:rPr lang="en-US"/>
              <a:t> language</a:t>
            </a:r>
            <a:endParaRPr/>
          </a:p>
        </p:txBody>
      </p:sp>
      <p:sp>
        <p:nvSpPr>
          <p:cNvPr id="537" name="Google Shape;537;g2bd4d23c012_2_38"/>
          <p:cNvSpPr txBox="1"/>
          <p:nvPr>
            <p:ph idx="1" type="body"/>
          </p:nvPr>
        </p:nvSpPr>
        <p:spPr>
          <a:xfrm>
            <a:off x="490230" y="1673450"/>
            <a:ext cx="5594400" cy="360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Mojo combines the usability of Python with the performance of C, unlocking unparalleled programmability of AI hardware and extensibility of AI models.</a:t>
            </a:r>
            <a:endParaRPr sz="2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400"/>
              <a:t>Mojo leverages MLIR, which enables Mojo developers to take advantage of vectors, threads, and AI hardware units.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Developed by MLIR &amp; LLVM creator (Chris Lattner) and his team in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Modular</a:t>
            </a:r>
            <a:r>
              <a:rPr lang="en-US" sz="2400"/>
              <a:t> </a:t>
            </a:r>
            <a:endParaRPr sz="2400"/>
          </a:p>
        </p:txBody>
      </p:sp>
      <p:sp>
        <p:nvSpPr>
          <p:cNvPr id="538" name="Google Shape;538;g2bd4d23c012_2_38"/>
          <p:cNvSpPr txBox="1"/>
          <p:nvPr/>
        </p:nvSpPr>
        <p:spPr>
          <a:xfrm>
            <a:off x="5411100" y="6457800"/>
            <a:ext cx="67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https://www.modular.com/blog/a-unified-extensible-platform-to-superpower-your-ai</a:t>
            </a:r>
            <a:endParaRPr/>
          </a:p>
        </p:txBody>
      </p:sp>
      <p:pic>
        <p:nvPicPr>
          <p:cNvPr id="539" name="Google Shape;539;g2bd4d23c012_2_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1440" y="134925"/>
            <a:ext cx="6372508" cy="369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g2bd4d23c012_2_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91325" y="3891275"/>
            <a:ext cx="3841874" cy="26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g2bd4d23c012_2_38"/>
          <p:cNvSpPr txBox="1"/>
          <p:nvPr/>
        </p:nvSpPr>
        <p:spPr>
          <a:xfrm>
            <a:off x="660650" y="5535674"/>
            <a:ext cx="4225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Links: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https://www.modular.com/open-source/mojo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8"/>
              </a:rPr>
              <a:t>https://mojolang.org/</a:t>
            </a:r>
            <a:r>
              <a:rPr lang="en-US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9"/>
              </a:rPr>
              <a:t>https://github.com/modular/modular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g3f3d18c1562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2344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g3f3d18c1562_0_31"/>
          <p:cNvSpPr txBox="1"/>
          <p:nvPr/>
        </p:nvSpPr>
        <p:spPr>
          <a:xfrm>
            <a:off x="0" y="6303259"/>
            <a:ext cx="576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https://llvm.org/devmtg/2025-10/slides/lightning_talks/chen_dakkak.pdf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https://www.youtube.com/watch?v=aY6I76b8rLY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9975e7495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IREE</a:t>
            </a:r>
            <a:endParaRPr/>
          </a:p>
        </p:txBody>
      </p:sp>
      <p:sp>
        <p:nvSpPr>
          <p:cNvPr id="555" name="Google Shape;555;g3a9975e7495_0_0"/>
          <p:cNvSpPr txBox="1"/>
          <p:nvPr>
            <p:ph idx="1" type="body"/>
          </p:nvPr>
        </p:nvSpPr>
        <p:spPr>
          <a:xfrm>
            <a:off x="246300" y="1916100"/>
            <a:ext cx="5783400" cy="302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highlight>
                  <a:srgbClr val="FFFFFF"/>
                </a:highlight>
              </a:rPr>
              <a:t>IREE (Intermediate Representation Execution Environment) is an MLIR-based end-to-end compiler and runtime that lowers Machine Learning (ML) models to a unified IR that scales up to meet the needs of the datacenter and down to satisfy the constraints and special considerations of mobile and edge deployments.</a:t>
            </a:r>
            <a:endParaRPr sz="2400"/>
          </a:p>
        </p:txBody>
      </p:sp>
      <p:pic>
        <p:nvPicPr>
          <p:cNvPr id="556" name="Google Shape;556;g3a9975e749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661" y="0"/>
            <a:ext cx="6033328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g3a9975e7495_0_0"/>
          <p:cNvSpPr txBox="1"/>
          <p:nvPr/>
        </p:nvSpPr>
        <p:spPr>
          <a:xfrm>
            <a:off x="5735975" y="6457800"/>
            <a:ext cx="316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https://iree.dev/#project-architecture</a:t>
            </a:r>
            <a:r>
              <a:rPr lang="en-US"/>
              <a:t> </a:t>
            </a:r>
            <a:endParaRPr/>
          </a:p>
        </p:txBody>
      </p:sp>
      <p:sp>
        <p:nvSpPr>
          <p:cNvPr id="558" name="Google Shape;558;g3a9975e7495_0_0"/>
          <p:cNvSpPr txBox="1"/>
          <p:nvPr/>
        </p:nvSpPr>
        <p:spPr>
          <a:xfrm>
            <a:off x="681600" y="5840850"/>
            <a:ext cx="360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https://iree.dev/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https://github.com/iree-org/iree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d5fc5eb8fc_0_2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Kokkos</a:t>
            </a:r>
            <a:endParaRPr/>
          </a:p>
        </p:txBody>
      </p:sp>
      <p:sp>
        <p:nvSpPr>
          <p:cNvPr id="565" name="Google Shape;565;g3d5fc5eb8fc_0_24"/>
          <p:cNvSpPr txBox="1"/>
          <p:nvPr>
            <p:ph idx="1" type="body"/>
          </p:nvPr>
        </p:nvSpPr>
        <p:spPr>
          <a:xfrm>
            <a:off x="571372" y="1417475"/>
            <a:ext cx="47766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The Kokkos C++ Performance Portability Ecosystem is a production level solution for writing modern C++ applications in a hardware agnostic way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Kokkos originated in the US Department of Energy National Labs, and was part of the Exascale Computing Project – at its time the leading effort in the US to prepare the HPC community for the next generation of super computing platforms.</a:t>
            </a:r>
            <a:endParaRPr sz="2400"/>
          </a:p>
        </p:txBody>
      </p:sp>
      <p:pic>
        <p:nvPicPr>
          <p:cNvPr id="566" name="Google Shape;566;g3d5fc5eb8fc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1675" y="1326775"/>
            <a:ext cx="6927900" cy="3770749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g3d5fc5eb8fc_0_24"/>
          <p:cNvSpPr txBox="1"/>
          <p:nvPr/>
        </p:nvSpPr>
        <p:spPr>
          <a:xfrm>
            <a:off x="9192000" y="6457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https://kokkos.org/about/overview/</a:t>
            </a:r>
            <a:r>
              <a:rPr lang="en-US"/>
              <a:t> </a:t>
            </a:r>
            <a:endParaRPr/>
          </a:p>
        </p:txBody>
      </p:sp>
      <p:sp>
        <p:nvSpPr>
          <p:cNvPr id="568" name="Google Shape;568;g3d5fc5eb8fc_0_24"/>
          <p:cNvSpPr txBox="1"/>
          <p:nvPr/>
        </p:nvSpPr>
        <p:spPr>
          <a:xfrm>
            <a:off x="5655525" y="847654"/>
            <a:ext cx="201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rPr>
              <a:t>Part of Linux foundation</a:t>
            </a:r>
            <a:endParaRPr>
              <a:solidFill>
                <a:srgbClr val="5E5E5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d5fc5eb8fc_0_24"/>
          <p:cNvSpPr txBox="1"/>
          <p:nvPr/>
        </p:nvSpPr>
        <p:spPr>
          <a:xfrm>
            <a:off x="681600" y="5840850"/>
            <a:ext cx="360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https://github.com/kokkos/kokkos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https://kokkos.org/about/overview/</a:t>
            </a:r>
            <a:r>
              <a:rPr lang="en-US"/>
              <a:t> </a:t>
            </a:r>
            <a:endParaRPr/>
          </a:p>
        </p:txBody>
      </p:sp>
      <p:sp>
        <p:nvSpPr>
          <p:cNvPr id="570" name="Google Shape;570;g3d5fc5eb8fc_0_24"/>
          <p:cNvSpPr txBox="1"/>
          <p:nvPr/>
        </p:nvSpPr>
        <p:spPr>
          <a:xfrm>
            <a:off x="5127775" y="5176450"/>
            <a:ext cx="692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Kokkos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::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parallel_for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"axpy"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y.extent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098658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),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KOKKOS_LAMBDA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size_t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200">
                <a:solidFill>
                  <a:srgbClr val="0070C1"/>
                </a:solidFill>
                <a:latin typeface="Consolas"/>
                <a:ea typeface="Consolas"/>
                <a:cs typeface="Consolas"/>
                <a:sym typeface="Consolas"/>
              </a:rPr>
              <a:t> y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+=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d_alpha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idx</a:t>
            </a: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576" name="Google Shape;576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4642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2"/>
          <p:cNvSpPr txBox="1"/>
          <p:nvPr/>
        </p:nvSpPr>
        <p:spPr>
          <a:xfrm>
            <a:off x="8756000" y="115375"/>
            <a:ext cx="360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Links: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https://circt.llvm.org/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https://github.com/llvm/circt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g2cbe4714c21_0_4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780574" cy="6574351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g2cbe4714c21_0_412"/>
          <p:cNvSpPr txBox="1"/>
          <p:nvPr>
            <p:ph idx="1" type="body"/>
          </p:nvPr>
        </p:nvSpPr>
        <p:spPr>
          <a:xfrm>
            <a:off x="5585725" y="6312900"/>
            <a:ext cx="6266400" cy="54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https://mlir.llvm.org/docs/Tutorials/Toy/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2cbe4714c21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time</a:t>
            </a:r>
            <a:endParaRPr/>
          </a:p>
        </p:txBody>
      </p:sp>
      <p:sp>
        <p:nvSpPr>
          <p:cNvPr id="591" name="Google Shape;591;g2cbe4714c21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MLIR: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Connection with LLVM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Available transformations and optimizations overview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Custom dialects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Writing a pass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2cbe4714c21_0_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98" name="Google Shape;598;g2cbe4714c21_0_6"/>
          <p:cNvSpPr txBox="1"/>
          <p:nvPr/>
        </p:nvSpPr>
        <p:spPr>
          <a:xfrm>
            <a:off x="571375" y="1673451"/>
            <a:ext cx="11010900" cy="2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https://forms.gle/nStZ9wudh2gAmJCG7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Submission time: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minutes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2cbe4714c21_0_6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600" name="Google Shape;600;g2cbe4714c21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5129" y="571499"/>
            <a:ext cx="2798900" cy="272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g2cbe4714c21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3467652"/>
            <a:ext cx="12192002" cy="2291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d5fc5eb8fc_0_14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608" name="Google Shape;608;g3d5fc5eb8fc_0_149"/>
          <p:cNvSpPr txBox="1"/>
          <p:nvPr/>
        </p:nvSpPr>
        <p:spPr>
          <a:xfrm>
            <a:off x="571375" y="1673451"/>
            <a:ext cx="11010900" cy="2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https://forms.gle/bR6K58M7p9YH6QxS8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Submission time: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minutes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g3d5fc5eb8fc_0_149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610" name="Google Shape;610;g3d5fc5eb8fc_0_1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721118"/>
            <a:ext cx="8402726" cy="379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g3d5fc5eb8fc_0_1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95650" y="1255475"/>
            <a:ext cx="2775225" cy="26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g3d5fc5eb8fc_0_1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14100" y="1071775"/>
            <a:ext cx="2952750" cy="28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4babe9c6b1_0_10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619" name="Google Shape;619;g34babe9c6b1_0_101"/>
          <p:cNvSpPr txBox="1"/>
          <p:nvPr/>
        </p:nvSpPr>
        <p:spPr>
          <a:xfrm>
            <a:off x="571375" y="1673451"/>
            <a:ext cx="11010900" cy="2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https://forms.gle/vXwUZURGAZ3ABg8b7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Submission time: </a:t>
            </a:r>
            <a:r>
              <a:rPr b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 minutes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g34babe9c6b1_0_101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25252"/>
                </a:solidFill>
              </a:rPr>
              <a:t>Backup: </a:t>
            </a:r>
            <a:r>
              <a:rPr lang="en-US" sz="2000" u="sng">
                <a:solidFill>
                  <a:srgbClr val="0068B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me@gooddoog.ru</a:t>
            </a:r>
            <a:r>
              <a:rPr lang="en-US" sz="2000">
                <a:solidFill>
                  <a:srgbClr val="525252"/>
                </a:solidFill>
              </a:rPr>
              <a:t> </a:t>
            </a:r>
            <a:endParaRPr sz="2000">
              <a:solidFill>
                <a:srgbClr val="525252"/>
              </a:solidFill>
            </a:endParaRPr>
          </a:p>
        </p:txBody>
      </p:sp>
      <p:pic>
        <p:nvPicPr>
          <p:cNvPr id="621" name="Google Shape;621;g34babe9c6b1_0_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050" y="2733301"/>
            <a:ext cx="8154675" cy="3664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g34babe9c6b1_0_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53875" y="1224175"/>
            <a:ext cx="329565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3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Calibri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628" name="Google Shape;628;p13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MLIR docs: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https://mlir.llvm.org/docs/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LLVM Compiler Infrastructure in HPC Workshop: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https://www.youtube.com/watch?v=0bxyZDGs-aA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MLIR Related Publications: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https://mlir.llvm.org/pubs/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All MLIR talks: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https://mlir.llvm.org/talks/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Toy language (MLIR tutorial):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https://mlir.llvm.org/docs/Tutorials/Toy/Ch-1/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2023 EuroLLVM - What's new in MLIR?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8"/>
              </a:rPr>
              <a:t>https://www.youtube.com/watch?v=LPlRLt9w4b0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[RFC][Tutorial] A beginner-friendly end-to-end MLIR compiler pipeline: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9"/>
              </a:rPr>
              <a:t>https://discourse.llvm.org/t/rfc-tutorial-a-beginner-friendly-end-to-end-mlir-compiler-pipeline/89788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mlir-tutor: Exercises for Learning MLIR: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0"/>
              </a:rPr>
              <a:t>https://github.com/Groverkss/mlir-tutor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IREE / MLIR / Linalg tutorial: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1"/>
              </a:rPr>
              <a:t>https://iree.dev/community/blog/2024-01-29-iree-mlir-linalg-tutorial/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2025 US LLVM Developers' Meeting: ClangIR: Upstreaming an Incubator Project: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2"/>
              </a:rPr>
              <a:t>https://www.youtube.com/watch?v=mQXE_y1T6H0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2025 US LLVM Developers' Meeting: Mojo GPU Compilation: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3"/>
              </a:rPr>
              <a:t>https://www.youtube.com/watch?v=aY6I76b8rLY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•"/>
            </a:pP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Mojo By Example: A Comprehensive Introduction to the Mojo Programming Language: </a:t>
            </a:r>
            <a:r>
              <a:rPr lang="en-US" sz="16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14"/>
              </a:rPr>
              <a:t>https://ruhati.net/mojo/index.html</a:t>
            </a:r>
            <a:r>
              <a:rPr lang="en-US" sz="1600"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2022-04-12T07:39:01Z</dcterms:created>
  <dc:creator>Александр Баташев</dc:creator>
</cp:coreProperties>
</file>